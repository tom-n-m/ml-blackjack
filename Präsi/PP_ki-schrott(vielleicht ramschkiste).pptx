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5ac25d5d75c4991" /><Relationship Type="http://schemas.openxmlformats.org/officeDocument/2006/relationships/extended-properties" Target="/docProps/app.xml" Id="R8433338bb2074dc4" /><Relationship Type="http://schemas.openxmlformats.org/officeDocument/2006/relationships/officeDocument" Target="/ppt/presentation.xml" Id="Rf87db47eec53425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8ff334483cb46ee"/>
  </p:sldMasterIdLst>
  <p:notesMasterIdLst>
    <p:notesMasterId xmlns:r="http://schemas.openxmlformats.org/officeDocument/2006/relationships" r:id="Rbe3a299161e34295"/>
  </p:notesMasterIdLst>
  <p:sldIdLst>
    <p:sldId xmlns:r="http://schemas.openxmlformats.org/officeDocument/2006/relationships" id="256" r:id="Rbce76751ff4c4b32"/>
    <p:sldId xmlns:r="http://schemas.openxmlformats.org/officeDocument/2006/relationships" id="257" r:id="R97f3a8940f0944df"/>
    <p:sldId xmlns:r="http://schemas.openxmlformats.org/officeDocument/2006/relationships" id="258" r:id="R67598e19223a445d"/>
    <p:sldId xmlns:r="http://schemas.openxmlformats.org/officeDocument/2006/relationships" id="259" r:id="R0de72f3c3ee94402"/>
    <p:sldId xmlns:r="http://schemas.openxmlformats.org/officeDocument/2006/relationships" id="260" r:id="R2a981a35b688402d"/>
    <p:sldId xmlns:r="http://schemas.openxmlformats.org/officeDocument/2006/relationships" id="261" r:id="R86381421511346ab"/>
    <p:sldId xmlns:r="http://schemas.openxmlformats.org/officeDocument/2006/relationships" id="262" r:id="R1118598682db4e1a"/>
    <p:sldId xmlns:r="http://schemas.openxmlformats.org/officeDocument/2006/relationships" id="263" r:id="Rdf996771eac04ae3"/>
    <p:sldId xmlns:r="http://schemas.openxmlformats.org/officeDocument/2006/relationships" id="264" r:id="R8e66a8ed34314c0c"/>
    <p:sldId xmlns:r="http://schemas.openxmlformats.org/officeDocument/2006/relationships" id="265" r:id="R1f23d2ebcbbc4410"/>
    <p:sldId xmlns:r="http://schemas.openxmlformats.org/officeDocument/2006/relationships" id="266" r:id="R05e801a6748b437a"/>
    <p:sldId xmlns:r="http://schemas.openxmlformats.org/officeDocument/2006/relationships" id="267" r:id="Rdde71c82491649b1"/>
    <p:sldId xmlns:r="http://schemas.openxmlformats.org/officeDocument/2006/relationships" id="268" r:id="Reab5def11a994907"/>
    <p:sldId xmlns:r="http://schemas.openxmlformats.org/officeDocument/2006/relationships" id="269" r:id="R61a58cfddf9945f9"/>
    <p:sldId xmlns:r="http://schemas.openxmlformats.org/officeDocument/2006/relationships" id="270" r:id="Rb660e25cfc0440c9"/>
    <p:sldId xmlns:r="http://schemas.openxmlformats.org/officeDocument/2006/relationships" id="271" r:id="Rbfcad9e3192b4a50"/>
    <p:sldId xmlns:r="http://schemas.openxmlformats.org/officeDocument/2006/relationships" id="272" r:id="R2fd5eb83c4664028"/>
    <p:sldId xmlns:r="http://schemas.openxmlformats.org/officeDocument/2006/relationships" id="273" r:id="R576c6bebb10f4876"/>
    <p:sldId xmlns:r="http://schemas.openxmlformats.org/officeDocument/2006/relationships" id="274" r:id="Rb5186c978dd04b6f"/>
    <p:sldId xmlns:r="http://schemas.openxmlformats.org/officeDocument/2006/relationships" id="275" r:id="R9a9a79d33bb946ab"/>
    <p:sldId xmlns:r="http://schemas.openxmlformats.org/officeDocument/2006/relationships" id="276" r:id="R8269cc3c0f9f44e3"/>
    <p:sldId xmlns:r="http://schemas.openxmlformats.org/officeDocument/2006/relationships" id="277" r:id="R2d8ea3f68f374821"/>
  </p:sldIdLst>
  <p:sldSz cx="9144000" cy="51435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cd5722e70b746f7" /><Relationship Type="http://schemas.openxmlformats.org/officeDocument/2006/relationships/slideMaster" Target="/ppt/slideMasters/slideMaster1.xml" Id="R98ff334483cb46ee" /><Relationship Type="http://schemas.openxmlformats.org/officeDocument/2006/relationships/notesMaster" Target="/ppt/notesMasters/notesMaster1.xml" Id="Rbe3a299161e34295" /><Relationship Type="http://schemas.openxmlformats.org/officeDocument/2006/relationships/presProps" Target="/ppt/presProps.xml" Id="R20955b14965645ca" /><Relationship Type="http://schemas.openxmlformats.org/officeDocument/2006/relationships/viewProps" Target="/ppt/viewProps.xml" Id="R94554a017d5b4849" /><Relationship Type="http://schemas.openxmlformats.org/officeDocument/2006/relationships/tableStyles" Target="/ppt/tableStyles.xml" Id="R114ec41abe354f24" /><Relationship Type="http://schemas.openxmlformats.org/officeDocument/2006/relationships/slide" Target="/ppt/slides/slide1.xml" Id="Rbce76751ff4c4b32" /><Relationship Type="http://schemas.openxmlformats.org/officeDocument/2006/relationships/slide" Target="/ppt/slides/slide2.xml" Id="R97f3a8940f0944df" /><Relationship Type="http://schemas.openxmlformats.org/officeDocument/2006/relationships/slide" Target="/ppt/slides/slide3.xml" Id="R67598e19223a445d" /><Relationship Type="http://schemas.openxmlformats.org/officeDocument/2006/relationships/slide" Target="/ppt/slides/slide4.xml" Id="R0de72f3c3ee94402" /><Relationship Type="http://schemas.openxmlformats.org/officeDocument/2006/relationships/slide" Target="/ppt/slides/slide5.xml" Id="R2a981a35b688402d" /><Relationship Type="http://schemas.openxmlformats.org/officeDocument/2006/relationships/slide" Target="/ppt/slides/slide6.xml" Id="R86381421511346ab" /><Relationship Type="http://schemas.openxmlformats.org/officeDocument/2006/relationships/slide" Target="/ppt/slides/slide7.xml" Id="R1118598682db4e1a" /><Relationship Type="http://schemas.openxmlformats.org/officeDocument/2006/relationships/slide" Target="/ppt/slides/slide8.xml" Id="Rdf996771eac04ae3" /><Relationship Type="http://schemas.openxmlformats.org/officeDocument/2006/relationships/slide" Target="/ppt/slides/slide9.xml" Id="R8e66a8ed34314c0c" /><Relationship Type="http://schemas.openxmlformats.org/officeDocument/2006/relationships/slide" Target="/ppt/slides/slide10.xml" Id="R1f23d2ebcbbc4410" /><Relationship Type="http://schemas.openxmlformats.org/officeDocument/2006/relationships/slide" Target="/ppt/slides/slide11.xml" Id="R05e801a6748b437a" /><Relationship Type="http://schemas.openxmlformats.org/officeDocument/2006/relationships/slide" Target="/ppt/slides/slide12.xml" Id="Rdde71c82491649b1" /><Relationship Type="http://schemas.openxmlformats.org/officeDocument/2006/relationships/slide" Target="/ppt/slides/slide13.xml" Id="Reab5def11a994907" /><Relationship Type="http://schemas.openxmlformats.org/officeDocument/2006/relationships/slide" Target="/ppt/slides/slide14.xml" Id="R61a58cfddf9945f9" /><Relationship Type="http://schemas.openxmlformats.org/officeDocument/2006/relationships/slide" Target="/ppt/slides/slide15.xml" Id="Rb660e25cfc0440c9" /><Relationship Type="http://schemas.openxmlformats.org/officeDocument/2006/relationships/slide" Target="/ppt/slides/slide16.xml" Id="Rbfcad9e3192b4a50" /><Relationship Type="http://schemas.openxmlformats.org/officeDocument/2006/relationships/slide" Target="/ppt/slides/slide17.xml" Id="R2fd5eb83c4664028" /><Relationship Type="http://schemas.openxmlformats.org/officeDocument/2006/relationships/slide" Target="/ppt/slides/slide18.xml" Id="R576c6bebb10f4876" /><Relationship Type="http://schemas.openxmlformats.org/officeDocument/2006/relationships/slide" Target="/ppt/slides/slide19.xml" Id="Rb5186c978dd04b6f" /><Relationship Type="http://schemas.openxmlformats.org/officeDocument/2006/relationships/slide" Target="/ppt/slides/slide20.xml" Id="R9a9a79d33bb946ab" /><Relationship Type="http://schemas.openxmlformats.org/officeDocument/2006/relationships/slide" Target="/ppt/slides/slide21.xml" Id="R8269cc3c0f9f44e3" /><Relationship Type="http://schemas.openxmlformats.org/officeDocument/2006/relationships/slide" Target="/ppt/slides/slide22.xml" Id="R2d8ea3f68f37482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2b3e69c1fae465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62a352b8a0f43f3" /><Relationship Type="http://schemas.openxmlformats.org/officeDocument/2006/relationships/notesMaster" Target="/ppt/notesMasters/notesMaster1.xml" Id="R26ed1c3962064c3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df4e854217a4d26" /><Relationship Type="http://schemas.openxmlformats.org/officeDocument/2006/relationships/notesMaster" Target="/ppt/notesMasters/notesMaster1.xml" Id="Rf71fd19f32c4441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d82527e5b7c4feb" /><Relationship Type="http://schemas.openxmlformats.org/officeDocument/2006/relationships/notesMaster" Target="/ppt/notesMasters/notesMaster1.xml" Id="R964c2bc46320454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905adc2c9da4e7e" /><Relationship Type="http://schemas.openxmlformats.org/officeDocument/2006/relationships/notesMaster" Target="/ppt/notesMasters/notesMaster1.xml" Id="R4f8ed839152a450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880ab9c92b9469e" /><Relationship Type="http://schemas.openxmlformats.org/officeDocument/2006/relationships/notesMaster" Target="/ppt/notesMasters/notesMaster1.xml" Id="R6b64889328d649d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3206ae4a4d84fa9" /><Relationship Type="http://schemas.openxmlformats.org/officeDocument/2006/relationships/notesMaster" Target="/ppt/notesMasters/notesMaster1.xml" Id="Ra058d79e023d44f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45bf4d3c96448ae" /><Relationship Type="http://schemas.openxmlformats.org/officeDocument/2006/relationships/notesMaster" Target="/ppt/notesMasters/notesMaster1.xml" Id="R85524e1a6243452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ff298f6ca5144f1" /><Relationship Type="http://schemas.openxmlformats.org/officeDocument/2006/relationships/notesMaster" Target="/ppt/notesMasters/notesMaster1.xml" Id="R8e7505d6615a4c6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50b03da74774cfa" /><Relationship Type="http://schemas.openxmlformats.org/officeDocument/2006/relationships/notesMaster" Target="/ppt/notesMasters/notesMaster1.xml" Id="Rbfe6a95f33ba43f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1bd0fef9be14876" /><Relationship Type="http://schemas.openxmlformats.org/officeDocument/2006/relationships/notesMaster" Target="/ppt/notesMasters/notesMaster1.xml" Id="Rd6f921075b9249a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7fef7e09294437e" /><Relationship Type="http://schemas.openxmlformats.org/officeDocument/2006/relationships/notesMaster" Target="/ppt/notesMasters/notesMaster1.xml" Id="R050e20ef2a294e0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a7899370f224a50" /><Relationship Type="http://schemas.openxmlformats.org/officeDocument/2006/relationships/notesMaster" Target="/ppt/notesMasters/notesMaster1.xml" Id="R83d3ee68df0544d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aaf1d433fe94972" /><Relationship Type="http://schemas.openxmlformats.org/officeDocument/2006/relationships/notesMaster" Target="/ppt/notesMasters/notesMaster1.xml" Id="Rb6dd1cafd8d147d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61571087ada4ed2" /><Relationship Type="http://schemas.openxmlformats.org/officeDocument/2006/relationships/notesMaster" Target="/ppt/notesMasters/notesMaster1.xml" Id="R5e1f78d2d00246b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ab4f91eb20744e1" /><Relationship Type="http://schemas.openxmlformats.org/officeDocument/2006/relationships/notesMaster" Target="/ppt/notesMasters/notesMaster1.xml" Id="R5195083dba7344c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4f67eb4311940de" /><Relationship Type="http://schemas.openxmlformats.org/officeDocument/2006/relationships/notesMaster" Target="/ppt/notesMasters/notesMaster1.xml" Id="R78daa700638a4ab3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83d3bb1f6654a8f" /><Relationship Type="http://schemas.openxmlformats.org/officeDocument/2006/relationships/notesMaster" Target="/ppt/notesMasters/notesMaster1.xml" Id="Ra58f92cc3acc41bb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94972b77cf154cbe" /><Relationship Type="http://schemas.openxmlformats.org/officeDocument/2006/relationships/notesMaster" Target="/ppt/notesMasters/notesMaster1.xml" Id="R56ed4c9f257b4a32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0538072196084e53" /><Relationship Type="http://schemas.openxmlformats.org/officeDocument/2006/relationships/notesMaster" Target="/ppt/notesMasters/notesMaster1.xml" Id="R3aed13c973a344b6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41b7e1e3750a4dbb" /><Relationship Type="http://schemas.openxmlformats.org/officeDocument/2006/relationships/notesMaster" Target="/ppt/notesMasters/notesMaster1.xml" Id="R74753cf3a0e44a33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7bdb7fa6d339481d" /><Relationship Type="http://schemas.openxmlformats.org/officeDocument/2006/relationships/notesMaster" Target="/ppt/notesMasters/notesMaster1.xml" Id="R555d65c119c847fe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fd706c06fb0c4756" /><Relationship Type="http://schemas.openxmlformats.org/officeDocument/2006/relationships/notesMaster" Target="/ppt/notesMasters/notesMaster1.xml" Id="Ra5adb581ac334dc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ae6b4e8d90464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43cd6b55ee45a6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 type="blank">
  <p:cSld name="Le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umsplatzhalter 1">
            <a:extLst xmlns:a="http://schemas.openxmlformats.org/drawingml/2006/main">
              <a:ext uri="{FF2B5EF4-FFF2-40B4-BE49-F238E27FC236}">
                <a16:creationId xmlns:a16="http://schemas.microsoft.com/office/drawing/2014/main" id="{48D9F3DC-F7F6-5694-B924-1E4E2DEB40A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969A811-E436-43CE-BA75-4E2174801D49}" type="datetimeFigureOut">
              <a:t>13/06/2026</a:t>
            </a:fld>
          </a:p>
        </p:txBody>
      </p:sp>
      <p:sp>
        <p:nvSpPr>
          <p:cNvPr id="3" name="Fußzeilenplatzhalter 2">
            <a:extLst xmlns:a="http://schemas.openxmlformats.org/drawingml/2006/main">
              <a:ext uri="{FF2B5EF4-FFF2-40B4-BE49-F238E27FC236}">
                <a16:creationId xmlns:a16="http://schemas.microsoft.com/office/drawing/2014/main" id="{E57A03BC-0C7D-F9E4-7B2F-E2BA1B2B6E2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oliennummernplatzhalter 3">
            <a:extLst xmlns:a="http://schemas.openxmlformats.org/drawingml/2006/main">
              <a:ext uri="{FF2B5EF4-FFF2-40B4-BE49-F238E27FC236}">
                <a16:creationId xmlns:a16="http://schemas.microsoft.com/office/drawing/2014/main" id="{57925C47-55AD-9530-055B-6E2D84B0519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7483BAD-F72E-40C1-8986-E2F00D6EF422}" type="slidenum">
              <a:t>‹Nr.›</a:t>
            </a:fld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098ff2561324bd1" /><Relationship Type="http://schemas.openxmlformats.org/officeDocument/2006/relationships/slideLayout" Target="/ppt/slideLayouts/slideLayout1.xml" Id="Rb67dab4e87f24793" /><Relationship Type="http://schemas.openxmlformats.org/officeDocument/2006/relationships/slideLayout" Target="/ppt/slideLayouts/slideLayout2.xml" Id="Rf8062aeddc1f4de0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platzhalter 1">
            <a:extLst xmlns:a="http://schemas.openxmlformats.org/drawingml/2006/main">
              <a:ext uri="{FF2B5EF4-FFF2-40B4-BE49-F238E27FC236}">
                <a16:creationId xmlns:a16="http://schemas.microsoft.com/office/drawing/2014/main" id="{589BF7D4-72AF-2001-39A9-03B7DC731C3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4638"/>
            <a:ext cx="7886700" cy="9937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Mastertitelformat bearbeiten</a:t>
            </a:r>
          </a:p>
        </p:txBody>
      </p:sp>
      <p:sp>
        <p:nvSpPr>
          <p:cNvPr id="3" name="Foliennummernplatzhalter 2">
            <a:extLst xmlns:a="http://schemas.openxmlformats.org/drawingml/2006/main">
              <a:ext uri="{FF2B5EF4-FFF2-40B4-BE49-F238E27FC236}">
                <a16:creationId xmlns:a16="http://schemas.microsoft.com/office/drawing/2014/main" id="{96AFFD29-E3E9-762B-CE46-FC1A086B35A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457950" y="137319"/>
            <a:ext cx="2057400" cy="27463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3A171FE-A770-41BE-BA6E-8393C1639340}" type="slidenum">
              <a:t>‹Nr.›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67dab4e87f24793"/>
    <p:sldLayoutId xmlns:r="http://schemas.openxmlformats.org/officeDocument/2006/relationships" id="2147483650" r:id="Rf8062aeddc1f4de0"/>
  </p:sldLayoutIdLst>
  <p:hf sldNum="0" hdr="0" ftr="0" dt="0"/>
  <p:txStyles>
    <p:titleStyle>
      <a:lvl1pPr xmlns:a="http://schemas.openxmlformats.org/drawingml/2006/main" algn="ctr"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>
        <a:spcBef>
          <a:spcPts val="0"/>
        </a:spcBef>
        <a:buChar char="•"/>
        <a:defRPr sz="3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>
        <a:spcBef>
          <a:spcPts val="0"/>
        </a:spcBef>
        <a:buChar char="–"/>
        <a:defRPr sz="2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spcBef>
          <a:spcPts val="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spcBef>
          <a:spcPts val="0"/>
        </a:spcBef>
        <a:buChar char="–"/>
        <a:defRPr sz="20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spcBef>
          <a:spcPts val="0"/>
        </a:spcBef>
        <a:buChar char="»"/>
        <a:defRPr sz="20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073c97c0914a84" /><Relationship Type="http://schemas.openxmlformats.org/officeDocument/2006/relationships/notesSlide" Target="/ppt/notesSlides/notesSlide1.xml" Id="R30c206edb91f421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1b91908af9e483c" /><Relationship Type="http://schemas.openxmlformats.org/officeDocument/2006/relationships/notesSlide" Target="/ppt/notesSlides/notesSlide2.xml" Id="R350354b1ec3e4f2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03f9042d0664470" /><Relationship Type="http://schemas.openxmlformats.org/officeDocument/2006/relationships/notesSlide" Target="/ppt/notesSlides/notesSlide3.xml" Id="R759066020bc74db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66ece7efc1f48df" /><Relationship Type="http://schemas.openxmlformats.org/officeDocument/2006/relationships/notesSlide" Target="/ppt/notesSlides/notesSlide4.xml" Id="Rfa612b05d54d418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4e0d2673a84e31" /><Relationship Type="http://schemas.openxmlformats.org/officeDocument/2006/relationships/notesSlide" Target="/ppt/notesSlides/notesSlide5.xml" Id="R4a7f6b2c7aa34bc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ca8367c0644693" /><Relationship Type="http://schemas.openxmlformats.org/officeDocument/2006/relationships/notesSlide" Target="/ppt/notesSlides/notesSlide6.xml" Id="R676cb59af2df40c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57dd13c2c564416" /><Relationship Type="http://schemas.openxmlformats.org/officeDocument/2006/relationships/notesSlide" Target="/ppt/notesSlides/notesSlide7.xml" Id="Reeee460b52b5451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83c0efb94b4667" /><Relationship Type="http://schemas.openxmlformats.org/officeDocument/2006/relationships/notesSlide" Target="/ppt/notesSlides/notesSlide8.xml" Id="R1bac5d9352e248f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79eacc6fc4945c6" /><Relationship Type="http://schemas.openxmlformats.org/officeDocument/2006/relationships/image" Target="/ppt/media/image.png" Id="R299f3c5314304df3" /><Relationship Type="http://schemas.openxmlformats.org/officeDocument/2006/relationships/image" Target="/ppt/media/image2.png" Id="R9811249f6f01471f" /><Relationship Type="http://schemas.openxmlformats.org/officeDocument/2006/relationships/notesSlide" Target="/ppt/notesSlides/notesSlide9.xml" Id="Rd1bdcb9575de423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a41c85c21a42ba" /><Relationship Type="http://schemas.openxmlformats.org/officeDocument/2006/relationships/notesSlide" Target="/ppt/notesSlides/notesSlide10.xml" Id="Rea9b48579418470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97a2986a0714486" /><Relationship Type="http://schemas.openxmlformats.org/officeDocument/2006/relationships/image" Target="/ppt/media/image.png" Id="R62c0d48303b24a64" /><Relationship Type="http://schemas.openxmlformats.org/officeDocument/2006/relationships/image" Target="/ppt/media/image2.png" Id="R59c4f83ba7dc4233" /><Relationship Type="http://schemas.openxmlformats.org/officeDocument/2006/relationships/notesSlide" Target="/ppt/notesSlides/notesSlide11.xml" Id="Rb41948301c25410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3c8190de944ea4" /><Relationship Type="http://schemas.openxmlformats.org/officeDocument/2006/relationships/notesSlide" Target="/ppt/notesSlides/notesSlide12.xml" Id="R7118658779bf415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6bf942373e460b" /><Relationship Type="http://schemas.openxmlformats.org/officeDocument/2006/relationships/notesSlide" Target="/ppt/notesSlides/notesSlide13.xml" Id="R174f4a27bc77461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5667ef178b46cd" /><Relationship Type="http://schemas.openxmlformats.org/officeDocument/2006/relationships/notesSlide" Target="/ppt/notesSlides/notesSlide14.xml" Id="R7fc83603ba3447c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c3aca65c9c4198" /><Relationship Type="http://schemas.openxmlformats.org/officeDocument/2006/relationships/image" Target="/ppt/media/image3.png" Id="R1f7a1f8a0cd140fa" /><Relationship Type="http://schemas.openxmlformats.org/officeDocument/2006/relationships/notesSlide" Target="/ppt/notesSlides/notesSlide15.xml" Id="R1e7185449c2c4e4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b847d06c604cd7" /><Relationship Type="http://schemas.openxmlformats.org/officeDocument/2006/relationships/image" Target="/ppt/media/image4.png" Id="R06188bf2eb5a456a" /><Relationship Type="http://schemas.openxmlformats.org/officeDocument/2006/relationships/notesSlide" Target="/ppt/notesSlides/notesSlide16.xml" Id="Rbf1b9ece2c04429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de6cc6d8e94d2f" /><Relationship Type="http://schemas.openxmlformats.org/officeDocument/2006/relationships/notesSlide" Target="/ppt/notesSlides/notesSlide17.xml" Id="Ra4f2a220ad554aa5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ee1ad215e84333" /><Relationship Type="http://schemas.openxmlformats.org/officeDocument/2006/relationships/image" Target="/ppt/media/image5.png" Id="Reaab18067cd14d8c" /><Relationship Type="http://schemas.openxmlformats.org/officeDocument/2006/relationships/image" Target="/ppt/media/image6.png" Id="R610da078c0194916" /><Relationship Type="http://schemas.openxmlformats.org/officeDocument/2006/relationships/image" Target="/ppt/media/image7.png" Id="Rd8b7f364b733435d" /><Relationship Type="http://schemas.openxmlformats.org/officeDocument/2006/relationships/image" Target="/ppt/media/image8.png" Id="R2d11b8a884084567" /><Relationship Type="http://schemas.openxmlformats.org/officeDocument/2006/relationships/notesSlide" Target="/ppt/notesSlides/notesSlide18.xml" Id="Rf66f15f026f9495b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8a88136c4c4e22" /><Relationship Type="http://schemas.openxmlformats.org/officeDocument/2006/relationships/image" Target="/ppt/media/image9.png" Id="R5ffb8977a2b44dd1" /><Relationship Type="http://schemas.openxmlformats.org/officeDocument/2006/relationships/notesSlide" Target="/ppt/notesSlides/notesSlide19.xml" Id="R7c1fbfd3bd934304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4dc46ade9c4b8b" /><Relationship Type="http://schemas.openxmlformats.org/officeDocument/2006/relationships/image" Target="/ppt/media/image10.png" Id="R366a1922f7a649e8" /><Relationship Type="http://schemas.openxmlformats.org/officeDocument/2006/relationships/image" Target="/ppt/media/image11.png" Id="R804ce22c54954c3c" /><Relationship Type="http://schemas.openxmlformats.org/officeDocument/2006/relationships/notesSlide" Target="/ppt/notesSlides/notesSlide20.xml" Id="Rb85c87380bc74936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e181a9aa274de7" /><Relationship Type="http://schemas.openxmlformats.org/officeDocument/2006/relationships/notesSlide" Target="/ppt/notesSlides/notesSlide21.xml" Id="R49a8df9abab641f1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f2030b77df4eee" /><Relationship Type="http://schemas.openxmlformats.org/officeDocument/2006/relationships/notesSlide" Target="/ppt/notesSlides/notesSlide22.xml" Id="R67e005980b07497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11026F81-729F-448B-BC68-B19DE687E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9488"/>
          </a:solidFill>
          <a:ln xmlns:a="http://schemas.openxmlformats.org/drawingml/2006/main" w="12700">
            <a:solidFill>
              <a:srgbClr val="0D948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2F5581C6-5D77-4A0B-90E6-F563DF715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17920" y="-1097280"/>
            <a:ext cx="5029200" cy="5029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B8A6">
              <a:alpha val="12000"/>
            </a:srgbClr>
          </a:solidFill>
          <a:ln xmlns:a="http://schemas.openxmlformats.org/drawingml/2006/main" w="12700">
            <a:solidFill>
              <a:srgbClr val="0D9488">
                <a:alpha val="30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4D014F04-4416-44F9-A58C-EB25082F9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66560" y="-548640"/>
            <a:ext cx="3474720" cy="3474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B8A6">
              <a:alpha val="18000"/>
            </a:srgbClr>
          </a:solidFill>
          <a:ln xmlns:a="http://schemas.openxmlformats.org/drawingml/2006/main" w="12700">
            <a:solidFill>
              <a:srgbClr val="0D9488">
                <a:alpha val="40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174D0F4F-4E20-4381-BAA8-305C810A0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8640" y="1005840"/>
            <a:ext cx="2926080" cy="347472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D9488">
              <a:alpha val="85000"/>
            </a:srgbClr>
          </a:solidFill>
          <a:ln xmlns:a="http://schemas.openxmlformats.org/drawingml/2006/main" w="12700">
            <a:solidFill>
              <a:srgbClr val="0D948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510E5C5A-BAD1-40FC-8AD5-9AD6F7A33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8640" y="1005840"/>
            <a:ext cx="292608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Berufliche Hochschule Hamburg · Machine Learning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B3B8419E-4C76-4892-9946-4C1C66F25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572768"/>
            <a:ext cx="7863840" cy="1463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46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Evaluation von Q-Learning-Agenten in Blackjack</a:t>
            </a:r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E740E696-9986-4EBF-BAED-FD67976F6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8640" y="3200400"/>
            <a:ext cx="219456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9488"/>
          </a:solidFill>
          <a:ln xmlns:a="http://schemas.openxmlformats.org/drawingml/2006/main" w="12700">
            <a:solidFill>
              <a:srgbClr val="0D948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B33B347C-E009-4A74-9F54-A1BE18011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8640" y="3401568"/>
            <a:ext cx="54864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fld id="{6CF575FF-A673-7416-AF61-9FDC953294B3}" type="datetime4">
              <a:rPr sz="1600">
                <a:solidFill>
                  <a:srgbClr val="94A3B8"/>
                </a:solidFill>
                <a:latin typeface="Cambria"/>
                <a:ea typeface="Cambria"/>
                <a:cs typeface="Cambria"/>
              </a:rPr>
              <a:t>13. Juni 2026</a:t>
            </a:fld>
          </a:p>
          <a:p xmlns:a="http://schemas.openxmlformats.org/drawingml/2006/main">
            <a:pPr marL="0" indent="0" algn="l">
              <a:buNone/>
            </a:pPr>
            <a:r>
              <a:rPr sz="1600">
                <a:solidFill>
                  <a:srgbClr val="94A3B8"/>
                </a:solidFill>
                <a:latin typeface="Cambria"/>
                <a:ea typeface="Cambria"/>
                <a:cs typeface="Cambria"/>
              </a:rPr>
              <a:t>Arvid Freese · Linus Paliga · Tom Markmann</a:t>
            </a:r>
          </a:p>
        </p:txBody>
      </p:sp>
    </p:spTree>
    <p:extLst>
      <p:ext uri="{BB962C8B-B14F-4D97-AF65-F5344CB8AC3E}">
        <p14:creationId xmlns:p14="http://schemas.microsoft.com/office/powerpoint/2010/main" val="193199258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hape 0">
            <a:extLst xmlns:a="http://schemas.openxmlformats.org/drawingml/2006/main">
              <a:ext uri="{FF2B5EF4-FFF2-40B4-BE49-F238E27FC236}">
                <a16:creationId xmlns:a16="http://schemas.microsoft.com/office/drawing/2014/main" id="{B71ABA53-18A8-E2FB-1649-6DA25BA92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CB7DD163-71C7-501B-EEDE-1E8ECFEB9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9488"/>
          </a:solidFill>
          <a:ln xmlns:a="http://schemas.openxmlformats.org/drawingml/2006/main" w="12700">
            <a:solidFill>
              <a:srgbClr val="0D948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1755B9E8-F40A-73FF-E71A-F94649B82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4320"/>
            <a:ext cx="82296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5EEAD4"/>
                </a:solidFill>
                <a:latin typeface="Cambria"/>
                <a:ea typeface="Cambria"/>
                <a:cs typeface="Cambria"/>
              </a:rPr>
              <a:t>Agenda</a:t>
            </a:r>
          </a:p>
        </p:txBody>
      </p:sp>
      <p:sp>
        <p:nvSpPr>
          <p:cNvPr id="8" name="!!8">
            <a:extLst xmlns:a="http://schemas.openxmlformats.org/drawingml/2006/main">
              <a:ext uri="{FF2B5EF4-FFF2-40B4-BE49-F238E27FC236}">
                <a16:creationId xmlns:a16="http://schemas.microsoft.com/office/drawing/2014/main" id="{123F59CE-9B50-4F45-AA4C-AEBA3F2FA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1097280"/>
            <a:ext cx="2606040" cy="1463040"/>
          </a:xfrm>
          <a:prstGeom xmlns:a="http://schemas.openxmlformats.org/drawingml/2006/main" prst="roundRect">
            <a:avLst>
              <a:gd name="adj" fmla="val 8750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10B981">
                <a:alpha val="60000"/>
              </a:srgbClr>
            </a:solidFill>
            <a:prstDash val="solid"/>
          </a:ln>
          <a:effectLst xmlns:a="http://schemas.openxmlformats.org/drawingml/2006/main">
            <a:outerShdw blurRad="152400" dist="38100" dir="2700000" algn="bl" rotWithShape="0">
              <a:srgbClr val="000000">
                <a:alpha val="18000"/>
              </a:srgb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80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Ergebnisse</a:t>
            </a:r>
          </a:p>
          <a:p xmlns:a="http://schemas.openxmlformats.org/drawingml/2006/main">
            <a:pPr algn="ctr">
              <a:buNone/>
            </a:pPr>
            <a:r>
              <a:rPr sz="280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&amp; </a:t>
            </a:r>
            <a:r>
              <a:rPr sz="280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Fazit</a:t>
            </a:r>
          </a:p>
        </p:txBody>
      </p:sp>
      <p:sp>
        <p:nvSpPr>
          <p:cNvPr id="9" name="!!8">
            <a:extLst xmlns:a="http://schemas.openxmlformats.org/drawingml/2006/main">
              <a:ext uri="{FF2B5EF4-FFF2-40B4-BE49-F238E27FC236}">
                <a16:creationId xmlns:a16="http://schemas.microsoft.com/office/drawing/2014/main" id="{0041BA2D-FEE2-322A-F35E-39E4BC197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097280"/>
            <a:ext cx="2606040" cy="1463040"/>
          </a:xfrm>
          <a:prstGeom xmlns:a="http://schemas.openxmlformats.org/drawingml/2006/main" prst="roundRect">
            <a:avLst>
              <a:gd name="adj" fmla="val 8750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10B981">
                <a:alpha val="60000"/>
              </a:srgbClr>
            </a:solidFill>
            <a:prstDash val="solid"/>
          </a:ln>
          <a:effectLst xmlns:a="http://schemas.openxmlformats.org/drawingml/2006/main">
            <a:outerShdw blurRad="152400" dist="38100" dir="2700000" algn="bl" rotWithShape="0">
              <a:srgbClr val="000000">
                <a:alpha val="18000"/>
              </a:srgb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80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Methodik</a:t>
            </a:r>
          </a:p>
          <a:p xmlns:a="http://schemas.openxmlformats.org/drawingml/2006/main">
            <a:pPr algn="ctr">
              <a:buNone/>
            </a:pPr>
            <a:r>
              <a:rPr sz="280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&amp; Technik</a:t>
            </a:r>
          </a:p>
        </p:txBody>
      </p:sp>
      <p:sp>
        <p:nvSpPr>
          <p:cNvPr id="10" name="!!8">
            <a:extLst xmlns:a="http://schemas.openxmlformats.org/drawingml/2006/main">
              <a:ext uri="{FF2B5EF4-FFF2-40B4-BE49-F238E27FC236}">
                <a16:creationId xmlns:a16="http://schemas.microsoft.com/office/drawing/2014/main" id="{624EF8BD-5123-B14E-9611-6D4C02A55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1097280"/>
            <a:ext cx="2606040" cy="1463040"/>
          </a:xfrm>
          <a:prstGeom xmlns:a="http://schemas.openxmlformats.org/drawingml/2006/main" prst="roundRect">
            <a:avLst>
              <a:gd name="adj" fmla="val 8750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10B981">
                <a:alpha val="60000"/>
              </a:srgbClr>
            </a:solidFill>
            <a:prstDash val="solid"/>
          </a:ln>
          <a:effectLst xmlns:a="http://schemas.openxmlformats.org/drawingml/2006/main">
            <a:outerShdw blurRad="152400" dist="38100" dir="2700000" algn="bl" rotWithShape="0">
              <a:srgbClr val="000000">
                <a:alpha val="18000"/>
              </a:srgb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80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Motivation</a:t>
            </a:r>
          </a:p>
          <a:p xmlns:a="http://schemas.openxmlformats.org/drawingml/2006/main">
            <a:pPr algn="ctr">
              <a:buNone/>
            </a:pPr>
            <a:r>
              <a:rPr sz="280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&amp; </a:t>
            </a:r>
            <a:r>
              <a:rPr sz="280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Theorie</a:t>
            </a:r>
          </a:p>
        </p:txBody>
      </p:sp>
      <p:sp>
        <p:nvSpPr>
          <p:cNvPr id="11" name="!!6">
            <a:extLst xmlns:a="http://schemas.openxmlformats.org/drawingml/2006/main">
              <a:ext uri="{FF2B5EF4-FFF2-40B4-BE49-F238E27FC236}">
                <a16:creationId xmlns:a16="http://schemas.microsoft.com/office/drawing/2014/main" id="{F1F2025E-865D-F611-F616-5C9AC7A1B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2762250"/>
            <a:ext cx="2606040" cy="213360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12700">
            <a:solidFill>
              <a:srgbClr val="0D9488">
                <a:alpha val="40000"/>
              </a:srgbClr>
            </a:solidFill>
            <a:prstDash val="solid"/>
          </a:ln>
          <a:effectLst xmlns:a="http://schemas.openxmlformats.org/drawingml/2006/main">
            <a:outerShdw blurRad="101600" dist="25400" dir="2700000" algn="bl" rotWithShape="0">
              <a:srgbClr val="000000">
                <a:alpha val="14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20">
            <a:extLst xmlns:a="http://schemas.openxmlformats.org/drawingml/2006/main">
              <a:ext uri="{FF2B5EF4-FFF2-40B4-BE49-F238E27FC236}">
                <a16:creationId xmlns:a16="http://schemas.microsoft.com/office/drawing/2014/main" id="{403875D2-EE7E-FF3D-5E0D-9C28781EA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71800"/>
            <a:ext cx="19202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F172A"/>
                </a:solidFill>
                <a:latin typeface="Cambria"/>
                <a:ea typeface="Cambria"/>
                <a:cs typeface="Cambria"/>
              </a:rPr>
              <a:t>Blackjack </a:t>
            </a:r>
            <a:r>
              <a:rPr sz="1100" b="1">
                <a:solidFill>
                  <a:srgbClr val="0F172A"/>
                </a:solidFill>
                <a:latin typeface="Cambria"/>
                <a:ea typeface="Cambria"/>
                <a:cs typeface="Cambria"/>
              </a:rPr>
              <a:t>als</a:t>
            </a:r>
            <a:r>
              <a:rPr sz="1100" b="1">
                <a:solidFill>
                  <a:srgbClr val="0F172A"/>
                </a:solidFill>
                <a:latin typeface="Cambria"/>
                <a:ea typeface="Cambria"/>
                <a:cs typeface="Cambria"/>
              </a:rPr>
              <a:t> Markov-</a:t>
            </a:r>
            <a:r>
              <a:rPr sz="1100" b="1">
                <a:solidFill>
                  <a:srgbClr val="0F172A"/>
                </a:solidFill>
                <a:latin typeface="Cambria"/>
                <a:ea typeface="Cambria"/>
                <a:cs typeface="Cambria"/>
              </a:rPr>
              <a:t>Entscheidungsproblem</a:t>
            </a:r>
          </a:p>
        </p:txBody>
      </p:sp>
      <p:sp>
        <p:nvSpPr>
          <p:cNvPr id="13" name="Text 20">
            <a:extLst xmlns:a="http://schemas.openxmlformats.org/drawingml/2006/main">
              <a:ext uri="{FF2B5EF4-FFF2-40B4-BE49-F238E27FC236}">
                <a16:creationId xmlns:a16="http://schemas.microsoft.com/office/drawing/2014/main" id="{FE80A8B2-292A-3956-7839-F936C453D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46170"/>
            <a:ext cx="19202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r>
              <a:rPr sz="1100" b="1">
                <a:solidFill>
                  <a:srgbClr val="0F172A"/>
                </a:solidFill>
                <a:latin typeface="Cambria"/>
                <a:ea typeface="Cambria"/>
                <a:cs typeface="Cambria"/>
              </a:rPr>
              <a:t>Stochastische Abhängigkeiten und das Hi-Lo-Verfahren</a:t>
            </a:r>
          </a:p>
        </p:txBody>
      </p:sp>
      <p:sp>
        <p:nvSpPr>
          <p:cNvPr id="14" name="Text 20">
            <a:extLst xmlns:a="http://schemas.openxmlformats.org/drawingml/2006/main">
              <a:ext uri="{FF2B5EF4-FFF2-40B4-BE49-F238E27FC236}">
                <a16:creationId xmlns:a16="http://schemas.microsoft.com/office/drawing/2014/main" id="{DD96DEBF-40BE-A114-1224-7532DF956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75023"/>
            <a:ext cx="19202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r>
              <a:rPr sz="1100" b="1">
                <a:solidFill>
                  <a:srgbClr val="0F172A"/>
                </a:solidFill>
                <a:latin typeface="Cambria"/>
                <a:ea typeface="Cambria"/>
                <a:cs typeface="Cambria"/>
              </a:rPr>
              <a:t>Forschungsfragen und Restriktionen der Umgebung</a:t>
            </a:r>
          </a:p>
        </p:txBody>
      </p:sp>
      <p:sp>
        <p:nvSpPr>
          <p:cNvPr id="16" name="Shape 16">
            <a:extLst xmlns:a="http://schemas.openxmlformats.org/drawingml/2006/main">
              <a:ext uri="{FF2B5EF4-FFF2-40B4-BE49-F238E27FC236}">
                <a16:creationId xmlns:a16="http://schemas.microsoft.com/office/drawing/2014/main" id="{D04B4ED9-FA69-6E43-9429-276CA33FA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0060" y="4375023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9488"/>
          </a:solidFill>
          <a:ln xmlns:a="http://schemas.openxmlformats.org/drawingml/2006/main" w="12700">
            <a:solidFill>
              <a:srgbClr val="0D948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7">
            <a:extLst xmlns:a="http://schemas.openxmlformats.org/drawingml/2006/main">
              <a:ext uri="{FF2B5EF4-FFF2-40B4-BE49-F238E27FC236}">
                <a16:creationId xmlns:a16="http://schemas.microsoft.com/office/drawing/2014/main" id="{C4AC0962-FD19-2864-FA69-593B56EE0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0060" y="4375023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chemeClr val="bg1"/>
                </a:solidFill>
                <a:latin typeface="Cambria"/>
                <a:ea typeface="Cambria"/>
                <a:cs typeface="Cambria"/>
              </a:rPr>
              <a:t>1.3</a:t>
            </a:r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B8A7367B-112F-D08D-D7ED-0C388AA6A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0060" y="3646170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9488"/>
          </a:solidFill>
          <a:ln xmlns:a="http://schemas.openxmlformats.org/drawingml/2006/main" w="12700">
            <a:solidFill>
              <a:srgbClr val="0D948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F71815B6-F92E-8158-E60C-2D41480A5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0060" y="3646170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chemeClr val="bg1"/>
                </a:solidFill>
                <a:latin typeface="Cambria"/>
                <a:ea typeface="Cambria"/>
                <a:cs typeface="Cambria"/>
              </a:rPr>
              <a:t>1.2</a:t>
            </a:r>
          </a:p>
        </p:txBody>
      </p:sp>
      <p:sp>
        <p:nvSpPr>
          <p:cNvPr id="22" name="Shape 16">
            <a:extLst xmlns:a="http://schemas.openxmlformats.org/drawingml/2006/main">
              <a:ext uri="{FF2B5EF4-FFF2-40B4-BE49-F238E27FC236}">
                <a16:creationId xmlns:a16="http://schemas.microsoft.com/office/drawing/2014/main" id="{DC0402A0-5C01-D27C-4102-454C1430F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0060" y="2967990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9488"/>
          </a:solidFill>
          <a:ln xmlns:a="http://schemas.openxmlformats.org/drawingml/2006/main" w="12700">
            <a:solidFill>
              <a:srgbClr val="0D948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Text 17">
            <a:extLst xmlns:a="http://schemas.openxmlformats.org/drawingml/2006/main">
              <a:ext uri="{FF2B5EF4-FFF2-40B4-BE49-F238E27FC236}">
                <a16:creationId xmlns:a16="http://schemas.microsoft.com/office/drawing/2014/main" id="{CE1B8D51-4C82-5585-E43B-B06C99A6E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0060" y="2967990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chemeClr val="bg1"/>
                </a:solidFill>
                <a:latin typeface="Cambria"/>
                <a:ea typeface="Cambria"/>
                <a:cs typeface="Cambria"/>
              </a:rPr>
              <a:t>1.1</a:t>
            </a:r>
          </a:p>
        </p:txBody>
      </p:sp>
      <p:sp>
        <p:nvSpPr>
          <p:cNvPr id="24" name="!!6">
            <a:extLst xmlns:a="http://schemas.openxmlformats.org/drawingml/2006/main">
              <a:ext uri="{FF2B5EF4-FFF2-40B4-BE49-F238E27FC236}">
                <a16:creationId xmlns:a16="http://schemas.microsoft.com/office/drawing/2014/main" id="{9815779C-099E-C1A4-59D2-2995A6A89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762250"/>
            <a:ext cx="2606040" cy="213360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12700">
            <a:solidFill>
              <a:srgbClr val="0D9488">
                <a:alpha val="40000"/>
              </a:srgbClr>
            </a:solidFill>
            <a:prstDash val="solid"/>
          </a:ln>
          <a:effectLst xmlns:a="http://schemas.openxmlformats.org/drawingml/2006/main">
            <a:outerShdw blurRad="101600" dist="25400" dir="2700000" algn="bl" rotWithShape="0">
              <a:srgbClr val="000000">
                <a:alpha val="14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Text 20">
            <a:extLst xmlns:a="http://schemas.openxmlformats.org/drawingml/2006/main">
              <a:ext uri="{FF2B5EF4-FFF2-40B4-BE49-F238E27FC236}">
                <a16:creationId xmlns:a16="http://schemas.microsoft.com/office/drawing/2014/main" id="{E0D07740-447C-8420-8FB0-5475B2DD7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9040" y="2971800"/>
            <a:ext cx="19202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r>
              <a:rPr sz="1100" b="1">
                <a:solidFill>
                  <a:srgbClr val="0F172A"/>
                </a:solidFill>
                <a:latin typeface="Cambria"/>
                <a:ea typeface="Cambria"/>
                <a:cs typeface="Cambria"/>
              </a:rPr>
              <a:t>Definition der Zustandsräume im Vergleich</a:t>
            </a:r>
          </a:p>
        </p:txBody>
      </p:sp>
      <p:sp>
        <p:nvSpPr>
          <p:cNvPr id="26" name="Text 20">
            <a:extLst xmlns:a="http://schemas.openxmlformats.org/drawingml/2006/main">
              <a:ext uri="{FF2B5EF4-FFF2-40B4-BE49-F238E27FC236}">
                <a16:creationId xmlns:a16="http://schemas.microsoft.com/office/drawing/2014/main" id="{CE830891-8613-599C-737E-0E54AEBE7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9040" y="3646170"/>
            <a:ext cx="19202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r>
              <a:rPr sz="1100" b="1">
                <a:solidFill>
                  <a:srgbClr val="0F172A"/>
                </a:solidFill>
                <a:latin typeface="Cambria"/>
                <a:ea typeface="Cambria"/>
                <a:cs typeface="Cambria"/>
              </a:rPr>
              <a:t>Tabellarisches</a:t>
            </a:r>
            <a:r>
              <a:rPr sz="1100" b="1">
                <a:solidFill>
                  <a:srgbClr val="0F172A"/>
                </a:solidFill>
                <a:latin typeface="Cambria"/>
                <a:ea typeface="Cambria"/>
                <a:cs typeface="Cambria"/>
              </a:rPr>
              <a:t> Q-Learning und </a:t>
            </a:r>
            <a:r>
              <a:rPr sz="1100" b="1">
                <a:solidFill>
                  <a:srgbClr val="0F172A"/>
                </a:solidFill>
                <a:latin typeface="Cambria"/>
                <a:ea typeface="Cambria"/>
                <a:cs typeface="Cambria"/>
              </a:rPr>
              <a:t>Zustandsexplosion</a:t>
            </a:r>
          </a:p>
        </p:txBody>
      </p:sp>
      <p:sp>
        <p:nvSpPr>
          <p:cNvPr id="27" name="Text 20">
            <a:extLst xmlns:a="http://schemas.openxmlformats.org/drawingml/2006/main">
              <a:ext uri="{FF2B5EF4-FFF2-40B4-BE49-F238E27FC236}">
                <a16:creationId xmlns:a16="http://schemas.microsoft.com/office/drawing/2014/main" id="{0DE3E544-5D84-B9E3-E677-1F77C6487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9039" y="4375023"/>
            <a:ext cx="1972851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r>
              <a:rPr sz="1100" b="1">
                <a:solidFill>
                  <a:srgbClr val="0F172A"/>
                </a:solidFill>
                <a:latin typeface="Cambria"/>
                <a:ea typeface="Cambria"/>
                <a:cs typeface="Cambria"/>
              </a:rPr>
              <a:t>Hyperparameter-</a:t>
            </a:r>
            <a:r>
              <a:rPr sz="1100" b="1">
                <a:solidFill>
                  <a:srgbClr val="0F172A"/>
                </a:solidFill>
                <a:latin typeface="Cambria"/>
                <a:ea typeface="Cambria"/>
                <a:cs typeface="Cambria"/>
              </a:rPr>
              <a:t>Optimierung</a:t>
            </a:r>
            <a:r>
              <a:rPr sz="1100" b="1">
                <a:solidFill>
                  <a:srgbClr val="0F172A"/>
                </a:solidFill>
                <a:latin typeface="Cambria"/>
                <a:ea typeface="Cambria"/>
                <a:cs typeface="Cambria"/>
              </a:rPr>
              <a:t> und Trainings-Setup</a:t>
            </a:r>
          </a:p>
        </p:txBody>
      </p:sp>
      <p:sp>
        <p:nvSpPr>
          <p:cNvPr id="29" name="Shape 16">
            <a:extLst xmlns:a="http://schemas.openxmlformats.org/drawingml/2006/main">
              <a:ext uri="{FF2B5EF4-FFF2-40B4-BE49-F238E27FC236}">
                <a16:creationId xmlns:a16="http://schemas.microsoft.com/office/drawing/2014/main" id="{B0193480-B4FA-4DF1-BFE6-30E6015F0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14700" y="4375023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9488"/>
          </a:solidFill>
          <a:ln xmlns:a="http://schemas.openxmlformats.org/drawingml/2006/main" w="12700">
            <a:solidFill>
              <a:srgbClr val="0D948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Text 17">
            <a:extLst xmlns:a="http://schemas.openxmlformats.org/drawingml/2006/main">
              <a:ext uri="{FF2B5EF4-FFF2-40B4-BE49-F238E27FC236}">
                <a16:creationId xmlns:a16="http://schemas.microsoft.com/office/drawing/2014/main" id="{C2253EAA-6C34-323C-63EE-3FD744C25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14700" y="4375023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chemeClr val="bg1"/>
                </a:solidFill>
                <a:latin typeface="Cambria"/>
                <a:ea typeface="Cambria"/>
                <a:cs typeface="Cambria"/>
              </a:rPr>
              <a:t>2.3</a:t>
            </a:r>
          </a:p>
        </p:txBody>
      </p:sp>
      <p:sp>
        <p:nvSpPr>
          <p:cNvPr id="32" name="Shape 16">
            <a:extLst xmlns:a="http://schemas.openxmlformats.org/drawingml/2006/main">
              <a:ext uri="{FF2B5EF4-FFF2-40B4-BE49-F238E27FC236}">
                <a16:creationId xmlns:a16="http://schemas.microsoft.com/office/drawing/2014/main" id="{27B860DA-678E-BDEB-2D35-DB921E6DB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14700" y="3646170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9488"/>
          </a:solidFill>
          <a:ln xmlns:a="http://schemas.openxmlformats.org/drawingml/2006/main" w="12700">
            <a:solidFill>
              <a:srgbClr val="0D948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Text 17">
            <a:extLst xmlns:a="http://schemas.openxmlformats.org/drawingml/2006/main">
              <a:ext uri="{FF2B5EF4-FFF2-40B4-BE49-F238E27FC236}">
                <a16:creationId xmlns:a16="http://schemas.microsoft.com/office/drawing/2014/main" id="{4CB518B5-4B09-3C4D-25D9-70F34F7B5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14700" y="3646170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chemeClr val="bg1"/>
                </a:solidFill>
                <a:latin typeface="Cambria"/>
                <a:ea typeface="Cambria"/>
                <a:cs typeface="Cambria"/>
              </a:rPr>
              <a:t>2.2</a:t>
            </a:r>
          </a:p>
        </p:txBody>
      </p:sp>
      <p:sp>
        <p:nvSpPr>
          <p:cNvPr id="35" name="Shape 16">
            <a:extLst xmlns:a="http://schemas.openxmlformats.org/drawingml/2006/main">
              <a:ext uri="{FF2B5EF4-FFF2-40B4-BE49-F238E27FC236}">
                <a16:creationId xmlns:a16="http://schemas.microsoft.com/office/drawing/2014/main" id="{A379B633-7EA4-4F6B-169A-A138FD454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14700" y="2967990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9488"/>
          </a:solidFill>
          <a:ln xmlns:a="http://schemas.openxmlformats.org/drawingml/2006/main" w="12700">
            <a:solidFill>
              <a:srgbClr val="0D948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Text 17">
            <a:extLst xmlns:a="http://schemas.openxmlformats.org/drawingml/2006/main">
              <a:ext uri="{FF2B5EF4-FFF2-40B4-BE49-F238E27FC236}">
                <a16:creationId xmlns:a16="http://schemas.microsoft.com/office/drawing/2014/main" id="{2B509A44-690E-A175-6851-D9EF82C52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14700" y="2967990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chemeClr val="bg1"/>
                </a:solidFill>
                <a:latin typeface="Cambria"/>
                <a:ea typeface="Cambria"/>
                <a:cs typeface="Cambria"/>
              </a:rPr>
              <a:t>2.1</a:t>
            </a:r>
          </a:p>
        </p:txBody>
      </p:sp>
      <p:sp>
        <p:nvSpPr>
          <p:cNvPr id="37" name="!!6">
            <a:extLst xmlns:a="http://schemas.openxmlformats.org/drawingml/2006/main">
              <a:ext uri="{FF2B5EF4-FFF2-40B4-BE49-F238E27FC236}">
                <a16:creationId xmlns:a16="http://schemas.microsoft.com/office/drawing/2014/main" id="{BAFFB33E-7D2C-789E-5563-BFB8F4D19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2762250"/>
            <a:ext cx="2606040" cy="213360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12700">
            <a:solidFill>
              <a:srgbClr val="0D9488">
                <a:alpha val="40000"/>
              </a:srgbClr>
            </a:solidFill>
            <a:prstDash val="solid"/>
          </a:ln>
          <a:effectLst xmlns:a="http://schemas.openxmlformats.org/drawingml/2006/main">
            <a:outerShdw blurRad="101600" dist="25400" dir="2700000" algn="bl" rotWithShape="0">
              <a:srgbClr val="000000">
                <a:alpha val="14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8" name="Text 20">
            <a:extLst xmlns:a="http://schemas.openxmlformats.org/drawingml/2006/main">
              <a:ext uri="{FF2B5EF4-FFF2-40B4-BE49-F238E27FC236}">
                <a16:creationId xmlns:a16="http://schemas.microsoft.com/office/drawing/2014/main" id="{31C505CA-6BA0-E62B-A1CB-EA7E36FFC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4375567"/>
            <a:ext cx="20802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r>
              <a:rPr sz="1100" b="1">
                <a:solidFill>
                  <a:srgbClr val="0F172A"/>
                </a:solidFill>
                <a:latin typeface="Cambria"/>
                <a:ea typeface="Cambria"/>
                <a:cs typeface="Cambria"/>
              </a:rPr>
              <a:t>Forschungsfragen, Fazit und Ausblick</a:t>
            </a:r>
          </a:p>
        </p:txBody>
      </p:sp>
      <p:sp>
        <p:nvSpPr>
          <p:cNvPr id="40" name="Shape 16">
            <a:extLst xmlns:a="http://schemas.openxmlformats.org/drawingml/2006/main">
              <a:ext uri="{FF2B5EF4-FFF2-40B4-BE49-F238E27FC236}">
                <a16:creationId xmlns:a16="http://schemas.microsoft.com/office/drawing/2014/main" id="{11955EBD-E3CF-3354-14BC-6EAE5EB6B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49340" y="4375023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9488"/>
          </a:solidFill>
          <a:ln xmlns:a="http://schemas.openxmlformats.org/drawingml/2006/main" w="12700">
            <a:solidFill>
              <a:srgbClr val="0D948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1" name="Text 17">
            <a:extLst xmlns:a="http://schemas.openxmlformats.org/drawingml/2006/main">
              <a:ext uri="{FF2B5EF4-FFF2-40B4-BE49-F238E27FC236}">
                <a16:creationId xmlns:a16="http://schemas.microsoft.com/office/drawing/2014/main" id="{5FC8C5BD-30B5-E3F5-9768-89C24A59F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49340" y="4375023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chemeClr val="bg1"/>
                </a:solidFill>
                <a:latin typeface="Cambria"/>
                <a:ea typeface="Cambria"/>
                <a:cs typeface="Cambria"/>
              </a:rPr>
              <a:t>3.4</a:t>
            </a:r>
          </a:p>
        </p:txBody>
      </p:sp>
      <p:sp>
        <p:nvSpPr>
          <p:cNvPr id="43" name="Shape 16">
            <a:extLst xmlns:a="http://schemas.openxmlformats.org/drawingml/2006/main">
              <a:ext uri="{FF2B5EF4-FFF2-40B4-BE49-F238E27FC236}">
                <a16:creationId xmlns:a16="http://schemas.microsoft.com/office/drawing/2014/main" id="{B5B6446F-B949-66EB-F323-F85328E39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49340" y="3907282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9488"/>
          </a:solidFill>
          <a:ln xmlns:a="http://schemas.openxmlformats.org/drawingml/2006/main" w="12700">
            <a:solidFill>
              <a:srgbClr val="0D948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4" name="Text 17">
            <a:extLst xmlns:a="http://schemas.openxmlformats.org/drawingml/2006/main">
              <a:ext uri="{FF2B5EF4-FFF2-40B4-BE49-F238E27FC236}">
                <a16:creationId xmlns:a16="http://schemas.microsoft.com/office/drawing/2014/main" id="{F4E044C8-FFCC-7948-5926-971E69710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49340" y="3907282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chemeClr val="bg1"/>
                </a:solidFill>
                <a:latin typeface="Cambria"/>
                <a:ea typeface="Cambria"/>
                <a:cs typeface="Cambria"/>
              </a:rPr>
              <a:t>3.3</a:t>
            </a:r>
          </a:p>
        </p:txBody>
      </p:sp>
      <p:sp>
        <p:nvSpPr>
          <p:cNvPr id="46" name="Shape 16">
            <a:extLst xmlns:a="http://schemas.openxmlformats.org/drawingml/2006/main">
              <a:ext uri="{FF2B5EF4-FFF2-40B4-BE49-F238E27FC236}">
                <a16:creationId xmlns:a16="http://schemas.microsoft.com/office/drawing/2014/main" id="{C10F29FF-F99E-BA13-AA8E-ACA40FFCC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49340" y="2971800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9488"/>
          </a:solidFill>
          <a:ln xmlns:a="http://schemas.openxmlformats.org/drawingml/2006/main" w="12700">
            <a:solidFill>
              <a:srgbClr val="0D948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7" name="Text 17">
            <a:extLst xmlns:a="http://schemas.openxmlformats.org/drawingml/2006/main">
              <a:ext uri="{FF2B5EF4-FFF2-40B4-BE49-F238E27FC236}">
                <a16:creationId xmlns:a16="http://schemas.microsoft.com/office/drawing/2014/main" id="{74823AC8-3C37-C18C-7C50-5B4BB4DA0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49340" y="2971800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chemeClr val="bg1"/>
                </a:solidFill>
                <a:latin typeface="Cambria"/>
                <a:ea typeface="Cambria"/>
                <a:cs typeface="Cambria"/>
              </a:rPr>
              <a:t>3.1</a:t>
            </a:r>
          </a:p>
        </p:txBody>
      </p:sp>
      <p:sp>
        <p:nvSpPr>
          <p:cNvPr id="49" name="Shape 16">
            <a:extLst xmlns:a="http://schemas.openxmlformats.org/drawingml/2006/main">
              <a:ext uri="{FF2B5EF4-FFF2-40B4-BE49-F238E27FC236}">
                <a16:creationId xmlns:a16="http://schemas.microsoft.com/office/drawing/2014/main" id="{B5782562-677F-9607-58BC-EF71A8621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49340" y="3439541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9488"/>
          </a:solidFill>
          <a:ln xmlns:a="http://schemas.openxmlformats.org/drawingml/2006/main" w="12700">
            <a:solidFill>
              <a:srgbClr val="0D948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0" name="Text 17">
            <a:extLst xmlns:a="http://schemas.openxmlformats.org/drawingml/2006/main">
              <a:ext uri="{FF2B5EF4-FFF2-40B4-BE49-F238E27FC236}">
                <a16:creationId xmlns:a16="http://schemas.microsoft.com/office/drawing/2014/main" id="{80162EA6-A698-64C8-CCE5-EBF5CF16C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49340" y="3439541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chemeClr val="bg1"/>
                </a:solidFill>
                <a:latin typeface="Cambria"/>
                <a:ea typeface="Cambria"/>
                <a:cs typeface="Cambria"/>
              </a:rPr>
              <a:t>3.2</a:t>
            </a:r>
          </a:p>
        </p:txBody>
      </p:sp>
      <p:sp>
        <p:nvSpPr>
          <p:cNvPr id="51" name="Text 20">
            <a:extLst xmlns:a="http://schemas.openxmlformats.org/drawingml/2006/main">
              <a:ext uri="{FF2B5EF4-FFF2-40B4-BE49-F238E27FC236}">
                <a16:creationId xmlns:a16="http://schemas.microsoft.com/office/drawing/2014/main" id="{B5C5604F-D95C-DC53-FC0A-6F85D1976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3907282"/>
            <a:ext cx="2057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r>
              <a:rPr sz="1100" b="1">
                <a:solidFill>
                  <a:srgbClr val="0F172A"/>
                </a:solidFill>
                <a:latin typeface="Cambria"/>
                <a:ea typeface="Cambria"/>
                <a:cs typeface="Cambria"/>
              </a:rPr>
              <a:t>Analyse des Agentenverhaltens</a:t>
            </a:r>
          </a:p>
        </p:txBody>
      </p:sp>
      <p:sp>
        <p:nvSpPr>
          <p:cNvPr id="52" name="Text 20">
            <a:extLst xmlns:a="http://schemas.openxmlformats.org/drawingml/2006/main">
              <a:ext uri="{FF2B5EF4-FFF2-40B4-BE49-F238E27FC236}">
                <a16:creationId xmlns:a16="http://schemas.microsoft.com/office/drawing/2014/main" id="{713B5A36-9F7C-12AD-C931-77F01FAC5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3439541"/>
            <a:ext cx="19202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r>
              <a:rPr sz="1100" b="1">
                <a:solidFill>
                  <a:srgbClr val="0F172A"/>
                </a:solidFill>
                <a:latin typeface="Cambria"/>
                <a:ea typeface="Cambria"/>
                <a:cs typeface="Cambria"/>
              </a:rPr>
              <a:t>Evaluation der Performance und statistische Signifikanz</a:t>
            </a:r>
          </a:p>
        </p:txBody>
      </p:sp>
      <p:sp>
        <p:nvSpPr>
          <p:cNvPr id="53" name="Text 20">
            <a:extLst xmlns:a="http://schemas.openxmlformats.org/drawingml/2006/main">
              <a:ext uri="{FF2B5EF4-FFF2-40B4-BE49-F238E27FC236}">
                <a16:creationId xmlns:a16="http://schemas.microsoft.com/office/drawing/2014/main" id="{6E90DE5E-5E8A-EACB-AF16-CC4014E83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2962656"/>
            <a:ext cx="19202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r>
              <a:rPr sz="1100" b="1">
                <a:solidFill>
                  <a:srgbClr val="0F172A"/>
                </a:solidFill>
                <a:latin typeface="Cambria"/>
                <a:ea typeface="Cambria"/>
                <a:cs typeface="Cambria"/>
              </a:rPr>
              <a:t>Lernkurven</a:t>
            </a:r>
            <a:r>
              <a:rPr sz="1100" b="1">
                <a:solidFill>
                  <a:srgbClr val="0F172A"/>
                </a:solidFill>
                <a:latin typeface="Cambria"/>
                <a:ea typeface="Cambria"/>
                <a:cs typeface="Cambria"/>
              </a:rPr>
              <a:t> und </a:t>
            </a:r>
            <a:r>
              <a:rPr sz="1100" b="1">
                <a:solidFill>
                  <a:srgbClr val="0F172A"/>
                </a:solidFill>
                <a:latin typeface="Cambria"/>
                <a:ea typeface="Cambria"/>
                <a:cs typeface="Cambria"/>
              </a:rPr>
              <a:t>Zustandswachstum</a:t>
            </a:r>
          </a:p>
        </p:txBody>
      </p:sp>
    </p:spTree>
    <p:extLst>
      <p:ext uri="{BB962C8B-B14F-4D97-AF65-F5344CB8AC3E}">
        <p14:creationId xmlns:p14="http://schemas.microsoft.com/office/powerpoint/2010/main" val="202918031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4" name="Shape 6">
            <a:extLst xmlns:a="http://schemas.openxmlformats.org/drawingml/2006/main">
              <a:ext uri="{FF2B5EF4-FFF2-40B4-BE49-F238E27FC236}">
                <a16:creationId xmlns:a16="http://schemas.microsoft.com/office/drawing/2014/main" id="{99D68CDA-25CE-6D40-4047-05D03873E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0320" y="3794224"/>
            <a:ext cx="1600200" cy="658368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10B981">
                <a:alpha val="60000"/>
              </a:srgbClr>
            </a:solidFill>
            <a:prstDash val="solid"/>
          </a:ln>
          <a:effectLst xmlns:a="http://schemas.openxmlformats.org/drawingml/2006/main">
            <a:outerShdw blurRad="152400" dist="38100" dir="2700000" algn="bl" rotWithShape="0">
              <a:srgbClr val="000000">
                <a:alpha val="1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7" name="Shape 9">
            <a:extLst xmlns:a="http://schemas.openxmlformats.org/drawingml/2006/main">
              <a:ext uri="{FF2B5EF4-FFF2-40B4-BE49-F238E27FC236}">
                <a16:creationId xmlns:a16="http://schemas.microsoft.com/office/drawing/2014/main" id="{2308C4C8-C1AC-93FE-CEBA-6505DC608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3794224"/>
            <a:ext cx="1600200" cy="658368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10B981">
                <a:alpha val="60000"/>
              </a:srgbClr>
            </a:solidFill>
            <a:prstDash val="solid"/>
          </a:ln>
          <a:effectLst xmlns:a="http://schemas.openxmlformats.org/drawingml/2006/main">
            <a:outerShdw blurRad="152400" dist="38100" dir="2700000" algn="bl" rotWithShape="0">
              <a:srgbClr val="000000">
                <a:alpha val="1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1" name="Shape 3">
            <a:extLst xmlns:a="http://schemas.openxmlformats.org/drawingml/2006/main">
              <a:ext uri="{FF2B5EF4-FFF2-40B4-BE49-F238E27FC236}">
                <a16:creationId xmlns:a16="http://schemas.microsoft.com/office/drawing/2014/main" id="{8B06954B-74C6-499F-80E5-1B01FEE48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3794224"/>
            <a:ext cx="1600200" cy="658368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10B981">
                <a:alpha val="60000"/>
              </a:srgbClr>
            </a:solidFill>
            <a:prstDash val="solid"/>
          </a:ln>
          <a:effectLst xmlns:a="http://schemas.openxmlformats.org/drawingml/2006/main">
            <a:outerShdw blurRad="152400" dist="38100" dir="2700000" algn="bl" rotWithShape="0">
              <a:srgbClr val="000000">
                <a:alpha val="1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0">
            <a:extLst xmlns:a="http://schemas.openxmlformats.org/drawingml/2006/main">
              <a:ext uri="{FF2B5EF4-FFF2-40B4-BE49-F238E27FC236}">
                <a16:creationId xmlns:a16="http://schemas.microsoft.com/office/drawing/2014/main" id="{AAD4B681-F2BD-6ACA-FFD0-EE307FB7D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AFBC9068-832B-28CC-113F-8C34C1D87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9488"/>
          </a:solidFill>
          <a:ln xmlns:a="http://schemas.openxmlformats.org/drawingml/2006/main" w="12700">
            <a:solidFill>
              <a:srgbClr val="0D948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A17E7C67-F351-1799-21B0-5F3E9CEE5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4320"/>
            <a:ext cx="82296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r>
              <a:rPr sz="2600" b="1">
                <a:solidFill>
                  <a:srgbClr val="5EEAD4"/>
                </a:solidFill>
                <a:latin typeface="Cambria"/>
                <a:ea typeface="Cambria"/>
                <a:cs typeface="Cambria"/>
              </a:rPr>
              <a:t>Blackjack als MDP: Zustand und Aktionen</a:t>
            </a:r>
          </a:p>
        </p:txBody>
      </p:sp>
      <p:sp>
        <p:nvSpPr>
          <p:cNvPr id="9" name="Text 3">
            <a:extLst xmlns:a="http://schemas.openxmlformats.org/drawingml/2006/main">
              <a:ext uri="{FF2B5EF4-FFF2-40B4-BE49-F238E27FC236}">
                <a16:creationId xmlns:a16="http://schemas.microsoft.com/office/drawing/2014/main" id="{435F46E5-D3BF-1E63-2D33-5B5EC8189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7670" y="54864"/>
            <a:ext cx="231913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fld id="{202359C0-8A7A-196E-DD58-8E6569619F09}" type="slidenum">
              <a:rPr sz="9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3</a:t>
            </a:fld>
          </a:p>
        </p:txBody>
      </p:sp>
      <p:sp>
        <p:nvSpPr>
          <p:cNvPr id="10" name="Text 3">
            <a:extLst xmlns:a="http://schemas.openxmlformats.org/drawingml/2006/main">
              <a:ext uri="{FF2B5EF4-FFF2-40B4-BE49-F238E27FC236}">
                <a16:creationId xmlns:a16="http://schemas.microsoft.com/office/drawing/2014/main" id="{73826787-C314-4516-D88B-B6C0452CB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2435" y="60960"/>
            <a:ext cx="231913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BHH · Machine Learning</a:t>
            </a:r>
          </a:p>
        </p:txBody>
      </p:sp>
      <p:sp>
        <p:nvSpPr>
          <p:cNvPr id="11" name="Text 3">
            <a:extLst xmlns:a="http://schemas.openxmlformats.org/drawingml/2006/main">
              <a:ext uri="{FF2B5EF4-FFF2-40B4-BE49-F238E27FC236}">
                <a16:creationId xmlns:a16="http://schemas.microsoft.com/office/drawing/2014/main" id="{0EADFE9E-1379-4945-3246-6C4A474C4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"/>
            <a:ext cx="231913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Motivation &amp; </a:t>
            </a:r>
            <a:r>
              <a:rPr sz="9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Theorie</a:t>
            </a:r>
          </a:p>
        </p:txBody>
      </p:sp>
      <p:sp>
        <p:nvSpPr>
          <p:cNvPr id="2" name="!!7">
            <a:extLst xmlns:a="http://schemas.openxmlformats.org/drawingml/2006/main">
              <a:ext uri="{FF2B5EF4-FFF2-40B4-BE49-F238E27FC236}">
                <a16:creationId xmlns:a16="http://schemas.microsoft.com/office/drawing/2014/main" id="{562FCAD4-B0DB-4206-9793-A2AAF5980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1097280"/>
            <a:ext cx="3931920" cy="193346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10B981">
                <a:alpha val="60000"/>
              </a:srgbClr>
            </a:solidFill>
            <a:prstDash val="solid"/>
          </a:ln>
          <a:effectLst xmlns:a="http://schemas.openxmlformats.org/drawingml/2006/main">
            <a:outerShdw blurRad="152400" dist="38100" dir="2700000" algn="bl" rotWithShape="0">
              <a:srgbClr val="000000">
                <a:alpha val="1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!!8">
            <a:extLst xmlns:a="http://schemas.openxmlformats.org/drawingml/2006/main">
              <a:ext uri="{FF2B5EF4-FFF2-40B4-BE49-F238E27FC236}">
                <a16:creationId xmlns:a16="http://schemas.microsoft.com/office/drawing/2014/main" id="{2BB82E21-8B49-43B8-9DDC-E14E95ED4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1097280"/>
            <a:ext cx="3931920" cy="193346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10B981">
                <a:alpha val="60000"/>
              </a:srgbClr>
            </a:solidFill>
            <a:prstDash val="solid"/>
          </a:ln>
          <a:effectLst xmlns:a="http://schemas.openxmlformats.org/drawingml/2006/main">
            <a:outerShdw blurRad="152400" dist="38100" dir="2700000" algn="bl" rotWithShape="0">
              <a:srgbClr val="000000">
                <a:alpha val="1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2" name="Text 12">
            <a:extLst xmlns:a="http://schemas.openxmlformats.org/drawingml/2006/main">
              <a:ext uri="{FF2B5EF4-FFF2-40B4-BE49-F238E27FC236}">
                <a16:creationId xmlns:a16="http://schemas.microsoft.com/office/drawing/2014/main" id="{98DB75BD-8738-1479-BA26-BC23E7C3B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188720"/>
            <a:ext cx="36576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r>
              <a:rPr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Zustand</a:t>
            </a:r>
          </a:p>
        </p:txBody>
      </p:sp>
      <p:sp>
        <p:nvSpPr>
          <p:cNvPr id="43" name="Text 13">
            <a:extLst xmlns:a="http://schemas.openxmlformats.org/drawingml/2006/main">
              <a:ext uri="{FF2B5EF4-FFF2-40B4-BE49-F238E27FC236}">
                <a16:creationId xmlns:a16="http://schemas.microsoft.com/office/drawing/2014/main" id="{B3B48937-90E3-6C4C-3A13-6A440021D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550642"/>
            <a:ext cx="3657600" cy="10351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sz="140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s = ( Spielersumme,</a:t>
            </a:r>
          </a:p>
          <a:p xmlns:a="http://schemas.openxmlformats.org/drawingml/2006/main">
            <a:r>
              <a:rPr sz="140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         offene </a:t>
            </a:r>
            <a:r>
              <a:rPr sz="140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Dealerkarte</a:t>
            </a:r>
            <a:r>
              <a:rPr sz="140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,</a:t>
            </a:r>
          </a:p>
          <a:p xmlns:a="http://schemas.openxmlformats.org/drawingml/2006/main">
            <a:r>
              <a:rPr sz="140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         nutzbares Ass)</a:t>
            </a:r>
          </a:p>
        </p:txBody>
      </p:sp>
      <p:sp>
        <p:nvSpPr>
          <p:cNvPr id="45" name="Text 12">
            <a:extLst xmlns:a="http://schemas.openxmlformats.org/drawingml/2006/main">
              <a:ext uri="{FF2B5EF4-FFF2-40B4-BE49-F238E27FC236}">
                <a16:creationId xmlns:a16="http://schemas.microsoft.com/office/drawing/2014/main" id="{3FBF1A63-1838-58E7-144D-AD30BEBF4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2312" y="1188720"/>
            <a:ext cx="36576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r>
              <a:rPr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Aktionen</a:t>
            </a:r>
          </a:p>
        </p:txBody>
      </p:sp>
      <p:sp>
        <p:nvSpPr>
          <p:cNvPr id="46" name="Text 13">
            <a:extLst xmlns:a="http://schemas.openxmlformats.org/drawingml/2006/main">
              <a:ext uri="{FF2B5EF4-FFF2-40B4-BE49-F238E27FC236}">
                <a16:creationId xmlns:a16="http://schemas.microsoft.com/office/drawing/2014/main" id="{72A13062-CE8E-0AA9-3E7F-B9AB03FDD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2312" y="1550642"/>
            <a:ext cx="3657600" cy="10351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sz="140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a ∈ {Stand, Hit}</a:t>
            </a:r>
          </a:p>
          <a:p xmlns:a="http://schemas.openxmlformats.org/drawingml/2006/main"/>
          <a:p xmlns:a="http://schemas.openxmlformats.org/drawingml/2006/main">
            <a:r>
              <a:rPr sz="140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0 = Stand</a:t>
            </a:r>
          </a:p>
          <a:p xmlns:a="http://schemas.openxmlformats.org/drawingml/2006/main">
            <a:r>
              <a:rPr sz="140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1 = Hit</a:t>
            </a:r>
          </a:p>
        </p:txBody>
      </p:sp>
      <p:sp>
        <p:nvSpPr>
          <p:cNvPr id="47" name="Text 14">
            <a:extLst xmlns:a="http://schemas.openxmlformats.org/drawingml/2006/main">
              <a:ext uri="{FF2B5EF4-FFF2-40B4-BE49-F238E27FC236}">
                <a16:creationId xmlns:a16="http://schemas.microsoft.com/office/drawing/2014/main" id="{6B58C5D0-4637-61DC-67BE-B9A5D6466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2312" y="2452633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94A3B8"/>
                </a:solidFill>
                <a:latin typeface="Cambria"/>
                <a:ea typeface="Cambria"/>
                <a:cs typeface="Cambria"/>
              </a:rPr>
              <a:t>Binärer Aktionsraum ohne Split und Double Down</a:t>
            </a:r>
          </a:p>
        </p:txBody>
      </p:sp>
      <p:sp>
        <p:nvSpPr>
          <p:cNvPr id="50" name="Text 14">
            <a:extLst xmlns:a="http://schemas.openxmlformats.org/drawingml/2006/main">
              <a:ext uri="{FF2B5EF4-FFF2-40B4-BE49-F238E27FC236}">
                <a16:creationId xmlns:a16="http://schemas.microsoft.com/office/drawing/2014/main" id="{ABCE9C89-8F92-8E2F-5BCD-80628ED9C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2452633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94A3B8"/>
                </a:solidFill>
                <a:latin typeface="Cambria"/>
                <a:ea typeface="Cambria"/>
                <a:cs typeface="Cambria"/>
              </a:rPr>
              <a:t>Kompakte Beobachtung der aktuellen Spielsituation</a:t>
            </a:r>
          </a:p>
        </p:txBody>
      </p:sp>
      <p:cxnSp>
        <p:nvCxnSpPr>
          <p:cNvPr id="73" name="Verbinder: gewinkelt 65"/>
          <p:cNvCxnSpPr>
            <a:stCxn xmlns:a="http://schemas.openxmlformats.org/drawingml/2006/main" id="60" idx="2"/>
            <a:endCxn xmlns:a="http://schemas.openxmlformats.org/drawingml/2006/main" id="51" idx="2"/>
          </p:cNvCxnSpPr>
          <p:nvPr/>
        </p:nvCxnSpPr>
        <p:spPr>
          <a:xfrm xmlns:a="http://schemas.openxmlformats.org/drawingml/2006/main" rot="5400000">
            <a:off x="4457700" y="1160752"/>
            <a:ext cx="12700" cy="6583680"/>
          </a:xfrm>
          <a:prstGeom xmlns:a="http://schemas.openxmlformats.org/drawingml/2006/main" prst="bentConnector3">
            <a:avLst>
              <a:gd name="adj1" fmla="val 1800000"/>
            </a:avLst>
          </a:prstGeom>
          <a:ln xmlns:a="http://schemas.openxmlformats.org/drawingml/2006/main" w="19050">
            <a:solidFill>
              <a:srgbClr val="14B8A6"/>
            </a:solidFill>
            <a:prstDash val="solid"/>
            <a:tailEnd type="triangle"/>
          </a:ln>
        </p:spPr>
      </p:cxnSp>
      <p:sp>
        <p:nvSpPr>
          <p:cNvPr id="68" name="Text 12">
            <a:extLst xmlns:a="http://schemas.openxmlformats.org/drawingml/2006/main">
              <a:ext uri="{FF2B5EF4-FFF2-40B4-BE49-F238E27FC236}">
                <a16:creationId xmlns:a16="http://schemas.microsoft.com/office/drawing/2014/main" id="{8869E230-592E-B6CB-6936-D2F15B9A9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378" y="3866902"/>
            <a:ext cx="927387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Zustand</a:t>
            </a:r>
          </a:p>
        </p:txBody>
      </p:sp>
      <p:sp>
        <p:nvSpPr>
          <p:cNvPr id="69" name="Text 12">
            <a:extLst xmlns:a="http://schemas.openxmlformats.org/drawingml/2006/main">
              <a:ext uri="{FF2B5EF4-FFF2-40B4-BE49-F238E27FC236}">
                <a16:creationId xmlns:a16="http://schemas.microsoft.com/office/drawing/2014/main" id="{AF2D7822-EDFC-B516-6526-C62087396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378" y="4130830"/>
            <a:ext cx="927387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sₜ</a:t>
            </a:r>
          </a:p>
        </p:txBody>
      </p:sp>
      <p:cxnSp>
        <p:nvCxnSpPr>
          <p:cNvPr id="76" name="Gerader Verbinder 70"/>
          <p:cNvCxnSpPr>
            <a:stCxn xmlns:a="http://schemas.openxmlformats.org/drawingml/2006/main" id="51" idx="3"/>
            <a:endCxn xmlns:a="http://schemas.openxmlformats.org/drawingml/2006/main" id="54" idx="1"/>
          </p:cNvCxnSpPr>
          <p:nvPr/>
        </p:nvCxnSpPr>
        <p:spPr>
          <a:xfrm xmlns:a="http://schemas.openxmlformats.org/drawingml/2006/main">
            <a:off x="1965960" y="4123408"/>
            <a:ext cx="59436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4B8A6"/>
            </a:solidFill>
            <a:prstDash val="solid"/>
            <a:tailEnd type="triangle"/>
          </a:ln>
        </p:spPr>
      </p:cxnSp>
      <p:cxnSp>
        <p:nvCxnSpPr>
          <p:cNvPr id="77" name="Gerader Verbinder 72"/>
          <p:cNvCxnSpPr>
            <a:stCxn xmlns:a="http://schemas.openxmlformats.org/drawingml/2006/main" id="54" idx="3"/>
            <a:endCxn xmlns:a="http://schemas.openxmlformats.org/drawingml/2006/main" id="57" idx="1"/>
          </p:cNvCxnSpPr>
          <p:nvPr/>
        </p:nvCxnSpPr>
        <p:spPr>
          <a:xfrm xmlns:a="http://schemas.openxmlformats.org/drawingml/2006/main">
            <a:off x="4160520" y="4123408"/>
            <a:ext cx="59436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4B8A6"/>
            </a:solidFill>
            <a:prstDash val="solid"/>
            <a:tailEnd type="triangle"/>
          </a:ln>
        </p:spPr>
      </p:cxnSp>
      <p:cxnSp>
        <p:nvCxnSpPr>
          <p:cNvPr id="78" name="Gerader Verbinder 74"/>
          <p:cNvCxnSpPr>
            <a:stCxn xmlns:a="http://schemas.openxmlformats.org/drawingml/2006/main" id="57" idx="3"/>
            <a:endCxn xmlns:a="http://schemas.openxmlformats.org/drawingml/2006/main" id="60" idx="1"/>
          </p:cNvCxnSpPr>
          <p:nvPr/>
        </p:nvCxnSpPr>
        <p:spPr>
          <a:xfrm xmlns:a="http://schemas.openxmlformats.org/drawingml/2006/main">
            <a:off x="6355080" y="4123408"/>
            <a:ext cx="59436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4B8A6"/>
            </a:solidFill>
            <a:prstDash val="solid"/>
            <a:tailEnd type="triangle"/>
          </a:ln>
        </p:spPr>
      </p:cxnSp>
      <p:sp>
        <p:nvSpPr>
          <p:cNvPr id="76" name="Text 12">
            <a:extLst xmlns:a="http://schemas.openxmlformats.org/drawingml/2006/main">
              <a:ext uri="{FF2B5EF4-FFF2-40B4-BE49-F238E27FC236}">
                <a16:creationId xmlns:a16="http://schemas.microsoft.com/office/drawing/2014/main" id="{7E8D51A8-9735-ACAD-B65F-0AA51D009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9515" y="3866902"/>
            <a:ext cx="927387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Aktion</a:t>
            </a:r>
          </a:p>
        </p:txBody>
      </p:sp>
      <p:sp>
        <p:nvSpPr>
          <p:cNvPr id="77" name="Text 12">
            <a:extLst xmlns:a="http://schemas.openxmlformats.org/drawingml/2006/main">
              <a:ext uri="{FF2B5EF4-FFF2-40B4-BE49-F238E27FC236}">
                <a16:creationId xmlns:a16="http://schemas.microsoft.com/office/drawing/2014/main" id="{7FAD64BD-E6F6-66FB-8BA5-66CC297D0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9515" y="4130830"/>
            <a:ext cx="927387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aₜ</a:t>
            </a:r>
          </a:p>
        </p:txBody>
      </p:sp>
      <p:sp>
        <p:nvSpPr>
          <p:cNvPr id="78" name="Text 12">
            <a:extLst xmlns:a="http://schemas.openxmlformats.org/drawingml/2006/main">
              <a:ext uri="{FF2B5EF4-FFF2-40B4-BE49-F238E27FC236}">
                <a16:creationId xmlns:a16="http://schemas.microsoft.com/office/drawing/2014/main" id="{E09FEB1B-F433-22C2-97CA-92CC40227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0389" y="3866902"/>
            <a:ext cx="1389182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Umgebung</a:t>
            </a:r>
          </a:p>
        </p:txBody>
      </p:sp>
      <p:sp>
        <p:nvSpPr>
          <p:cNvPr id="79" name="Text 12">
            <a:extLst xmlns:a="http://schemas.openxmlformats.org/drawingml/2006/main">
              <a:ext uri="{FF2B5EF4-FFF2-40B4-BE49-F238E27FC236}">
                <a16:creationId xmlns:a16="http://schemas.microsoft.com/office/drawing/2014/main" id="{4AC709D2-8030-1160-27B4-2F5B19558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7208" y="4130830"/>
            <a:ext cx="1255544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Karte ziehen · Dealerzug</a:t>
            </a:r>
          </a:p>
        </p:txBody>
      </p:sp>
      <p:sp>
        <p:nvSpPr>
          <p:cNvPr id="60" name="Shape 12">
            <a:extLst xmlns:a="http://schemas.openxmlformats.org/drawingml/2006/main">
              <a:ext uri="{FF2B5EF4-FFF2-40B4-BE49-F238E27FC236}">
                <a16:creationId xmlns:a16="http://schemas.microsoft.com/office/drawing/2014/main" id="{3CC4385E-CC74-933C-252B-BD61F22E3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3794224"/>
            <a:ext cx="1600200" cy="658368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10B981">
                <a:alpha val="60000"/>
              </a:srgbClr>
            </a:solidFill>
            <a:prstDash val="solid"/>
          </a:ln>
          <a:effectLst xmlns:a="http://schemas.openxmlformats.org/drawingml/2006/main">
            <a:outerShdw blurRad="152400" dist="38100" dir="2700000" algn="bl" rotWithShape="0">
              <a:srgbClr val="000000">
                <a:alpha val="1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0" name="Text 12">
            <a:extLst xmlns:a="http://schemas.openxmlformats.org/drawingml/2006/main">
              <a:ext uri="{FF2B5EF4-FFF2-40B4-BE49-F238E27FC236}">
                <a16:creationId xmlns:a16="http://schemas.microsoft.com/office/drawing/2014/main" id="{5A7FD5B3-26BD-8083-34C0-1952D5EEB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5846" y="3866902"/>
            <a:ext cx="927387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Reward</a:t>
            </a:r>
          </a:p>
        </p:txBody>
      </p:sp>
      <p:sp>
        <p:nvSpPr>
          <p:cNvPr id="81" name="Text 12">
            <a:extLst xmlns:a="http://schemas.openxmlformats.org/drawingml/2006/main">
              <a:ext uri="{FF2B5EF4-FFF2-40B4-BE49-F238E27FC236}">
                <a16:creationId xmlns:a16="http://schemas.microsoft.com/office/drawing/2014/main" id="{180E7CA7-3CDA-0D8A-7C63-D0BB6243A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5846" y="4130830"/>
            <a:ext cx="927387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rₜ₊₁, sₜ₊₁ </a:t>
            </a:r>
          </a:p>
        </p:txBody>
      </p:sp>
      <p:sp>
        <p:nvSpPr>
          <p:cNvPr id="90" name="Text 16">
            <a:extLst xmlns:a="http://schemas.openxmlformats.org/drawingml/2006/main">
              <a:ext uri="{FF2B5EF4-FFF2-40B4-BE49-F238E27FC236}">
                <a16:creationId xmlns:a16="http://schemas.microsoft.com/office/drawing/2014/main" id="{39F16CEC-2E7E-7B6A-481C-EF0581C22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3281472"/>
            <a:ext cx="45720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E293B"/>
                </a:solidFill>
                <a:latin typeface="Cambria"/>
                <a:ea typeface="Cambria"/>
                <a:cs typeface="Cambria"/>
              </a:rPr>
              <a:t>Entscheidungszyklus im MDP</a:t>
            </a:r>
          </a:p>
        </p:txBody>
      </p:sp>
    </p:spTree>
    <p:extLst>
      <p:ext uri="{BB962C8B-B14F-4D97-AF65-F5344CB8AC3E}">
        <p14:creationId xmlns:p14="http://schemas.microsoft.com/office/powerpoint/2010/main" val="153000389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hape 0">
            <a:extLst xmlns:a="http://schemas.openxmlformats.org/drawingml/2006/main">
              <a:ext uri="{FF2B5EF4-FFF2-40B4-BE49-F238E27FC236}">
                <a16:creationId xmlns:a16="http://schemas.microsoft.com/office/drawing/2014/main" id="{69584CB4-DC63-C456-1278-081512B1F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BCAA48AC-DC44-3F17-EEFB-A43F82CB0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9488"/>
          </a:solidFill>
          <a:ln xmlns:a="http://schemas.openxmlformats.org/drawingml/2006/main" w="12700">
            <a:solidFill>
              <a:srgbClr val="0D948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1F25DAD0-93D7-3C78-D332-DC4CD8C39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4320"/>
            <a:ext cx="82296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5EEAD4"/>
                </a:solidFill>
                <a:latin typeface="Cambria"/>
                <a:ea typeface="Cambria"/>
                <a:cs typeface="Cambria"/>
              </a:rPr>
              <a:t>Der Spielausgang wird zum Lernsignal</a:t>
            </a:r>
          </a:p>
        </p:txBody>
      </p:sp>
      <p:sp>
        <p:nvSpPr>
          <p:cNvPr id="9" name="Text 3">
            <a:extLst xmlns:a="http://schemas.openxmlformats.org/drawingml/2006/main">
              <a:ext uri="{FF2B5EF4-FFF2-40B4-BE49-F238E27FC236}">
                <a16:creationId xmlns:a16="http://schemas.microsoft.com/office/drawing/2014/main" id="{37A62879-C597-2E51-98B5-C4D8D8FAC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7670" y="54864"/>
            <a:ext cx="231913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fld id="{EFD6AB9A-5F9E-5F59-51AB-3C8734130965}" type="slidenum">
              <a:rPr sz="9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4</a:t>
            </a:fld>
          </a:p>
        </p:txBody>
      </p:sp>
      <p:sp>
        <p:nvSpPr>
          <p:cNvPr id="10" name="Text 3">
            <a:extLst xmlns:a="http://schemas.openxmlformats.org/drawingml/2006/main">
              <a:ext uri="{FF2B5EF4-FFF2-40B4-BE49-F238E27FC236}">
                <a16:creationId xmlns:a16="http://schemas.microsoft.com/office/drawing/2014/main" id="{13BE2948-32EF-78EC-DBC5-53E97EB81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2435" y="60960"/>
            <a:ext cx="231913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BHH · Machine Learning</a:t>
            </a:r>
          </a:p>
        </p:txBody>
      </p:sp>
      <p:sp>
        <p:nvSpPr>
          <p:cNvPr id="11" name="Text 3">
            <a:extLst xmlns:a="http://schemas.openxmlformats.org/drawingml/2006/main">
              <a:ext uri="{FF2B5EF4-FFF2-40B4-BE49-F238E27FC236}">
                <a16:creationId xmlns:a16="http://schemas.microsoft.com/office/drawing/2014/main" id="{D32FB7BF-77AA-1D5D-F936-FF173E38B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"/>
            <a:ext cx="231913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Motivation &amp; </a:t>
            </a:r>
            <a:r>
              <a:rPr sz="9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Theorie</a:t>
            </a:r>
          </a:p>
        </p:txBody>
      </p:sp>
      <p:sp>
        <p:nvSpPr>
          <p:cNvPr id="59" name="!!7">
            <a:extLst xmlns:a="http://schemas.openxmlformats.org/drawingml/2006/main">
              <a:ext uri="{FF2B5EF4-FFF2-40B4-BE49-F238E27FC236}">
                <a16:creationId xmlns:a16="http://schemas.microsoft.com/office/drawing/2014/main" id="{490448FD-EE64-A055-99F3-F0C492715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1097280"/>
            <a:ext cx="2606040" cy="1463040"/>
          </a:xfrm>
          <a:prstGeom xmlns:a="http://schemas.openxmlformats.org/drawingml/2006/main" prst="roundRect">
            <a:avLst>
              <a:gd name="adj" fmla="val 8750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10B981">
                <a:alpha val="60000"/>
              </a:srgbClr>
            </a:solidFill>
            <a:prstDash val="solid"/>
          </a:ln>
          <a:effectLst xmlns:a="http://schemas.openxmlformats.org/drawingml/2006/main">
            <a:outerShdw blurRad="152400" dist="38100" dir="2700000" algn="bl" rotWithShape="0">
              <a:srgbClr val="000000">
                <a:alpha val="1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0" name="Text 5">
            <a:extLst xmlns:a="http://schemas.openxmlformats.org/drawingml/2006/main">
              <a:ext uri="{FF2B5EF4-FFF2-40B4-BE49-F238E27FC236}">
                <a16:creationId xmlns:a16="http://schemas.microsoft.com/office/drawing/2014/main" id="{A949824B-5D24-3A75-DF3A-9EC1A4FEF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1188720"/>
            <a:ext cx="26060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800" b="1">
                <a:solidFill>
                  <a:srgbClr val="10B981"/>
                </a:solidFill>
                <a:latin typeface="Cambria"/>
                <a:ea typeface="Cambria"/>
                <a:cs typeface="Cambria"/>
              </a:rPr>
              <a:t>+1</a:t>
            </a:r>
          </a:p>
        </p:txBody>
      </p:sp>
      <p:sp>
        <p:nvSpPr>
          <p:cNvPr id="61" name="Text 6">
            <a:extLst xmlns:a="http://schemas.openxmlformats.org/drawingml/2006/main">
              <a:ext uri="{FF2B5EF4-FFF2-40B4-BE49-F238E27FC236}">
                <a16:creationId xmlns:a16="http://schemas.microsoft.com/office/drawing/2014/main" id="{A73F7969-6776-8182-F12C-FDEA47618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1810512"/>
            <a:ext cx="26060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Gewinn</a:t>
            </a:r>
          </a:p>
        </p:txBody>
      </p:sp>
      <p:sp>
        <p:nvSpPr>
          <p:cNvPr id="62" name="Text 7">
            <a:extLst xmlns:a="http://schemas.openxmlformats.org/drawingml/2006/main">
              <a:ext uri="{FF2B5EF4-FFF2-40B4-BE49-F238E27FC236}">
                <a16:creationId xmlns:a16="http://schemas.microsoft.com/office/drawing/2014/main" id="{D5225BAA-5AD6-FF71-92C3-70D8D4046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" y="2103120"/>
            <a:ext cx="23774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94A3B8"/>
                </a:solidFill>
                <a:latin typeface="Cambria"/>
                <a:ea typeface="Cambria"/>
                <a:cs typeface="Cambria"/>
              </a:rPr>
              <a:t>Agent gewinnt die Runde</a:t>
            </a:r>
          </a:p>
        </p:txBody>
      </p:sp>
      <p:sp>
        <p:nvSpPr>
          <p:cNvPr id="67" name="!!8">
            <a:extLst xmlns:a="http://schemas.openxmlformats.org/drawingml/2006/main">
              <a:ext uri="{FF2B5EF4-FFF2-40B4-BE49-F238E27FC236}">
                <a16:creationId xmlns:a16="http://schemas.microsoft.com/office/drawing/2014/main" id="{160B86F6-5E1B-6897-C760-95637D1C3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097280"/>
            <a:ext cx="2606040" cy="1463040"/>
          </a:xfrm>
          <a:prstGeom xmlns:a="http://schemas.openxmlformats.org/drawingml/2006/main" prst="roundRect">
            <a:avLst>
              <a:gd name="adj" fmla="val 8750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64748B">
                <a:alpha val="60000"/>
              </a:srgbClr>
            </a:solidFill>
            <a:prstDash val="solid"/>
          </a:ln>
          <a:effectLst xmlns:a="http://schemas.openxmlformats.org/drawingml/2006/main">
            <a:outerShdw blurRad="152400" dist="38100" dir="2700000" algn="bl" rotWithShape="0">
              <a:srgbClr val="000000">
                <a:alpha val="1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8" name="Text 13">
            <a:extLst xmlns:a="http://schemas.openxmlformats.org/drawingml/2006/main">
              <a:ext uri="{FF2B5EF4-FFF2-40B4-BE49-F238E27FC236}">
                <a16:creationId xmlns:a16="http://schemas.microsoft.com/office/drawing/2014/main" id="{67552164-B51B-7456-4EEE-EED7533CA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188720"/>
            <a:ext cx="26060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800" b="1">
                <a:solidFill>
                  <a:srgbClr val="64748B"/>
                </a:solidFill>
                <a:latin typeface="Cambria"/>
                <a:ea typeface="Cambria"/>
                <a:cs typeface="Cambria"/>
              </a:rPr>
              <a:t>0</a:t>
            </a:r>
          </a:p>
        </p:txBody>
      </p:sp>
      <p:sp>
        <p:nvSpPr>
          <p:cNvPr id="69" name="Text 14">
            <a:extLst xmlns:a="http://schemas.openxmlformats.org/drawingml/2006/main">
              <a:ext uri="{FF2B5EF4-FFF2-40B4-BE49-F238E27FC236}">
                <a16:creationId xmlns:a16="http://schemas.microsoft.com/office/drawing/2014/main" id="{2E42AACC-6672-891F-9FC3-A05577DF1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810512"/>
            <a:ext cx="26060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Push</a:t>
            </a:r>
          </a:p>
        </p:txBody>
      </p:sp>
      <p:sp>
        <p:nvSpPr>
          <p:cNvPr id="70" name="Text 15">
            <a:extLst xmlns:a="http://schemas.openxmlformats.org/drawingml/2006/main">
              <a:ext uri="{FF2B5EF4-FFF2-40B4-BE49-F238E27FC236}">
                <a16:creationId xmlns:a16="http://schemas.microsoft.com/office/drawing/2014/main" id="{79623D49-6A83-52AB-F1ED-3E7F94AA1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0128" y="2103120"/>
            <a:ext cx="23774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94A3B8"/>
                </a:solidFill>
                <a:latin typeface="Cambria"/>
                <a:ea typeface="Cambria"/>
                <a:cs typeface="Cambria"/>
              </a:rPr>
              <a:t>Unentschieden – kein Reward</a:t>
            </a:r>
          </a:p>
        </p:txBody>
      </p:sp>
      <p:sp>
        <p:nvSpPr>
          <p:cNvPr id="71" name="Text 16">
            <a:extLst xmlns:a="http://schemas.openxmlformats.org/drawingml/2006/main">
              <a:ext uri="{FF2B5EF4-FFF2-40B4-BE49-F238E27FC236}">
                <a16:creationId xmlns:a16="http://schemas.microsoft.com/office/drawing/2014/main" id="{DE30BB6D-C3CD-F350-61D5-ADC524DE7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2834640"/>
            <a:ext cx="45720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E293B"/>
                </a:solidFill>
                <a:latin typeface="Cambria"/>
                <a:ea typeface="Cambria"/>
                <a:cs typeface="Cambria"/>
              </a:rPr>
              <a:t>Interpretation des Rewards</a:t>
            </a:r>
          </a:p>
        </p:txBody>
      </p:sp>
      <p:sp>
        <p:nvSpPr>
          <p:cNvPr id="72" name="!!6">
            <a:extLst xmlns:a="http://schemas.openxmlformats.org/drawingml/2006/main">
              <a:ext uri="{FF2B5EF4-FFF2-40B4-BE49-F238E27FC236}">
                <a16:creationId xmlns:a16="http://schemas.microsoft.com/office/drawing/2014/main" id="{E3C27E31-ECC7-0B56-72FE-E5EEBB097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3246120"/>
            <a:ext cx="2606040" cy="155448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12700">
            <a:solidFill>
              <a:srgbClr val="0D9488">
                <a:alpha val="40000"/>
              </a:srgbClr>
            </a:solidFill>
            <a:prstDash val="solid"/>
          </a:ln>
          <a:effectLst xmlns:a="http://schemas.openxmlformats.org/drawingml/2006/main">
            <a:outerShdw blurRad="101600" dist="25400" dir="2700000" algn="bl" rotWithShape="0">
              <a:srgbClr val="000000">
                <a:alpha val="14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3" name="Shape 18">
            <a:extLst xmlns:a="http://schemas.openxmlformats.org/drawingml/2006/main">
              <a:ext uri="{FF2B5EF4-FFF2-40B4-BE49-F238E27FC236}">
                <a16:creationId xmlns:a16="http://schemas.microsoft.com/office/drawing/2014/main" id="{8E12F02F-54E6-1A25-BEBC-D603F2102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383280"/>
            <a:ext cx="320040" cy="3200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9488"/>
          </a:solidFill>
          <a:ln xmlns:a="http://schemas.openxmlformats.org/drawingml/2006/main" w="12700">
            <a:solidFill>
              <a:srgbClr val="0D948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4" name="Text 19">
            <a:extLst xmlns:a="http://schemas.openxmlformats.org/drawingml/2006/main">
              <a:ext uri="{FF2B5EF4-FFF2-40B4-BE49-F238E27FC236}">
                <a16:creationId xmlns:a16="http://schemas.microsoft.com/office/drawing/2014/main" id="{BA9BA8DD-8974-C9A9-C05B-730407DE7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383280"/>
            <a:ext cx="3200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•</a:t>
            </a:r>
          </a:p>
        </p:txBody>
      </p:sp>
      <p:sp>
        <p:nvSpPr>
          <p:cNvPr id="75" name="Text 20">
            <a:extLst xmlns:a="http://schemas.openxmlformats.org/drawingml/2006/main">
              <a:ext uri="{FF2B5EF4-FFF2-40B4-BE49-F238E27FC236}">
                <a16:creationId xmlns:a16="http://schemas.microsoft.com/office/drawing/2014/main" id="{16E85030-7C12-0992-49CB-974D985CC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64992"/>
            <a:ext cx="192024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F172A"/>
                </a:solidFill>
                <a:latin typeface="Cambria"/>
                <a:ea typeface="Cambria"/>
                <a:cs typeface="Cambria"/>
              </a:rPr>
              <a:t>Eine Episode</a:t>
            </a:r>
          </a:p>
        </p:txBody>
      </p:sp>
      <p:sp>
        <p:nvSpPr>
          <p:cNvPr id="76" name="Text 21">
            <a:extLst xmlns:a="http://schemas.openxmlformats.org/drawingml/2006/main">
              <a:ext uri="{FF2B5EF4-FFF2-40B4-BE49-F238E27FC236}">
                <a16:creationId xmlns:a16="http://schemas.microsoft.com/office/drawing/2014/main" id="{F854FAF3-26D7-E212-47ED-5CD038F7E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3749040"/>
            <a:ext cx="228600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64748B"/>
                </a:solidFill>
                <a:latin typeface="Cambria"/>
                <a:ea typeface="Cambria"/>
                <a:cs typeface="Cambria"/>
              </a:rPr>
              <a:t>Genau eine Blackjack-Runde: vom Austeilen bis zum finalen Ergebnis.</a:t>
            </a:r>
          </a:p>
        </p:txBody>
      </p:sp>
      <p:sp>
        <p:nvSpPr>
          <p:cNvPr id="77" name="!!11">
            <a:extLst xmlns:a="http://schemas.openxmlformats.org/drawingml/2006/main">
              <a:ext uri="{FF2B5EF4-FFF2-40B4-BE49-F238E27FC236}">
                <a16:creationId xmlns:a16="http://schemas.microsoft.com/office/drawing/2014/main" id="{74AD0F14-F4DA-D2B5-4DF6-D17F9A572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246120"/>
            <a:ext cx="2606040" cy="155448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12700">
            <a:solidFill>
              <a:srgbClr val="0D9488">
                <a:alpha val="40000"/>
              </a:srgbClr>
            </a:solidFill>
            <a:prstDash val="solid"/>
          </a:ln>
          <a:effectLst xmlns:a="http://schemas.openxmlformats.org/drawingml/2006/main">
            <a:outerShdw blurRad="101600" dist="25400" dir="2700000" algn="bl" rotWithShape="0">
              <a:srgbClr val="000000">
                <a:alpha val="14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8" name="Shape 23">
            <a:extLst xmlns:a="http://schemas.openxmlformats.org/drawingml/2006/main">
              <a:ext uri="{FF2B5EF4-FFF2-40B4-BE49-F238E27FC236}">
                <a16:creationId xmlns:a16="http://schemas.microsoft.com/office/drawing/2014/main" id="{B52923F4-81C5-BFDE-87DA-A432A0819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7560" y="3383280"/>
            <a:ext cx="320040" cy="3200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9488"/>
          </a:solidFill>
          <a:ln xmlns:a="http://schemas.openxmlformats.org/drawingml/2006/main" w="12700">
            <a:solidFill>
              <a:srgbClr val="0D948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9" name="Text 24">
            <a:extLst xmlns:a="http://schemas.openxmlformats.org/drawingml/2006/main">
              <a:ext uri="{FF2B5EF4-FFF2-40B4-BE49-F238E27FC236}">
                <a16:creationId xmlns:a16="http://schemas.microsoft.com/office/drawing/2014/main" id="{3F4C2177-C8F7-0405-7D7A-227EE7702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7560" y="3383280"/>
            <a:ext cx="3200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•</a:t>
            </a:r>
          </a:p>
        </p:txBody>
      </p:sp>
      <p:sp>
        <p:nvSpPr>
          <p:cNvPr id="80" name="Text 25">
            <a:extLst xmlns:a="http://schemas.openxmlformats.org/drawingml/2006/main">
              <a:ext uri="{FF2B5EF4-FFF2-40B4-BE49-F238E27FC236}">
                <a16:creationId xmlns:a16="http://schemas.microsoft.com/office/drawing/2014/main" id="{CD8BB51B-43F9-75E3-5913-D858B0FD5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9040" y="3364992"/>
            <a:ext cx="192024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F172A"/>
                </a:solidFill>
                <a:latin typeface="Cambria"/>
                <a:ea typeface="Cambria"/>
                <a:cs typeface="Cambria"/>
              </a:rPr>
              <a:t>Zwischenschritte</a:t>
            </a:r>
          </a:p>
        </p:txBody>
      </p:sp>
      <p:sp>
        <p:nvSpPr>
          <p:cNvPr id="81" name="Text 26">
            <a:extLst xmlns:a="http://schemas.openxmlformats.org/drawingml/2006/main">
              <a:ext uri="{FF2B5EF4-FFF2-40B4-BE49-F238E27FC236}">
                <a16:creationId xmlns:a16="http://schemas.microsoft.com/office/drawing/2014/main" id="{F846444B-F3A2-C9F2-A636-80F453B0E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4992" y="3749040"/>
            <a:ext cx="228600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64748B"/>
                </a:solidFill>
                <a:latin typeface="Cambria"/>
                <a:ea typeface="Cambria"/>
                <a:cs typeface="Cambria"/>
              </a:rPr>
              <a:t>Hit ohne Rundenende liefert Reward 0; gelernt wird aus dem finalen Ausgang.</a:t>
            </a:r>
          </a:p>
        </p:txBody>
      </p:sp>
      <p:sp>
        <p:nvSpPr>
          <p:cNvPr id="82" name="!!5">
            <a:extLst xmlns:a="http://schemas.openxmlformats.org/drawingml/2006/main">
              <a:ext uri="{FF2B5EF4-FFF2-40B4-BE49-F238E27FC236}">
                <a16:creationId xmlns:a16="http://schemas.microsoft.com/office/drawing/2014/main" id="{93939E6D-032A-D8D1-BF39-E92F33099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3246120"/>
            <a:ext cx="2606040" cy="155448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12700">
            <a:solidFill>
              <a:srgbClr val="0D9488">
                <a:alpha val="40000"/>
              </a:srgbClr>
            </a:solidFill>
            <a:prstDash val="solid"/>
          </a:ln>
          <a:effectLst xmlns:a="http://schemas.openxmlformats.org/drawingml/2006/main">
            <a:outerShdw blurRad="101600" dist="25400" dir="2700000" algn="bl" rotWithShape="0">
              <a:srgbClr val="000000">
                <a:alpha val="14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3" name="Shape 28">
            <a:extLst xmlns:a="http://schemas.openxmlformats.org/drawingml/2006/main">
              <a:ext uri="{FF2B5EF4-FFF2-40B4-BE49-F238E27FC236}">
                <a16:creationId xmlns:a16="http://schemas.microsoft.com/office/drawing/2014/main" id="{7437AD16-25E7-519D-7F99-862CFCB0C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383280"/>
            <a:ext cx="320040" cy="3200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9488"/>
          </a:solidFill>
          <a:ln xmlns:a="http://schemas.openxmlformats.org/drawingml/2006/main" w="12700">
            <a:solidFill>
              <a:srgbClr val="0D948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4" name="Text 29">
            <a:extLst xmlns:a="http://schemas.openxmlformats.org/drawingml/2006/main">
              <a:ext uri="{FF2B5EF4-FFF2-40B4-BE49-F238E27FC236}">
                <a16:creationId xmlns:a16="http://schemas.microsoft.com/office/drawing/2014/main" id="{90010D8D-7DDD-D5DD-356E-7F79FFBA1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383280"/>
            <a:ext cx="3200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•</a:t>
            </a:r>
          </a:p>
        </p:txBody>
      </p:sp>
      <p:sp>
        <p:nvSpPr>
          <p:cNvPr id="85" name="Text 30">
            <a:extLst xmlns:a="http://schemas.openxmlformats.org/drawingml/2006/main">
              <a:ext uri="{FF2B5EF4-FFF2-40B4-BE49-F238E27FC236}">
                <a16:creationId xmlns:a16="http://schemas.microsoft.com/office/drawing/2014/main" id="{001367B1-338B-DB35-F96E-E48EA35A4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3364992"/>
            <a:ext cx="192024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F172A"/>
                </a:solidFill>
                <a:latin typeface="Cambria"/>
                <a:ea typeface="Cambria"/>
                <a:cs typeface="Cambria"/>
              </a:rPr>
              <a:t>Durchschnittlicher Reward</a:t>
            </a:r>
          </a:p>
        </p:txBody>
      </p:sp>
      <p:sp>
        <p:nvSpPr>
          <p:cNvPr id="86" name="Text 31">
            <a:extLst xmlns:a="http://schemas.openxmlformats.org/drawingml/2006/main">
              <a:ext uri="{FF2B5EF4-FFF2-40B4-BE49-F238E27FC236}">
                <a16:creationId xmlns:a16="http://schemas.microsoft.com/office/drawing/2014/main" id="{8009D131-E20B-92D7-57E2-D08EF4FC3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9632" y="3749040"/>
            <a:ext cx="228600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64748B"/>
                </a:solidFill>
                <a:latin typeface="Cambria"/>
                <a:ea typeface="Cambria"/>
                <a:cs typeface="Cambria"/>
              </a:rPr>
              <a:t>Direkt interpretierbar als Win Rate minus Loss Rate.</a:t>
            </a:r>
          </a:p>
        </p:txBody>
      </p:sp>
      <p:sp>
        <p:nvSpPr>
          <p:cNvPr id="87" name="!!10">
            <a:extLst xmlns:a="http://schemas.openxmlformats.org/drawingml/2006/main">
              <a:ext uri="{FF2B5EF4-FFF2-40B4-BE49-F238E27FC236}">
                <a16:creationId xmlns:a16="http://schemas.microsoft.com/office/drawing/2014/main" id="{CE2475E2-393F-B504-D6E8-498EC7CA8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1097280"/>
            <a:ext cx="2606040" cy="1463040"/>
          </a:xfrm>
          <a:prstGeom xmlns:a="http://schemas.openxmlformats.org/drawingml/2006/main" prst="roundRect">
            <a:avLst>
              <a:gd name="adj" fmla="val 8750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EF4444">
                <a:alpha val="60000"/>
              </a:srgbClr>
            </a:solidFill>
            <a:prstDash val="solid"/>
          </a:ln>
          <a:effectLst xmlns:a="http://schemas.openxmlformats.org/drawingml/2006/main">
            <a:outerShdw blurRad="152400" dist="38100" dir="2700000" algn="bl" rotWithShape="0">
              <a:srgbClr val="000000">
                <a:alpha val="1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8" name="Text 9">
            <a:extLst xmlns:a="http://schemas.openxmlformats.org/drawingml/2006/main">
              <a:ext uri="{FF2B5EF4-FFF2-40B4-BE49-F238E27FC236}">
                <a16:creationId xmlns:a16="http://schemas.microsoft.com/office/drawing/2014/main" id="{A6D3868B-789B-70AC-1466-F2D61E771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1188720"/>
            <a:ext cx="26060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800" b="1">
                <a:solidFill>
                  <a:srgbClr val="EF4444"/>
                </a:solidFill>
                <a:latin typeface="Cambria"/>
                <a:ea typeface="Cambria"/>
                <a:cs typeface="Cambria"/>
              </a:rPr>
              <a:t>−1</a:t>
            </a:r>
          </a:p>
        </p:txBody>
      </p:sp>
      <p:sp>
        <p:nvSpPr>
          <p:cNvPr id="89" name="Text 10">
            <a:extLst xmlns:a="http://schemas.openxmlformats.org/drawingml/2006/main">
              <a:ext uri="{FF2B5EF4-FFF2-40B4-BE49-F238E27FC236}">
                <a16:creationId xmlns:a16="http://schemas.microsoft.com/office/drawing/2014/main" id="{CCBF8502-63B9-6B58-347C-BB712EA6B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1810512"/>
            <a:ext cx="26060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Verlust</a:t>
            </a:r>
          </a:p>
        </p:txBody>
      </p:sp>
      <p:sp>
        <p:nvSpPr>
          <p:cNvPr id="90" name="Text 11">
            <a:extLst xmlns:a="http://schemas.openxmlformats.org/drawingml/2006/main">
              <a:ext uri="{FF2B5EF4-FFF2-40B4-BE49-F238E27FC236}">
                <a16:creationId xmlns:a16="http://schemas.microsoft.com/office/drawing/2014/main" id="{51DD7ED6-BDF2-D961-E741-DC72F5530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4768" y="2103120"/>
            <a:ext cx="23774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94A3B8"/>
                </a:solidFill>
                <a:latin typeface="Cambria"/>
                <a:ea typeface="Cambria"/>
                <a:cs typeface="Cambria"/>
              </a:rPr>
              <a:t>Agent verliert die Runde</a:t>
            </a:r>
          </a:p>
        </p:txBody>
      </p:sp>
    </p:spTree>
    <p:extLst>
      <p:ext uri="{BB962C8B-B14F-4D97-AF65-F5344CB8AC3E}">
        <p14:creationId xmlns:p14="http://schemas.microsoft.com/office/powerpoint/2010/main" val="231961367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C6F2EFF2-D3FB-2417-D396-84512ECC5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2449A71F-E6F4-AEDE-9A8F-EFAE7B7CC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9488"/>
          </a:solidFill>
          <a:ln xmlns:a="http://schemas.openxmlformats.org/drawingml/2006/main" w="12700">
            <a:solidFill>
              <a:srgbClr val="0D948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87E4B88F-9EB3-C60A-CD29-FB91DB779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864"/>
            <a:ext cx="32004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14B8A6"/>
                </a:solidFill>
              </a:rPr>
              <a:t>MOTIVATION &amp; THEORIE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8376675C-410A-D2ED-2F5C-9A481B960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4320"/>
            <a:ext cx="82296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Ein endlicher Schlitten besitzt ein Gedächtnis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02E1868E-326E-465A-CA9B-8CD6C11FE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1097280"/>
            <a:ext cx="8412480" cy="1078992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12700">
            <a:solidFill>
              <a:srgbClr val="EF4444">
                <a:alpha val="50000"/>
              </a:srgbClr>
            </a:solidFill>
            <a:prstDash val="solid"/>
          </a:ln>
          <a:effectLst xmlns:a="http://schemas.openxmlformats.org/drawingml/2006/main">
            <a:outerShdw blurRad="101600" dist="25400" dir="2700000" algn="bl" rotWithShape="0">
              <a:srgbClr val="000000">
                <a:alpha val="14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E221A2B4-314E-B72E-DCAD-EEB6DBBFC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25296"/>
            <a:ext cx="1737360" cy="329184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F4444"/>
          </a:solidFill>
          <a:ln xmlns:a="http://schemas.openxmlformats.org/drawingml/2006/main" w="12700">
            <a:solidFill>
              <a:srgbClr val="EF444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E02F226B-3EE2-218F-96FA-903AAC312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25296"/>
            <a:ext cx="17373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</a:rPr>
              <a:t>Sichtbarer Zustand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8E896CC7-1C65-4A67-BF9C-758FB832C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09344"/>
            <a:ext cx="17373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64748B"/>
                </a:solidFill>
              </a:rPr>
              <a:t>für die Baseline identisch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2246FC68-B387-4E50-670B-76B269C9C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7440" y="1207008"/>
            <a:ext cx="13716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64748B"/>
                </a:solidFill>
              </a:rPr>
              <a:t>Beobachtung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495F4557-09D3-BF33-AD24-AB6D0F4A4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7440" y="1444752"/>
            <a:ext cx="13716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EF4444"/>
                </a:solidFill>
              </a:rPr>
              <a:t>sₜ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0154EAAF-396B-7A5A-EAD3-3AA1E9962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1207008"/>
            <a:ext cx="109728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64748B"/>
                </a:solidFill>
              </a:rPr>
              <a:t>Merkmale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C00E76A9-C38A-16E0-BD5B-F6BC318BB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1444752"/>
            <a:ext cx="109728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EF4444"/>
                </a:solidFill>
              </a:rPr>
              <a:t>3</a:t>
            </a:r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140FF2C1-C8B5-58AC-8E8A-ACA6F089A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0" y="1508760"/>
            <a:ext cx="3337560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41EBA13A-3597-31A3-FCD9-D442ED4A6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0" y="1783080"/>
            <a:ext cx="352044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64748B"/>
                </a:solidFill>
              </a:rPr>
              <a:t>Spielersumme · Dealerkarte · nutzbares Ass</a:t>
            </a:r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905B53C6-4C3F-AE21-F744-CBFB559EE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2377440"/>
            <a:ext cx="8412480" cy="1078992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12700">
            <a:solidFill>
              <a:srgbClr val="F59E0B">
                <a:alpha val="50000"/>
              </a:srgbClr>
            </a:solidFill>
            <a:prstDash val="solid"/>
          </a:ln>
          <a:effectLst xmlns:a="http://schemas.openxmlformats.org/drawingml/2006/main">
            <a:outerShdw blurRad="101600" dist="25400" dir="2700000" algn="bl" rotWithShape="0">
              <a:srgbClr val="000000">
                <a:alpha val="14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500BA520-9094-2BA1-0C50-55C8562F0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505456"/>
            <a:ext cx="1737360" cy="329184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12700">
            <a:solidFill>
              <a:srgbClr val="F59E0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F3367B08-EC69-E477-169A-8DD05F9D1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505456"/>
            <a:ext cx="17373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</a:rPr>
              <a:t>Kartenhistorie</a:t>
            </a:r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4769BAD9-03F7-94E5-05D4-2E34BEACC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889504"/>
            <a:ext cx="17373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64748B"/>
                </a:solidFill>
              </a:rPr>
              <a:t>über Episoden gekoppelt</a:t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199202C3-6F4D-9FDF-BB1D-49C6EC18E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7440" y="2487168"/>
            <a:ext cx="13716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64748B"/>
                </a:solidFill>
              </a:rPr>
              <a:t>Beobachtung</a:t>
            </a:r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6B42B8D4-BBD6-2481-E1E8-5FA6C71D7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7440" y="2724912"/>
            <a:ext cx="13716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F59E0B"/>
                </a:solidFill>
              </a:rPr>
              <a:t>6 Decks</a:t>
            </a:r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D0540965-B618-AC72-1C80-309E4626C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487168"/>
            <a:ext cx="109728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64748B"/>
                </a:solidFill>
              </a:rPr>
              <a:t>Merkmale</a:t>
            </a: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D8A2F207-0098-9677-7DB5-9CE5CC3A7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724912"/>
            <a:ext cx="109728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F59E0B"/>
                </a:solidFill>
              </a:rPr>
              <a:t>312 Karten</a:t>
            </a:r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23C3F575-4FD8-04FC-F5D7-8647F8DBD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0" y="2788920"/>
            <a:ext cx="3337560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953EAFF9-85B1-A763-A62A-96247BB20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0" y="3063240"/>
            <a:ext cx="352044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64748B"/>
                </a:solidFill>
              </a:rPr>
              <a:t>Reshuffle erst bei höchstens 78 verbleibenden Karten</a:t>
            </a:r>
          </a:p>
        </p:txBody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78103A91-5A83-D984-493A-3F1DBACC8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3657600"/>
            <a:ext cx="8412480" cy="1078992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12700">
            <a:solidFill>
              <a:srgbClr val="10B981">
                <a:alpha val="50000"/>
              </a:srgbClr>
            </a:solidFill>
            <a:prstDash val="solid"/>
          </a:ln>
          <a:effectLst xmlns:a="http://schemas.openxmlformats.org/drawingml/2006/main">
            <a:outerShdw blurRad="101600" dist="25400" dir="2700000" algn="bl" rotWithShape="0">
              <a:srgbClr val="000000">
                <a:alpha val="14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EB9D9E2A-69D5-BACF-B53C-313977176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785616"/>
            <a:ext cx="1737360" cy="329184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10B981"/>
          </a:solidFill>
          <a:ln xmlns:a="http://schemas.openxmlformats.org/drawingml/2006/main" w="12700">
            <a:solidFill>
              <a:srgbClr val="10B98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0FA94680-4EE0-5856-0320-231620484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785616"/>
            <a:ext cx="17373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</a:rPr>
              <a:t>Nächste Kartenverteilung</a:t>
            </a:r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1D8F698A-648A-9800-18BB-74A35CCD5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7440" y="3767328"/>
            <a:ext cx="13716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64748B"/>
                </a:solidFill>
              </a:rPr>
              <a:t>Beobachtung</a:t>
            </a:r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26F25303-4E6C-9D6B-D47E-7F45A0798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767328"/>
            <a:ext cx="109728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64748B"/>
                </a:solidFill>
              </a:rPr>
              <a:t>Merkmale</a:t>
            </a:r>
          </a:p>
        </p:txBody>
      </p:sp>
      <p:sp>
        <p:nvSpPr>
          <p:cNvPr id="42" name="Text 22">
            <a:extLst xmlns:a="http://schemas.openxmlformats.org/drawingml/2006/main">
              <a:ext uri="{FF2B5EF4-FFF2-40B4-BE49-F238E27FC236}">
                <a16:creationId xmlns:a16="http://schemas.microsoft.com/office/drawing/2014/main" id="{77A7E0D9-CE79-30FF-F995-5274D70F6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995928"/>
            <a:ext cx="109728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10B981"/>
                </a:solidFill>
              </a:rPr>
              <a:t>verändert</a:t>
            </a:r>
          </a:p>
        </p:txBody>
      </p:sp>
      <p:sp>
        <p:nvSpPr>
          <p:cNvPr id="43" name="Text 20">
            <a:extLst xmlns:a="http://schemas.openxmlformats.org/drawingml/2006/main">
              <a:ext uri="{FF2B5EF4-FFF2-40B4-BE49-F238E27FC236}">
                <a16:creationId xmlns:a16="http://schemas.microsoft.com/office/drawing/2014/main" id="{CCD09FEF-6DDB-0FFE-6C26-4435B43B4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7440" y="3985641"/>
            <a:ext cx="13716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10B981"/>
                </a:solidFill>
              </a:rPr>
              <a:t>P(Karte | Historie)</a:t>
            </a:r>
          </a:p>
        </p:txBody>
      </p:sp>
      <p:sp>
        <p:nvSpPr>
          <p:cNvPr id="44" name="Shape 23">
            <a:extLst xmlns:a="http://schemas.openxmlformats.org/drawingml/2006/main">
              <a:ext uri="{FF2B5EF4-FFF2-40B4-BE49-F238E27FC236}">
                <a16:creationId xmlns:a16="http://schemas.microsoft.com/office/drawing/2014/main" id="{247ADEC9-C714-A116-53E0-30CB49B8C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0" y="3983736"/>
            <a:ext cx="3337560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6" name="Text 25">
            <a:extLst xmlns:a="http://schemas.openxmlformats.org/drawingml/2006/main">
              <a:ext uri="{FF2B5EF4-FFF2-40B4-BE49-F238E27FC236}">
                <a16:creationId xmlns:a16="http://schemas.microsoft.com/office/drawing/2014/main" id="{71B9DC01-9717-28E6-A561-F319EC6FB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0" y="4320540"/>
            <a:ext cx="352044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64748B"/>
                </a:solidFill>
              </a:rPr>
              <a:t>Gleiche Hand kann unterschiedliche Übergangswahrscheinlichkeiten besitzen</a:t>
            </a:r>
          </a:p>
        </p:txBody>
      </p:sp>
      <p:sp>
        <p:nvSpPr>
          <p:cNvPr id="47" name="Text 18">
            <a:extLst xmlns:a="http://schemas.openxmlformats.org/drawingml/2006/main">
              <a:ext uri="{FF2B5EF4-FFF2-40B4-BE49-F238E27FC236}">
                <a16:creationId xmlns:a16="http://schemas.microsoft.com/office/drawing/2014/main" id="{D3507EF6-418B-A01E-842B-234986E72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204716"/>
            <a:ext cx="17373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64748B"/>
                </a:solidFill>
              </a:rPr>
              <a:t>abhängig vom Restdeck</a:t>
            </a:r>
          </a:p>
        </p:txBody>
      </p:sp>
      <p:sp>
        <p:nvSpPr>
          <p:cNvPr id="48" name="Shape 13">
            <a:extLst xmlns:a="http://schemas.openxmlformats.org/drawingml/2006/main">
              <a:ext uri="{FF2B5EF4-FFF2-40B4-BE49-F238E27FC236}">
                <a16:creationId xmlns:a16="http://schemas.microsoft.com/office/drawing/2014/main" id="{ED91D57A-E81A-29A4-E96D-66E105E77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0" y="1502410"/>
            <a:ext cx="1335024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12700">
            <a:solidFill>
              <a:srgbClr val="EF444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9" name="Shape 24">
            <a:extLst xmlns:a="http://schemas.openxmlformats.org/drawingml/2006/main">
              <a:ext uri="{FF2B5EF4-FFF2-40B4-BE49-F238E27FC236}">
                <a16:creationId xmlns:a16="http://schemas.microsoft.com/office/drawing/2014/main" id="{D7E8A361-AB3F-07B2-A983-FC1FE786F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0" y="2792095"/>
            <a:ext cx="1521460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12700">
            <a:solidFill>
              <a:srgbClr val="F59E0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0" name="Shape 24">
            <a:extLst xmlns:a="http://schemas.openxmlformats.org/drawingml/2006/main">
              <a:ext uri="{FF2B5EF4-FFF2-40B4-BE49-F238E27FC236}">
                <a16:creationId xmlns:a16="http://schemas.microsoft.com/office/drawing/2014/main" id="{9BF48160-D930-7563-A3C0-D47DA6BD4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0" y="3984942"/>
            <a:ext cx="1737360" cy="199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12700">
            <a:solidFill>
              <a:srgbClr val="10B98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  <p:extLst>
      <p:ext uri="{BB962C8B-B14F-4D97-AF65-F5344CB8AC3E}">
        <p14:creationId xmlns:p14="http://schemas.microsoft.com/office/powerpoint/2010/main" val="367703803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BAE4319F-7CAA-2D00-BC42-535255247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6150C9C3-7C05-EFEC-C768-0AE74E8DE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12700">
            <a:solidFill>
              <a:srgbClr val="F59E0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BA4CF43E-D80F-629E-B528-9C32419E3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864"/>
            <a:ext cx="1828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F59E0B"/>
                </a:solidFill>
              </a:rPr>
              <a:t>MOTIVATION &amp; THEORIE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176F205A-A492-A2AF-FE24-A27644810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4320"/>
            <a:ext cx="82296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Hi-Lo verdichtet die Kartenhistorie</a:t>
            </a:r>
          </a:p>
        </p:txBody>
      </p:sp>
      <p:sp>
        <p:nvSpPr>
          <p:cNvPr id="6" name="!!7">
            <a:extLst xmlns:a="http://schemas.openxmlformats.org/drawingml/2006/main">
              <a:ext uri="{FF2B5EF4-FFF2-40B4-BE49-F238E27FC236}">
                <a16:creationId xmlns:a16="http://schemas.microsoft.com/office/drawing/2014/main" id="{5C7CB0EE-DDB3-8B47-45FE-75128B7EE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1097280"/>
            <a:ext cx="2606040" cy="1463040"/>
          </a:xfrm>
          <a:prstGeom xmlns:a="http://schemas.openxmlformats.org/drawingml/2006/main" prst="roundRect">
            <a:avLst>
              <a:gd name="adj" fmla="val 8750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10B981">
                <a:alpha val="60000"/>
              </a:srgbClr>
            </a:solidFill>
            <a:prstDash val="solid"/>
          </a:ln>
          <a:effectLst xmlns:a="http://schemas.openxmlformats.org/drawingml/2006/main">
            <a:outerShdw blurRad="152400" dist="38100" dir="2700000" algn="bl" rotWithShape="0">
              <a:srgbClr val="000000">
                <a:alpha val="1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55CF8691-7F22-8239-ABED-88FC60567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1188720"/>
            <a:ext cx="26060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800" b="1">
                <a:solidFill>
                  <a:srgbClr val="10B981"/>
                </a:solidFill>
                <a:latin typeface="Cambria"/>
                <a:ea typeface="Cambria"/>
                <a:cs typeface="Cambria"/>
              </a:rPr>
              <a:t>+1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04EED2AF-9806-4E6E-46E7-5AD643A37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1810512"/>
            <a:ext cx="26060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</a:rPr>
              <a:t>Niedrige Karten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0BF93C73-D861-E9E5-58EC-42B462AE7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" y="2103120"/>
            <a:ext cx="23774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94A3B8"/>
                </a:solidFill>
              </a:rPr>
              <a:t>2 bis 6 erhöhen den Running Count</a:t>
            </a:r>
          </a:p>
        </p:txBody>
      </p:sp>
      <p:sp>
        <p:nvSpPr>
          <p:cNvPr id="10" name="!!10">
            <a:extLst xmlns:a="http://schemas.openxmlformats.org/drawingml/2006/main">
              <a:ext uri="{FF2B5EF4-FFF2-40B4-BE49-F238E27FC236}">
                <a16:creationId xmlns:a16="http://schemas.microsoft.com/office/drawing/2014/main" id="{70A5A217-6DD7-C11A-5306-E461F6266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097280"/>
            <a:ext cx="2606040" cy="1463040"/>
          </a:xfrm>
          <a:prstGeom xmlns:a="http://schemas.openxmlformats.org/drawingml/2006/main" prst="roundRect">
            <a:avLst>
              <a:gd name="adj" fmla="val 8750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EF4444">
                <a:alpha val="60000"/>
              </a:srgbClr>
            </a:solidFill>
            <a:prstDash val="solid"/>
          </a:ln>
          <a:effectLst xmlns:a="http://schemas.openxmlformats.org/drawingml/2006/main">
            <a:outerShdw blurRad="152400" dist="38100" dir="2700000" algn="bl" rotWithShape="0">
              <a:srgbClr val="000000">
                <a:alpha val="1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A5F87CE5-E0D6-ED84-0512-AA1D09039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188720"/>
            <a:ext cx="26060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800" b="1">
                <a:solidFill>
                  <a:srgbClr val="EF4444"/>
                </a:solidFill>
                <a:latin typeface="Cambria"/>
                <a:ea typeface="Cambria"/>
                <a:cs typeface="Cambria"/>
              </a:rPr>
              <a:t>−1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F5210390-5D3E-04E2-9305-4AC941132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810512"/>
            <a:ext cx="26060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</a:rPr>
              <a:t>Hohe Karten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B5B9E20A-629F-F035-64D4-6A92BD85A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0128" y="2103120"/>
            <a:ext cx="23774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94A3B8"/>
                </a:solidFill>
              </a:rPr>
              <a:t>10, Bildkarten und Asse senken den Count</a:t>
            </a:r>
          </a:p>
        </p:txBody>
      </p:sp>
      <p:sp>
        <p:nvSpPr>
          <p:cNvPr id="14" name="!!8">
            <a:extLst xmlns:a="http://schemas.openxmlformats.org/drawingml/2006/main">
              <a:ext uri="{FF2B5EF4-FFF2-40B4-BE49-F238E27FC236}">
                <a16:creationId xmlns:a16="http://schemas.microsoft.com/office/drawing/2014/main" id="{9F7FC82F-86FB-58AD-9F35-C283D9D26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1097280"/>
            <a:ext cx="2606040" cy="1463040"/>
          </a:xfrm>
          <a:prstGeom xmlns:a="http://schemas.openxmlformats.org/drawingml/2006/main" prst="roundRect">
            <a:avLst>
              <a:gd name="adj" fmla="val 8750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64748B">
                <a:alpha val="60000"/>
              </a:srgbClr>
            </a:solidFill>
            <a:prstDash val="solid"/>
          </a:ln>
          <a:effectLst xmlns:a="http://schemas.openxmlformats.org/drawingml/2006/main">
            <a:outerShdw blurRad="152400" dist="38100" dir="2700000" algn="bl" rotWithShape="0">
              <a:srgbClr val="000000">
                <a:alpha val="1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AB1667EA-733F-8A6C-2F49-86D3B8F84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1188720"/>
            <a:ext cx="26060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800" b="1">
                <a:solidFill>
                  <a:srgbClr val="64748B"/>
                </a:solidFill>
                <a:latin typeface="Cambria"/>
                <a:ea typeface="Cambria"/>
                <a:cs typeface="Cambria"/>
              </a:rPr>
              <a:t>0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C2B9B21A-C3B1-BB54-E57C-080103A3D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1810512"/>
            <a:ext cx="26060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</a:rPr>
              <a:t>Neutrale Karten</a:t>
            </a: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4E220DB6-CC66-31FC-73E5-A1B556C5C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4768" y="2103120"/>
            <a:ext cx="23774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94A3B8"/>
                </a:solidFill>
              </a:rPr>
              <a:t>7 bis 9 verändern den Count nicht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E9C40ED8-D142-7B54-3D31-EFC95A8E9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2834640"/>
            <a:ext cx="45720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E293B"/>
                </a:solidFill>
                <a:latin typeface="Cambria"/>
                <a:ea typeface="Cambria"/>
                <a:cs typeface="Cambria"/>
              </a:rPr>
              <a:t>Vom Running zum True Count</a:t>
            </a:r>
          </a:p>
        </p:txBody>
      </p:sp>
      <p:sp>
        <p:nvSpPr>
          <p:cNvPr id="19" name="!!6">
            <a:extLst xmlns:a="http://schemas.openxmlformats.org/drawingml/2006/main">
              <a:ext uri="{FF2B5EF4-FFF2-40B4-BE49-F238E27FC236}">
                <a16:creationId xmlns:a16="http://schemas.microsoft.com/office/drawing/2014/main" id="{DC7A393B-21A3-CA11-7E10-C92D14768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3246120"/>
            <a:ext cx="2606040" cy="155448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12700">
            <a:solidFill>
              <a:srgbClr val="0D9488">
                <a:alpha val="40000"/>
              </a:srgbClr>
            </a:solidFill>
            <a:prstDash val="solid"/>
          </a:ln>
          <a:effectLst xmlns:a="http://schemas.openxmlformats.org/drawingml/2006/main">
            <a:outerShdw blurRad="101600" dist="25400" dir="2700000" algn="bl" rotWithShape="0">
              <a:srgbClr val="000000">
                <a:alpha val="14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AD8F9B48-D337-4206-BD24-FB7AE828C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383280"/>
            <a:ext cx="320040" cy="3200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9488"/>
          </a:solidFill>
          <a:ln xmlns:a="http://schemas.openxmlformats.org/drawingml/2006/main" w="12700">
            <a:solidFill>
              <a:srgbClr val="0D948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1E7C076A-E2E4-FDF0-0B37-0E2869D31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383280"/>
            <a:ext cx="3200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</a:rPr>
              <a:t>Σ</a:t>
            </a:r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4B21A097-DA0E-C3C6-FB16-F37F08A6D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64992"/>
            <a:ext cx="192024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1E293B"/>
                </a:solidFill>
              </a:rPr>
              <a:t>Running Count</a:t>
            </a:r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238CB7B5-0D6D-EDDB-F40A-ED4E4EA07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3749040"/>
            <a:ext cx="228600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64748B"/>
                </a:solidFill>
              </a:rPr>
              <a:t>Summe aller sichtbaren Hi-Lo-Werte</a:t>
            </a:r>
          </a:p>
        </p:txBody>
      </p:sp>
      <p:sp>
        <p:nvSpPr>
          <p:cNvPr id="24" name="!!11">
            <a:extLst xmlns:a="http://schemas.openxmlformats.org/drawingml/2006/main">
              <a:ext uri="{FF2B5EF4-FFF2-40B4-BE49-F238E27FC236}">
                <a16:creationId xmlns:a16="http://schemas.microsoft.com/office/drawing/2014/main" id="{EF923ED0-928C-BBFD-1963-EB95430AC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246120"/>
            <a:ext cx="2606040" cy="155448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12700">
            <a:solidFill>
              <a:srgbClr val="0D9488">
                <a:alpha val="40000"/>
              </a:srgbClr>
            </a:solidFill>
            <a:prstDash val="solid"/>
          </a:ln>
          <a:effectLst xmlns:a="http://schemas.openxmlformats.org/drawingml/2006/main">
            <a:outerShdw blurRad="101600" dist="25400" dir="2700000" algn="bl" rotWithShape="0">
              <a:srgbClr val="000000">
                <a:alpha val="14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ED2289B4-201C-B1DB-424B-E3E20C769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7560" y="3383280"/>
            <a:ext cx="320040" cy="3200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9488"/>
          </a:solidFill>
          <a:ln xmlns:a="http://schemas.openxmlformats.org/drawingml/2006/main" w="12700">
            <a:solidFill>
              <a:srgbClr val="0D948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DE622C9F-5705-A2BD-ADA6-E3B2FDEB4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7560" y="3383280"/>
            <a:ext cx="3200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</a:rPr>
              <a:t>÷</a:t>
            </a:r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81364983-98E5-D8DF-66FE-8372094B5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9040" y="3364992"/>
            <a:ext cx="192024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1E293B"/>
                </a:solidFill>
              </a:rPr>
              <a:t>Verbleibende Decks</a:t>
            </a:r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7E1A2BCC-3AFD-E7EA-CAA4-F638D811F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4992" y="3749040"/>
            <a:ext cx="228600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64748B"/>
                </a:solidFill>
              </a:rPr>
              <a:t>verbleibende Karten / 52</a:t>
            </a:r>
          </a:p>
        </p:txBody>
      </p:sp>
      <p:sp>
        <p:nvSpPr>
          <p:cNvPr id="29" name="!!5">
            <a:extLst xmlns:a="http://schemas.openxmlformats.org/drawingml/2006/main">
              <a:ext uri="{FF2B5EF4-FFF2-40B4-BE49-F238E27FC236}">
                <a16:creationId xmlns:a16="http://schemas.microsoft.com/office/drawing/2014/main" id="{EDC3A35D-E4D4-31D7-888C-58425CCFD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3246120"/>
            <a:ext cx="2606040" cy="155448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12700">
            <a:solidFill>
              <a:srgbClr val="0D9488">
                <a:alpha val="40000"/>
              </a:srgbClr>
            </a:solidFill>
            <a:prstDash val="solid"/>
          </a:ln>
          <a:effectLst xmlns:a="http://schemas.openxmlformats.org/drawingml/2006/main">
            <a:outerShdw blurRad="101600" dist="25400" dir="2700000" algn="bl" rotWithShape="0">
              <a:srgbClr val="000000">
                <a:alpha val="14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12E75A30-9A86-ADBC-E473-93ABB476C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383280"/>
            <a:ext cx="320040" cy="3200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9488"/>
          </a:solidFill>
          <a:ln xmlns:a="http://schemas.openxmlformats.org/drawingml/2006/main" w="12700">
            <a:solidFill>
              <a:srgbClr val="0D948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767BABAF-DB06-A5FD-776F-626EDAC3E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383280"/>
            <a:ext cx="3200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</a:rPr>
              <a:t>=</a:t>
            </a:r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41ED683D-24C8-18D1-88D1-A429B339E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3364992"/>
            <a:ext cx="192024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1E293B"/>
                </a:solidFill>
              </a:rPr>
              <a:t>True Count</a:t>
            </a:r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623EAA64-5A9F-AFD4-C6A3-0EE0F1423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9632" y="3749040"/>
            <a:ext cx="228600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64748B"/>
                </a:solidFill>
              </a:rPr>
              <a:t>Running Count / verbleibende Decks</a:t>
            </a:r>
          </a:p>
        </p:txBody>
      </p:sp>
      <p:sp>
        <p:nvSpPr>
          <p:cNvPr id="35" name="Shape 9">
            <a:extLst xmlns:a="http://schemas.openxmlformats.org/drawingml/2006/main">
              <a:ext uri="{FF2B5EF4-FFF2-40B4-BE49-F238E27FC236}">
                <a16:creationId xmlns:a16="http://schemas.microsoft.com/office/drawing/2014/main" id="{A5B3BCE1-4086-5359-A5E3-F25288BBA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" y="5262372"/>
            <a:ext cx="2606040" cy="128016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1E3A5F"/>
          </a:solidFill>
          <a:ln xmlns:a="http://schemas.openxmlformats.org/drawingml/2006/main" w="12700">
            <a:solidFill>
              <a:srgbClr val="0D9488">
                <a:alpha val="30000"/>
              </a:srgbClr>
            </a:solidFill>
            <a:prstDash val="solid"/>
          </a:ln>
          <a:effectLst xmlns:a="http://schemas.openxmlformats.org/drawingml/2006/main">
            <a:outerShdw blurRad="101600" dist="25400" dir="2700000" algn="bl" rotWithShape="0">
              <a:srgbClr val="000000">
                <a:alpha val="14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Text 10">
            <a:extLst xmlns:a="http://schemas.openxmlformats.org/drawingml/2006/main">
              <a:ext uri="{FF2B5EF4-FFF2-40B4-BE49-F238E27FC236}">
                <a16:creationId xmlns:a16="http://schemas.microsoft.com/office/drawing/2014/main" id="{08BC9302-2C6B-063A-449B-7D8C164BA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" y="5326380"/>
            <a:ext cx="260604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400" b="1">
                <a:solidFill>
                  <a:srgbClr val="14B8A6"/>
                </a:solidFill>
                <a:latin typeface="Cambria"/>
                <a:ea typeface="Cambria"/>
                <a:cs typeface="Cambria"/>
              </a:rPr>
              <a:t>α</a:t>
            </a:r>
          </a:p>
        </p:txBody>
      </p:sp>
      <p:sp>
        <p:nvSpPr>
          <p:cNvPr id="37" name="Text 11">
            <a:extLst xmlns:a="http://schemas.openxmlformats.org/drawingml/2006/main">
              <a:ext uri="{FF2B5EF4-FFF2-40B4-BE49-F238E27FC236}">
                <a16:creationId xmlns:a16="http://schemas.microsoft.com/office/drawing/2014/main" id="{6EE46E90-CB8B-8192-9126-9833442AE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" y="5710428"/>
            <a:ext cx="26060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59E0B"/>
                </a:solidFill>
              </a:rPr>
              <a:t>0.01</a:t>
            </a:r>
          </a:p>
        </p:txBody>
      </p:sp>
      <p:sp>
        <p:nvSpPr>
          <p:cNvPr id="38" name="Text 12">
            <a:extLst xmlns:a="http://schemas.openxmlformats.org/drawingml/2006/main">
              <a:ext uri="{FF2B5EF4-FFF2-40B4-BE49-F238E27FC236}">
                <a16:creationId xmlns:a16="http://schemas.microsoft.com/office/drawing/2014/main" id="{D8668A4B-DFE9-1D0C-27B1-B1351FFD9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963" y="6012180"/>
            <a:ext cx="23774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FFFFFF"/>
                </a:solidFill>
              </a:rPr>
              <a:t>Learning Rate</a:t>
            </a:r>
          </a:p>
        </p:txBody>
      </p:sp>
      <p:sp>
        <p:nvSpPr>
          <p:cNvPr id="39" name="Text 13">
            <a:extLst xmlns:a="http://schemas.openxmlformats.org/drawingml/2006/main">
              <a:ext uri="{FF2B5EF4-FFF2-40B4-BE49-F238E27FC236}">
                <a16:creationId xmlns:a16="http://schemas.microsoft.com/office/drawing/2014/main" id="{AA0F56EC-B257-2855-14FE-9B8A782D3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963" y="6213348"/>
            <a:ext cx="237744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94A3B8"/>
                </a:solidFill>
              </a:rPr>
              <a:t>Schrittweite der Updates</a:t>
            </a:r>
          </a:p>
        </p:txBody>
      </p:sp>
      <p:sp>
        <p:nvSpPr>
          <p:cNvPr id="40" name="Shape 14">
            <a:extLst xmlns:a="http://schemas.openxmlformats.org/drawingml/2006/main">
              <a:ext uri="{FF2B5EF4-FFF2-40B4-BE49-F238E27FC236}">
                <a16:creationId xmlns:a16="http://schemas.microsoft.com/office/drawing/2014/main" id="{99BF2CE4-266B-C6A4-773F-7749B2383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5262372"/>
            <a:ext cx="2606040" cy="128016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1E3A5F"/>
          </a:solidFill>
          <a:ln xmlns:a="http://schemas.openxmlformats.org/drawingml/2006/main" w="12700">
            <a:solidFill>
              <a:srgbClr val="0D9488">
                <a:alpha val="30000"/>
              </a:srgbClr>
            </a:solidFill>
            <a:prstDash val="solid"/>
          </a:ln>
          <a:effectLst xmlns:a="http://schemas.openxmlformats.org/drawingml/2006/main">
            <a:outerShdw blurRad="101600" dist="25400" dir="2700000" algn="bl" rotWithShape="0">
              <a:srgbClr val="000000">
                <a:alpha val="14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1" name="Text 15">
            <a:extLst xmlns:a="http://schemas.openxmlformats.org/drawingml/2006/main">
              <a:ext uri="{FF2B5EF4-FFF2-40B4-BE49-F238E27FC236}">
                <a16:creationId xmlns:a16="http://schemas.microsoft.com/office/drawing/2014/main" id="{3A777EA3-CC74-CC5B-0473-7C9F647CE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5326380"/>
            <a:ext cx="260604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400" b="1">
                <a:solidFill>
                  <a:srgbClr val="14B8A6"/>
                </a:solidFill>
                <a:latin typeface="Cambria"/>
                <a:ea typeface="Cambria"/>
                <a:cs typeface="Cambria"/>
              </a:rPr>
              <a:t>γ</a:t>
            </a:r>
          </a:p>
        </p:txBody>
      </p:sp>
      <p:sp>
        <p:nvSpPr>
          <p:cNvPr id="42" name="Text 16">
            <a:extLst xmlns:a="http://schemas.openxmlformats.org/drawingml/2006/main">
              <a:ext uri="{FF2B5EF4-FFF2-40B4-BE49-F238E27FC236}">
                <a16:creationId xmlns:a16="http://schemas.microsoft.com/office/drawing/2014/main" id="{52453D0A-E49C-F420-4C7B-AB15F3698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5710428"/>
            <a:ext cx="26060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59E0B"/>
                </a:solidFill>
              </a:rPr>
              <a:t>0.99</a:t>
            </a:r>
          </a:p>
        </p:txBody>
      </p:sp>
      <p:sp>
        <p:nvSpPr>
          <p:cNvPr id="43" name="Text 17">
            <a:extLst xmlns:a="http://schemas.openxmlformats.org/drawingml/2006/main">
              <a:ext uri="{FF2B5EF4-FFF2-40B4-BE49-F238E27FC236}">
                <a16:creationId xmlns:a16="http://schemas.microsoft.com/office/drawing/2014/main" id="{F6709C90-7942-9D77-9362-8601C6DC9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0603" y="6012180"/>
            <a:ext cx="23774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FFFFFF"/>
                </a:solidFill>
              </a:rPr>
              <a:t>Discount Factor</a:t>
            </a:r>
          </a:p>
        </p:txBody>
      </p:sp>
      <p:sp>
        <p:nvSpPr>
          <p:cNvPr id="44" name="Text 18">
            <a:extLst xmlns:a="http://schemas.openxmlformats.org/drawingml/2006/main">
              <a:ext uri="{FF2B5EF4-FFF2-40B4-BE49-F238E27FC236}">
                <a16:creationId xmlns:a16="http://schemas.microsoft.com/office/drawing/2014/main" id="{7521AEBC-A023-3088-5C7C-2CE2A8BE5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0603" y="6213348"/>
            <a:ext cx="237744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94A3B8"/>
                </a:solidFill>
              </a:rPr>
              <a:t>Gewichtung zukünftiger Rewards</a:t>
            </a:r>
          </a:p>
        </p:txBody>
      </p:sp>
      <p:sp>
        <p:nvSpPr>
          <p:cNvPr id="45" name="Shape 19">
            <a:extLst xmlns:a="http://schemas.openxmlformats.org/drawingml/2006/main">
              <a:ext uri="{FF2B5EF4-FFF2-40B4-BE49-F238E27FC236}">
                <a16:creationId xmlns:a16="http://schemas.microsoft.com/office/drawing/2014/main" id="{B2DE0B80-033C-0819-2D70-5C2C3B6F9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5515" y="5262372"/>
            <a:ext cx="2606040" cy="128016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1E3A5F"/>
          </a:solidFill>
          <a:ln xmlns:a="http://schemas.openxmlformats.org/drawingml/2006/main" w="12700">
            <a:solidFill>
              <a:srgbClr val="0D9488">
                <a:alpha val="30000"/>
              </a:srgbClr>
            </a:solidFill>
            <a:prstDash val="solid"/>
          </a:ln>
          <a:effectLst xmlns:a="http://schemas.openxmlformats.org/drawingml/2006/main">
            <a:outerShdw blurRad="101600" dist="25400" dir="2700000" algn="bl" rotWithShape="0">
              <a:srgbClr val="000000">
                <a:alpha val="14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6" name="Text 20">
            <a:extLst xmlns:a="http://schemas.openxmlformats.org/drawingml/2006/main">
              <a:ext uri="{FF2B5EF4-FFF2-40B4-BE49-F238E27FC236}">
                <a16:creationId xmlns:a16="http://schemas.microsoft.com/office/drawing/2014/main" id="{C1298BD3-EFB6-3990-318E-736F3FE69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5515" y="5326380"/>
            <a:ext cx="260604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400" b="1">
                <a:solidFill>
                  <a:srgbClr val="14B8A6"/>
                </a:solidFill>
                <a:latin typeface="Cambria"/>
                <a:ea typeface="Cambria"/>
                <a:cs typeface="Cambria"/>
              </a:rPr>
              <a:t>r</a:t>
            </a:r>
          </a:p>
        </p:txBody>
      </p:sp>
      <p:sp>
        <p:nvSpPr>
          <p:cNvPr id="47" name="Text 21">
            <a:extLst xmlns:a="http://schemas.openxmlformats.org/drawingml/2006/main">
              <a:ext uri="{FF2B5EF4-FFF2-40B4-BE49-F238E27FC236}">
                <a16:creationId xmlns:a16="http://schemas.microsoft.com/office/drawing/2014/main" id="{E7AEEEC3-5C18-E859-B38F-EBF5D6F74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5515" y="5710428"/>
            <a:ext cx="26060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59E0B"/>
                </a:solidFill>
              </a:rPr>
              <a:t>+1/−1/0</a:t>
            </a:r>
          </a:p>
        </p:txBody>
      </p:sp>
      <p:sp>
        <p:nvSpPr>
          <p:cNvPr id="48" name="Text 22">
            <a:extLst xmlns:a="http://schemas.openxmlformats.org/drawingml/2006/main">
              <a:ext uri="{FF2B5EF4-FFF2-40B4-BE49-F238E27FC236}">
                <a16:creationId xmlns:a16="http://schemas.microsoft.com/office/drawing/2014/main" id="{5B213664-001A-FD83-38DA-956234998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5243" y="6012180"/>
            <a:ext cx="23774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FFFFFF"/>
                </a:solidFill>
              </a:rPr>
              <a:t>Immediate Reward</a:t>
            </a:r>
          </a:p>
        </p:txBody>
      </p:sp>
      <p:sp>
        <p:nvSpPr>
          <p:cNvPr id="49" name="Text 23">
            <a:extLst xmlns:a="http://schemas.openxmlformats.org/drawingml/2006/main">
              <a:ext uri="{FF2B5EF4-FFF2-40B4-BE49-F238E27FC236}">
                <a16:creationId xmlns:a16="http://schemas.microsoft.com/office/drawing/2014/main" id="{9AAA6FAE-759F-F41B-8673-72458F844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5243" y="6213348"/>
            <a:ext cx="237744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94A3B8"/>
                </a:solidFill>
              </a:rPr>
              <a:t>Direktes Feedback der Umgebung</a:t>
            </a:r>
          </a:p>
        </p:txBody>
      </p:sp>
    </p:spTree>
    <p:extLst>
      <p:ext uri="{BB962C8B-B14F-4D97-AF65-F5344CB8AC3E}">
        <p14:creationId xmlns:p14="http://schemas.microsoft.com/office/powerpoint/2010/main" val="63285066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hape 0">
            <a:extLst xmlns:a="http://schemas.openxmlformats.org/drawingml/2006/main">
              <a:ext uri="{FF2B5EF4-FFF2-40B4-BE49-F238E27FC236}">
                <a16:creationId xmlns:a16="http://schemas.microsoft.com/office/drawing/2014/main" id="{B771B513-9A3B-64B8-BD18-2CBE7DCED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32051B90-A756-E77C-CB4F-62C7896AB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9488"/>
          </a:solidFill>
          <a:ln xmlns:a="http://schemas.openxmlformats.org/drawingml/2006/main" w="12700">
            <a:solidFill>
              <a:srgbClr val="0D948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62A455A6-BDA9-4CD2-E697-53A86BD6A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4320"/>
            <a:ext cx="82296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5EEAD4"/>
                </a:solidFill>
                <a:latin typeface="Cambria"/>
                <a:ea typeface="Cambria"/>
                <a:cs typeface="Cambria"/>
              </a:rPr>
              <a:t>Drei Fragen prüfen Nutzen, Performance und Konvergenz</a:t>
            </a:r>
          </a:p>
        </p:txBody>
      </p:sp>
      <p:sp>
        <p:nvSpPr>
          <p:cNvPr id="9" name="Text 3">
            <a:extLst xmlns:a="http://schemas.openxmlformats.org/drawingml/2006/main">
              <a:ext uri="{FF2B5EF4-FFF2-40B4-BE49-F238E27FC236}">
                <a16:creationId xmlns:a16="http://schemas.microsoft.com/office/drawing/2014/main" id="{D49EEBFE-36F1-9D5B-BE6C-630FBC106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7670" y="54864"/>
            <a:ext cx="231913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fld id="{D3D7D1C8-AE23-AA48-DF65-C742588DBE47}" type="slidenum">
              <a:rPr sz="9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7</a:t>
            </a:fld>
          </a:p>
        </p:txBody>
      </p:sp>
      <p:sp>
        <p:nvSpPr>
          <p:cNvPr id="10" name="Text 3">
            <a:extLst xmlns:a="http://schemas.openxmlformats.org/drawingml/2006/main">
              <a:ext uri="{FF2B5EF4-FFF2-40B4-BE49-F238E27FC236}">
                <a16:creationId xmlns:a16="http://schemas.microsoft.com/office/drawing/2014/main" id="{EF8B595A-F6EA-2BC0-6DA3-4247DEB41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2435" y="60960"/>
            <a:ext cx="231913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BHH · Machine Learning</a:t>
            </a:r>
          </a:p>
        </p:txBody>
      </p:sp>
      <p:sp>
        <p:nvSpPr>
          <p:cNvPr id="11" name="Text 3">
            <a:extLst xmlns:a="http://schemas.openxmlformats.org/drawingml/2006/main">
              <a:ext uri="{FF2B5EF4-FFF2-40B4-BE49-F238E27FC236}">
                <a16:creationId xmlns:a16="http://schemas.microsoft.com/office/drawing/2014/main" id="{C5EDCB72-2822-0475-AA60-6928E2B1A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"/>
            <a:ext cx="231913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Motivation &amp; </a:t>
            </a:r>
            <a:r>
              <a:rPr sz="9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Theorie</a:t>
            </a:r>
          </a:p>
        </p:txBody>
      </p:sp>
      <p:sp>
        <p:nvSpPr>
          <p:cNvPr id="2" name="!!6">
            <a:extLst xmlns:a="http://schemas.openxmlformats.org/drawingml/2006/main">
              <a:ext uri="{FF2B5EF4-FFF2-40B4-BE49-F238E27FC236}">
                <a16:creationId xmlns:a16="http://schemas.microsoft.com/office/drawing/2014/main" id="{029E8EA6-60C8-3416-8F0A-8F3310605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1097280"/>
            <a:ext cx="3931920" cy="3474720"/>
          </a:xfrm>
          <a:prstGeom xmlns:a="http://schemas.openxmlformats.org/drawingml/2006/main" prst="roundRect">
            <a:avLst>
              <a:gd name="adj" fmla="val 3947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0D9488">
                <a:alpha val="40000"/>
              </a:srgbClr>
            </a:solidFill>
            <a:prstDash val="solid"/>
          </a:ln>
          <a:effectLst xmlns:a="http://schemas.openxmlformats.org/drawingml/2006/main">
            <a:outerShdw blurRad="152400" dist="38100" dir="2700000" algn="bl" rotWithShape="0">
              <a:srgbClr val="000000">
                <a:alpha val="1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B4393347-CE48-3D9E-1CF0-2D1000386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36576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Forschungsfragen</a:t>
            </a:r>
          </a:p>
        </p:txBody>
      </p:sp>
      <p:sp>
        <p:nvSpPr>
          <p:cNvPr id="30" name="!!5">
            <a:extLst xmlns:a="http://schemas.openxmlformats.org/drawingml/2006/main">
              <a:ext uri="{FF2B5EF4-FFF2-40B4-BE49-F238E27FC236}">
                <a16:creationId xmlns:a16="http://schemas.microsoft.com/office/drawing/2014/main" id="{4C87B213-15BD-EC93-23D2-C096D9B7C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1097280"/>
            <a:ext cx="4114800" cy="3474720"/>
          </a:xfrm>
          <a:prstGeom xmlns:a="http://schemas.openxmlformats.org/drawingml/2006/main" prst="roundRect">
            <a:avLst>
              <a:gd name="adj" fmla="val 3947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F59E0B">
                <a:alpha val="40000"/>
              </a:srgbClr>
            </a:solidFill>
            <a:prstDash val="solid"/>
          </a:ln>
          <a:effectLst xmlns:a="http://schemas.openxmlformats.org/drawingml/2006/main">
            <a:outerShdw blurRad="152400" dist="38100" dir="2700000" algn="bl" rotWithShape="0">
              <a:srgbClr val="000000">
                <a:alpha val="1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Text 15">
            <a:extLst xmlns:a="http://schemas.openxmlformats.org/drawingml/2006/main">
              <a:ext uri="{FF2B5EF4-FFF2-40B4-BE49-F238E27FC236}">
                <a16:creationId xmlns:a16="http://schemas.microsoft.com/office/drawing/2014/main" id="{E5A5DE81-7F3B-6EE7-B797-4FFDD7590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1234440"/>
            <a:ext cx="38404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Restriktionen</a:t>
            </a:r>
          </a:p>
        </p:txBody>
      </p:sp>
      <p:sp>
        <p:nvSpPr>
          <p:cNvPr id="32" name="Shape 16">
            <a:extLst xmlns:a="http://schemas.openxmlformats.org/drawingml/2006/main">
              <a:ext uri="{FF2B5EF4-FFF2-40B4-BE49-F238E27FC236}">
                <a16:creationId xmlns:a16="http://schemas.microsoft.com/office/drawing/2014/main" id="{485F3F8F-D0C1-8618-4215-8E7ED5DA9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1810512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9488"/>
          </a:solidFill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4" name="Text 18">
            <a:extLst xmlns:a="http://schemas.openxmlformats.org/drawingml/2006/main">
              <a:ext uri="{FF2B5EF4-FFF2-40B4-BE49-F238E27FC236}">
                <a16:creationId xmlns:a16="http://schemas.microsoft.com/office/drawing/2014/main" id="{0D708410-DBA3-23AE-A7A7-66FE286A7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1796796"/>
            <a:ext cx="3200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F1F5F9"/>
                </a:solidFill>
                <a:latin typeface="Cambria"/>
                <a:ea typeface="Cambria"/>
                <a:cs typeface="Cambria"/>
              </a:rPr>
              <a:t>Kein Split, Double Down oder Surrender</a:t>
            </a:r>
          </a:p>
        </p:txBody>
      </p:sp>
      <p:sp>
        <p:nvSpPr>
          <p:cNvPr id="35" name="Shape 19">
            <a:extLst xmlns:a="http://schemas.openxmlformats.org/drawingml/2006/main">
              <a:ext uri="{FF2B5EF4-FFF2-40B4-BE49-F238E27FC236}">
                <a16:creationId xmlns:a16="http://schemas.microsoft.com/office/drawing/2014/main" id="{3EB4C59E-201E-B0AA-5653-6B909A8BD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450592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9488"/>
          </a:solidFill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7" name="Text 21">
            <a:extLst xmlns:a="http://schemas.openxmlformats.org/drawingml/2006/main">
              <a:ext uri="{FF2B5EF4-FFF2-40B4-BE49-F238E27FC236}">
                <a16:creationId xmlns:a16="http://schemas.microsoft.com/office/drawing/2014/main" id="{8B59C9D5-35E9-271B-3D47-3720E9A31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414016"/>
            <a:ext cx="32004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F1F5F9"/>
                </a:solidFill>
                <a:latin typeface="Cambria"/>
                <a:ea typeface="Cambria"/>
                <a:cs typeface="Cambria"/>
              </a:rPr>
              <a:t>Konstante Einsätze</a:t>
            </a:r>
          </a:p>
        </p:txBody>
      </p:sp>
      <p:sp>
        <p:nvSpPr>
          <p:cNvPr id="38" name="Shape 22">
            <a:extLst xmlns:a="http://schemas.openxmlformats.org/drawingml/2006/main">
              <a:ext uri="{FF2B5EF4-FFF2-40B4-BE49-F238E27FC236}">
                <a16:creationId xmlns:a16="http://schemas.microsoft.com/office/drawing/2014/main" id="{438E395B-F821-346C-714A-797B67D06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730752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9488"/>
          </a:solidFill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0" name="Text 24">
            <a:extLst xmlns:a="http://schemas.openxmlformats.org/drawingml/2006/main">
              <a:ext uri="{FF2B5EF4-FFF2-40B4-BE49-F238E27FC236}">
                <a16:creationId xmlns:a16="http://schemas.microsoft.com/office/drawing/2014/main" id="{346A3ABD-8BEA-7269-8E3D-6FB2F1172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798025"/>
            <a:ext cx="3200400" cy="22206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F1F5F9"/>
                </a:solidFill>
                <a:latin typeface="Cambria"/>
                <a:ea typeface="Cambria"/>
                <a:cs typeface="Cambria"/>
              </a:rPr>
              <a:t>Kein 3:2-Payout für Natural Blackjack</a:t>
            </a:r>
          </a:p>
        </p:txBody>
      </p:sp>
      <p:sp>
        <p:nvSpPr>
          <p:cNvPr id="41" name="Shape 16">
            <a:extLst xmlns:a="http://schemas.openxmlformats.org/drawingml/2006/main">
              <a:ext uri="{FF2B5EF4-FFF2-40B4-BE49-F238E27FC236}">
                <a16:creationId xmlns:a16="http://schemas.microsoft.com/office/drawing/2014/main" id="{FC47CA1B-9A5F-BEFC-B995-D74BE53A2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10512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9488"/>
          </a:solidFill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2" name="Text 17">
            <a:extLst xmlns:a="http://schemas.openxmlformats.org/drawingml/2006/main">
              <a:ext uri="{FF2B5EF4-FFF2-40B4-BE49-F238E27FC236}">
                <a16:creationId xmlns:a16="http://schemas.microsoft.com/office/drawing/2014/main" id="{2622F89B-CD32-1355-D6B4-2392C790B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10512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0F172A"/>
                </a:solidFill>
                <a:latin typeface="Cambria"/>
                <a:ea typeface="Cambria"/>
                <a:cs typeface="Cambria"/>
              </a:rPr>
              <a:t>1</a:t>
            </a:r>
          </a:p>
        </p:txBody>
      </p:sp>
      <p:sp>
        <p:nvSpPr>
          <p:cNvPr id="43" name="Text 18">
            <a:extLst xmlns:a="http://schemas.openxmlformats.org/drawingml/2006/main">
              <a:ext uri="{FF2B5EF4-FFF2-40B4-BE49-F238E27FC236}">
                <a16:creationId xmlns:a16="http://schemas.microsoft.com/office/drawing/2014/main" id="{CEC00E4F-CFB2-0C62-ED90-135B90436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1796796"/>
            <a:ext cx="3200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Nutzt der Agent die Kartenzählinformation aktiv?</a:t>
            </a:r>
          </a:p>
        </p:txBody>
      </p:sp>
      <p:sp>
        <p:nvSpPr>
          <p:cNvPr id="44" name="Shape 19">
            <a:extLst xmlns:a="http://schemas.openxmlformats.org/drawingml/2006/main">
              <a:ext uri="{FF2B5EF4-FFF2-40B4-BE49-F238E27FC236}">
                <a16:creationId xmlns:a16="http://schemas.microsoft.com/office/drawing/2014/main" id="{C56D7B2C-523F-A16F-E29D-1D3B7A8A8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770632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9488"/>
          </a:solidFill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5" name="Text 20">
            <a:extLst xmlns:a="http://schemas.openxmlformats.org/drawingml/2006/main">
              <a:ext uri="{FF2B5EF4-FFF2-40B4-BE49-F238E27FC236}">
                <a16:creationId xmlns:a16="http://schemas.microsoft.com/office/drawing/2014/main" id="{5E1CC6DF-D0D7-0C6B-363D-F9C05EE1D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770632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0F172A"/>
                </a:solidFill>
                <a:latin typeface="Cambria"/>
                <a:ea typeface="Cambria"/>
                <a:cs typeface="Cambria"/>
              </a:rPr>
              <a:t>2</a:t>
            </a:r>
          </a:p>
        </p:txBody>
      </p:sp>
      <p:sp>
        <p:nvSpPr>
          <p:cNvPr id="46" name="Text 21">
            <a:extLst xmlns:a="http://schemas.openxmlformats.org/drawingml/2006/main">
              <a:ext uri="{FF2B5EF4-FFF2-40B4-BE49-F238E27FC236}">
                <a16:creationId xmlns:a16="http://schemas.microsoft.com/office/drawing/2014/main" id="{37F2A764-8255-9AD2-E418-F78001D9E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743200"/>
            <a:ext cx="32004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Verbessern Zusatzmerkmale Reward und Win Rate?</a:t>
            </a:r>
          </a:p>
        </p:txBody>
      </p:sp>
      <p:sp>
        <p:nvSpPr>
          <p:cNvPr id="47" name="Shape 22">
            <a:extLst xmlns:a="http://schemas.openxmlformats.org/drawingml/2006/main">
              <a:ext uri="{FF2B5EF4-FFF2-40B4-BE49-F238E27FC236}">
                <a16:creationId xmlns:a16="http://schemas.microsoft.com/office/drawing/2014/main" id="{11B142B7-1C67-8BB2-10AC-D8FC1B9C4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730752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9488"/>
          </a:solidFill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8" name="Text 23">
            <a:extLst xmlns:a="http://schemas.openxmlformats.org/drawingml/2006/main">
              <a:ext uri="{FF2B5EF4-FFF2-40B4-BE49-F238E27FC236}">
                <a16:creationId xmlns:a16="http://schemas.microsoft.com/office/drawing/2014/main" id="{244B6C13-ED61-3494-D828-DC05301DA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730752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0F172A"/>
                </a:solidFill>
                <a:latin typeface="Cambria"/>
                <a:ea typeface="Cambria"/>
                <a:cs typeface="Cambria"/>
              </a:rPr>
              <a:t>3</a:t>
            </a:r>
          </a:p>
        </p:txBody>
      </p:sp>
      <p:sp>
        <p:nvSpPr>
          <p:cNvPr id="49" name="Text 24">
            <a:extLst xmlns:a="http://schemas.openxmlformats.org/drawingml/2006/main">
              <a:ext uri="{FF2B5EF4-FFF2-40B4-BE49-F238E27FC236}">
                <a16:creationId xmlns:a16="http://schemas.microsoft.com/office/drawing/2014/main" id="{E16AC6BB-D461-1BDA-7BEC-0704A48F5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3798025"/>
            <a:ext cx="3200400" cy="22206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Wie beeinflusst der Zustandsraum Lernen und Konvergenz?</a:t>
            </a:r>
          </a:p>
        </p:txBody>
      </p:sp>
      <p:sp>
        <p:nvSpPr>
          <p:cNvPr id="50" name="Shape 19">
            <a:extLst xmlns:a="http://schemas.openxmlformats.org/drawingml/2006/main">
              <a:ext uri="{FF2B5EF4-FFF2-40B4-BE49-F238E27FC236}">
                <a16:creationId xmlns:a16="http://schemas.microsoft.com/office/drawing/2014/main" id="{ECA5EDEA-3615-88FA-0FD1-473F4FA20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090672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9488"/>
          </a:solidFill>
          <a:ln xmlns:a="http://schemas.openxmlformats.org/drawingml/2006/main" w="1270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1" name="Text 21">
            <a:extLst xmlns:a="http://schemas.openxmlformats.org/drawingml/2006/main">
              <a:ext uri="{FF2B5EF4-FFF2-40B4-BE49-F238E27FC236}">
                <a16:creationId xmlns:a16="http://schemas.microsoft.com/office/drawing/2014/main" id="{88EBBE51-7A61-7E38-8B10-7D3781456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051156"/>
            <a:ext cx="32004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r>
              <a:rPr sz="1400">
                <a:solidFill>
                  <a:srgbClr val="F1F5F9"/>
                </a:solidFill>
                <a:latin typeface="Cambria"/>
                <a:ea typeface="Cambria"/>
                <a:cs typeface="Cambria"/>
              </a:rPr>
              <a:t>6 Decks · Dealer steht auf Soft 17</a:t>
            </a:r>
          </a:p>
        </p:txBody>
      </p:sp>
    </p:spTree>
    <p:extLst>
      <p:ext uri="{BB962C8B-B14F-4D97-AF65-F5344CB8AC3E}">
        <p14:creationId xmlns:p14="http://schemas.microsoft.com/office/powerpoint/2010/main" val="141436891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3DD22ABD-A21D-4749-A266-A039568C2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12700">
            <a:solidFill>
              <a:srgbClr val="10B98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15CE59CA-7A2D-4EBB-8CC8-5742B96E4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9728"/>
            <a:ext cx="27432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10B981"/>
                </a:solidFill>
              </a:rPr>
              <a:t>METHODIK &amp; TECHNIK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749E6405-D9E2-4B60-B9AA-E390F526E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7472"/>
            <a:ext cx="82296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50" b="1">
                <a:solidFill>
                  <a:srgbClr val="111A2E"/>
                </a:solidFill>
                <a:latin typeface="Cambria"/>
                <a:ea typeface="Cambria"/>
                <a:cs typeface="Cambria"/>
              </a:rPr>
              <a:t>Die Baseline bleibt mit 280 Zuständen kompakt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B5C3EC83-062B-49A9-938C-7E60BBFF1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1005840"/>
            <a:ext cx="7772400" cy="4023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5F"/>
          </a:solidFill>
          <a:ln xmlns:a="http://schemas.openxmlformats.org/drawingml/2006/main" w="12700">
            <a:solidFill>
              <a:srgbClr val="0D9488">
                <a:alpha val="40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9216736B-6F10-490B-9100-685947CA9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" y="1005840"/>
            <a:ext cx="2359152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94A3B8"/>
                </a:solidFill>
              </a:rPr>
              <a:t>MERKMAL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C5CE82AC-091B-439A-9637-F0EACECFC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4368" y="1005840"/>
            <a:ext cx="1719072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0D9488"/>
                </a:solidFill>
              </a:rPr>
              <a:t>AUSPRÄGUNG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96A3F20A-F212-43B7-8999-AF2BCBD27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3168" y="1005840"/>
            <a:ext cx="1719072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F59E0B"/>
                </a:solidFill>
              </a:rPr>
              <a:t>FUNKTION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7D3546D8-6E22-4622-B590-F3BCD7CE1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1968" y="1005840"/>
            <a:ext cx="1536192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10B981"/>
                </a:solidFill>
              </a:rPr>
              <a:t>BEISPIEL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D78C1304-BEE7-4861-8176-3E57CC065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1408176"/>
            <a:ext cx="7772400" cy="4389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0D9488">
                <a:alpha val="20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6E796A84-5629-49F0-A145-BFDF68CCE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" y="1408176"/>
            <a:ext cx="2359152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94A3B8"/>
                </a:solidFill>
              </a:rPr>
              <a:t>Spielersumme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D1F36F82-AA8C-4C3A-918B-21CA7A825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4368" y="1408176"/>
            <a:ext cx="1719072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FFFFFF"/>
                </a:solidFill>
              </a:rPr>
              <a:t>4 bis 21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52205318-C56F-4204-B14C-7C64781EA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3168" y="1408176"/>
            <a:ext cx="1719072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FFFFFF"/>
                </a:solidFill>
              </a:rPr>
              <a:t>aktueller Handwert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5B1ABC2E-2BB3-4850-AA3A-D1369A546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1968" y="1408176"/>
            <a:ext cx="1536192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10B981"/>
                </a:solidFill>
              </a:rPr>
              <a:t>16</a:t>
            </a: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C1EFCBEB-DD5A-4AD8-A757-0907AF910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1847088"/>
            <a:ext cx="7772400" cy="4389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5F"/>
          </a:solidFill>
          <a:ln xmlns:a="http://schemas.openxmlformats.org/drawingml/2006/main" w="12700">
            <a:solidFill>
              <a:srgbClr val="0D9488">
                <a:alpha val="20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C514DAAA-C557-4A3D-A893-2818CA966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" y="1847088"/>
            <a:ext cx="2359152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94A3B8"/>
                </a:solidFill>
              </a:rPr>
              <a:t>Dealerkarte</a:t>
            </a: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B5415683-B01E-4ACC-A3D9-0AAE53640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4368" y="1847088"/>
            <a:ext cx="1719072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FFFFFF"/>
                </a:solidFill>
              </a:rPr>
              <a:t>Ass bis 10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48B4C465-3669-4D3A-BA66-A044BE4CF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3168" y="1847088"/>
            <a:ext cx="1719072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FFFFFF"/>
                </a:solidFill>
              </a:rPr>
              <a:t>offene Karte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E3206963-2F3C-4669-B7B6-0E96406AA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1968" y="1847088"/>
            <a:ext cx="1536192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10B981"/>
                </a:solidFill>
              </a:rPr>
              <a:t>6</a:t>
            </a:r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DD49EF92-01BC-484D-99CA-341D437F1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2286000"/>
            <a:ext cx="7772400" cy="4389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0D9488">
                <a:alpha val="20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EB7D327C-0628-430D-B33E-A90305D32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" y="2286000"/>
            <a:ext cx="2359152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94A3B8"/>
                </a:solidFill>
              </a:rPr>
              <a:t>Nutzbares Ass</a:t>
            </a:r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D438670F-ACB2-48C0-B019-8E901F526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4368" y="2286000"/>
            <a:ext cx="1719072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FFFFFF"/>
                </a:solidFill>
              </a:rPr>
              <a:t>ja / nein</a:t>
            </a:r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0E9736CE-284D-4121-A5BA-67F29CB86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3168" y="2286000"/>
            <a:ext cx="1719072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FFFFFF"/>
                </a:solidFill>
              </a:rPr>
              <a:t>flexible Asswertung</a:t>
            </a: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520C879D-194E-4923-9677-240F1F346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1968" y="2286000"/>
            <a:ext cx="1536192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94A3B8"/>
                </a:solidFill>
              </a:rPr>
              <a:t>true</a:t>
            </a:r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5A38D98A-0E36-4A2A-B0D7-95C4DE8C9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2724912"/>
            <a:ext cx="7772400" cy="4389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5F"/>
          </a:solidFill>
          <a:ln xmlns:a="http://schemas.openxmlformats.org/drawingml/2006/main" w="12700">
            <a:solidFill>
              <a:srgbClr val="0D9488">
                <a:alpha val="20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46F9F0E5-74CB-406A-A0F9-F7FC59E10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" y="2724912"/>
            <a:ext cx="2359152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94A3B8"/>
                </a:solidFill>
              </a:rPr>
              <a:t>Aktionen</a:t>
            </a:r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C2A19CE6-0416-4A6E-9967-6CE3C063A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4368" y="2724912"/>
            <a:ext cx="1719072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B3E8F19E-786A-4259-8E64-28182C937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3168" y="2724912"/>
            <a:ext cx="1719072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2067D5EB-8E8F-4E4C-98BE-8B298925A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1968" y="2724912"/>
            <a:ext cx="1536192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94A3B8"/>
                </a:solidFill>
              </a:rPr>
              <a:t>Stand / Hit</a:t>
            </a:r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F3AC94E0-9ADF-4422-B8FC-633F798C1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3163824"/>
            <a:ext cx="7772400" cy="4389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0D9488">
                <a:alpha val="20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D60FFE53-6727-4877-93FA-D2CB8F557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" y="3163824"/>
            <a:ext cx="2359152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94A3B8"/>
                </a:solidFill>
              </a:rPr>
              <a:t>Q-Werte je Zustand</a:t>
            </a:r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CBE6ABA3-5EB0-4A51-B86B-47153D9B8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4368" y="3163824"/>
            <a:ext cx="1719072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C559D415-F8CF-4514-937B-18791C5FD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3168" y="3163824"/>
            <a:ext cx="1719072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FFFFFF"/>
                </a:solidFill>
              </a:rPr>
              <a:t>[Stand, Hit]</a:t>
            </a:r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C6375BDA-21CD-41FF-8B7D-BAD173E96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1968" y="3163824"/>
            <a:ext cx="1536192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94A3B8"/>
                </a:solidFill>
              </a:rPr>
              <a:t>explizit</a:t>
            </a:r>
          </a:p>
        </p:txBody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743ED285-54E9-4E9B-AB8D-D762A0DA0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3602736"/>
            <a:ext cx="7772400" cy="4389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5F"/>
          </a:solidFill>
          <a:ln xmlns:a="http://schemas.openxmlformats.org/drawingml/2006/main" w="12700">
            <a:solidFill>
              <a:srgbClr val="0D9488">
                <a:alpha val="20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43585E76-5CFB-4B84-8F02-6ECB432BB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" y="3602736"/>
            <a:ext cx="2359152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94A3B8"/>
                </a:solidFill>
              </a:rPr>
              <a:t>Beobachtete Zustände</a:t>
            </a:r>
          </a:p>
        </p:txBody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860BF125-1016-4B85-BB5F-05AE08885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4368" y="3602736"/>
            <a:ext cx="1719072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FFFFFF"/>
                </a:solidFill>
              </a:rPr>
              <a:t>280</a:t>
            </a:r>
          </a:p>
        </p:txBody>
      </p:sp>
      <p:sp>
        <p:nvSpPr>
          <p:cNvPr id="38" name="Text 36">
            <a:extLst xmlns:a="http://schemas.openxmlformats.org/drawingml/2006/main">
              <a:ext uri="{FF2B5EF4-FFF2-40B4-BE49-F238E27FC236}">
                <a16:creationId xmlns:a16="http://schemas.microsoft.com/office/drawing/2014/main" id="{9D6570CD-DC02-41CB-A1F5-57BA6630A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3168" y="3602736"/>
            <a:ext cx="1719072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FFFFFF"/>
                </a:solidFill>
              </a:rPr>
              <a:t>vollständig besucht</a:t>
            </a:r>
          </a:p>
        </p:txBody>
      </p:sp>
      <p:sp>
        <p:nvSpPr>
          <p:cNvPr id="39" name="Text 37">
            <a:extLst xmlns:a="http://schemas.openxmlformats.org/drawingml/2006/main">
              <a:ext uri="{FF2B5EF4-FFF2-40B4-BE49-F238E27FC236}">
                <a16:creationId xmlns:a16="http://schemas.microsoft.com/office/drawing/2014/main" id="{D0EAAE4F-C395-4385-BA7C-0312DB4B3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1968" y="3602736"/>
            <a:ext cx="1536192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10B981"/>
                </a:solidFill>
              </a:rPr>
              <a:t>kompakt</a:t>
            </a:r>
          </a:p>
        </p:txBody>
      </p:sp>
      <p:sp>
        <p:nvSpPr>
          <p:cNvPr id="40" name="Shape 38">
            <a:extLst xmlns:a="http://schemas.openxmlformats.org/drawingml/2006/main">
              <a:ext uri="{FF2B5EF4-FFF2-40B4-BE49-F238E27FC236}">
                <a16:creationId xmlns:a16="http://schemas.microsoft.com/office/drawing/2014/main" id="{518B89B2-B123-4110-807E-2A2765372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5760" y="5316855"/>
            <a:ext cx="7492365" cy="804672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10B981">
              <a:alpha val="12000"/>
            </a:srgbClr>
          </a:solidFill>
          <a:ln xmlns:a="http://schemas.openxmlformats.org/drawingml/2006/main" w="12700">
            <a:solidFill>
              <a:srgbClr val="10B98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1" name="Text 39">
            <a:extLst xmlns:a="http://schemas.openxmlformats.org/drawingml/2006/main">
              <a:ext uri="{FF2B5EF4-FFF2-40B4-BE49-F238E27FC236}">
                <a16:creationId xmlns:a16="http://schemas.microsoft.com/office/drawing/2014/main" id="{BCC4CF9B-2470-491B-B52B-1A2F670E1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8522" y="5390007"/>
            <a:ext cx="7085171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FFFFFF"/>
                </a:solidFill>
              </a:rPr>
              <a:t>Drei diskrete Merkmale ermöglichen häufige Wiederholungen jedes Zustands.</a:t>
            </a:r>
          </a:p>
        </p:txBody>
      </p:sp>
    </p:spTree>
    <p:extLst>
      <p:ext uri="{BB962C8B-B14F-4D97-AF65-F5344CB8AC3E}">
        <p14:creationId xmlns:p14="http://schemas.microsoft.com/office/powerpoint/2010/main" val="149811695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D50B0488-23C3-5A0A-D364-55443C0B5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" name="Google Shape;197;p2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99f3c5314304df3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428625" y="3256881"/>
            <a:ext cx="4071938" cy="104421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4" name="Google Shape;198;p2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99f3c5314304df3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4643437" y="3256881"/>
            <a:ext cx="4071938" cy="104421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03" name="Google Shape;203;p20">
            <a:extLst xmlns:a="http://schemas.openxmlformats.org/drawingml/2006/main">
              <a:ext uri="{FF2B5EF4-FFF2-40B4-BE49-F238E27FC236}">
                <a16:creationId xmlns:a16="http://schemas.microsoft.com/office/drawing/2014/main" id="{2894EE6E-B8A9-4E4C-8E3E-A9F369D67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592387"/>
            <a:ext cx="8701088" cy="2769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r>
              <a:rPr b="1">
                <a:solidFill>
                  <a:srgbClr val="C5A059"/>
                </a:solidFill>
                <a:latin typeface="Cambria"/>
                <a:ea typeface="Cambria"/>
                <a:cs typeface="Cambria"/>
              </a:rPr>
              <a:t>280 Baseline-Zustände versus 113.760 Counting-Zustände</a:t>
            </a:r>
          </a:p>
        </p:txBody>
      </p:sp>
      <p:sp>
        <p:nvSpPr>
          <p:cNvPr id="204" name="Google Shape;204;p20">
            <a:extLst xmlns:a="http://schemas.openxmlformats.org/drawingml/2006/main">
              <a:ext uri="{FF2B5EF4-FFF2-40B4-BE49-F238E27FC236}">
                <a16:creationId xmlns:a16="http://schemas.microsoft.com/office/drawing/2014/main" id="{2B5CA2F7-ED45-483F-9325-DE6E65F59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43125"/>
            <a:ext cx="304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650" b="1">
                <a:solidFill>
                  <a:srgbClr val="111A2E"/>
                </a:solidFill>
                <a:latin typeface="Lato"/>
                <a:ea typeface="Lato"/>
                <a:cs typeface="Lato"/>
              </a:rPr>
              <a:t>Baseline · 280 Zustände</a:t>
            </a:r>
          </a:p>
        </p:txBody>
      </p:sp>
      <p:sp>
        <p:nvSpPr>
          <p:cNvPr id="205" name="Google Shape;205;p20">
            <a:extLst xmlns:a="http://schemas.openxmlformats.org/drawingml/2006/main">
              <a:ext uri="{FF2B5EF4-FFF2-40B4-BE49-F238E27FC236}">
                <a16:creationId xmlns:a16="http://schemas.microsoft.com/office/drawing/2014/main" id="{D26E9875-0C7B-400B-BC44-F392F6216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143125"/>
            <a:ext cx="323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650" b="1">
                <a:solidFill>
                  <a:srgbClr val="149E9B"/>
                </a:solidFill>
                <a:latin typeface="Lato"/>
                <a:ea typeface="Lato"/>
                <a:cs typeface="Lato"/>
              </a:rPr>
              <a:t>Counting · 113.760 Zustände</a:t>
            </a:r>
          </a:p>
        </p:txBody>
      </p:sp>
      <p:sp>
        <p:nvSpPr>
          <p:cNvPr id="206" name="Google Shape;206;p20">
            <a:extLst xmlns:a="http://schemas.openxmlformats.org/drawingml/2006/main">
              <a:ext uri="{FF2B5EF4-FFF2-40B4-BE49-F238E27FC236}">
                <a16:creationId xmlns:a16="http://schemas.microsoft.com/office/drawing/2014/main" id="{6B0CA66B-A259-4D6A-A073-FE3778603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99755"/>
            <a:ext cx="3786188" cy="7898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59929"/>
              </a:lnSpc>
              <a:buNone/>
            </a:pPr>
            <a:r>
              <a:rPr sz="1069" b="1">
                <a:solidFill>
                  <a:srgbClr val="333333"/>
                </a:solidFill>
                <a:latin typeface="Cambria"/>
                <a:ea typeface="Cambria"/>
                <a:cs typeface="Cambria"/>
              </a:rPr>
              <a:t>Running Count, True Count und Deck-Bucket erzeugen viele seltene Kombinationen.</a:t>
            </a:r>
          </a:p>
        </p:txBody>
      </p:sp>
      <p:sp>
        <p:nvSpPr>
          <p:cNvPr id="207" name="Google Shape;207;p20">
            <a:extLst xmlns:a="http://schemas.openxmlformats.org/drawingml/2006/main">
              <a:ext uri="{FF2B5EF4-FFF2-40B4-BE49-F238E27FC236}">
                <a16:creationId xmlns:a16="http://schemas.microsoft.com/office/drawing/2014/main" id="{65991ECE-6D7D-40EA-85B1-2384D9E82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6312" y="3399755"/>
            <a:ext cx="3786188" cy="5265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59929"/>
              </a:lnSpc>
              <a:buNone/>
            </a:pPr>
            <a:r>
              <a:rPr sz="1069" b="1">
                <a:solidFill>
                  <a:srgbClr val="333333"/>
                </a:solidFill>
                <a:latin typeface="Cambria"/>
                <a:ea typeface="Cambria"/>
                <a:cs typeface="Cambria"/>
              </a:rPr>
              <a:t>Ähnliche Zustände teilen kein Wissen; jede Kombination muss separat gelernt werden.</a:t>
            </a:r>
          </a:p>
        </p:txBody>
      </p:sp>
      <p:sp>
        <p:nvSpPr>
          <p:cNvPr id="208" name="Google Shape;208;p20">
            <a:extLst xmlns:a="http://schemas.openxmlformats.org/drawingml/2006/main">
              <a:ext uri="{FF2B5EF4-FFF2-40B4-BE49-F238E27FC236}">
                <a16:creationId xmlns:a16="http://schemas.microsoft.com/office/drawing/2014/main" id="{133221EA-41EC-45E1-A1F3-6F6A1BC35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28625"/>
            <a:ext cx="8701088" cy="3808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r>
              <a:rPr sz="2475" b="1">
                <a:solidFill>
                  <a:schemeClr val="bg1"/>
                </a:solidFill>
                <a:latin typeface="Cambria"/>
                <a:ea typeface="Cambria"/>
                <a:cs typeface="Cambria"/>
              </a:rPr>
              <a:t>Counting vergrößert die Q-Tabelle um Faktor 406</a:t>
            </a:r>
          </a:p>
        </p:txBody>
      </p:sp>
      <p:sp>
        <p:nvSpPr>
          <p:cNvPr id="6" name="Shape 37">
            <a:extLst xmlns:a="http://schemas.openxmlformats.org/drawingml/2006/main">
              <a:ext uri="{FF2B5EF4-FFF2-40B4-BE49-F238E27FC236}">
                <a16:creationId xmlns:a16="http://schemas.microsoft.com/office/drawing/2014/main" id="{31728659-2E45-2513-5076-E1D6989F0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339321"/>
            <a:ext cx="7591424" cy="731742"/>
          </a:xfrm>
          <a:prstGeom xmlns:a="http://schemas.openxmlformats.org/drawingml/2006/main" prst="roundRect">
            <a:avLst>
              <a:gd name="adj" fmla="val 141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0D9488"/>
            </a:solidFill>
            <a:prstDash val="solid"/>
          </a:ln>
          <a:effectLst xmlns:a="http://schemas.openxmlformats.org/drawingml/2006/main">
            <a:outerShdw blurRad="152400" dist="38100" dir="2700000" algn="bl" rotWithShape="0">
              <a:srgbClr val="000000">
                <a:alpha val="1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Google Shape;217;p21">
            <a:extLst xmlns:a="http://schemas.openxmlformats.org/drawingml/2006/main">
              <a:ext uri="{FF2B5EF4-FFF2-40B4-BE49-F238E27FC236}">
                <a16:creationId xmlns:a16="http://schemas.microsoft.com/office/drawing/2014/main" id="{241FCE7A-D42E-1A7A-9FE9-FB7C0F927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663" y="5520941"/>
            <a:ext cx="7062311" cy="2585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cap="none">
                <a:solidFill>
                  <a:schemeClr val="bg1"/>
                </a:solidFill>
                <a:latin typeface="Calibri "/>
                <a:ea typeface="Calibri "/>
                <a:cs typeface="Calibri "/>
              </a:rPr>
              <a:t>Mehr Information macht die Policy kontextabhängig, verteilt Erfahrung aber auf 406-mal mehr Zustände.</a:t>
            </a:r>
          </a:p>
        </p:txBody>
      </p:sp>
      <p:pic>
        <p:nvPicPr>
          <p:cNvPr id="211" name="Google Shape;219;p2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811249f6f01471f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76275" y="5520941"/>
            <a:ext cx="257174" cy="33117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6BFA9CF9-0227-1D01-D965-9C13FDC69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9488"/>
          </a:solidFill>
          <a:ln xmlns:a="http://schemas.openxmlformats.org/drawingml/2006/main" w="12700">
            <a:solidFill>
              <a:srgbClr val="0D948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122D5AE4-2A46-75B2-6B73-CC8804D08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864"/>
            <a:ext cx="32004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14B8A6"/>
                </a:solidFill>
              </a:rPr>
              <a:t>METHODIK &amp; TECHNIK</a:t>
            </a:r>
          </a:p>
        </p:txBody>
      </p:sp>
    </p:spTree>
    <p:extLst>
      <p:ext uri="{BB962C8B-B14F-4D97-AF65-F5344CB8AC3E}">
        <p14:creationId xmlns:p14="http://schemas.microsoft.com/office/powerpoint/2010/main" val="235521158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7541E07F-8934-4781-BCD0-73BE9126D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9488"/>
          </a:solidFill>
          <a:ln xmlns:a="http://schemas.openxmlformats.org/drawingml/2006/main" w="12700">
            <a:solidFill>
              <a:srgbClr val="0D948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745707C3-97BF-45A9-8799-4F9DA5B24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9728"/>
            <a:ext cx="1828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14B8A6"/>
                </a:solidFill>
              </a:rPr>
              <a:t>METHODIK &amp; TECHNIK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EC70AC17-64BE-4C99-A043-60DAACD73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7472"/>
            <a:ext cx="82296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Q-Learning bewertet jede Entscheidung direkt</a:t>
            </a:r>
          </a:p>
        </p:txBody>
      </p:sp>
      <p:sp>
        <p:nvSpPr>
          <p:cNvPr id="5" name="!!10">
            <a:extLst xmlns:a="http://schemas.openxmlformats.org/drawingml/2006/main">
              <a:ext uri="{FF2B5EF4-FFF2-40B4-BE49-F238E27FC236}">
                <a16:creationId xmlns:a16="http://schemas.microsoft.com/office/drawing/2014/main" id="{962AEFA7-80D9-40EE-8F4A-2F1598122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1005840"/>
            <a:ext cx="8412480" cy="777240"/>
          </a:xfrm>
          <a:prstGeom xmlns:a="http://schemas.openxmlformats.org/drawingml/2006/main" prst="roundRect">
            <a:avLst>
              <a:gd name="adj" fmla="val 14118"/>
            </a:avLst>
          </a:prstGeom>
          <a:solidFill xmlns:a="http://schemas.openxmlformats.org/drawingml/2006/main">
            <a:srgbClr val="1E3A5F"/>
          </a:solidFill>
          <a:ln xmlns:a="http://schemas.openxmlformats.org/drawingml/2006/main" w="12700">
            <a:solidFill>
              <a:srgbClr val="0D9488">
                <a:alpha val="40000"/>
              </a:srgbClr>
            </a:solidFill>
            <a:prstDash val="solid"/>
          </a:ln>
          <a:effectLst xmlns:a="http://schemas.openxmlformats.org/drawingml/2006/main">
            <a:outerShdw blurRad="101600" dist="25400" dir="2700000" algn="bl" rotWithShape="0">
              <a:srgbClr val="000000">
                <a:alpha val="14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027EFB58-E2DC-4639-B332-971751537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097280"/>
            <a:ext cx="5029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4B8A6"/>
                </a:solidFill>
              </a:rPr>
              <a:t>Tabellarisches Q-Learning · Off-Policy TD-Verfahren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7ECFD190-5B7C-432B-97CE-473093FEB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389888"/>
            <a:ext cx="77724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94A3B8"/>
                </a:solidFill>
              </a:rPr>
              <a:t>Online-Update nach jedem Schritt · Greedy Evaluation mit ε = 0</a:t>
            </a:r>
          </a:p>
        </p:txBody>
      </p:sp>
      <p:sp>
        <p:nvSpPr>
          <p:cNvPr id="8" name="!!11">
            <a:extLst xmlns:a="http://schemas.openxmlformats.org/drawingml/2006/main">
              <a:ext uri="{FF2B5EF4-FFF2-40B4-BE49-F238E27FC236}">
                <a16:creationId xmlns:a16="http://schemas.microsoft.com/office/drawing/2014/main" id="{968C4864-8356-4B7E-8F06-E08149857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1920240"/>
            <a:ext cx="8412480" cy="1463040"/>
          </a:xfrm>
          <a:prstGeom xmlns:a="http://schemas.openxmlformats.org/drawingml/2006/main" prst="roundRect">
            <a:avLst>
              <a:gd name="adj" fmla="val 8750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F59E0B">
                <a:alpha val="50000"/>
              </a:srgbClr>
            </a:solidFill>
            <a:prstDash val="solid"/>
          </a:ln>
          <a:effectLst xmlns:a="http://schemas.openxmlformats.org/drawingml/2006/main">
            <a:outerShdw blurRad="152400" dist="38100" dir="2700000" algn="bl" rotWithShape="0">
              <a:srgbClr val="000000">
                <a:alpha val="1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C4C9703-420A-4FEB-8077-1E6D290C8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029968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100">
                <a:solidFill>
                  <a:srgbClr val="F59E0B"/>
                </a:solidFill>
              </a:rPr>
              <a:t>Bellman Update-Gleichung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21386ED0-F724-44E0-B934-D913B2409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377440"/>
            <a:ext cx="79552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Q(s,a) ← Q(s,a) + α · [ r + γ · max Q(s',a') − Q(s,a) ]</a:t>
            </a:r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BC135A6E-F14C-4471-9174-6AE9D7F1B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3547872"/>
            <a:ext cx="2606040" cy="128016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1E3A5F"/>
          </a:solidFill>
          <a:ln xmlns:a="http://schemas.openxmlformats.org/drawingml/2006/main" w="12700">
            <a:solidFill>
              <a:srgbClr val="0D9488">
                <a:alpha val="30000"/>
              </a:srgbClr>
            </a:solidFill>
            <a:prstDash val="solid"/>
          </a:ln>
          <a:effectLst xmlns:a="http://schemas.openxmlformats.org/drawingml/2006/main">
            <a:outerShdw blurRad="101600" dist="25400" dir="2700000" algn="bl" rotWithShape="0">
              <a:srgbClr val="000000">
                <a:alpha val="14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BDA7F6D2-4DCF-47CB-B137-1422CDD63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3611880"/>
            <a:ext cx="260604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400" b="1">
                <a:solidFill>
                  <a:srgbClr val="14B8A6"/>
                </a:solidFill>
                <a:latin typeface="Cambria"/>
                <a:ea typeface="Cambria"/>
                <a:cs typeface="Cambria"/>
              </a:rPr>
              <a:t>α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CAD29050-012A-4F04-B9DA-6DFC9F743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3995928"/>
            <a:ext cx="26060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59E0B"/>
                </a:solidFill>
              </a:rPr>
              <a:t>0.01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985F2509-A7B6-4404-9876-45BB1F0BE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" y="4297680"/>
            <a:ext cx="23774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FFFFFF"/>
                </a:solidFill>
              </a:rPr>
              <a:t>Learning Rate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A7E605A2-9AF1-4902-9AE6-41CA309FF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" y="4498848"/>
            <a:ext cx="237744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94A3B8"/>
                </a:solidFill>
              </a:rPr>
              <a:t>Schrittweite der Updates</a:t>
            </a:r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03C25F7F-0E99-4017-9712-279227170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547872"/>
            <a:ext cx="2606040" cy="128016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1E3A5F"/>
          </a:solidFill>
          <a:ln xmlns:a="http://schemas.openxmlformats.org/drawingml/2006/main" w="12700">
            <a:solidFill>
              <a:srgbClr val="0D9488">
                <a:alpha val="30000"/>
              </a:srgbClr>
            </a:solidFill>
            <a:prstDash val="solid"/>
          </a:ln>
          <a:effectLst xmlns:a="http://schemas.openxmlformats.org/drawingml/2006/main">
            <a:outerShdw blurRad="101600" dist="25400" dir="2700000" algn="bl" rotWithShape="0">
              <a:srgbClr val="000000">
                <a:alpha val="14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5C5C662D-5248-43C2-A84E-FEA012DF7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611880"/>
            <a:ext cx="260604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400" b="1">
                <a:solidFill>
                  <a:srgbClr val="14B8A6"/>
                </a:solidFill>
                <a:latin typeface="Cambria"/>
                <a:ea typeface="Cambria"/>
                <a:cs typeface="Cambria"/>
              </a:rPr>
              <a:t>γ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B7AA027A-89EE-4CDA-8ED4-5742CEC64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995928"/>
            <a:ext cx="26060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59E0B"/>
                </a:solidFill>
              </a:rPr>
              <a:t>0.99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1B3FF6EF-0669-44E2-8CC7-B0F079606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0128" y="4297680"/>
            <a:ext cx="23774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FFFFFF"/>
                </a:solidFill>
              </a:rPr>
              <a:t>Discount Factor</a:t>
            </a:r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F5F8341A-DE92-485E-944F-3739AE67D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0128" y="4498848"/>
            <a:ext cx="237744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94A3B8"/>
                </a:solidFill>
              </a:rPr>
              <a:t>Gewichtung zukünftiger Rewards</a:t>
            </a:r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1A8C7747-5AF6-4BD4-A2C4-E597DF4A8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3547872"/>
            <a:ext cx="2606040" cy="128016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1E3A5F"/>
          </a:solidFill>
          <a:ln xmlns:a="http://schemas.openxmlformats.org/drawingml/2006/main" w="12700">
            <a:solidFill>
              <a:srgbClr val="0D9488">
                <a:alpha val="30000"/>
              </a:srgbClr>
            </a:solidFill>
            <a:prstDash val="solid"/>
          </a:ln>
          <a:effectLst xmlns:a="http://schemas.openxmlformats.org/drawingml/2006/main">
            <a:outerShdw blurRad="101600" dist="25400" dir="2700000" algn="bl" rotWithShape="0">
              <a:srgbClr val="000000">
                <a:alpha val="14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23915F78-984F-4BFE-A319-533BB506E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3611880"/>
            <a:ext cx="260604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400" b="1">
                <a:solidFill>
                  <a:srgbClr val="14B8A6"/>
                </a:solidFill>
                <a:latin typeface="Cambria"/>
                <a:ea typeface="Cambria"/>
                <a:cs typeface="Cambria"/>
              </a:rPr>
              <a:t>rₜ₊₁</a:t>
            </a:r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AD979CEC-5785-4A53-ABE5-E8ABCC5DF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3995928"/>
            <a:ext cx="26060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59E0B"/>
                </a:solidFill>
              </a:rPr>
              <a:t>+1/−1/0</a:t>
            </a: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6D0E9AAC-0BF9-4126-8347-00AAFEE96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4768" y="4297680"/>
            <a:ext cx="23774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FFFFFF"/>
                </a:solidFill>
              </a:rPr>
              <a:t>Reward</a:t>
            </a:r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E60D1447-BB0A-42BD-AADE-6CBEB0017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4768" y="4498848"/>
            <a:ext cx="237744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94A3B8"/>
                </a:solidFill>
              </a:rPr>
              <a:t>Direktes Feedback der Umgebung</a:t>
            </a:r>
          </a:p>
        </p:txBody>
      </p:sp>
    </p:spTree>
    <p:extLst>
      <p:ext uri="{BB962C8B-B14F-4D97-AF65-F5344CB8AC3E}">
        <p14:creationId xmlns:p14="http://schemas.microsoft.com/office/powerpoint/2010/main" val="1515738162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D50B0488-23C3-5A0A-D364-55443C0B5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" name="Google Shape;197;p2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2c0d48303b24a64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428625" y="3256881"/>
            <a:ext cx="4071938" cy="104421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4" name="Google Shape;198;p2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2c0d48303b24a64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4643437" y="3256881"/>
            <a:ext cx="4071938" cy="104421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03" name="Google Shape;203;p20">
            <a:extLst xmlns:a="http://schemas.openxmlformats.org/drawingml/2006/main">
              <a:ext uri="{FF2B5EF4-FFF2-40B4-BE49-F238E27FC236}">
                <a16:creationId xmlns:a16="http://schemas.microsoft.com/office/drawing/2014/main" id="{07A26C6A-24A2-4B92-9941-CC9FB0B0A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592387"/>
            <a:ext cx="8701088" cy="2769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r>
              <a:rPr b="1">
                <a:solidFill>
                  <a:srgbClr val="C5A059"/>
                </a:solidFill>
                <a:latin typeface="Cambria"/>
                <a:ea typeface="Cambria"/>
                <a:cs typeface="Cambria"/>
              </a:rPr>
              <a:t>Warum bewusst tabellarisches Q-Learning?</a:t>
            </a:r>
          </a:p>
        </p:txBody>
      </p:sp>
      <p:sp>
        <p:nvSpPr>
          <p:cNvPr id="204" name="Google Shape;204;p20">
            <a:extLst xmlns:a="http://schemas.openxmlformats.org/drawingml/2006/main">
              <a:ext uri="{FF2B5EF4-FFF2-40B4-BE49-F238E27FC236}">
                <a16:creationId xmlns:a16="http://schemas.microsoft.com/office/drawing/2014/main" id="{6E54FEFE-73DA-430F-BEC9-1EC539665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43125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650" b="1">
                <a:solidFill>
                  <a:srgbClr val="149E9B"/>
                </a:solidFill>
                <a:latin typeface="Lato"/>
                <a:ea typeface="Lato"/>
                <a:cs typeface="Lato"/>
              </a:rPr>
              <a:t>White-Box-Vorteil</a:t>
            </a:r>
          </a:p>
        </p:txBody>
      </p:sp>
      <p:sp>
        <p:nvSpPr>
          <p:cNvPr id="205" name="Google Shape;205;p20">
            <a:extLst xmlns:a="http://schemas.openxmlformats.org/drawingml/2006/main">
              <a:ext uri="{FF2B5EF4-FFF2-40B4-BE49-F238E27FC236}">
                <a16:creationId xmlns:a16="http://schemas.microsoft.com/office/drawing/2014/main" id="{94BFBB1A-329E-40EB-AA74-176E39577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143125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650" b="1">
                <a:solidFill>
                  <a:srgbClr val="D18C2F"/>
                </a:solidFill>
                <a:latin typeface="Lato"/>
                <a:ea typeface="Lato"/>
                <a:cs typeface="Lato"/>
              </a:rPr>
              <a:t>Fluch der Dimensionalität</a:t>
            </a:r>
          </a:p>
        </p:txBody>
      </p:sp>
      <p:sp>
        <p:nvSpPr>
          <p:cNvPr id="206" name="Google Shape;206;p20">
            <a:extLst xmlns:a="http://schemas.openxmlformats.org/drawingml/2006/main">
              <a:ext uri="{FF2B5EF4-FFF2-40B4-BE49-F238E27FC236}">
                <a16:creationId xmlns:a16="http://schemas.microsoft.com/office/drawing/2014/main" id="{1590DA28-AA6A-4AD3-BC04-49545E56F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99755"/>
            <a:ext cx="3786188" cy="7898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59929"/>
              </a:lnSpc>
              <a:buNone/>
            </a:pPr>
            <a:r>
              <a:rPr sz="1069" b="1">
                <a:solidFill>
                  <a:srgbClr val="333333"/>
                </a:solidFill>
                <a:latin typeface="Cambria"/>
                <a:ea typeface="Cambria"/>
                <a:cs typeface="Cambria"/>
              </a:rPr>
              <a:t>Jeder Q-Wert ist direkt prüfbar; Policies lassen sich als Tabellen und Heatmaps visualisieren.</a:t>
            </a:r>
          </a:p>
        </p:txBody>
      </p:sp>
      <p:sp>
        <p:nvSpPr>
          <p:cNvPr id="207" name="Google Shape;207;p20">
            <a:extLst xmlns:a="http://schemas.openxmlformats.org/drawingml/2006/main">
              <a:ext uri="{FF2B5EF4-FFF2-40B4-BE49-F238E27FC236}">
                <a16:creationId xmlns:a16="http://schemas.microsoft.com/office/drawing/2014/main" id="{2FE2874B-87AE-4AA8-8CB8-8EB795C5F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6312" y="3399755"/>
            <a:ext cx="3786188" cy="5265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59929"/>
              </a:lnSpc>
              <a:buNone/>
            </a:pPr>
            <a:r>
              <a:rPr sz="1069" b="1">
                <a:solidFill>
                  <a:srgbClr val="333333"/>
                </a:solidFill>
                <a:latin typeface="Cambria"/>
                <a:ea typeface="Cambria"/>
                <a:cs typeface="Cambria"/>
              </a:rPr>
              <a:t>Ähnliche Counts und Handwerte teilen kein Wissen. Seltene Zustände bleiben schwach geschätzt.</a:t>
            </a:r>
          </a:p>
        </p:txBody>
      </p:sp>
      <p:sp>
        <p:nvSpPr>
          <p:cNvPr id="208" name="Google Shape;208;p20">
            <a:extLst xmlns:a="http://schemas.openxmlformats.org/drawingml/2006/main">
              <a:ext uri="{FF2B5EF4-FFF2-40B4-BE49-F238E27FC236}">
                <a16:creationId xmlns:a16="http://schemas.microsoft.com/office/drawing/2014/main" id="{1E857D81-9328-4BB6-BE21-EC7A410E7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28625"/>
            <a:ext cx="8701088" cy="3808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r>
              <a:rPr sz="2475" b="1">
                <a:solidFill>
                  <a:schemeClr val="bg1"/>
                </a:solidFill>
                <a:latin typeface="Cambria"/>
                <a:ea typeface="Cambria"/>
                <a:cs typeface="Cambria"/>
              </a:rPr>
              <a:t>Transparenz kostet Generalisierung</a:t>
            </a:r>
          </a:p>
        </p:txBody>
      </p:sp>
      <p:sp>
        <p:nvSpPr>
          <p:cNvPr id="6" name="Shape 37">
            <a:extLst xmlns:a="http://schemas.openxmlformats.org/drawingml/2006/main">
              <a:ext uri="{FF2B5EF4-FFF2-40B4-BE49-F238E27FC236}">
                <a16:creationId xmlns:a16="http://schemas.microsoft.com/office/drawing/2014/main" id="{31728659-2E45-2513-5076-E1D6989F0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339321"/>
            <a:ext cx="7591424" cy="731742"/>
          </a:xfrm>
          <a:prstGeom xmlns:a="http://schemas.openxmlformats.org/drawingml/2006/main" prst="roundRect">
            <a:avLst>
              <a:gd name="adj" fmla="val 141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0D9488"/>
            </a:solidFill>
            <a:prstDash val="solid"/>
          </a:ln>
          <a:effectLst xmlns:a="http://schemas.openxmlformats.org/drawingml/2006/main">
            <a:outerShdw blurRad="152400" dist="38100" dir="2700000" algn="bl" rotWithShape="0">
              <a:srgbClr val="000000">
                <a:alpha val="1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Google Shape;217;p21">
            <a:extLst xmlns:a="http://schemas.openxmlformats.org/drawingml/2006/main">
              <a:ext uri="{FF2B5EF4-FFF2-40B4-BE49-F238E27FC236}">
                <a16:creationId xmlns:a16="http://schemas.microsoft.com/office/drawing/2014/main" id="{241FCE7A-D42E-1A7A-9FE9-FB7C0F927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663" y="5520941"/>
            <a:ext cx="7062311" cy="2585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cap="none">
                <a:solidFill>
                  <a:schemeClr val="bg1"/>
                </a:solidFill>
                <a:latin typeface="Calibri "/>
                <a:ea typeface="Calibri "/>
                <a:cs typeface="Calibri "/>
              </a:rPr>
              <a:t>Die Python-defaultdict ist transparent, skaliert aber schlecht mit zusätzlichen Zustandsmerkmalen.</a:t>
            </a:r>
          </a:p>
        </p:txBody>
      </p:sp>
      <p:pic>
        <p:nvPicPr>
          <p:cNvPr id="211" name="Google Shape;219;p2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9c4f83ba7dc4233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76275" y="5520941"/>
            <a:ext cx="257174" cy="33117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6BFA9CF9-0227-1D01-D965-9C13FDC69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9488"/>
          </a:solidFill>
          <a:ln xmlns:a="http://schemas.openxmlformats.org/drawingml/2006/main" w="12700">
            <a:solidFill>
              <a:srgbClr val="0D948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122D5AE4-2A46-75B2-6B73-CC8804D08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864"/>
            <a:ext cx="32004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14B8A6"/>
                </a:solidFill>
              </a:rPr>
              <a:t>METHODIK &amp; TECHNIK</a:t>
            </a:r>
          </a:p>
        </p:txBody>
      </p:sp>
    </p:spTree>
    <p:extLst>
      <p:ext uri="{BB962C8B-B14F-4D97-AF65-F5344CB8AC3E}">
        <p14:creationId xmlns:p14="http://schemas.microsoft.com/office/powerpoint/2010/main" val="817822269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94BA1C20-F154-4424-9333-A3EDE5FC4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A1593131-8128-4F1D-9D1D-6E5B79331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9488"/>
          </a:solidFill>
          <a:ln xmlns:a="http://schemas.openxmlformats.org/drawingml/2006/main" w="12700">
            <a:solidFill>
              <a:srgbClr val="0D948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4CA82DB3-CB7D-473F-9921-B3F560ABE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864"/>
            <a:ext cx="32004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14B8A6"/>
                </a:solidFill>
              </a:rPr>
              <a:t>METHODIK &amp; TECHNIK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8F9F5B5D-1A5D-429D-94C7-512A482DB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4320"/>
            <a:ext cx="82296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Dreistufige Suche: c05_long_default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73C1E90D-3FED-43DE-A7F5-E2F190DD8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5760" y="1051560"/>
            <a:ext cx="3840480" cy="384048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0D9488"/>
          </a:solidFill>
          <a:ln xmlns:a="http://schemas.openxmlformats.org/drawingml/2006/main" w="12700">
            <a:solidFill>
              <a:srgbClr val="0D948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6FEF999A-9AE4-48C6-8BB6-4C7C0C89F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5760" y="1051560"/>
            <a:ext cx="38404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</a:rPr>
              <a:t>Finale Konfiguration für Baseline und Counting</a:t>
            </a: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BD919442-6EB7-4849-9385-0DA993702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" y="1600200"/>
            <a:ext cx="5794760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1E293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DF0702AD-FBD6-4ECA-B8D0-D39C8C5EF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1600200"/>
            <a:ext cx="24688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 spc="100">
                <a:solidFill>
                  <a:srgbClr val="14B8A6"/>
                </a:solidFill>
              </a:rPr>
              <a:t>PARAMETER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BF985CFE-D889-433A-9E36-D95955145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7995" y="1600200"/>
            <a:ext cx="100584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 spc="100">
                <a:solidFill>
                  <a:srgbClr val="14B8A6"/>
                </a:solidFill>
              </a:rPr>
              <a:t>WERT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E16313CF-CA02-4235-B826-525E26E0F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600200"/>
            <a:ext cx="3173702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 spc="100">
                <a:solidFill>
                  <a:srgbClr val="14B8A6"/>
                </a:solidFill>
              </a:rPr>
              <a:t>BEGRÜNDUNG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00D0FD77-1435-464C-9D18-02F2C4D4F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" y="1984248"/>
            <a:ext cx="5794760" cy="4206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12700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525244D7-E951-403C-A511-CDB05D65C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1984248"/>
            <a:ext cx="246888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</a:rPr>
              <a:t>Learning Rate α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1A00FB51-202F-4420-9BC4-7415C7282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7995" y="1984248"/>
            <a:ext cx="100584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D9488"/>
                </a:solidFill>
              </a:rPr>
              <a:t>0.01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C1E49A60-42B8-4BC0-8711-6F8E1C6C3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1984248"/>
            <a:ext cx="3173702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</a:rPr>
              <a:t>konstant im finalen Training</a:t>
            </a:r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1C7E2C01-B336-4FB3-8220-F54B0D2CD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" y="2404872"/>
            <a:ext cx="5794760" cy="4206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12700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04E33783-7499-413F-8061-29A6283C5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2404872"/>
            <a:ext cx="246888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</a:rPr>
              <a:t>Discount Factor γ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08066DCA-672B-4AFE-A449-97BCC4CC2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7995" y="2404872"/>
            <a:ext cx="100584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D9488"/>
                </a:solidFill>
              </a:rPr>
              <a:t>0.99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F9657486-4B82-4DAE-9C11-318B9FA8B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2404872"/>
            <a:ext cx="3173702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</a:rPr>
              <a:t>langfristige Rewards fast vollständig gewichtet</a:t>
            </a:r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397564A7-DF89-41C1-B890-0CB08AB60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" y="2825496"/>
            <a:ext cx="5794760" cy="4206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12700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59B67848-C96F-4B3D-B241-B24F92DD5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2825496"/>
            <a:ext cx="246888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</a:rPr>
              <a:t>Initial ε</a:t>
            </a:r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359E60DC-785A-40F9-9709-C0261ECFF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7995" y="2825496"/>
            <a:ext cx="100584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D9488"/>
                </a:solidFill>
              </a:rPr>
              <a:t>1.0</a:t>
            </a:r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C3C61369-A151-4EF0-8736-88B5F1119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2825496"/>
            <a:ext cx="3173702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</a:rPr>
              <a:t>vollständige Exploration zu Beginn</a:t>
            </a:r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3272C6F1-0CFB-43AD-9D55-A6661E121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" y="3246120"/>
            <a:ext cx="5794760" cy="4206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12700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781523E7-53E0-4C8D-89FE-4E7196D71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3246120"/>
            <a:ext cx="246888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</a:rPr>
              <a:t>ε Decay</a:t>
            </a:r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DE1E74EE-297A-4366-B36C-85357F6CD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7995" y="3246120"/>
            <a:ext cx="100584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D9488"/>
                </a:solidFill>
              </a:rPr>
              <a:t>0.90</a:t>
            </a:r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7D3C21C6-323E-4B8B-85D4-3862820E7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3246120"/>
            <a:ext cx="3173702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</a:rPr>
              <a:t>linear über 90 % von 100 Mio. Episoden</a:t>
            </a:r>
          </a:p>
        </p:txBody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167868F7-06DC-40BC-A3F0-E58C1E5D8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" y="3666744"/>
            <a:ext cx="5794760" cy="4206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12700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520DF889-E094-41CD-A137-D61A260F0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3666744"/>
            <a:ext cx="246888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</a:rPr>
              <a:t>Final ε</a:t>
            </a:r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8E15BEBA-8CAF-40E6-869E-D5F06BC16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7995" y="3666744"/>
            <a:ext cx="100584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D9488"/>
                </a:solidFill>
              </a:rPr>
              <a:t>0.10</a:t>
            </a:r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6BE2EB5D-4BDE-4E4C-A65D-ECA3DBBC4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3666744"/>
            <a:ext cx="3173702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</a:rPr>
              <a:t>verbleibende Exploration im Training</a:t>
            </a:r>
          </a:p>
        </p:txBody>
      </p:sp>
      <p:sp>
        <p:nvSpPr>
          <p:cNvPr id="32" name="Shape 30">
            <a:extLst xmlns:a="http://schemas.openxmlformats.org/drawingml/2006/main">
              <a:ext uri="{FF2B5EF4-FFF2-40B4-BE49-F238E27FC236}">
                <a16:creationId xmlns:a16="http://schemas.microsoft.com/office/drawing/2014/main" id="{9A9413D5-5C9E-4A67-8275-C51928517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4957" y="1055370"/>
            <a:ext cx="2750458" cy="3611880"/>
          </a:xfrm>
          <a:prstGeom xmlns:a="http://schemas.openxmlformats.org/drawingml/2006/main" prst="roundRect">
            <a:avLst>
              <a:gd name="adj" fmla="val 35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0D9488">
                <a:alpha val="40000"/>
              </a:srgbClr>
            </a:solidFill>
            <a:prstDash val="solid"/>
          </a:ln>
          <a:effectLst xmlns:a="http://schemas.openxmlformats.org/drawingml/2006/main">
            <a:outerShdw blurRad="152400" dist="38100" dir="2700000" algn="bl" rotWithShape="0">
              <a:srgbClr val="000000">
                <a:alpha val="1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E1383ABB-C5A5-44C5-9268-CC8E9601B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0244" y="1192530"/>
            <a:ext cx="33375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4B8A6"/>
                </a:solidFill>
              </a:rPr>
              <a:t>Optimierungsprozess</a:t>
            </a:r>
          </a:p>
        </p:txBody>
      </p:sp>
      <p:sp>
        <p:nvSpPr>
          <p:cNvPr id="34" name="Shape 32">
            <a:extLst xmlns:a="http://schemas.openxmlformats.org/drawingml/2006/main">
              <a:ext uri="{FF2B5EF4-FFF2-40B4-BE49-F238E27FC236}">
                <a16:creationId xmlns:a16="http://schemas.microsoft.com/office/drawing/2014/main" id="{C181828D-BC2B-4233-A3DA-5B682D682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00244" y="1649730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9488"/>
          </a:solidFill>
          <a:ln xmlns:a="http://schemas.openxmlformats.org/drawingml/2006/main" w="12700">
            <a:solidFill>
              <a:srgbClr val="0D948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7665EF6A-EC3A-4AE4-84BA-8EDA4F44B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00244" y="1649730"/>
            <a:ext cx="5486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FFFFFF"/>
                </a:solidFill>
              </a:rPr>
              <a:t>16</a:t>
            </a:r>
          </a:p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1B541587-4C3F-42B7-9BBC-6FD6C8D92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7756" y="1686306"/>
            <a:ext cx="26517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FFFFFF"/>
                </a:solidFill>
              </a:rPr>
              <a:t>Konfigurationen</a:t>
            </a:r>
          </a:p>
        </p:txBody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DC2DCCEA-789E-448B-9830-91972CF2B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7756" y="1951482"/>
            <a:ext cx="26517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94A3B8"/>
                </a:solidFill>
              </a:rPr>
              <a:t>Stage A · 3 Mio. Episoden</a:t>
            </a:r>
          </a:p>
        </p:txBody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AEAF44CC-6B83-4A59-8E9D-C99A2352B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4564" y="2244090"/>
            <a:ext cx="0" cy="36576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D9488"/>
            </a:solidFill>
            <a:prstDash val="das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9" name="Shape 37">
            <a:extLst xmlns:a="http://schemas.openxmlformats.org/drawingml/2006/main">
              <a:ext uri="{FF2B5EF4-FFF2-40B4-BE49-F238E27FC236}">
                <a16:creationId xmlns:a16="http://schemas.microsoft.com/office/drawing/2014/main" id="{44F69DC5-94C0-4106-B9FB-CE23C491E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00244" y="2637282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9488"/>
          </a:solidFill>
          <a:ln xmlns:a="http://schemas.openxmlformats.org/drawingml/2006/main" w="12700">
            <a:solidFill>
              <a:srgbClr val="0D948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0" name="Text 38">
            <a:extLst xmlns:a="http://schemas.openxmlformats.org/drawingml/2006/main">
              <a:ext uri="{FF2B5EF4-FFF2-40B4-BE49-F238E27FC236}">
                <a16:creationId xmlns:a16="http://schemas.microsoft.com/office/drawing/2014/main" id="{9E34FCD1-BCB6-4E22-864D-49DABF721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00244" y="2637282"/>
            <a:ext cx="5486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41" name="Text 39">
            <a:extLst xmlns:a="http://schemas.openxmlformats.org/drawingml/2006/main">
              <a:ext uri="{FF2B5EF4-FFF2-40B4-BE49-F238E27FC236}">
                <a16:creationId xmlns:a16="http://schemas.microsoft.com/office/drawing/2014/main" id="{2D7E8977-E57D-4EE2-A8B7-FD43AB39D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7756" y="2673858"/>
            <a:ext cx="26517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FFFFFF"/>
                </a:solidFill>
              </a:rPr>
              <a:t>Konfigurationen</a:t>
            </a:r>
          </a:p>
        </p:txBody>
      </p:sp>
      <p:sp>
        <p:nvSpPr>
          <p:cNvPr id="42" name="Text 40">
            <a:extLst xmlns:a="http://schemas.openxmlformats.org/drawingml/2006/main">
              <a:ext uri="{FF2B5EF4-FFF2-40B4-BE49-F238E27FC236}">
                <a16:creationId xmlns:a16="http://schemas.microsoft.com/office/drawing/2014/main" id="{682D2C60-31D4-4861-92FF-0E2BBE1EF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7756" y="2939034"/>
            <a:ext cx="26517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94A3B8"/>
                </a:solidFill>
              </a:rPr>
              <a:t>Stage B · 10 Mio. Episoden</a:t>
            </a:r>
          </a:p>
        </p:txBody>
      </p:sp>
      <p:sp>
        <p:nvSpPr>
          <p:cNvPr id="43" name="Shape 41">
            <a:extLst xmlns:a="http://schemas.openxmlformats.org/drawingml/2006/main">
              <a:ext uri="{FF2B5EF4-FFF2-40B4-BE49-F238E27FC236}">
                <a16:creationId xmlns:a16="http://schemas.microsoft.com/office/drawing/2014/main" id="{00046DF6-A128-44EB-AE6E-FB797A574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4564" y="3231642"/>
            <a:ext cx="0" cy="36576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D9488"/>
            </a:solidFill>
            <a:prstDash val="das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4" name="Shape 42">
            <a:extLst xmlns:a="http://schemas.openxmlformats.org/drawingml/2006/main">
              <a:ext uri="{FF2B5EF4-FFF2-40B4-BE49-F238E27FC236}">
                <a16:creationId xmlns:a16="http://schemas.microsoft.com/office/drawing/2014/main" id="{B81A53FA-D074-4056-ADE5-D04A3EB52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00244" y="3624834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9488"/>
          </a:solidFill>
          <a:ln xmlns:a="http://schemas.openxmlformats.org/drawingml/2006/main" w="12700">
            <a:solidFill>
              <a:srgbClr val="0D948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5" name="Text 43">
            <a:extLst xmlns:a="http://schemas.openxmlformats.org/drawingml/2006/main">
              <a:ext uri="{FF2B5EF4-FFF2-40B4-BE49-F238E27FC236}">
                <a16:creationId xmlns:a16="http://schemas.microsoft.com/office/drawing/2014/main" id="{ED0A13DA-1B7D-4197-84EE-C90B56523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00244" y="3624834"/>
            <a:ext cx="5486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FFFFFF"/>
                </a:solidFill>
              </a:rPr>
              <a:t>4 + 1</a:t>
            </a:r>
          </a:p>
        </p:txBody>
      </p:sp>
      <p:sp>
        <p:nvSpPr>
          <p:cNvPr id="46" name="Text 44">
            <a:extLst xmlns:a="http://schemas.openxmlformats.org/drawingml/2006/main">
              <a:ext uri="{FF2B5EF4-FFF2-40B4-BE49-F238E27FC236}">
                <a16:creationId xmlns:a16="http://schemas.microsoft.com/office/drawing/2014/main" id="{35734B73-0C91-4CDB-8F0D-8787FB91A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7756" y="3661410"/>
            <a:ext cx="26517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FFFFFF"/>
                </a:solidFill>
              </a:rPr>
              <a:t>Konfigurationen</a:t>
            </a:r>
          </a:p>
        </p:txBody>
      </p:sp>
      <p:sp>
        <p:nvSpPr>
          <p:cNvPr id="47" name="Text 45">
            <a:extLst xmlns:a="http://schemas.openxmlformats.org/drawingml/2006/main">
              <a:ext uri="{FF2B5EF4-FFF2-40B4-BE49-F238E27FC236}">
                <a16:creationId xmlns:a16="http://schemas.microsoft.com/office/drawing/2014/main" id="{2C5AADF9-5EEF-426B-8501-440242EB9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7756" y="3926586"/>
            <a:ext cx="26517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94A3B8"/>
                </a:solidFill>
              </a:rPr>
              <a:t>Stage C · 20 Mio. Episoden</a:t>
            </a:r>
          </a:p>
        </p:txBody>
      </p:sp>
      <p:sp>
        <p:nvSpPr>
          <p:cNvPr id="54" name="Shape 20">
            <a:extLst xmlns:a="http://schemas.openxmlformats.org/drawingml/2006/main">
              <a:ext uri="{FF2B5EF4-FFF2-40B4-BE49-F238E27FC236}">
                <a16:creationId xmlns:a16="http://schemas.microsoft.com/office/drawing/2014/main" id="{7E77DE95-D2D1-04F1-EF06-40DBF1374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5300472"/>
            <a:ext cx="2606040" cy="109728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EF4444">
                <a:alpha val="35000"/>
              </a:srgbClr>
            </a:solidFill>
            <a:prstDash val="solid"/>
          </a:ln>
          <a:effectLst xmlns:a="http://schemas.openxmlformats.org/drawingml/2006/main">
            <a:outerShdw blurRad="101600" dist="25400" dir="2700000" algn="bl" rotWithShape="0">
              <a:srgbClr val="000000">
                <a:alpha val="14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5" name="Shape 21">
            <a:extLst xmlns:a="http://schemas.openxmlformats.org/drawingml/2006/main">
              <a:ext uri="{FF2B5EF4-FFF2-40B4-BE49-F238E27FC236}">
                <a16:creationId xmlns:a16="http://schemas.microsoft.com/office/drawing/2014/main" id="{2C074194-5255-8124-D92C-1338405D0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" y="5373624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12700">
            <a:solidFill>
              <a:srgbClr val="EF444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6" name="Text 22">
            <a:extLst xmlns:a="http://schemas.openxmlformats.org/drawingml/2006/main">
              <a:ext uri="{FF2B5EF4-FFF2-40B4-BE49-F238E27FC236}">
                <a16:creationId xmlns:a16="http://schemas.microsoft.com/office/drawing/2014/main" id="{F7113883-AFDB-914F-34EC-40707B054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" y="5373624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FFFFF"/>
                </a:solidFill>
              </a:rPr>
              <a:t>✕</a:t>
            </a:r>
          </a:p>
        </p:txBody>
      </p:sp>
      <p:sp>
        <p:nvSpPr>
          <p:cNvPr id="57" name="Text 23">
            <a:extLst xmlns:a="http://schemas.openxmlformats.org/drawingml/2006/main">
              <a:ext uri="{FF2B5EF4-FFF2-40B4-BE49-F238E27FC236}">
                <a16:creationId xmlns:a16="http://schemas.microsoft.com/office/drawing/2014/main" id="{D8EDF746-9B04-C938-D5D9-EDE6A9576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355336"/>
            <a:ext cx="2057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FFFFFF"/>
                </a:solidFill>
              </a:rPr>
              <a:t>c04_aggressive</a:t>
            </a:r>
          </a:p>
        </p:txBody>
      </p:sp>
      <p:sp>
        <p:nvSpPr>
          <p:cNvPr id="58" name="Text 24">
            <a:extLst xmlns:a="http://schemas.openxmlformats.org/drawingml/2006/main">
              <a:ext uri="{FF2B5EF4-FFF2-40B4-BE49-F238E27FC236}">
                <a16:creationId xmlns:a16="http://schemas.microsoft.com/office/drawing/2014/main" id="{FACAAEF6-0FCC-C4FB-C7DA-EF57C2CDF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5666232"/>
            <a:ext cx="233172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94A3B8"/>
                </a:solidFill>
              </a:rPr>
              <a:t>lr=0.04 → zu noisy, instabil</a:t>
            </a:r>
          </a:p>
        </p:txBody>
      </p:sp>
      <p:sp>
        <p:nvSpPr>
          <p:cNvPr id="59" name="Shape 25">
            <a:extLst xmlns:a="http://schemas.openxmlformats.org/drawingml/2006/main">
              <a:ext uri="{FF2B5EF4-FFF2-40B4-BE49-F238E27FC236}">
                <a16:creationId xmlns:a16="http://schemas.microsoft.com/office/drawing/2014/main" id="{FD15DFCB-ED2A-1D5E-26F6-C8B9E823E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300472"/>
            <a:ext cx="2606040" cy="109728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EF4444">
                <a:alpha val="35000"/>
              </a:srgbClr>
            </a:solidFill>
            <a:prstDash val="solid"/>
          </a:ln>
          <a:effectLst xmlns:a="http://schemas.openxmlformats.org/drawingml/2006/main">
            <a:outerShdw blurRad="101600" dist="25400" dir="2700000" algn="bl" rotWithShape="0">
              <a:srgbClr val="000000">
                <a:alpha val="14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0" name="Shape 26">
            <a:extLst xmlns:a="http://schemas.openxmlformats.org/drawingml/2006/main">
              <a:ext uri="{FF2B5EF4-FFF2-40B4-BE49-F238E27FC236}">
                <a16:creationId xmlns:a16="http://schemas.microsoft.com/office/drawing/2014/main" id="{4EF2DF11-68C4-FD7F-E9D0-9C3507B9A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0128" y="5373624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12700">
            <a:solidFill>
              <a:srgbClr val="EF444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1" name="Text 27">
            <a:extLst xmlns:a="http://schemas.openxmlformats.org/drawingml/2006/main">
              <a:ext uri="{FF2B5EF4-FFF2-40B4-BE49-F238E27FC236}">
                <a16:creationId xmlns:a16="http://schemas.microsoft.com/office/drawing/2014/main" id="{147C1820-ADCD-FC44-68EC-BADEB85EF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0128" y="5373624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FFFFF"/>
                </a:solidFill>
              </a:rPr>
              <a:t>✕</a:t>
            </a:r>
          </a:p>
        </p:txBody>
      </p:sp>
      <p:sp>
        <p:nvSpPr>
          <p:cNvPr id="62" name="Text 28">
            <a:extLst xmlns:a="http://schemas.openxmlformats.org/drawingml/2006/main">
              <a:ext uri="{FF2B5EF4-FFF2-40B4-BE49-F238E27FC236}">
                <a16:creationId xmlns:a16="http://schemas.microsoft.com/office/drawing/2014/main" id="{FEB00BBB-9E5E-82A8-655C-5992A193C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355336"/>
            <a:ext cx="2057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FFFFFF"/>
                </a:solidFill>
              </a:rPr>
              <a:t>c02_very_stable</a:t>
            </a:r>
          </a:p>
        </p:txBody>
      </p:sp>
      <p:sp>
        <p:nvSpPr>
          <p:cNvPr id="63" name="Text 29">
            <a:extLst xmlns:a="http://schemas.openxmlformats.org/drawingml/2006/main">
              <a:ext uri="{FF2B5EF4-FFF2-40B4-BE49-F238E27FC236}">
                <a16:creationId xmlns:a16="http://schemas.microsoft.com/office/drawing/2014/main" id="{25EAAB64-954F-92F9-8C22-8A699B250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4992" y="5666232"/>
            <a:ext cx="233172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94A3B8"/>
                </a:solidFill>
              </a:rPr>
              <a:t>lr=0.0025 → zu langsam</a:t>
            </a:r>
          </a:p>
        </p:txBody>
      </p:sp>
      <p:sp>
        <p:nvSpPr>
          <p:cNvPr id="64" name="Shape 30">
            <a:extLst xmlns:a="http://schemas.openxmlformats.org/drawingml/2006/main">
              <a:ext uri="{FF2B5EF4-FFF2-40B4-BE49-F238E27FC236}">
                <a16:creationId xmlns:a16="http://schemas.microsoft.com/office/drawing/2014/main" id="{1F0B9FDA-3726-840E-FAA5-73EA3B832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5300472"/>
            <a:ext cx="2606040" cy="109728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EF4444">
                <a:alpha val="35000"/>
              </a:srgbClr>
            </a:solidFill>
            <a:prstDash val="solid"/>
          </a:ln>
          <a:effectLst xmlns:a="http://schemas.openxmlformats.org/drawingml/2006/main">
            <a:outerShdw blurRad="101600" dist="25400" dir="2700000" algn="bl" rotWithShape="0">
              <a:srgbClr val="000000">
                <a:alpha val="14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5" name="Shape 31">
            <a:extLst xmlns:a="http://schemas.openxmlformats.org/drawingml/2006/main">
              <a:ext uri="{FF2B5EF4-FFF2-40B4-BE49-F238E27FC236}">
                <a16:creationId xmlns:a16="http://schemas.microsoft.com/office/drawing/2014/main" id="{C7118242-3809-A0BD-15F5-3524FEBC2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4768" y="5373624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12700">
            <a:solidFill>
              <a:srgbClr val="EF444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6" name="Text 32">
            <a:extLst xmlns:a="http://schemas.openxmlformats.org/drawingml/2006/main">
              <a:ext uri="{FF2B5EF4-FFF2-40B4-BE49-F238E27FC236}">
                <a16:creationId xmlns:a16="http://schemas.microsoft.com/office/drawing/2014/main" id="{11BDE702-2158-80A4-35AF-8E0435B0E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4768" y="5373624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FFFFF"/>
                </a:solidFill>
              </a:rPr>
              <a:t>✕</a:t>
            </a:r>
          </a:p>
        </p:txBody>
      </p:sp>
      <p:sp>
        <p:nvSpPr>
          <p:cNvPr id="67" name="Text 33">
            <a:extLst xmlns:a="http://schemas.openxmlformats.org/drawingml/2006/main">
              <a:ext uri="{FF2B5EF4-FFF2-40B4-BE49-F238E27FC236}">
                <a16:creationId xmlns:a16="http://schemas.microsoft.com/office/drawing/2014/main" id="{1D17BBC0-71CE-88B1-DB06-DEABAD932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5355336"/>
            <a:ext cx="2057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FFFFFF"/>
                </a:solidFill>
              </a:rPr>
              <a:t>c14_fast_low_eps</a:t>
            </a:r>
          </a:p>
        </p:txBody>
      </p:sp>
      <p:sp>
        <p:nvSpPr>
          <p:cNvPr id="68" name="Text 34">
            <a:extLst xmlns:a="http://schemas.openxmlformats.org/drawingml/2006/main">
              <a:ext uri="{FF2B5EF4-FFF2-40B4-BE49-F238E27FC236}">
                <a16:creationId xmlns:a16="http://schemas.microsoft.com/office/drawing/2014/main" id="{5FAEAC8C-A38C-E253-F801-88CBF85B8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9632" y="5666232"/>
            <a:ext cx="233172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94A3B8"/>
                </a:solidFill>
              </a:rPr>
              <a:t>Konvergiert zu früh, Exploration unzureichend</a:t>
            </a:r>
          </a:p>
        </p:txBody>
      </p:sp>
      <p:sp>
        <p:nvSpPr>
          <p:cNvPr id="69" name="Shape 4">
            <a:extLst xmlns:a="http://schemas.openxmlformats.org/drawingml/2006/main">
              <a:ext uri="{FF2B5EF4-FFF2-40B4-BE49-F238E27FC236}">
                <a16:creationId xmlns:a16="http://schemas.microsoft.com/office/drawing/2014/main" id="{AEF3274F-F8B6-3DDD-6B8E-3382B3F83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-2026920"/>
            <a:ext cx="2606040" cy="18288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12700">
            <a:solidFill>
              <a:srgbClr val="10B981">
                <a:alpha val="50000"/>
              </a:srgbClr>
            </a:solidFill>
            <a:prstDash val="solid"/>
          </a:ln>
          <a:effectLst xmlns:a="http://schemas.openxmlformats.org/drawingml/2006/main">
            <a:outerShdw blurRad="152400" dist="38100" dir="2700000" algn="bl" rotWithShape="0">
              <a:srgbClr val="000000">
                <a:alpha val="1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0" name="!!Test">
            <a:extLst xmlns:a="http://schemas.openxmlformats.org/drawingml/2006/main">
              <a:ext uri="{FF2B5EF4-FFF2-40B4-BE49-F238E27FC236}">
                <a16:creationId xmlns:a16="http://schemas.microsoft.com/office/drawing/2014/main" id="{6CC8DECC-D162-ECF2-E625-B24CB6EA7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6" y="-1917192"/>
            <a:ext cx="2350008" cy="292608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0B981"/>
          </a:solidFill>
          <a:ln xmlns:a="http://schemas.openxmlformats.org/drawingml/2006/main" w="12700">
            <a:solidFill>
              <a:srgbClr val="10B98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1" name="Text 6">
            <a:extLst xmlns:a="http://schemas.openxmlformats.org/drawingml/2006/main">
              <a:ext uri="{FF2B5EF4-FFF2-40B4-BE49-F238E27FC236}">
                <a16:creationId xmlns:a16="http://schemas.microsoft.com/office/drawing/2014/main" id="{BAD4AC87-8044-477C-82E5-5D0C6ABDB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6" y="-1917192"/>
            <a:ext cx="23500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 spc="100">
                <a:solidFill>
                  <a:srgbClr val="FFFFFF"/>
                </a:solidFill>
              </a:rPr>
              <a:t>OPTIMAL</a:t>
            </a:r>
          </a:p>
        </p:txBody>
      </p:sp>
      <p:sp>
        <p:nvSpPr>
          <p:cNvPr id="72" name="Text 7">
            <a:extLst xmlns:a="http://schemas.openxmlformats.org/drawingml/2006/main">
              <a:ext uri="{FF2B5EF4-FFF2-40B4-BE49-F238E27FC236}">
                <a16:creationId xmlns:a16="http://schemas.microsoft.com/office/drawing/2014/main" id="{0D7F7261-3B7F-8173-44FA-A4FB6F151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6" y="-1496568"/>
            <a:ext cx="235000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0B981"/>
                </a:solidFill>
                <a:latin typeface="Cambria"/>
                <a:ea typeface="Cambria"/>
                <a:cs typeface="Cambria"/>
              </a:rPr>
              <a:t>LR = 0.01</a:t>
            </a:r>
          </a:p>
        </p:txBody>
      </p:sp>
      <p:sp>
        <p:nvSpPr>
          <p:cNvPr id="73" name="Text 8">
            <a:extLst xmlns:a="http://schemas.openxmlformats.org/drawingml/2006/main">
              <a:ext uri="{FF2B5EF4-FFF2-40B4-BE49-F238E27FC236}">
                <a16:creationId xmlns:a16="http://schemas.microsoft.com/office/drawing/2014/main" id="{33B275B4-0BBB-F902-CDC4-0C66DBF3C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6" y="-984504"/>
            <a:ext cx="2350008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64748B"/>
                </a:solidFill>
              </a:rPr>
              <a:t>Beste Counting-Konfiguration in Stage C; keine isolierte Parameterablation.</a:t>
            </a:r>
          </a:p>
        </p:txBody>
      </p:sp>
      <p:sp>
        <p:nvSpPr>
          <p:cNvPr id="74" name="Shape 9">
            <a:extLst xmlns:a="http://schemas.openxmlformats.org/drawingml/2006/main">
              <a:ext uri="{FF2B5EF4-FFF2-40B4-BE49-F238E27FC236}">
                <a16:creationId xmlns:a16="http://schemas.microsoft.com/office/drawing/2014/main" id="{9FA1DAB8-9523-5883-BE97-E038639E2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-2026920"/>
            <a:ext cx="2606040" cy="18288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12700">
            <a:solidFill>
              <a:srgbClr val="0D9488">
                <a:alpha val="50000"/>
              </a:srgbClr>
            </a:solidFill>
            <a:prstDash val="solid"/>
          </a:ln>
          <a:effectLst xmlns:a="http://schemas.openxmlformats.org/drawingml/2006/main">
            <a:outerShdw blurRad="152400" dist="38100" dir="2700000" algn="bl" rotWithShape="0">
              <a:srgbClr val="000000">
                <a:alpha val="1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5" name="Shape 10">
            <a:extLst xmlns:a="http://schemas.openxmlformats.org/drawingml/2006/main">
              <a:ext uri="{FF2B5EF4-FFF2-40B4-BE49-F238E27FC236}">
                <a16:creationId xmlns:a16="http://schemas.microsoft.com/office/drawing/2014/main" id="{49970275-0F60-EC75-66EB-2E467035C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8416" y="-1917192"/>
            <a:ext cx="2350008" cy="292608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D9488"/>
          </a:solidFill>
          <a:ln xmlns:a="http://schemas.openxmlformats.org/drawingml/2006/main" w="12700">
            <a:solidFill>
              <a:srgbClr val="0D948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6" name="Text 11">
            <a:extLst xmlns:a="http://schemas.openxmlformats.org/drawingml/2006/main">
              <a:ext uri="{FF2B5EF4-FFF2-40B4-BE49-F238E27FC236}">
                <a16:creationId xmlns:a16="http://schemas.microsoft.com/office/drawing/2014/main" id="{1C98C4D2-3D15-ED15-ED60-8C99E5007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8416" y="-1917192"/>
            <a:ext cx="23500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 spc="100">
                <a:solidFill>
                  <a:srgbClr val="FFFFFF"/>
                </a:solidFill>
              </a:rPr>
              <a:t>BEST</a:t>
            </a:r>
          </a:p>
        </p:txBody>
      </p:sp>
      <p:sp>
        <p:nvSpPr>
          <p:cNvPr id="77" name="Text 12">
            <a:extLst xmlns:a="http://schemas.openxmlformats.org/drawingml/2006/main">
              <a:ext uri="{FF2B5EF4-FFF2-40B4-BE49-F238E27FC236}">
                <a16:creationId xmlns:a16="http://schemas.microsoft.com/office/drawing/2014/main" id="{F03692CB-BC1A-475F-AFCD-5C1F8EAA8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8416" y="-1496568"/>
            <a:ext cx="235000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0D9488"/>
                </a:solidFill>
                <a:latin typeface="Cambria"/>
                <a:ea typeface="Cambria"/>
                <a:cs typeface="Cambria"/>
              </a:rPr>
              <a:t>γ = 0.99</a:t>
            </a:r>
          </a:p>
        </p:txBody>
      </p:sp>
      <p:sp>
        <p:nvSpPr>
          <p:cNvPr id="78" name="Text 13">
            <a:extLst xmlns:a="http://schemas.openxmlformats.org/drawingml/2006/main">
              <a:ext uri="{FF2B5EF4-FFF2-40B4-BE49-F238E27FC236}">
                <a16:creationId xmlns:a16="http://schemas.microsoft.com/office/drawing/2014/main" id="{99CA8099-FD36-79FB-D054-AF3B02B0B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8416" y="-984504"/>
            <a:ext cx="2350008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64748B"/>
                </a:solidFill>
              </a:rPr>
              <a:t>Bei 20 Mio.: Reward −0,05259 und Seed-SD 0,00052.</a:t>
            </a:r>
          </a:p>
        </p:txBody>
      </p:sp>
      <p:sp>
        <p:nvSpPr>
          <p:cNvPr id="79" name="Shape 14">
            <a:extLst xmlns:a="http://schemas.openxmlformats.org/drawingml/2006/main">
              <a:ext uri="{FF2B5EF4-FFF2-40B4-BE49-F238E27FC236}">
                <a16:creationId xmlns:a16="http://schemas.microsoft.com/office/drawing/2014/main" id="{2BB2494B-0363-508F-F5EA-97E25CC9B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-2026920"/>
            <a:ext cx="2606040" cy="18288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12700">
            <a:solidFill>
              <a:srgbClr val="F59E0B">
                <a:alpha val="50000"/>
              </a:srgbClr>
            </a:solidFill>
            <a:prstDash val="solid"/>
          </a:ln>
          <a:effectLst xmlns:a="http://schemas.openxmlformats.org/drawingml/2006/main">
            <a:outerShdw blurRad="152400" dist="38100" dir="2700000" algn="bl" rotWithShape="0">
              <a:srgbClr val="000000">
                <a:alpha val="1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0" name="Shape 15">
            <a:extLst xmlns:a="http://schemas.openxmlformats.org/drawingml/2006/main">
              <a:ext uri="{FF2B5EF4-FFF2-40B4-BE49-F238E27FC236}">
                <a16:creationId xmlns:a16="http://schemas.microsoft.com/office/drawing/2014/main" id="{ECB773EF-FF95-886B-EDDB-C8AF33909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3056" y="-1917192"/>
            <a:ext cx="2350008" cy="292608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12700">
            <a:solidFill>
              <a:srgbClr val="F59E0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1" name="Text 16">
            <a:extLst xmlns:a="http://schemas.openxmlformats.org/drawingml/2006/main">
              <a:ext uri="{FF2B5EF4-FFF2-40B4-BE49-F238E27FC236}">
                <a16:creationId xmlns:a16="http://schemas.microsoft.com/office/drawing/2014/main" id="{A5018999-AF24-646F-FBBC-157E1A752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3056" y="-1917192"/>
            <a:ext cx="23500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 spc="100">
                <a:solidFill>
                  <a:srgbClr val="FFFFFF"/>
                </a:solidFill>
              </a:rPr>
              <a:t>LANGER SCHEDULE</a:t>
            </a:r>
          </a:p>
        </p:txBody>
      </p:sp>
      <p:sp>
        <p:nvSpPr>
          <p:cNvPr id="82" name="Text 17">
            <a:extLst xmlns:a="http://schemas.openxmlformats.org/drawingml/2006/main">
              <a:ext uri="{FF2B5EF4-FFF2-40B4-BE49-F238E27FC236}">
                <a16:creationId xmlns:a16="http://schemas.microsoft.com/office/drawing/2014/main" id="{7DBC49B3-62F2-EDAD-B3DE-B2B06B124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3056" y="-1496568"/>
            <a:ext cx="235000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F59E0B"/>
                </a:solidFill>
                <a:latin typeface="Cambria"/>
                <a:ea typeface="Cambria"/>
                <a:cs typeface="Cambria"/>
              </a:rPr>
              <a:t>Exploration</a:t>
            </a:r>
          </a:p>
        </p:txBody>
      </p:sp>
      <p:sp>
        <p:nvSpPr>
          <p:cNvPr id="83" name="Text 18">
            <a:extLst xmlns:a="http://schemas.openxmlformats.org/drawingml/2006/main">
              <a:ext uri="{FF2B5EF4-FFF2-40B4-BE49-F238E27FC236}">
                <a16:creationId xmlns:a16="http://schemas.microsoft.com/office/drawing/2014/main" id="{A9D592B0-AF13-C024-2AD7-B177CF2F3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3056" y="-984504"/>
            <a:ext cx="2350008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64748B"/>
                </a:solidFill>
              </a:rPr>
              <a:t>Die Baseline lag bei 20 Mio. mit −0,04906 weiterhin vorn.</a:t>
            </a:r>
          </a:p>
        </p:txBody>
      </p:sp>
    </p:spTree>
    <p:extLst>
      <p:ext uri="{BB962C8B-B14F-4D97-AF65-F5344CB8AC3E}">
        <p14:creationId xmlns:p14="http://schemas.microsoft.com/office/powerpoint/2010/main" val="1725065751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3A3F2857-00F6-47A9-8756-B56FE9AD5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9488"/>
          </a:solidFill>
          <a:ln xmlns:a="http://schemas.openxmlformats.org/drawingml/2006/main" w="12700">
            <a:solidFill>
              <a:srgbClr val="0D948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6FBCFA38-B185-467A-B0F4-5F3FC846F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9728"/>
            <a:ext cx="1828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14B8A6"/>
                </a:solidFill>
              </a:rPr>
              <a:t>METHODIK &amp; TECHNIK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72630629-2DDC-4F79-8C8E-705C1825C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7472"/>
            <a:ext cx="82296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50" b="1">
                <a:solidFill>
                  <a:srgbClr val="111A2E"/>
                </a:solidFill>
                <a:latin typeface="Cambria"/>
                <a:ea typeface="Cambria"/>
                <a:cs typeface="Cambria"/>
              </a:rPr>
              <a:t>600 Mio. Trainingsrunden im finalen Experiment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1D5D12E4-DD88-4DB1-84A5-36D2F2095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1097280"/>
            <a:ext cx="1600200" cy="658368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1E3A5F"/>
          </a:solidFill>
          <a:ln xmlns:a="http://schemas.openxmlformats.org/drawingml/2006/main" w="12700">
            <a:solidFill>
              <a:srgbClr val="0D9488">
                <a:alpha val="70000"/>
              </a:srgbClr>
            </a:solidFill>
            <a:prstDash val="solid"/>
          </a:ln>
          <a:effectLst xmlns:a="http://schemas.openxmlformats.org/drawingml/2006/main">
            <a:outerShdw blurRad="101600" dist="25400" dir="2700000" algn="bl" rotWithShape="0">
              <a:srgbClr val="000000">
                <a:alpha val="14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5C1FAA1D-F09A-479E-BEF1-3F57E18F0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1097280"/>
            <a:ext cx="160020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0800" tIns="50800" rIns="50800" bIns="5080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0D9488"/>
                </a:solidFill>
              </a:rPr>
              <a:t>2 Agententypen</a:t>
            </a: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7B022BB5-EF2E-4358-8BE1-685B89C2E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5960" y="1426464"/>
            <a:ext cx="5029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4B8A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D97B7BF3-7E60-4ADD-AB40-6DC5C97D0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3120" y="1097280"/>
            <a:ext cx="1600200" cy="658368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1E3A5F"/>
          </a:solidFill>
          <a:ln xmlns:a="http://schemas.openxmlformats.org/drawingml/2006/main" w="12700">
            <a:solidFill>
              <a:srgbClr val="F59E0B">
                <a:alpha val="70000"/>
              </a:srgbClr>
            </a:solidFill>
            <a:prstDash val="solid"/>
          </a:ln>
          <a:effectLst xmlns:a="http://schemas.openxmlformats.org/drawingml/2006/main">
            <a:outerShdw blurRad="101600" dist="25400" dir="2700000" algn="bl" rotWithShape="0">
              <a:srgbClr val="000000">
                <a:alpha val="14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A0D51138-EE21-4A48-B12E-2392E627D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3120" y="1097280"/>
            <a:ext cx="160020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0800" tIns="50800" rIns="50800" bIns="5080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F59E0B"/>
                </a:solidFill>
              </a:rPr>
              <a:t>3 Trainingsseeds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91674E02-6D82-4B49-97BF-EBC767AD3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3320" y="1426464"/>
            <a:ext cx="5029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4B8A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C4672D8F-CD81-44AC-9695-28FD82106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0" y="1097280"/>
            <a:ext cx="1600200" cy="658368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1E3A5F"/>
          </a:solidFill>
          <a:ln xmlns:a="http://schemas.openxmlformats.org/drawingml/2006/main" w="12700">
            <a:solidFill>
              <a:srgbClr val="14B8A6">
                <a:alpha val="70000"/>
              </a:srgbClr>
            </a:solidFill>
            <a:prstDash val="solid"/>
          </a:ln>
          <a:effectLst xmlns:a="http://schemas.openxmlformats.org/drawingml/2006/main">
            <a:outerShdw blurRad="101600" dist="25400" dir="2700000" algn="bl" rotWithShape="0">
              <a:srgbClr val="000000">
                <a:alpha val="14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43DEE9E7-A4FC-4BE9-857A-0AD97DC61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0" y="1097280"/>
            <a:ext cx="160020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0800" tIns="50800" rIns="50800" bIns="5080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14B8A6"/>
                </a:solidFill>
              </a:rPr>
              <a:t>100 Mio. Episoden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5BAF810A-B2B8-41BD-A1C6-A576064A2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0680" y="1426464"/>
            <a:ext cx="5029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4B8A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AD4178EC-8755-42B1-AA3C-52615304F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7840" y="1097280"/>
            <a:ext cx="1600200" cy="658368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1E3A5F"/>
          </a:solidFill>
          <a:ln xmlns:a="http://schemas.openxmlformats.org/drawingml/2006/main" w="12700">
            <a:solidFill>
              <a:srgbClr val="10B981">
                <a:alpha val="70000"/>
              </a:srgbClr>
            </a:solidFill>
            <a:prstDash val="solid"/>
          </a:ln>
          <a:effectLst xmlns:a="http://schemas.openxmlformats.org/drawingml/2006/main">
            <a:outerShdw blurRad="101600" dist="25400" dir="2700000" algn="bl" rotWithShape="0">
              <a:srgbClr val="000000">
                <a:alpha val="14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93A6935F-4FAE-4394-8D9B-2C9C3BC37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7840" y="1097280"/>
            <a:ext cx="160020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0800" tIns="50800" rIns="50800" bIns="5080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10B981"/>
                </a:solidFill>
              </a:rPr>
              <a:t>60 Checkpoints</a:t>
            </a:r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D22F29D5-4004-4C1B-AF46-5097B4F22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8040" y="1426464"/>
            <a:ext cx="5029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4B8A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4E70D48E-405E-4B71-A03C-F9F36B513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1097280"/>
            <a:ext cx="1600200" cy="658368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1E3A5F"/>
          </a:solidFill>
          <a:ln xmlns:a="http://schemas.openxmlformats.org/drawingml/2006/main" w="12700">
            <a:solidFill>
              <a:srgbClr val="F59E0B">
                <a:alpha val="70000"/>
              </a:srgbClr>
            </a:solidFill>
            <a:prstDash val="solid"/>
          </a:ln>
          <a:effectLst xmlns:a="http://schemas.openxmlformats.org/drawingml/2006/main">
            <a:outerShdw blurRad="101600" dist="25400" dir="2700000" algn="bl" rotWithShape="0">
              <a:srgbClr val="000000">
                <a:alpha val="14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5C99B0DB-ED31-489E-A667-96F58693E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1097280"/>
            <a:ext cx="160020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0800" tIns="50800" rIns="50800" bIns="5080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F59E0B"/>
                </a:solidFill>
              </a:rPr>
              <a:t>6 finale Modelle</a:t>
            </a:r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1439C5AE-16E7-48E2-925C-151C87941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1920240"/>
            <a:ext cx="8503920" cy="256032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D9488">
              <a:alpha val="10000"/>
            </a:srgbClr>
          </a:solidFill>
          <a:ln xmlns:a="http://schemas.openxmlformats.org/drawingml/2006/main" w="12700">
            <a:solidFill>
              <a:srgbClr val="0D9488">
                <a:alpha val="30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13D5C187-B06C-4BC0-BAC1-1C8BBC5FE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920240"/>
            <a:ext cx="82296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94A3B8"/>
                </a:solidFill>
              </a:rPr>
              <a:t>Baseline und Counting werden mit identischen Hyperparametern getrennt trainiert.</a:t>
            </a:r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10460E7F-1A1B-4B52-8AC0-258AF1069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2331720"/>
            <a:ext cx="3977640" cy="1078992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1E3A5F"/>
          </a:solidFill>
          <a:ln xmlns:a="http://schemas.openxmlformats.org/drawingml/2006/main" w="12700">
            <a:solidFill>
              <a:srgbClr val="14B8A6">
                <a:alpha val="45000"/>
              </a:srgbClr>
            </a:solidFill>
            <a:prstDash val="solid"/>
          </a:ln>
          <a:effectLst xmlns:a="http://schemas.openxmlformats.org/drawingml/2006/main">
            <a:outerShdw blurRad="101600" dist="25400" dir="2700000" algn="bl" rotWithShape="0">
              <a:srgbClr val="000000">
                <a:alpha val="14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D7FEED97-42D4-414A-8BE8-861547019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31720"/>
            <a:ext cx="731520" cy="10789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>
                <a:solidFill>
                  <a:srgbClr val="000000"/>
                </a:solidFill>
              </a:rPr>
              <a:t>⚡</a:t>
            </a:r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8FC66F30-96EF-4B6A-9A73-F59DBB8CD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2496312"/>
            <a:ext cx="292608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 spc="200">
                <a:solidFill>
                  <a:srgbClr val="14B8A6"/>
                </a:solidFill>
              </a:rPr>
              <a:t>CPU</a:t>
            </a: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8C9C4621-D29D-450A-940C-B31F55CF4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2752344"/>
            <a:ext cx="292608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FFFFF"/>
                </a:solidFill>
              </a:rPr>
              <a:t>AMD Ryzen 5 5625U · 6C/12T</a:t>
            </a:r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CEDA128F-1B63-43FB-9443-C4C2558A8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2331720"/>
            <a:ext cx="3977640" cy="1078992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1E3A5F"/>
          </a:solidFill>
          <a:ln xmlns:a="http://schemas.openxmlformats.org/drawingml/2006/main" w="12700">
            <a:solidFill>
              <a:srgbClr val="F59E0B">
                <a:alpha val="45000"/>
              </a:srgbClr>
            </a:solidFill>
            <a:prstDash val="solid"/>
          </a:ln>
          <a:effectLst xmlns:a="http://schemas.openxmlformats.org/drawingml/2006/main">
            <a:outerShdw blurRad="101600" dist="25400" dir="2700000" algn="bl" rotWithShape="0">
              <a:srgbClr val="000000">
                <a:alpha val="14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AFA41F1D-35DC-4B97-B8CE-51E975BAB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2331720"/>
            <a:ext cx="731520" cy="10789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>
                <a:solidFill>
                  <a:srgbClr val="000000"/>
                </a:solidFill>
              </a:rPr>
              <a:t>⏱</a:t>
            </a:r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653EADEA-906D-47CD-BBC0-FC4B0328B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2496312"/>
            <a:ext cx="292608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F59E0B"/>
                </a:solidFill>
              </a:rPr>
              <a:t>LAUFZEIT</a:t>
            </a:r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2A799C43-494D-4F32-B6BD-E8B3E4AAD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2752344"/>
            <a:ext cx="292608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FFFFF"/>
                </a:solidFill>
              </a:rPr>
              <a:t>13 h 01 min 47 s</a:t>
            </a:r>
          </a:p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9A5F8B57-AD7C-4778-A770-13669F982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3611880"/>
            <a:ext cx="3977640" cy="1078992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1E3A5F"/>
          </a:solidFill>
          <a:ln xmlns:a="http://schemas.openxmlformats.org/drawingml/2006/main" w="12700">
            <a:solidFill>
              <a:srgbClr val="10B981">
                <a:alpha val="45000"/>
              </a:srgbClr>
            </a:solidFill>
            <a:prstDash val="solid"/>
          </a:ln>
          <a:effectLst xmlns:a="http://schemas.openxmlformats.org/drawingml/2006/main">
            <a:outerShdw blurRad="101600" dist="25400" dir="2700000" algn="bl" rotWithShape="0">
              <a:srgbClr val="000000">
                <a:alpha val="14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0FEFADF1-13AF-4309-9635-092F2F03B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1880"/>
            <a:ext cx="731520" cy="10789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>
                <a:solidFill>
                  <a:srgbClr val="000000"/>
                </a:solidFill>
              </a:rPr>
              <a:t>💾</a:t>
            </a:r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BC1C6475-9EE9-4DD9-BC93-FE8D45A96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3776472"/>
            <a:ext cx="292608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 spc="200">
                <a:solidFill>
                  <a:srgbClr val="10B981"/>
                </a:solidFill>
              </a:rPr>
              <a:t>CHECKPOINTING</a:t>
            </a:r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7405E518-3B09-48C0-AE78-C34CC5FD8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4032504"/>
            <a:ext cx="292608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FFFFF"/>
                </a:solidFill>
              </a:rPr>
              <a:t>alle 10 Mio. Episoden</a:t>
            </a:r>
          </a:p>
        </p:txBody>
      </p:sp>
      <p:sp>
        <p:nvSpPr>
          <p:cNvPr id="33" name="Shape 31">
            <a:extLst xmlns:a="http://schemas.openxmlformats.org/drawingml/2006/main">
              <a:ext uri="{FF2B5EF4-FFF2-40B4-BE49-F238E27FC236}">
                <a16:creationId xmlns:a16="http://schemas.microsoft.com/office/drawing/2014/main" id="{C7E40511-5BC8-4B54-912A-AF30870B6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3611880"/>
            <a:ext cx="3977640" cy="1078992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1E3A5F"/>
          </a:solidFill>
          <a:ln xmlns:a="http://schemas.openxmlformats.org/drawingml/2006/main" w="12700">
            <a:solidFill>
              <a:srgbClr val="0D9488">
                <a:alpha val="45000"/>
              </a:srgbClr>
            </a:solidFill>
            <a:prstDash val="solid"/>
          </a:ln>
          <a:effectLst xmlns:a="http://schemas.openxmlformats.org/drawingml/2006/main">
            <a:outerShdw blurRad="101600" dist="25400" dir="2700000" algn="bl" rotWithShape="0">
              <a:srgbClr val="000000">
                <a:alpha val="14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76D8BDFB-0B84-4161-931A-9020466CD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3611880"/>
            <a:ext cx="731520" cy="10789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>
                <a:solidFill>
                  <a:srgbClr val="000000"/>
                </a:solidFill>
              </a:rPr>
              <a:t>📊</a:t>
            </a:r>
          </a:p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23FB3129-840E-4F41-96F6-22D3C609C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3776472"/>
            <a:ext cx="292608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0D9488"/>
                </a:solidFill>
              </a:rPr>
              <a:t>PARALLELISIERUNG</a:t>
            </a:r>
          </a:p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84F66629-CD53-4BA1-A09E-EBFA11142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4032504"/>
            <a:ext cx="292608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FFFFF"/>
                </a:solidFill>
              </a:rPr>
              <a:t>sechs CPU-Prozesse</a:t>
            </a:r>
          </a:p>
        </p:txBody>
      </p:sp>
    </p:spTree>
    <p:extLst>
      <p:ext uri="{BB962C8B-B14F-4D97-AF65-F5344CB8AC3E}">
        <p14:creationId xmlns:p14="http://schemas.microsoft.com/office/powerpoint/2010/main" val="336842833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11B2E778-1C06-4C90-8194-1910F9346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4CDC759B-0AB7-432B-A719-AB0DDF202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864"/>
            <a:ext cx="27432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F59E0B"/>
                </a:solidFill>
              </a:rPr>
              <a:t>METHODIK &amp; TECHNIK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288CED18-3396-48E3-BB28-D0C08CB0B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4320"/>
            <a:ext cx="82296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18 Mio. Testepisoden für die finale Evaluation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2E992790-2492-4763-BE57-49D9E666B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1097280"/>
            <a:ext cx="2606040" cy="18288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12700">
            <a:solidFill>
              <a:srgbClr val="10B981">
                <a:alpha val="50000"/>
              </a:srgbClr>
            </a:solidFill>
            <a:prstDash val="solid"/>
          </a:ln>
          <a:effectLst xmlns:a="http://schemas.openxmlformats.org/drawingml/2006/main">
            <a:outerShdw blurRad="152400" dist="38100" dir="2700000" algn="bl" rotWithShape="0">
              <a:srgbClr val="000000">
                <a:alpha val="1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!!Test">
            <a:extLst xmlns:a="http://schemas.openxmlformats.org/drawingml/2006/main">
              <a:ext uri="{FF2B5EF4-FFF2-40B4-BE49-F238E27FC236}">
                <a16:creationId xmlns:a16="http://schemas.microsoft.com/office/drawing/2014/main" id="{48C3B498-A1C3-4556-9E0F-2C4D57176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6" y="1207008"/>
            <a:ext cx="2350008" cy="292608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0B981"/>
          </a:solidFill>
          <a:ln xmlns:a="http://schemas.openxmlformats.org/drawingml/2006/main" w="12700">
            <a:solidFill>
              <a:srgbClr val="10B98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DEF960BB-14B7-4B78-8D36-371C4C407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6" y="1207008"/>
            <a:ext cx="23500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FFFF"/>
                </a:solidFill>
              </a:rPr>
              <a:t>SEEDS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C2E6C3C1-B5F9-46D9-BDC8-6109F8137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6" y="1627632"/>
            <a:ext cx="235000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0B981"/>
                </a:solidFill>
                <a:latin typeface="Cambria"/>
                <a:ea typeface="Cambria"/>
                <a:cs typeface="Cambria"/>
              </a:rPr>
              <a:t>3 Eval-Seeds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BC21E598-B880-4DC6-819F-6D8116BEC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6" y="2139696"/>
            <a:ext cx="2350008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64748B"/>
                </a:solidFill>
              </a:rPr>
              <a:t>1234, 4321 und 9876 für jedes trainierte Modell</a:t>
            </a:r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907E4BDD-567D-4D0A-B4D1-D34749EA5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097280"/>
            <a:ext cx="2606040" cy="18288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12700">
            <a:solidFill>
              <a:srgbClr val="0D9488">
                <a:alpha val="50000"/>
              </a:srgbClr>
            </a:solidFill>
            <a:prstDash val="solid"/>
          </a:ln>
          <a:effectLst xmlns:a="http://schemas.openxmlformats.org/drawingml/2006/main">
            <a:outerShdw blurRad="152400" dist="38100" dir="2700000" algn="bl" rotWithShape="0">
              <a:srgbClr val="000000">
                <a:alpha val="1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F6E35BED-1E48-4B60-951E-B38B71199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8416" y="1207008"/>
            <a:ext cx="2350008" cy="292608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D9488"/>
          </a:solidFill>
          <a:ln xmlns:a="http://schemas.openxmlformats.org/drawingml/2006/main" w="12700">
            <a:solidFill>
              <a:srgbClr val="0D948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364BC938-2CAE-4B1D-963D-C3487E93F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8416" y="1207008"/>
            <a:ext cx="23500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FFFF"/>
                </a:solidFill>
              </a:rPr>
              <a:t>UMFANG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4889940A-19A1-40BB-A133-51DF723E2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8416" y="1627632"/>
            <a:ext cx="235000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0D9488"/>
                </a:solidFill>
                <a:latin typeface="Cambria"/>
                <a:ea typeface="Cambria"/>
                <a:cs typeface="Cambria"/>
              </a:rPr>
              <a:t>1 Mio. je Seed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A01655E0-95A6-48F7-AD43-7D270D858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8416" y="2139696"/>
            <a:ext cx="2350008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64748B"/>
                </a:solidFill>
              </a:rPr>
              <a:t>3 Mio. je Modell · 9 Mio. je Agententyp</a:t>
            </a:r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217D8CC1-8292-4ABC-BECF-28ED6D7B6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1097280"/>
            <a:ext cx="2606040" cy="18288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12700">
            <a:solidFill>
              <a:srgbClr val="F59E0B">
                <a:alpha val="50000"/>
              </a:srgbClr>
            </a:solidFill>
            <a:prstDash val="solid"/>
          </a:ln>
          <a:effectLst xmlns:a="http://schemas.openxmlformats.org/drawingml/2006/main">
            <a:outerShdw blurRad="152400" dist="38100" dir="2700000" algn="bl" rotWithShape="0">
              <a:srgbClr val="000000">
                <a:alpha val="1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9C0B6FEC-81B7-46C3-BE2D-490E9FAEC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3056" y="1207008"/>
            <a:ext cx="2350008" cy="292608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12700">
            <a:solidFill>
              <a:srgbClr val="F59E0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3E73BDE5-87FE-45AD-91E1-BC94675B2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3056" y="1207008"/>
            <a:ext cx="23500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FFFF"/>
                </a:solidFill>
              </a:rPr>
              <a:t>GREEDY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DF583AB4-80EC-4EB4-8D16-BF582FA5A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3056" y="1627632"/>
            <a:ext cx="235000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F59E0B"/>
                </a:solidFill>
                <a:latin typeface="Cambria"/>
                <a:ea typeface="Cambria"/>
                <a:cs typeface="Cambria"/>
              </a:rPr>
              <a:t>ε = 0</a:t>
            </a:r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0861A33A-C2B9-4E5B-960E-BFE1DF422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3056" y="2139696"/>
            <a:ext cx="2350008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64748B"/>
                </a:solidFill>
              </a:rPr>
              <a:t>Während der Evaluation wird keine Exploration verwendet.</a:t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5F7EDD4F-FB22-4566-A37A-D8F60E616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3127248"/>
            <a:ext cx="45720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E293B"/>
                </a:solidFill>
                <a:latin typeface="Cambria"/>
                <a:ea typeface="Cambria"/>
                <a:cs typeface="Cambria"/>
              </a:rPr>
              <a:t>Zusätzliche Auswertungen</a:t>
            </a:r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54F45FFD-1374-4537-B440-4786BF240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3547872"/>
            <a:ext cx="2606040" cy="109728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EF4444">
                <a:alpha val="35000"/>
              </a:srgbClr>
            </a:solidFill>
            <a:prstDash val="solid"/>
          </a:ln>
          <a:effectLst xmlns:a="http://schemas.openxmlformats.org/drawingml/2006/main">
            <a:outerShdw blurRad="101600" dist="25400" dir="2700000" algn="bl" rotWithShape="0">
              <a:srgbClr val="000000">
                <a:alpha val="14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834642F6-0491-4184-BDD3-576A39046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" y="3621024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12700">
            <a:solidFill>
              <a:srgbClr val="EF444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CCC3B36A-C4DD-4290-A0A1-DA7ADFA7F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" y="3621024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FFFFF"/>
                </a:solidFill>
              </a:rPr>
              <a:t>•</a:t>
            </a:r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58A0B1CF-F7C8-4958-A20F-D6B2CBDC4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602736"/>
            <a:ext cx="2057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FFFFFF"/>
                </a:solidFill>
              </a:rPr>
              <a:t>Checkpoint-Verlauf</a:t>
            </a:r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614ABBE2-AEE4-496E-8900-9AF86B503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3913632"/>
            <a:ext cx="233172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94A3B8"/>
                </a:solidFill>
              </a:rPr>
              <a:t>100.000 Episoden je gespeichertem Zwischenstand</a:t>
            </a:r>
          </a:p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C0F62900-A431-4360-BD06-564BBA3AD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547872"/>
            <a:ext cx="2606040" cy="109728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EF4444">
                <a:alpha val="35000"/>
              </a:srgbClr>
            </a:solidFill>
            <a:prstDash val="solid"/>
          </a:ln>
          <a:effectLst xmlns:a="http://schemas.openxmlformats.org/drawingml/2006/main">
            <a:outerShdw blurRad="101600" dist="25400" dir="2700000" algn="bl" rotWithShape="0">
              <a:srgbClr val="000000">
                <a:alpha val="14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0FA0BD70-E51E-42F0-8E76-909343EC9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0128" y="3621024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12700">
            <a:solidFill>
              <a:srgbClr val="EF444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C0BF8C31-D79E-415A-9055-70193A292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0128" y="3621024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FFFFF"/>
                </a:solidFill>
              </a:rPr>
              <a:t>•</a:t>
            </a:r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925AF710-757A-4A1A-9091-19C61C4B4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602736"/>
            <a:ext cx="2057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FFFFFF"/>
                </a:solidFill>
              </a:rPr>
              <a:t>True-Count-Buckets</a:t>
            </a:r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1ED30C1C-E244-4F73-B0A7-9256BE9E3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4992" y="3913632"/>
            <a:ext cx="233172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94A3B8"/>
                </a:solidFill>
              </a:rPr>
              <a:t>separater Testlauf mit identischem Umfang</a:t>
            </a:r>
          </a:p>
        </p:txBody>
      </p:sp>
      <p:sp>
        <p:nvSpPr>
          <p:cNvPr id="32" name="Shape 30">
            <a:extLst xmlns:a="http://schemas.openxmlformats.org/drawingml/2006/main">
              <a:ext uri="{FF2B5EF4-FFF2-40B4-BE49-F238E27FC236}">
                <a16:creationId xmlns:a16="http://schemas.microsoft.com/office/drawing/2014/main" id="{5F3EC8BE-9142-4B36-A2CA-A09D95FA2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3547872"/>
            <a:ext cx="2606040" cy="109728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EF4444">
                <a:alpha val="35000"/>
              </a:srgbClr>
            </a:solidFill>
            <a:prstDash val="solid"/>
          </a:ln>
          <a:effectLst xmlns:a="http://schemas.openxmlformats.org/drawingml/2006/main">
            <a:outerShdw blurRad="101600" dist="25400" dir="2700000" algn="bl" rotWithShape="0">
              <a:srgbClr val="000000">
                <a:alpha val="14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Shape 31">
            <a:extLst xmlns:a="http://schemas.openxmlformats.org/drawingml/2006/main">
              <a:ext uri="{FF2B5EF4-FFF2-40B4-BE49-F238E27FC236}">
                <a16:creationId xmlns:a16="http://schemas.microsoft.com/office/drawing/2014/main" id="{50CA5210-BC76-4D8A-BBC3-9597186CD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4768" y="3621024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12700">
            <a:solidFill>
              <a:srgbClr val="EF444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4DBF4BAB-87CA-4FA3-A857-E5B0C9A4A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4768" y="3621024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FFFFF"/>
                </a:solidFill>
              </a:rPr>
              <a:t>•</a:t>
            </a:r>
          </a:p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529CFB05-3571-4507-A349-FD0472723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3602736"/>
            <a:ext cx="2057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FFFFFF"/>
                </a:solidFill>
              </a:rPr>
              <a:t>Gesamtumfang</a:t>
            </a:r>
          </a:p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F987D422-B3DE-45CC-8F8A-0EF0ADC45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9632" y="3913632"/>
            <a:ext cx="233172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94A3B8"/>
                </a:solidFill>
              </a:rPr>
              <a:t>18 Mio. final + 18 Mio. Bucket-Episoden</a:t>
            </a:r>
          </a:p>
        </p:txBody>
      </p:sp>
    </p:spTree>
    <p:extLst>
      <p:ext uri="{BB962C8B-B14F-4D97-AF65-F5344CB8AC3E}">
        <p14:creationId xmlns:p14="http://schemas.microsoft.com/office/powerpoint/2010/main" val="673441604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ECF16FE0-60C2-9007-2EFF-BA9AE2C00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196EFBE7-2EC1-3BC4-B742-D3553CF29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9488"/>
          </a:solidFill>
          <a:ln xmlns:a="http://schemas.openxmlformats.org/drawingml/2006/main" w="12700">
            <a:solidFill>
              <a:srgbClr val="0D948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815F543-1F0D-6BBD-29F9-A4D6A2043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864"/>
            <a:ext cx="32004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14B8A6"/>
                </a:solidFill>
              </a:rPr>
              <a:t>ERGEBNISSE &amp; FAZIT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A64A2860-B1F8-282B-6F07-6F3B1078F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4320"/>
            <a:ext cx="82296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Counting schließt erst nach langem Training auf</a:t>
            </a:r>
          </a:p>
        </p:txBody>
      </p:sp>
      <p:sp>
        <p:nvSpPr>
          <p:cNvPr id="37" name="Text 29">
            <a:extLst xmlns:a="http://schemas.openxmlformats.org/drawingml/2006/main">
              <a:ext uri="{FF2B5EF4-FFF2-40B4-BE49-F238E27FC236}">
                <a16:creationId xmlns:a16="http://schemas.microsoft.com/office/drawing/2014/main" id="{52D5ED65-68A8-687E-2127-0AEC2AAAB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332000"/>
            <a:ext cx="17373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64748B"/>
                </a:solidFill>
              </a:rPr>
              <a:t>10–20 Mio.</a:t>
            </a:r>
          </a:p>
        </p:txBody>
      </p:sp>
      <p:sp>
        <p:nvSpPr>
          <p:cNvPr id="38" name="Shape 34">
            <a:extLst xmlns:a="http://schemas.openxmlformats.org/drawingml/2006/main">
              <a:ext uri="{FF2B5EF4-FFF2-40B4-BE49-F238E27FC236}">
                <a16:creationId xmlns:a16="http://schemas.microsoft.com/office/drawing/2014/main" id="{53359C2A-37A6-0A63-6395-2CD246B99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0" y="5231416"/>
            <a:ext cx="3337560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9" name="Shape 35">
            <a:extLst xmlns:a="http://schemas.openxmlformats.org/drawingml/2006/main">
              <a:ext uri="{FF2B5EF4-FFF2-40B4-BE49-F238E27FC236}">
                <a16:creationId xmlns:a16="http://schemas.microsoft.com/office/drawing/2014/main" id="{14A5B82E-6F93-E822-BF73-22B2A91EF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0" y="5231416"/>
            <a:ext cx="3003804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12700">
            <a:solidFill>
              <a:srgbClr val="10B98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0" name="Text 36">
            <a:extLst xmlns:a="http://schemas.openxmlformats.org/drawingml/2006/main">
              <a:ext uri="{FF2B5EF4-FFF2-40B4-BE49-F238E27FC236}">
                <a16:creationId xmlns:a16="http://schemas.microsoft.com/office/drawing/2014/main" id="{F61E1EB4-A68F-4059-53FD-93B33684E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0" y="5505736"/>
            <a:ext cx="352044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64748B"/>
                </a:solidFill>
              </a:rPr>
              <a:t>90 Mio.: bester Checkpoint</a:t>
            </a:r>
          </a:p>
        </p:txBody>
      </p:sp>
      <p:sp>
        <p:nvSpPr>
          <p:cNvPr id="41" name="Shape 37">
            <a:extLst xmlns:a="http://schemas.openxmlformats.org/drawingml/2006/main">
              <a:ext uri="{FF2B5EF4-FFF2-40B4-BE49-F238E27FC236}">
                <a16:creationId xmlns:a16="http://schemas.microsoft.com/office/drawing/2014/main" id="{24CA64E3-5D8E-7951-C25C-F8A16D228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5231416"/>
            <a:ext cx="8412480" cy="777240"/>
          </a:xfrm>
          <a:prstGeom xmlns:a="http://schemas.openxmlformats.org/drawingml/2006/main" prst="roundRect">
            <a:avLst>
              <a:gd name="adj" fmla="val 141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0D9488"/>
            </a:solidFill>
            <a:prstDash val="solid"/>
          </a:ln>
          <a:effectLst xmlns:a="http://schemas.openxmlformats.org/drawingml/2006/main">
            <a:outerShdw blurRad="152400" dist="38100" dir="2700000" algn="bl" rotWithShape="0">
              <a:srgbClr val="000000">
                <a:alpha val="1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5" name="Text 38">
            <a:extLst xmlns:a="http://schemas.openxmlformats.org/drawingml/2006/main">
              <a:ext uri="{FF2B5EF4-FFF2-40B4-BE49-F238E27FC236}">
                <a16:creationId xmlns:a16="http://schemas.microsoft.com/office/drawing/2014/main" id="{80E41D01-AFBA-AE09-6F38-62700A331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313712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14B8A6"/>
                </a:solidFill>
              </a:rPr>
              <a:t>Lernkurve:</a:t>
            </a:r>
          </a:p>
        </p:txBody>
      </p:sp>
      <p:sp>
        <p:nvSpPr>
          <p:cNvPr id="48" name="Text 39">
            <a:extLst xmlns:a="http://schemas.openxmlformats.org/drawingml/2006/main">
              <a:ext uri="{FF2B5EF4-FFF2-40B4-BE49-F238E27FC236}">
                <a16:creationId xmlns:a16="http://schemas.microsoft.com/office/drawing/2014/main" id="{103E1118-CEA4-2019-AB5D-82F3367A6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569744"/>
            <a:ext cx="78638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94A3B8"/>
                </a:solidFill>
              </a:rPr>
              <a:t>Baseline stabilisiert sich früh; Counting erreicht erst spät ein vergleichbares Reward-Niveau.</a:t>
            </a:r>
          </a:p>
        </p:txBody>
      </p:sp>
      <p:pic>
        <p:nvPicPr>
          <p:cNvPr id="49" name="Grafik 3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7a1f8a0cd140fa"/>
          <a:stretch xmlns:a="http://schemas.openxmlformats.org/drawingml/2006/main"/>
        </p:blipFill>
        <p:spPr>
          <a:xfrm xmlns:a="http://schemas.openxmlformats.org/drawingml/2006/main">
            <a:off x="2289755" y="1066800"/>
            <a:ext cx="4564491" cy="34766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1032210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F8263899-B1BA-148D-16E6-C1BBC7256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135F811D-DAC8-9177-F471-2096840AD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9488"/>
          </a:solidFill>
          <a:ln xmlns:a="http://schemas.openxmlformats.org/drawingml/2006/main" w="12700">
            <a:solidFill>
              <a:srgbClr val="0D948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7167370C-D62E-AFA9-0718-5226545ED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864"/>
            <a:ext cx="32004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14B8A6"/>
                </a:solidFill>
              </a:rPr>
              <a:t>ERGEBNISSE &amp; FAZIT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487D7E73-4049-3D76-016A-D7283BBEF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4320"/>
            <a:ext cx="82296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Stabiler Reward ist noch keine Konvergenz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EC149777-B0D9-9619-4B4B-A8EBA0B6D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1097280"/>
            <a:ext cx="8412480" cy="1078992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12700">
            <a:solidFill>
              <a:srgbClr val="EF4444">
                <a:alpha val="50000"/>
              </a:srgbClr>
            </a:solidFill>
            <a:prstDash val="solid"/>
          </a:ln>
          <a:effectLst xmlns:a="http://schemas.openxmlformats.org/drawingml/2006/main">
            <a:outerShdw blurRad="101600" dist="25400" dir="2700000" algn="bl" rotWithShape="0">
              <a:srgbClr val="000000">
                <a:alpha val="14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FD735FB1-944C-4DF6-0019-EE8E86255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25296"/>
            <a:ext cx="1737360" cy="329184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F4444"/>
          </a:solidFill>
          <a:ln xmlns:a="http://schemas.openxmlformats.org/drawingml/2006/main" w="12700">
            <a:solidFill>
              <a:srgbClr val="EF444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CB4C3B40-1D81-8733-98C8-634CD5520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25296"/>
            <a:ext cx="17373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</a:rPr>
              <a:t>Baseline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752FEDE-0C61-F023-F025-AEC9529D9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09344"/>
            <a:ext cx="17373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64748B"/>
                </a:solidFill>
              </a:rPr>
              <a:t>280 Zustände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E6692CF4-A2AD-0414-5B1B-8DB8B0BB7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7440" y="1207008"/>
            <a:ext cx="13716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64748B"/>
                </a:solidFill>
              </a:rPr>
              <a:t>Counting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3B791CCF-7F29-6C8C-1512-9310D60B9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7440" y="1444752"/>
            <a:ext cx="13716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EF4444"/>
                </a:solidFill>
              </a:rPr>
              <a:t>113.760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CF305F1A-8DD1-235E-F167-1A3FC9276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1207008"/>
            <a:ext cx="109728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64748B"/>
                </a:solidFill>
              </a:rPr>
              <a:t>Status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3D84FF7D-60B6-0FED-3816-FC7E8DD53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1444752"/>
            <a:ext cx="109728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EF4444"/>
                </a:solidFill>
              </a:rPr>
              <a:t>wächst weiter</a:t>
            </a:r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AC2EC4DC-91F8-79FE-0A69-7B6E678A0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0" y="1508760"/>
            <a:ext cx="3337560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E267CC06-1B16-BC60-AA95-88D76F91E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0" y="1783080"/>
            <a:ext cx="352044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64748B"/>
                </a:solidFill>
              </a:rPr>
              <a:t>Nach 100 Mio. Episoden werden weiterhin neue Counting-Zustände entdeckt.</a:t>
            </a:r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4110AA45-991E-6347-6795-F8308BB0A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5394960"/>
            <a:ext cx="8412480" cy="1078992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12700">
            <a:solidFill>
              <a:srgbClr val="F59E0B">
                <a:alpha val="50000"/>
              </a:srgbClr>
            </a:solidFill>
            <a:prstDash val="solid"/>
          </a:ln>
          <a:effectLst xmlns:a="http://schemas.openxmlformats.org/drawingml/2006/main">
            <a:outerShdw blurRad="101600" dist="25400" dir="2700000" algn="bl" rotWithShape="0">
              <a:srgbClr val="000000">
                <a:alpha val="14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998EF841-44AB-D630-B197-4887DB8AD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522976"/>
            <a:ext cx="1737360" cy="329184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12700">
            <a:solidFill>
              <a:srgbClr val="F59E0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82D218FD-E949-B708-3840-80CDCED2E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522976"/>
            <a:ext cx="17373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</a:rPr>
              <a:t>TC neutral</a:t>
            </a:r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70956A7D-0AB5-98BB-4108-D6CCD6D83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907024"/>
            <a:ext cx="17373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64748B"/>
                </a:solidFill>
              </a:rPr>
              <a:t>Ausgeglichen</a:t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A5FAB23D-C20E-AE0A-C7AF-A178EB795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7440" y="5504688"/>
            <a:ext cx="13716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64748B"/>
                </a:solidFill>
              </a:rPr>
              <a:t>Counting</a:t>
            </a:r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25B968AB-4655-E45E-C9D3-F7E468102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7440" y="5742432"/>
            <a:ext cx="13716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F59E0B"/>
                </a:solidFill>
              </a:rPr>
              <a:t>−0.05</a:t>
            </a:r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018A1247-32B5-ED24-C825-B442066A5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5504688"/>
            <a:ext cx="109728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64748B"/>
                </a:solidFill>
              </a:rPr>
              <a:t>Status</a:t>
            </a: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17EB57B0-C0BA-8477-BAC3-B3C04B092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5742432"/>
            <a:ext cx="109728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F59E0B"/>
                </a:solidFill>
              </a:rPr>
              <a:t>43%</a:t>
            </a:r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AE35ACE7-0C97-86C5-04E7-C5A41DC85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0" y="5806440"/>
            <a:ext cx="3337560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9492ADE4-7646-B3AD-8C26-FDCFD5DAC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0" y="6080760"/>
            <a:ext cx="352044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64748B"/>
                </a:solidFill>
              </a:rPr>
              <a:t>Standardstrategie, nah an Basic Strategy</a:t>
            </a:r>
          </a:p>
        </p:txBody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165D10DD-E88C-29B7-C698-83C85757F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6675120"/>
            <a:ext cx="8412480" cy="1078992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12700">
            <a:solidFill>
              <a:srgbClr val="10B981">
                <a:alpha val="50000"/>
              </a:srgbClr>
            </a:solidFill>
            <a:prstDash val="solid"/>
          </a:ln>
          <a:effectLst xmlns:a="http://schemas.openxmlformats.org/drawingml/2006/main">
            <a:outerShdw blurRad="101600" dist="25400" dir="2700000" algn="bl" rotWithShape="0">
              <a:srgbClr val="000000">
                <a:alpha val="14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67D5A689-3F80-1CB6-1F42-58FCCF2DC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803136"/>
            <a:ext cx="1737360" cy="329184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10B981"/>
          </a:solidFill>
          <a:ln xmlns:a="http://schemas.openxmlformats.org/drawingml/2006/main" w="12700">
            <a:solidFill>
              <a:srgbClr val="10B98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E586C2B7-9206-D417-EA3A-4200076E6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803136"/>
            <a:ext cx="17373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</a:rPr>
              <a:t>TC ≥ +1</a:t>
            </a:r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510E8889-AC4B-ADDF-9948-55FD5BE71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7440" y="6784848"/>
            <a:ext cx="13716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64748B"/>
                </a:solidFill>
              </a:rPr>
              <a:t>Counting</a:t>
            </a:r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47B5DA80-1600-384B-5B31-5D3A71BE8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6784848"/>
            <a:ext cx="109728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64748B"/>
                </a:solidFill>
              </a:rPr>
              <a:t>Status</a:t>
            </a:r>
          </a:p>
        </p:txBody>
      </p:sp>
      <p:sp>
        <p:nvSpPr>
          <p:cNvPr id="42" name="Text 22">
            <a:extLst xmlns:a="http://schemas.openxmlformats.org/drawingml/2006/main">
              <a:ext uri="{FF2B5EF4-FFF2-40B4-BE49-F238E27FC236}">
                <a16:creationId xmlns:a16="http://schemas.microsoft.com/office/drawing/2014/main" id="{D7D6A13F-D505-E4FE-1679-D68196FCE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7013448"/>
            <a:ext cx="109728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10B981"/>
                </a:solidFill>
              </a:rPr>
              <a:t>46%</a:t>
            </a:r>
          </a:p>
        </p:txBody>
      </p:sp>
      <p:sp>
        <p:nvSpPr>
          <p:cNvPr id="43" name="Text 20">
            <a:extLst xmlns:a="http://schemas.openxmlformats.org/drawingml/2006/main">
              <a:ext uri="{FF2B5EF4-FFF2-40B4-BE49-F238E27FC236}">
                <a16:creationId xmlns:a16="http://schemas.microsoft.com/office/drawing/2014/main" id="{BC2C155B-92A5-A60A-2EF7-C4B0BE07F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7440" y="7003161"/>
            <a:ext cx="13716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10B981"/>
                </a:solidFill>
              </a:rPr>
              <a:t>−0.02</a:t>
            </a:r>
          </a:p>
        </p:txBody>
      </p:sp>
      <p:sp>
        <p:nvSpPr>
          <p:cNvPr id="44" name="Shape 23">
            <a:extLst xmlns:a="http://schemas.openxmlformats.org/drawingml/2006/main">
              <a:ext uri="{FF2B5EF4-FFF2-40B4-BE49-F238E27FC236}">
                <a16:creationId xmlns:a16="http://schemas.microsoft.com/office/drawing/2014/main" id="{B34AB5C9-576C-27CF-AF0F-B734EED53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0" y="7001256"/>
            <a:ext cx="3337560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6" name="Text 25">
            <a:extLst xmlns:a="http://schemas.openxmlformats.org/drawingml/2006/main">
              <a:ext uri="{FF2B5EF4-FFF2-40B4-BE49-F238E27FC236}">
                <a16:creationId xmlns:a16="http://schemas.microsoft.com/office/drawing/2014/main" id="{14CBF1C9-3294-3FFD-B9BB-3CA702332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0" y="7338060"/>
            <a:ext cx="352044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64748B"/>
                </a:solidFill>
              </a:rPr>
              <a:t>Aggressive </a:t>
            </a:r>
            <a:r>
              <a:rPr sz="900">
                <a:solidFill>
                  <a:srgbClr val="64748B"/>
                </a:solidFill>
              </a:rPr>
              <a:t>Strategie</a:t>
            </a:r>
            <a:r>
              <a:rPr sz="900">
                <a:solidFill>
                  <a:srgbClr val="64748B"/>
                </a:solidFill>
              </a:rPr>
              <a:t>, </a:t>
            </a:r>
            <a:r>
              <a:rPr sz="900">
                <a:solidFill>
                  <a:srgbClr val="64748B"/>
                </a:solidFill>
              </a:rPr>
              <a:t>Optimale</a:t>
            </a:r>
            <a:r>
              <a:rPr sz="900">
                <a:solidFill>
                  <a:srgbClr val="64748B"/>
                </a:solidFill>
              </a:rPr>
              <a:t> </a:t>
            </a:r>
            <a:r>
              <a:rPr sz="900">
                <a:solidFill>
                  <a:srgbClr val="64748B"/>
                </a:solidFill>
              </a:rPr>
              <a:t>Blackjackentscheidungen</a:t>
            </a:r>
          </a:p>
        </p:txBody>
      </p:sp>
      <p:sp>
        <p:nvSpPr>
          <p:cNvPr id="47" name="Text 18">
            <a:extLst xmlns:a="http://schemas.openxmlformats.org/drawingml/2006/main">
              <a:ext uri="{FF2B5EF4-FFF2-40B4-BE49-F238E27FC236}">
                <a16:creationId xmlns:a16="http://schemas.microsoft.com/office/drawing/2014/main" id="{4093C48B-F9BA-4E5A-C907-4405C8CFE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7222236"/>
            <a:ext cx="17373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64748B"/>
                </a:solidFill>
              </a:rPr>
              <a:t>Spieler-</a:t>
            </a:r>
            <a:r>
              <a:rPr sz="900">
                <a:solidFill>
                  <a:srgbClr val="64748B"/>
                </a:solidFill>
              </a:rPr>
              <a:t>Vorteil</a:t>
            </a:r>
          </a:p>
        </p:txBody>
      </p:sp>
      <p:sp>
        <p:nvSpPr>
          <p:cNvPr id="48" name="Shape 13">
            <a:extLst xmlns:a="http://schemas.openxmlformats.org/drawingml/2006/main">
              <a:ext uri="{FF2B5EF4-FFF2-40B4-BE49-F238E27FC236}">
                <a16:creationId xmlns:a16="http://schemas.microsoft.com/office/drawing/2014/main" id="{0CC2FEBD-0E70-CFC1-2151-25A5E74F8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0" y="1502410"/>
            <a:ext cx="1335024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12700">
            <a:solidFill>
              <a:srgbClr val="EF444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9" name="Shape 24">
            <a:extLst xmlns:a="http://schemas.openxmlformats.org/drawingml/2006/main">
              <a:ext uri="{FF2B5EF4-FFF2-40B4-BE49-F238E27FC236}">
                <a16:creationId xmlns:a16="http://schemas.microsoft.com/office/drawing/2014/main" id="{386E9FB7-FBC4-B424-09E0-B1E53ED7C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0" y="5809615"/>
            <a:ext cx="1521460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12700">
            <a:solidFill>
              <a:srgbClr val="F59E0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0" name="Shape 24">
            <a:extLst xmlns:a="http://schemas.openxmlformats.org/drawingml/2006/main">
              <a:ext uri="{FF2B5EF4-FFF2-40B4-BE49-F238E27FC236}">
                <a16:creationId xmlns:a16="http://schemas.microsoft.com/office/drawing/2014/main" id="{7DBE8BED-3FC5-CDB9-7643-CE30AB36F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0" y="7002462"/>
            <a:ext cx="1737360" cy="199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12700">
            <a:solidFill>
              <a:srgbClr val="10B98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1" name="Grafik 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188bf2eb5a456a"/>
          <a:stretch xmlns:a="http://schemas.openxmlformats.org/drawingml/2006/main"/>
        </p:blipFill>
        <p:spPr>
          <a:xfrm xmlns:a="http://schemas.openxmlformats.org/drawingml/2006/main">
            <a:off x="2696182" y="1952625"/>
            <a:ext cx="3751636" cy="2857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095831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39B3311-5D31-431F-AA43-93A336ACE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12700">
            <a:solidFill>
              <a:srgbClr val="10B98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A05DD37B-CF0D-4FE6-950F-DE15169C1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9728"/>
            <a:ext cx="27432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10B981"/>
                </a:solidFill>
              </a:rPr>
              <a:t>FINALE EVALUATION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0EF79182-06B9-4DDE-BAF5-C4162D9E5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7472"/>
            <a:ext cx="82296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50" b="1">
                <a:solidFill>
                  <a:srgbClr val="111A2E"/>
                </a:solidFill>
                <a:latin typeface="Cambria"/>
                <a:ea typeface="Cambria"/>
                <a:cs typeface="Cambria"/>
              </a:rPr>
              <a:t>Counting verbessert den Reward nur geringfügig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07A9C64C-6AA3-4090-AA71-60D05BD50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1005840"/>
            <a:ext cx="7772400" cy="4023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5F"/>
          </a:solidFill>
          <a:ln xmlns:a="http://schemas.openxmlformats.org/drawingml/2006/main" w="12700">
            <a:solidFill>
              <a:srgbClr val="0D9488">
                <a:alpha val="40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4E8434E0-4378-4057-943F-0F16616FF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" y="1005840"/>
            <a:ext cx="2359152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 spc="100">
                <a:solidFill>
                  <a:srgbClr val="94A3B8"/>
                </a:solidFill>
              </a:rPr>
              <a:t>METRIC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91DA96BD-9001-4D46-8BC4-76C12FE80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4368" y="1005840"/>
            <a:ext cx="1719072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 spc="100">
                <a:solidFill>
                  <a:srgbClr val="0D9488"/>
                </a:solidFill>
              </a:rPr>
              <a:t>BASELINE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AA30F1FB-86BB-4181-9338-839236E0B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3168" y="1005840"/>
            <a:ext cx="1719072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 spc="100">
                <a:solidFill>
                  <a:srgbClr val="F59E0B"/>
                </a:solidFill>
              </a:rPr>
              <a:t>COUNTING AGENT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519BE7B9-6665-4BFB-9D6D-2F36AC390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1968" y="1005840"/>
            <a:ext cx="1536192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 spc="100">
                <a:solidFill>
                  <a:srgbClr val="10B981"/>
                </a:solidFill>
              </a:rPr>
              <a:t>DIFF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6455959B-817A-497B-852E-E543A9CF4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1408176"/>
            <a:ext cx="7772400" cy="4389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0D9488">
                <a:alpha val="20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40A5E0B5-A07A-408E-8936-8924B0312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" y="1408176"/>
            <a:ext cx="2359152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94A3B8"/>
                </a:solidFill>
              </a:rPr>
              <a:t>Avg Reward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38C41D6F-4FCD-4ED5-88F9-C54D15409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4368" y="1408176"/>
            <a:ext cx="1719072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FFFFFF"/>
                </a:solidFill>
              </a:rPr>
              <a:t>−0,051562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50437048-3D24-43FF-A04D-8BD019B9F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3168" y="1408176"/>
            <a:ext cx="1719072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FFFFFF"/>
                </a:solidFill>
              </a:rPr>
              <a:t>−0,049767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FCECBD60-0B5D-4A9E-9831-EF8359E83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1968" y="1408176"/>
            <a:ext cx="1536192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10B981"/>
                </a:solidFill>
              </a:rPr>
              <a:t>+0,001794</a:t>
            </a: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B94BE704-F4F2-4F9A-962B-9632A6432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1847088"/>
            <a:ext cx="7772400" cy="4389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5F"/>
          </a:solidFill>
          <a:ln xmlns:a="http://schemas.openxmlformats.org/drawingml/2006/main" w="12700">
            <a:solidFill>
              <a:srgbClr val="0D9488">
                <a:alpha val="20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613ED1BE-79D6-4AF0-8F94-169245EF4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" y="1847088"/>
            <a:ext cx="2359152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94A3B8"/>
                </a:solidFill>
              </a:rPr>
              <a:t>Win Rate</a:t>
            </a: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7B9AD3C8-1991-478C-99A8-0F68FAEBE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4368" y="1847088"/>
            <a:ext cx="1719072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FFFFFF"/>
                </a:solidFill>
              </a:rPr>
              <a:t>42,746 %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902F2FC4-DF7D-40AC-8DE2-C5D5A9300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3168" y="1847088"/>
            <a:ext cx="1719072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FFFFFF"/>
                </a:solidFill>
              </a:rPr>
              <a:t>42,833 %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69867F0B-B8C7-4255-B41E-4ED87859C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1968" y="1847088"/>
            <a:ext cx="1536192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10B981"/>
                </a:solidFill>
              </a:rPr>
              <a:t>+0,087 Pp.</a:t>
            </a:r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5F4331C7-9052-4514-BCE0-22D1E65C4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2286000"/>
            <a:ext cx="7772400" cy="4389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0D9488">
                <a:alpha val="20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5C127414-3B28-43C5-B84E-515372314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" y="2286000"/>
            <a:ext cx="2359152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94A3B8"/>
                </a:solidFill>
              </a:rPr>
              <a:t>Loss Rate</a:t>
            </a:r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FD0718C0-2C2D-4FB8-BF14-F5331831D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4368" y="2286000"/>
            <a:ext cx="1719072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FFFFFF"/>
                </a:solidFill>
              </a:rPr>
              <a:t>47,902 %</a:t>
            </a:r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C98021DB-9045-4AD9-BD34-9A40E284B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3168" y="2286000"/>
            <a:ext cx="1719072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FFFFFF"/>
                </a:solidFill>
              </a:rPr>
              <a:t>47,810 %</a:t>
            </a: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0ADDB007-0560-4FF6-8F12-A435A227E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1968" y="2286000"/>
            <a:ext cx="1536192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94A3B8"/>
                </a:solidFill>
              </a:rPr>
              <a:t>−0,093 Pp.</a:t>
            </a:r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5B324737-AFA5-4E99-AA56-5A149F011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2724912"/>
            <a:ext cx="7772400" cy="4389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5F"/>
          </a:solidFill>
          <a:ln xmlns:a="http://schemas.openxmlformats.org/drawingml/2006/main" w="12700">
            <a:solidFill>
              <a:srgbClr val="0D9488">
                <a:alpha val="20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5D183405-3C88-43C2-A176-496A0A1BA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" y="2724912"/>
            <a:ext cx="2359152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94A3B8"/>
                </a:solidFill>
              </a:rPr>
              <a:t>Push Rate</a:t>
            </a:r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470188A1-7E04-48F2-983E-5EC79CA14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4368" y="2724912"/>
            <a:ext cx="1719072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FFFFFF"/>
                </a:solidFill>
              </a:rPr>
              <a:t>9,35 %</a:t>
            </a:r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083D4869-0C64-4EA2-945D-FC46BADEF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3168" y="2724912"/>
            <a:ext cx="1719072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FFFFFF"/>
                </a:solidFill>
              </a:rPr>
              <a:t>9,35 %</a:t>
            </a:r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4EF26204-3F9C-4B9E-A51C-41E49B56E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1968" y="2724912"/>
            <a:ext cx="1536192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94A3B8"/>
                </a:solidFill>
              </a:rPr>
              <a:t>+0,006 Pp.</a:t>
            </a:r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F714CAFF-BEA5-488D-A153-291D97723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3163824"/>
            <a:ext cx="7772400" cy="4389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0D9488">
                <a:alpha val="20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D2CD0D1A-57F1-4D8D-91E9-1BB86ACD3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" y="3163824"/>
            <a:ext cx="2359152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94A3B8"/>
                </a:solidFill>
              </a:rPr>
              <a:t>Q-States</a:t>
            </a:r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2465E12E-3273-422E-A0DA-0B337C8C6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4368" y="3163824"/>
            <a:ext cx="1719072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FFFFFF"/>
                </a:solidFill>
              </a:rPr>
              <a:t>280</a:t>
            </a:r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935AF1A4-C486-447A-8F4C-2FEBCB52F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3168" y="3163824"/>
            <a:ext cx="1719072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FFFFFF"/>
                </a:solidFill>
              </a:rPr>
              <a:t>113.760</a:t>
            </a:r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85D8707E-F868-4C07-A8C1-88D9DF416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1968" y="3163824"/>
            <a:ext cx="1536192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94A3B8"/>
                </a:solidFill>
              </a:rPr>
              <a:t>406× größer</a:t>
            </a:r>
          </a:p>
        </p:txBody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120530E5-8DEE-44A5-AAB7-473ADDB97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3602736"/>
            <a:ext cx="7772400" cy="4389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5F"/>
          </a:solidFill>
          <a:ln xmlns:a="http://schemas.openxmlformats.org/drawingml/2006/main" w="12700">
            <a:solidFill>
              <a:srgbClr val="0D9488">
                <a:alpha val="20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7B428EF0-89C0-4C96-BC87-EF19AD07B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" y="3602736"/>
            <a:ext cx="2359152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94A3B8"/>
                </a:solidFill>
              </a:rPr>
              <a:t>Relative Verlustreduktion</a:t>
            </a:r>
          </a:p>
        </p:txBody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AEF23ABD-C781-4C4D-8930-79A273CD0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4368" y="3602736"/>
            <a:ext cx="1719072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FFFFFF"/>
                </a:solidFill>
              </a:rPr>
              <a:t>—</a:t>
            </a:r>
          </a:p>
        </p:txBody>
      </p:sp>
      <p:sp>
        <p:nvSpPr>
          <p:cNvPr id="38" name="Text 36">
            <a:extLst xmlns:a="http://schemas.openxmlformats.org/drawingml/2006/main">
              <a:ext uri="{FF2B5EF4-FFF2-40B4-BE49-F238E27FC236}">
                <a16:creationId xmlns:a16="http://schemas.microsoft.com/office/drawing/2014/main" id="{25DA1C6C-3DE2-4217-A31E-5D9E75040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3168" y="3602736"/>
            <a:ext cx="1719072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FFFFFF"/>
                </a:solidFill>
              </a:rPr>
              <a:t>3,5 %</a:t>
            </a:r>
          </a:p>
        </p:txBody>
      </p:sp>
      <p:sp>
        <p:nvSpPr>
          <p:cNvPr id="39" name="Text 37">
            <a:extLst xmlns:a="http://schemas.openxmlformats.org/drawingml/2006/main">
              <a:ext uri="{FF2B5EF4-FFF2-40B4-BE49-F238E27FC236}">
                <a16:creationId xmlns:a16="http://schemas.microsoft.com/office/drawing/2014/main" id="{CDD8DDFD-3A46-46AF-9BB5-665A510EE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1968" y="3602736"/>
            <a:ext cx="1536192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10B981"/>
                </a:solidFill>
              </a:rPr>
              <a:t>+3,5 %</a:t>
            </a:r>
          </a:p>
        </p:txBody>
      </p:sp>
      <p:sp>
        <p:nvSpPr>
          <p:cNvPr id="40" name="Shape 38">
            <a:extLst xmlns:a="http://schemas.openxmlformats.org/drawingml/2006/main">
              <a:ext uri="{FF2B5EF4-FFF2-40B4-BE49-F238E27FC236}">
                <a16:creationId xmlns:a16="http://schemas.microsoft.com/office/drawing/2014/main" id="{A6F29078-88D8-41D4-B052-C1AEDE0BB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5760" y="5316855"/>
            <a:ext cx="7492365" cy="804672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10B981">
              <a:alpha val="12000"/>
            </a:srgbClr>
          </a:solidFill>
          <a:ln xmlns:a="http://schemas.openxmlformats.org/drawingml/2006/main" w="12700">
            <a:solidFill>
              <a:srgbClr val="10B98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1" name="Text 39">
            <a:extLst xmlns:a="http://schemas.openxmlformats.org/drawingml/2006/main">
              <a:ext uri="{FF2B5EF4-FFF2-40B4-BE49-F238E27FC236}">
                <a16:creationId xmlns:a16="http://schemas.microsoft.com/office/drawing/2014/main" id="{004500E2-8135-4BA3-BC03-4854A2635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8522" y="5390007"/>
            <a:ext cx="7085171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FFFFFF"/>
                </a:solidFill>
              </a:rPr>
              <a:t>Kleiner positiver Effekt bei einer 406-mal größeren Q-Tabelle.</a:t>
            </a:r>
          </a:p>
        </p:txBody>
      </p:sp>
    </p:spTree>
    <p:extLst>
      <p:ext uri="{BB962C8B-B14F-4D97-AF65-F5344CB8AC3E}">
        <p14:creationId xmlns:p14="http://schemas.microsoft.com/office/powerpoint/2010/main" val="1769957755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0" name="Shape 0">
            <a:extLst xmlns:a="http://schemas.openxmlformats.org/drawingml/2006/main">
              <a:ext uri="{FF2B5EF4-FFF2-40B4-BE49-F238E27FC236}">
                <a16:creationId xmlns:a16="http://schemas.microsoft.com/office/drawing/2014/main" id="{C21325FB-0B89-AF90-3050-B983E45D2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9525" y="0"/>
            <a:ext cx="9144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1" name="Shape 1">
            <a:extLst xmlns:a="http://schemas.openxmlformats.org/drawingml/2006/main">
              <a:ext uri="{FF2B5EF4-FFF2-40B4-BE49-F238E27FC236}">
                <a16:creationId xmlns:a16="http://schemas.microsoft.com/office/drawing/2014/main" id="{23148629-93F8-9D68-3CC6-24E585FB6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9525" y="0"/>
            <a:ext cx="914400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9488"/>
          </a:solidFill>
          <a:ln xmlns:a="http://schemas.openxmlformats.org/drawingml/2006/main" w="12700">
            <a:solidFill>
              <a:srgbClr val="0D948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E7DDE123-3207-3F76-88A6-D8D0354A5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12700">
            <a:solidFill>
              <a:srgbClr val="10B98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374D60F-25B2-FD28-415F-21FE80E10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9728"/>
            <a:ext cx="27432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10B981"/>
                </a:solidFill>
              </a:rPr>
              <a:t>STATISTISCHE EINORDNUNG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6A9E0893-0496-2B4A-B5CD-735B0D558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7472"/>
            <a:ext cx="82296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r>
              <a:rPr sz="2800" b="1">
                <a:solidFill>
                  <a:schemeClr val="bg1"/>
                </a:solidFill>
                <a:latin typeface="Cambria"/>
                <a:ea typeface="Cambria"/>
                <a:cs typeface="Cambria"/>
              </a:rPr>
              <a:t>Der Vorteil ist statistisch nicht robust belegt</a:t>
            </a:r>
          </a:p>
        </p:txBody>
      </p:sp>
      <p:pic>
        <p:nvPicPr>
          <p:cNvPr id="95" name="Google Shape;164;p1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aab18067cd14d8c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80972" y="1969274"/>
            <a:ext cx="2562227" cy="59427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96" name="Google Shape;165;p1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10da078c0194916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2377440" y="3123129"/>
            <a:ext cx="6400800" cy="157147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77" name="Google Shape;167;p18">
            <a:extLst xmlns:a="http://schemas.openxmlformats.org/drawingml/2006/main">
              <a:ext uri="{FF2B5EF4-FFF2-40B4-BE49-F238E27FC236}">
                <a16:creationId xmlns:a16="http://schemas.microsoft.com/office/drawing/2014/main" id="{B9F2DFEF-D2FE-E918-578F-3B11715C1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38190" y="1213255"/>
            <a:ext cx="4267200" cy="7017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9929"/>
              </a:lnSpc>
              <a:buNone/>
            </a:pPr>
            <a:r>
              <a:rPr sz="1425" b="1">
                <a:solidFill>
                  <a:srgbClr val="333333"/>
                </a:solidFill>
                <a:latin typeface="Cambria"/>
                <a:ea typeface="Cambria"/>
                <a:cs typeface="Cambria"/>
              </a:rPr>
              <a:t>0,153</a:t>
            </a:r>
          </a:p>
          <a:p xmlns:a="http://schemas.openxmlformats.org/drawingml/2006/main">
            <a:pPr marL="0" indent="0" algn="ctr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25" b="1" i="0" u="none" cap="none">
                <a:solidFill>
                  <a:srgbClr val="333333"/>
                </a:solidFill>
                <a:latin typeface="Cambria"/>
                <a:ea typeface="Cambria"/>
                <a:cs typeface="Cambria"/>
              </a:rPr>
              <a:t>p-Wert (t-Test)</a:t>
            </a:r>
          </a:p>
        </p:txBody>
      </p:sp>
      <p:sp>
        <p:nvSpPr>
          <p:cNvPr id="78" name="Google Shape;168;p18">
            <a:extLst xmlns:a="http://schemas.openxmlformats.org/drawingml/2006/main">
              <a:ext uri="{FF2B5EF4-FFF2-40B4-BE49-F238E27FC236}">
                <a16:creationId xmlns:a16="http://schemas.microsoft.com/office/drawing/2014/main" id="{F3B45279-628E-E522-E198-13A708F7B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092306"/>
            <a:ext cx="6720840" cy="3693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 u="none" cap="none">
                <a:solidFill>
                  <a:srgbClr val="C5A059"/>
                </a:solidFill>
                <a:latin typeface="Cambria"/>
                <a:ea typeface="Cambria"/>
                <a:cs typeface="Cambria"/>
              </a:rPr>
              <a:t>Variabilität</a:t>
            </a:r>
            <a:r>
              <a:rPr sz="2400" b="1" i="0" u="none" cap="none">
                <a:solidFill>
                  <a:srgbClr val="C5A059"/>
                </a:solidFill>
                <a:latin typeface="Cambria"/>
                <a:ea typeface="Cambria"/>
                <a:cs typeface="Cambria"/>
              </a:rPr>
              <a:t> </a:t>
            </a:r>
            <a:r>
              <a:rPr sz="2400" b="1" i="0" u="none" cap="none">
                <a:solidFill>
                  <a:srgbClr val="C5A059"/>
                </a:solidFill>
                <a:latin typeface="Cambria"/>
                <a:ea typeface="Cambria"/>
                <a:cs typeface="Cambria"/>
              </a:rPr>
              <a:t>über</a:t>
            </a:r>
            <a:r>
              <a:rPr sz="2400" b="1" i="0" u="none" cap="none">
                <a:solidFill>
                  <a:srgbClr val="C5A059"/>
                </a:solidFill>
                <a:latin typeface="Cambria"/>
                <a:ea typeface="Cambria"/>
                <a:cs typeface="Cambria"/>
              </a:rPr>
              <a:t> </a:t>
            </a:r>
            <a:r>
              <a:rPr sz="2400" b="1" i="0" u="none" cap="none">
                <a:solidFill>
                  <a:srgbClr val="C5A059"/>
                </a:solidFill>
                <a:latin typeface="Cambria"/>
                <a:ea typeface="Cambria"/>
                <a:cs typeface="Cambria"/>
              </a:rPr>
              <a:t>Trainingsläufe</a:t>
            </a:r>
          </a:p>
        </p:txBody>
      </p:sp>
      <p:sp>
        <p:nvSpPr>
          <p:cNvPr id="79" name="Google Shape;169;p18">
            <a:extLst xmlns:a="http://schemas.openxmlformats.org/drawingml/2006/main">
              <a:ext uri="{FF2B5EF4-FFF2-40B4-BE49-F238E27FC236}">
                <a16:creationId xmlns:a16="http://schemas.microsoft.com/office/drawing/2014/main" id="{5397BCA9-C6C8-35BC-88C5-AC1768E4D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294" y="2081656"/>
            <a:ext cx="2216946" cy="3508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80975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25" b="1" i="0" u="none" cap="none">
                <a:solidFill>
                  <a:srgbClr val="C53030"/>
                </a:solidFill>
                <a:latin typeface="Cambria"/>
                <a:ea typeface="Cambria"/>
                <a:cs typeface="Cambria"/>
              </a:rPr>
              <a:t>NICHT SIGNIFIKANT</a:t>
            </a:r>
          </a:p>
        </p:txBody>
      </p:sp>
      <p:sp>
        <p:nvSpPr>
          <p:cNvPr id="81" name="Google Shape;171;p18">
            <a:extLst xmlns:a="http://schemas.openxmlformats.org/drawingml/2006/main">
              <a:ext uri="{FF2B5EF4-FFF2-40B4-BE49-F238E27FC236}">
                <a16:creationId xmlns:a16="http://schemas.microsoft.com/office/drawing/2014/main" id="{05B8DC11-E50E-B07C-6569-7F7CFEF11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571073"/>
            <a:ext cx="6019800" cy="3508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04775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25" b="1" i="0" u="none" cap="none">
                <a:solidFill>
                  <a:srgbClr val="333333"/>
                </a:solidFill>
                <a:latin typeface="Calibri "/>
                <a:ea typeface="Calibri "/>
                <a:cs typeface="Calibri "/>
              </a:rPr>
              <a:t>Seed 1:</a:t>
            </a:r>
            <a:r>
              <a:rPr sz="1425" b="0" i="0" u="none" cap="none">
                <a:solidFill>
                  <a:srgbClr val="333333"/>
                </a:solidFill>
                <a:latin typeface="Calibri "/>
                <a:ea typeface="Calibri "/>
                <a:cs typeface="Calibri "/>
              </a:rPr>
              <a:t> +0.002516 (Reward </a:t>
            </a:r>
            <a:r>
              <a:rPr sz="1425" b="0" i="0" u="none" cap="none">
                <a:solidFill>
                  <a:srgbClr val="333333"/>
                </a:solidFill>
                <a:latin typeface="Calibri "/>
                <a:ea typeface="Calibri "/>
                <a:cs typeface="Calibri "/>
              </a:rPr>
              <a:t>Differenz</a:t>
            </a:r>
            <a:r>
              <a:rPr sz="1425" b="0" i="0" u="none" cap="none">
                <a:solidFill>
                  <a:srgbClr val="333333"/>
                </a:solidFill>
                <a:latin typeface="Calibri "/>
                <a:ea typeface="Calibri "/>
                <a:cs typeface="Calibri "/>
              </a:rPr>
              <a:t>)</a:t>
            </a:r>
          </a:p>
        </p:txBody>
      </p:sp>
      <p:sp>
        <p:nvSpPr>
          <p:cNvPr id="83" name="Google Shape;173;p18">
            <a:extLst xmlns:a="http://schemas.openxmlformats.org/drawingml/2006/main">
              <a:ext uri="{FF2B5EF4-FFF2-40B4-BE49-F238E27FC236}">
                <a16:creationId xmlns:a16="http://schemas.microsoft.com/office/drawing/2014/main" id="{51F3161F-16D3-776E-934C-A413794D0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860544"/>
            <a:ext cx="6019800" cy="3508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04775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25" b="1" i="0" u="none" cap="none">
                <a:solidFill>
                  <a:srgbClr val="333333"/>
                </a:solidFill>
                <a:latin typeface="Calibri "/>
                <a:ea typeface="Calibri "/>
                <a:cs typeface="Calibri "/>
              </a:rPr>
              <a:t>Seed 42:</a:t>
            </a:r>
            <a:r>
              <a:rPr sz="1425" b="0" i="0" u="none" cap="none">
                <a:solidFill>
                  <a:srgbClr val="333333"/>
                </a:solidFill>
                <a:latin typeface="Calibri "/>
                <a:ea typeface="Calibri "/>
                <a:cs typeface="Calibri "/>
              </a:rPr>
              <a:t> +0.002662 (</a:t>
            </a:r>
            <a:r>
              <a:rPr sz="1425" b="0" i="0" u="none" cap="none">
                <a:solidFill>
                  <a:srgbClr val="333333"/>
                </a:solidFill>
                <a:latin typeface="Calibri "/>
                <a:ea typeface="Calibri "/>
                <a:cs typeface="Calibri "/>
              </a:rPr>
              <a:t>Maximaler</a:t>
            </a:r>
            <a:r>
              <a:rPr sz="1425" b="0" i="0" u="none" cap="none">
                <a:solidFill>
                  <a:srgbClr val="333333"/>
                </a:solidFill>
                <a:latin typeface="Calibri "/>
                <a:ea typeface="Calibri "/>
                <a:cs typeface="Calibri "/>
              </a:rPr>
              <a:t> </a:t>
            </a:r>
            <a:r>
              <a:rPr sz="1425" b="0" i="0" u="none" cap="none">
                <a:solidFill>
                  <a:srgbClr val="333333"/>
                </a:solidFill>
                <a:latin typeface="Calibri "/>
                <a:ea typeface="Calibri "/>
                <a:cs typeface="Calibri "/>
              </a:rPr>
              <a:t>Vorteil</a:t>
            </a:r>
            <a:r>
              <a:rPr sz="1425" b="0" i="0" u="none" cap="none">
                <a:solidFill>
                  <a:srgbClr val="333333"/>
                </a:solidFill>
                <a:latin typeface="Calibri "/>
                <a:ea typeface="Calibri "/>
                <a:cs typeface="Calibri "/>
              </a:rPr>
              <a:t>)</a:t>
            </a:r>
          </a:p>
        </p:txBody>
      </p:sp>
      <p:sp>
        <p:nvSpPr>
          <p:cNvPr id="85" name="Google Shape;175;p18">
            <a:extLst xmlns:a="http://schemas.openxmlformats.org/drawingml/2006/main">
              <a:ext uri="{FF2B5EF4-FFF2-40B4-BE49-F238E27FC236}">
                <a16:creationId xmlns:a16="http://schemas.microsoft.com/office/drawing/2014/main" id="{A608BD00-6706-6069-263B-22FF7C97D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150015"/>
            <a:ext cx="6019800" cy="3508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04775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25" b="1" i="0" u="none" cap="none">
                <a:solidFill>
                  <a:srgbClr val="333333"/>
                </a:solidFill>
              </a:rPr>
              <a:t>Seed 123:</a:t>
            </a:r>
            <a:r>
              <a:rPr sz="1425" b="0" i="0" u="none" cap="none">
                <a:solidFill>
                  <a:srgbClr val="333333"/>
                </a:solidFill>
              </a:rPr>
              <a:t> +0.000205 (Fast </a:t>
            </a:r>
            <a:r>
              <a:rPr sz="1425" b="0" i="0" u="none" cap="none">
                <a:solidFill>
                  <a:srgbClr val="333333"/>
                </a:solidFill>
              </a:rPr>
              <a:t>kein</a:t>
            </a:r>
            <a:r>
              <a:rPr sz="1425" b="0" i="0" u="none" cap="none">
                <a:solidFill>
                  <a:srgbClr val="333333"/>
                </a:solidFill>
              </a:rPr>
              <a:t> Benefit)</a:t>
            </a:r>
          </a:p>
        </p:txBody>
      </p:sp>
      <p:sp>
        <p:nvSpPr>
          <p:cNvPr id="86" name="Google Shape;176;p18">
            <a:extLst xmlns:a="http://schemas.openxmlformats.org/drawingml/2006/main">
              <a:ext uri="{FF2B5EF4-FFF2-40B4-BE49-F238E27FC236}">
                <a16:creationId xmlns:a16="http://schemas.microsoft.com/office/drawing/2014/main" id="{584AEAD1-6126-37AB-6C80-5F5109FEF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5565" y="3313629"/>
            <a:ext cx="5972175" cy="3508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25" b="1" i="0" u="none" cap="none">
                <a:solidFill>
                  <a:srgbClr val="333333"/>
                </a:solidFill>
                <a:latin typeface="Cambria"/>
                <a:ea typeface="Cambria"/>
                <a:cs typeface="Cambria"/>
              </a:rPr>
              <a:t>95%-Intervall der Differenz: [−0,00163; +0,00522]</a:t>
            </a:r>
          </a:p>
        </p:txBody>
      </p:sp>
      <p:sp>
        <p:nvSpPr>
          <p:cNvPr id="87" name="Google Shape;177;p18">
            <a:extLst xmlns:a="http://schemas.openxmlformats.org/drawingml/2006/main">
              <a:ext uri="{FF2B5EF4-FFF2-40B4-BE49-F238E27FC236}">
                <a16:creationId xmlns:a16="http://schemas.microsoft.com/office/drawing/2014/main" id="{FDC5D7C0-7EC0-F2E0-17B3-6B15D9276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5565" y="4117450"/>
            <a:ext cx="5972175" cy="5852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cap="none">
                <a:solidFill>
                  <a:srgbClr val="333333"/>
                </a:solidFill>
                <a:latin typeface="Calibri "/>
                <a:ea typeface="Calibri "/>
                <a:cs typeface="Calibri "/>
              </a:rPr>
              <a:t>Positiver Effekt in allen drei Seed-Paaren, aber n = 3 und p = 0,153 erlauben keinen robusten Signifikanznachweis.</a:t>
            </a:r>
          </a:p>
        </p:txBody>
      </p:sp>
      <p:pic>
        <p:nvPicPr>
          <p:cNvPr id="105" name="Google Shape;178;p1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8b7f364b733435d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317297" y="2133448"/>
            <a:ext cx="305994" cy="26592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06" name="Google Shape;179;p1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d11b8a884084567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2615565" y="3822175"/>
            <a:ext cx="2587525" cy="190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904227128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4AD15860-0F68-B5D1-CCC2-3E6CE0F4F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94F00E50-A24F-1812-E230-10B8BC0D1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9488"/>
          </a:solidFill>
          <a:ln xmlns:a="http://schemas.openxmlformats.org/drawingml/2006/main" w="12700">
            <a:solidFill>
              <a:srgbClr val="0D948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63C32905-A3CA-F4F0-79CC-C48A4919C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864"/>
            <a:ext cx="32004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14B8A6"/>
                </a:solidFill>
              </a:rPr>
              <a:t>ERGEBNISSE &amp; FAZIT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C291FDC1-1A09-F1E5-A9ED-DC6ACD1F0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4320"/>
            <a:ext cx="82296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Der True Count verändert die Aktionswahl</a:t>
            </a:r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0994C7CB-318C-DBFD-C459-B38515854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5394960"/>
            <a:ext cx="8412480" cy="1078992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12700">
            <a:solidFill>
              <a:srgbClr val="F59E0B">
                <a:alpha val="50000"/>
              </a:srgbClr>
            </a:solidFill>
            <a:prstDash val="solid"/>
          </a:ln>
          <a:effectLst xmlns:a="http://schemas.openxmlformats.org/drawingml/2006/main">
            <a:outerShdw blurRad="101600" dist="25400" dir="2700000" algn="bl" rotWithShape="0">
              <a:srgbClr val="000000">
                <a:alpha val="14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522D0F80-7F71-1403-38D4-C17AD9B7F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522976"/>
            <a:ext cx="1737360" cy="329184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12700">
            <a:solidFill>
              <a:srgbClr val="F59E0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70EAE043-F2B8-2404-8EC8-1AD22385A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522976"/>
            <a:ext cx="17373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</a:rPr>
              <a:t>Vier True-Count-Buckets</a:t>
            </a:r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785D2E51-85E1-6312-B751-6267D2D12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907024"/>
            <a:ext cx="17373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64748B"/>
                </a:solidFill>
              </a:rPr>
              <a:t>≤ −3 · −2 bis 0 · 1 bis 2 · ≥ 3</a:t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E5879724-EFD1-9586-DE67-9D9FD83BA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7440" y="5504688"/>
            <a:ext cx="13716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64748B"/>
                </a:solidFill>
              </a:rPr>
              <a:t>Negativer Count</a:t>
            </a:r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A8006E6E-3405-85D2-DE98-4C27A9D61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7440" y="5742432"/>
            <a:ext cx="13716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F59E0B"/>
                </a:solidFill>
              </a:rPr>
              <a:t>häufiger Hit</a:t>
            </a:r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FDE3CC5A-2888-4B15-F58A-A4AD81E7A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5504688"/>
            <a:ext cx="109728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64748B"/>
                </a:solidFill>
              </a:rPr>
              <a:t>Positiver Count</a:t>
            </a: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00F7FD3A-0EB9-9387-EA02-7E4C282FD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5742432"/>
            <a:ext cx="109728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F59E0B"/>
                </a:solidFill>
              </a:rPr>
              <a:t>häufiger Stand</a:t>
            </a:r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EE49CD5B-7A77-A55A-F35B-213086DD5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0" y="5806440"/>
            <a:ext cx="3337560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E6238344-D22D-755A-1F92-73C2CB988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0" y="6080760"/>
            <a:ext cx="352044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64748B"/>
                </a:solidFill>
              </a:rPr>
              <a:t>Bei TC ≥ 3 sinkt die Hit-Rate um fast 4,8 Prozentpunkte.</a:t>
            </a:r>
          </a:p>
        </p:txBody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0BCCE8CC-0225-36ED-D6F8-D2C62406B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6675120"/>
            <a:ext cx="8412480" cy="1078992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12700">
            <a:solidFill>
              <a:srgbClr val="10B981">
                <a:alpha val="50000"/>
              </a:srgbClr>
            </a:solidFill>
            <a:prstDash val="solid"/>
          </a:ln>
          <a:effectLst xmlns:a="http://schemas.openxmlformats.org/drawingml/2006/main">
            <a:outerShdw blurRad="101600" dist="25400" dir="2700000" algn="bl" rotWithShape="0">
              <a:srgbClr val="000000">
                <a:alpha val="14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7B800BF2-9AFA-732A-59E6-EE9179407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803136"/>
            <a:ext cx="1737360" cy="329184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10B981"/>
          </a:solidFill>
          <a:ln xmlns:a="http://schemas.openxmlformats.org/drawingml/2006/main" w="12700">
            <a:solidFill>
              <a:srgbClr val="10B98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6F3111A2-6762-C6D4-8B86-A2AD4C044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803136"/>
            <a:ext cx="17373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</a:rPr>
              <a:t>TC ≥ +1</a:t>
            </a:r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605C4D65-7DCC-46EB-B055-AC0661EE0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7440" y="6784848"/>
            <a:ext cx="13716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64748B"/>
                </a:solidFill>
              </a:rPr>
              <a:t>Negativer Count</a:t>
            </a:r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3D014A3B-3BE4-554D-CFBF-E15BA30D5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6784848"/>
            <a:ext cx="109728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64748B"/>
                </a:solidFill>
              </a:rPr>
              <a:t>Positiver Count</a:t>
            </a:r>
          </a:p>
        </p:txBody>
      </p:sp>
      <p:sp>
        <p:nvSpPr>
          <p:cNvPr id="42" name="Text 22">
            <a:extLst xmlns:a="http://schemas.openxmlformats.org/drawingml/2006/main">
              <a:ext uri="{FF2B5EF4-FFF2-40B4-BE49-F238E27FC236}">
                <a16:creationId xmlns:a16="http://schemas.microsoft.com/office/drawing/2014/main" id="{2E0FFCE0-0F9E-F2C2-2BC9-9A370031D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7013448"/>
            <a:ext cx="109728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10B981"/>
                </a:solidFill>
              </a:rPr>
              <a:t>46%</a:t>
            </a:r>
          </a:p>
        </p:txBody>
      </p:sp>
      <p:sp>
        <p:nvSpPr>
          <p:cNvPr id="43" name="Text 20">
            <a:extLst xmlns:a="http://schemas.openxmlformats.org/drawingml/2006/main">
              <a:ext uri="{FF2B5EF4-FFF2-40B4-BE49-F238E27FC236}">
                <a16:creationId xmlns:a16="http://schemas.microsoft.com/office/drawing/2014/main" id="{04A3E716-F31F-CE31-7CEC-B6A6D5485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7440" y="7003161"/>
            <a:ext cx="13716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10B981"/>
                </a:solidFill>
              </a:rPr>
              <a:t>−0.02</a:t>
            </a:r>
          </a:p>
        </p:txBody>
      </p:sp>
      <p:sp>
        <p:nvSpPr>
          <p:cNvPr id="44" name="Shape 23">
            <a:extLst xmlns:a="http://schemas.openxmlformats.org/drawingml/2006/main">
              <a:ext uri="{FF2B5EF4-FFF2-40B4-BE49-F238E27FC236}">
                <a16:creationId xmlns:a16="http://schemas.microsoft.com/office/drawing/2014/main" id="{7F289233-5D18-8F6B-96F0-0A627BAC5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0" y="7001256"/>
            <a:ext cx="3337560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6" name="Text 25">
            <a:extLst xmlns:a="http://schemas.openxmlformats.org/drawingml/2006/main">
              <a:ext uri="{FF2B5EF4-FFF2-40B4-BE49-F238E27FC236}">
                <a16:creationId xmlns:a16="http://schemas.microsoft.com/office/drawing/2014/main" id="{5F04C539-F02E-9581-4F8F-742C7A824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0" y="7338060"/>
            <a:ext cx="352044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64748B"/>
                </a:solidFill>
              </a:rPr>
              <a:t>Aggressive </a:t>
            </a:r>
            <a:r>
              <a:rPr sz="900">
                <a:solidFill>
                  <a:srgbClr val="64748B"/>
                </a:solidFill>
              </a:rPr>
              <a:t>Strategie</a:t>
            </a:r>
            <a:r>
              <a:rPr sz="900">
                <a:solidFill>
                  <a:srgbClr val="64748B"/>
                </a:solidFill>
              </a:rPr>
              <a:t>, </a:t>
            </a:r>
            <a:r>
              <a:rPr sz="900">
                <a:solidFill>
                  <a:srgbClr val="64748B"/>
                </a:solidFill>
              </a:rPr>
              <a:t>Optimale</a:t>
            </a:r>
            <a:r>
              <a:rPr sz="900">
                <a:solidFill>
                  <a:srgbClr val="64748B"/>
                </a:solidFill>
              </a:rPr>
              <a:t> </a:t>
            </a:r>
            <a:r>
              <a:rPr sz="900">
                <a:solidFill>
                  <a:srgbClr val="64748B"/>
                </a:solidFill>
              </a:rPr>
              <a:t>Blackjackentscheidungen</a:t>
            </a:r>
          </a:p>
        </p:txBody>
      </p:sp>
      <p:sp>
        <p:nvSpPr>
          <p:cNvPr id="47" name="Text 18">
            <a:extLst xmlns:a="http://schemas.openxmlformats.org/drawingml/2006/main">
              <a:ext uri="{FF2B5EF4-FFF2-40B4-BE49-F238E27FC236}">
                <a16:creationId xmlns:a16="http://schemas.microsoft.com/office/drawing/2014/main" id="{7F29C90A-89AB-732A-0EFE-3876FA80D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7222236"/>
            <a:ext cx="17373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64748B"/>
                </a:solidFill>
              </a:rPr>
              <a:t>Spieler-</a:t>
            </a:r>
            <a:r>
              <a:rPr sz="900">
                <a:solidFill>
                  <a:srgbClr val="64748B"/>
                </a:solidFill>
              </a:rPr>
              <a:t>Vorteil</a:t>
            </a:r>
          </a:p>
        </p:txBody>
      </p:sp>
      <p:sp>
        <p:nvSpPr>
          <p:cNvPr id="49" name="Shape 24">
            <a:extLst xmlns:a="http://schemas.openxmlformats.org/drawingml/2006/main">
              <a:ext uri="{FF2B5EF4-FFF2-40B4-BE49-F238E27FC236}">
                <a16:creationId xmlns:a16="http://schemas.microsoft.com/office/drawing/2014/main" id="{6C4DA9C1-22B7-32F0-FC11-ED7A30574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0" y="5809615"/>
            <a:ext cx="1521460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12700">
            <a:solidFill>
              <a:srgbClr val="F59E0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0" name="Shape 24">
            <a:extLst xmlns:a="http://schemas.openxmlformats.org/drawingml/2006/main">
              <a:ext uri="{FF2B5EF4-FFF2-40B4-BE49-F238E27FC236}">
                <a16:creationId xmlns:a16="http://schemas.microsoft.com/office/drawing/2014/main" id="{5A6AF8FB-13E8-1CAD-76C9-EF32DCADC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0" y="7002462"/>
            <a:ext cx="1737360" cy="199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12700">
            <a:solidFill>
              <a:srgbClr val="10B98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Shape 15">
            <a:extLst xmlns:a="http://schemas.openxmlformats.org/drawingml/2006/main">
              <a:ext uri="{FF2B5EF4-FFF2-40B4-BE49-F238E27FC236}">
                <a16:creationId xmlns:a16="http://schemas.microsoft.com/office/drawing/2014/main" id="{A2B74486-AA63-6975-0E28-975C6468B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936" y="1108191"/>
            <a:ext cx="8412480" cy="1078992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12700">
            <a:solidFill>
              <a:srgbClr val="F59E0B">
                <a:alpha val="50000"/>
              </a:srgbClr>
            </a:solidFill>
            <a:prstDash val="solid"/>
          </a:ln>
          <a:effectLst xmlns:a="http://schemas.openxmlformats.org/drawingml/2006/main">
            <a:outerShdw blurRad="101600" dist="25400" dir="2700000" algn="bl" rotWithShape="0">
              <a:srgbClr val="000000">
                <a:alpha val="14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Shape 16">
            <a:extLst xmlns:a="http://schemas.openxmlformats.org/drawingml/2006/main">
              <a:ext uri="{FF2B5EF4-FFF2-40B4-BE49-F238E27FC236}">
                <a16:creationId xmlns:a16="http://schemas.microsoft.com/office/drawing/2014/main" id="{6F9FD1BE-439B-0016-3FD5-FEFA60FA3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096" y="1236207"/>
            <a:ext cx="1737360" cy="329184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12700">
            <a:solidFill>
              <a:srgbClr val="F59E0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Text 17">
            <a:extLst xmlns:a="http://schemas.openxmlformats.org/drawingml/2006/main">
              <a:ext uri="{FF2B5EF4-FFF2-40B4-BE49-F238E27FC236}">
                <a16:creationId xmlns:a16="http://schemas.microsoft.com/office/drawing/2014/main" id="{758087FC-3A69-42F6-1EE0-978783C32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096" y="1236207"/>
            <a:ext cx="17373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</a:rPr>
              <a:t>Vier True-Count-Buckets</a:t>
            </a:r>
          </a:p>
        </p:txBody>
      </p:sp>
      <p:sp>
        <p:nvSpPr>
          <p:cNvPr id="35" name="Text 18">
            <a:extLst xmlns:a="http://schemas.openxmlformats.org/drawingml/2006/main">
              <a:ext uri="{FF2B5EF4-FFF2-40B4-BE49-F238E27FC236}">
                <a16:creationId xmlns:a16="http://schemas.microsoft.com/office/drawing/2014/main" id="{60F30038-40B7-459F-E70A-35700F32A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096" y="1620255"/>
            <a:ext cx="17373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64748B"/>
                </a:solidFill>
              </a:rPr>
              <a:t>≤ −3 · −2 bis 0 · 1 bis 2 · ≥ 3</a:t>
            </a:r>
          </a:p>
        </p:txBody>
      </p:sp>
      <p:sp>
        <p:nvSpPr>
          <p:cNvPr id="36" name="Text 19">
            <a:extLst xmlns:a="http://schemas.openxmlformats.org/drawingml/2006/main">
              <a:ext uri="{FF2B5EF4-FFF2-40B4-BE49-F238E27FC236}">
                <a16:creationId xmlns:a16="http://schemas.microsoft.com/office/drawing/2014/main" id="{64939844-841A-632C-DF05-C785C3F1A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0616" y="1217919"/>
            <a:ext cx="13716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64748B"/>
                </a:solidFill>
              </a:rPr>
              <a:t>Negativer Count</a:t>
            </a:r>
          </a:p>
        </p:txBody>
      </p:sp>
      <p:sp>
        <p:nvSpPr>
          <p:cNvPr id="37" name="Text 20">
            <a:extLst xmlns:a="http://schemas.openxmlformats.org/drawingml/2006/main">
              <a:ext uri="{FF2B5EF4-FFF2-40B4-BE49-F238E27FC236}">
                <a16:creationId xmlns:a16="http://schemas.microsoft.com/office/drawing/2014/main" id="{66DB8FB7-3335-23FE-07AC-97AB11699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0616" y="1455663"/>
            <a:ext cx="13716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F59E0B"/>
                </a:solidFill>
              </a:rPr>
              <a:t>häufiger Hit</a:t>
            </a:r>
          </a:p>
        </p:txBody>
      </p:sp>
      <p:sp>
        <p:nvSpPr>
          <p:cNvPr id="38" name="Text 21">
            <a:extLst xmlns:a="http://schemas.openxmlformats.org/drawingml/2006/main">
              <a:ext uri="{FF2B5EF4-FFF2-40B4-BE49-F238E27FC236}">
                <a16:creationId xmlns:a16="http://schemas.microsoft.com/office/drawing/2014/main" id="{82509C4C-9FE4-4562-69C3-74E22A9D7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9376" y="1217919"/>
            <a:ext cx="109728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64748B"/>
                </a:solidFill>
              </a:rPr>
              <a:t>Positiver Count</a:t>
            </a:r>
          </a:p>
        </p:txBody>
      </p:sp>
      <p:sp>
        <p:nvSpPr>
          <p:cNvPr id="39" name="Text 22">
            <a:extLst xmlns:a="http://schemas.openxmlformats.org/drawingml/2006/main">
              <a:ext uri="{FF2B5EF4-FFF2-40B4-BE49-F238E27FC236}">
                <a16:creationId xmlns:a16="http://schemas.microsoft.com/office/drawing/2014/main" id="{9BE99065-2368-5E97-42F0-56E1D6716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9376" y="1455663"/>
            <a:ext cx="109728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F59E0B"/>
                </a:solidFill>
              </a:rPr>
              <a:t>häufiger Stand</a:t>
            </a:r>
          </a:p>
        </p:txBody>
      </p:sp>
      <p:sp>
        <p:nvSpPr>
          <p:cNvPr id="40" name="Shape 23">
            <a:extLst xmlns:a="http://schemas.openxmlformats.org/drawingml/2006/main">
              <a:ext uri="{FF2B5EF4-FFF2-40B4-BE49-F238E27FC236}">
                <a16:creationId xmlns:a16="http://schemas.microsoft.com/office/drawing/2014/main" id="{F3F246FF-C8A1-6F5F-5C16-BD0845AAD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3816" y="1519671"/>
            <a:ext cx="3337560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1" name="Text 25">
            <a:extLst xmlns:a="http://schemas.openxmlformats.org/drawingml/2006/main">
              <a:ext uri="{FF2B5EF4-FFF2-40B4-BE49-F238E27FC236}">
                <a16:creationId xmlns:a16="http://schemas.microsoft.com/office/drawing/2014/main" id="{258860B4-F848-0F9C-EFFF-E57F131AE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3816" y="1793991"/>
            <a:ext cx="352044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64748B"/>
                </a:solidFill>
              </a:rPr>
              <a:t>Bei TC ≥ 3 sinkt die Hit-Rate um fast 4,8 Prozentpunkte.</a:t>
            </a:r>
          </a:p>
        </p:txBody>
      </p:sp>
      <p:sp>
        <p:nvSpPr>
          <p:cNvPr id="45" name="Shape 24">
            <a:extLst xmlns:a="http://schemas.openxmlformats.org/drawingml/2006/main">
              <a:ext uri="{FF2B5EF4-FFF2-40B4-BE49-F238E27FC236}">
                <a16:creationId xmlns:a16="http://schemas.microsoft.com/office/drawing/2014/main" id="{96D9E805-73F5-EF01-C138-522683A5E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3816" y="1522846"/>
            <a:ext cx="1521460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12700">
            <a:solidFill>
              <a:srgbClr val="F59E0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62" name="Grafik 5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fb8977a2b44dd1"/>
          <a:stretch xmlns:a="http://schemas.openxmlformats.org/drawingml/2006/main"/>
        </p:blipFill>
        <p:spPr>
          <a:xfrm xmlns:a="http://schemas.openxmlformats.org/drawingml/2006/main">
            <a:off x="882303" y="1952625"/>
            <a:ext cx="7379395" cy="2857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6896411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3D4F937E-C83B-05E0-0AA5-DFACCE0E7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B8259F5C-BD3E-1382-D29A-2E0DBF187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9488"/>
          </a:solidFill>
          <a:ln xmlns:a="http://schemas.openxmlformats.org/drawingml/2006/main" w="12700">
            <a:solidFill>
              <a:srgbClr val="0D948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ABA2CF2C-2A66-C23B-CAC7-5FFF93E10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864"/>
            <a:ext cx="32004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14B8A6"/>
                </a:solidFill>
              </a:rPr>
              <a:t>ERGEBNISSE &amp; FAZIT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15C7E1A9-6996-1160-A092-93F6CDB79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4320"/>
            <a:ext cx="82296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Policy-Karten zeigen konkrete Strategieverschiebungen</a:t>
            </a:r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05FCD7C5-700E-6787-A2A6-22E94BCE4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5394960"/>
            <a:ext cx="8412480" cy="1078992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12700">
            <a:solidFill>
              <a:srgbClr val="F59E0B">
                <a:alpha val="50000"/>
              </a:srgbClr>
            </a:solidFill>
            <a:prstDash val="solid"/>
          </a:ln>
          <a:effectLst xmlns:a="http://schemas.openxmlformats.org/drawingml/2006/main">
            <a:outerShdw blurRad="101600" dist="25400" dir="2700000" algn="bl" rotWithShape="0">
              <a:srgbClr val="000000">
                <a:alpha val="14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7FE1E87C-E78B-47C1-8AF8-682F335F4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522976"/>
            <a:ext cx="1737360" cy="329184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12700">
            <a:solidFill>
              <a:srgbClr val="F59E0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75D53C2B-AAC0-3239-2A3D-5159D0753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522976"/>
            <a:ext cx="17373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</a:rPr>
              <a:t>TC neutral</a:t>
            </a:r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9B1AADD4-5846-2B94-31AF-50E6A2F9F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907024"/>
            <a:ext cx="17373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64748B"/>
                </a:solidFill>
              </a:rPr>
              <a:t>Ausgeglichen</a:t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F2245C32-03CB-5145-FFB0-B610DDB99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7440" y="5504688"/>
            <a:ext cx="13716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64748B"/>
                </a:solidFill>
              </a:rPr>
              <a:t>Hard Totals</a:t>
            </a:r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B5FA5694-30CF-CDA3-C2AF-12354A617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7440" y="5742432"/>
            <a:ext cx="13716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F59E0B"/>
                </a:solidFill>
              </a:rPr>
              <a:t>−0.05</a:t>
            </a:r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D7BAD17F-576A-A7A8-774D-B97DEAA9E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5504688"/>
            <a:ext cx="109728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64748B"/>
                </a:solidFill>
              </a:rPr>
              <a:t>Soft Totals</a:t>
            </a: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02565788-FB87-73FB-0E3B-77CDA5B0E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5742432"/>
            <a:ext cx="109728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F59E0B"/>
                </a:solidFill>
              </a:rPr>
              <a:t>43%</a:t>
            </a:r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4E1BC233-BA3C-16C1-4CCF-A74A37A77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0" y="5806440"/>
            <a:ext cx="3337560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4CC3146A-7715-DD64-0E4B-829EC0559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0" y="6080760"/>
            <a:ext cx="352044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64748B"/>
                </a:solidFill>
              </a:rPr>
              <a:t>Standardstrategie, nah an Basic Strategy</a:t>
            </a:r>
          </a:p>
        </p:txBody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92A69B6C-D333-7E8D-6729-A997AF01F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6675120"/>
            <a:ext cx="8412480" cy="1078992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12700">
            <a:solidFill>
              <a:srgbClr val="10B981">
                <a:alpha val="50000"/>
              </a:srgbClr>
            </a:solidFill>
            <a:prstDash val="solid"/>
          </a:ln>
          <a:effectLst xmlns:a="http://schemas.openxmlformats.org/drawingml/2006/main">
            <a:outerShdw blurRad="101600" dist="25400" dir="2700000" algn="bl" rotWithShape="0">
              <a:srgbClr val="000000">
                <a:alpha val="14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03329587-2F88-2D14-6C36-CB29AFFE9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803136"/>
            <a:ext cx="1737360" cy="329184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10B981"/>
          </a:solidFill>
          <a:ln xmlns:a="http://schemas.openxmlformats.org/drawingml/2006/main" w="12700">
            <a:solidFill>
              <a:srgbClr val="10B98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3E27C455-86F8-BB15-F890-B197BDC04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803136"/>
            <a:ext cx="17373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</a:rPr>
              <a:t>True Count +3</a:t>
            </a:r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409FC230-75F3-6504-6E2E-9317A4A2D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7440" y="6784848"/>
            <a:ext cx="13716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64748B"/>
                </a:solidFill>
              </a:rPr>
              <a:t>Hard Totals</a:t>
            </a:r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9B7F8222-2200-9635-7B55-5DA388E53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6784848"/>
            <a:ext cx="109728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64748B"/>
                </a:solidFill>
              </a:rPr>
              <a:t>Soft Totals</a:t>
            </a:r>
          </a:p>
        </p:txBody>
      </p:sp>
      <p:sp>
        <p:nvSpPr>
          <p:cNvPr id="42" name="Text 22">
            <a:extLst xmlns:a="http://schemas.openxmlformats.org/drawingml/2006/main">
              <a:ext uri="{FF2B5EF4-FFF2-40B4-BE49-F238E27FC236}">
                <a16:creationId xmlns:a16="http://schemas.microsoft.com/office/drawing/2014/main" id="{D7D19830-6B4B-D2A1-415A-0B0DE43A4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7013448"/>
            <a:ext cx="109728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10B981"/>
                </a:solidFill>
              </a:rPr>
              <a:t>Hit / Stand</a:t>
            </a:r>
          </a:p>
        </p:txBody>
      </p:sp>
      <p:sp>
        <p:nvSpPr>
          <p:cNvPr id="43" name="Text 20">
            <a:extLst xmlns:a="http://schemas.openxmlformats.org/drawingml/2006/main">
              <a:ext uri="{FF2B5EF4-FFF2-40B4-BE49-F238E27FC236}">
                <a16:creationId xmlns:a16="http://schemas.microsoft.com/office/drawing/2014/main" id="{20955125-B849-460F-6572-A5FE1B01C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7440" y="7003161"/>
            <a:ext cx="13716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10B981"/>
                </a:solidFill>
              </a:rPr>
              <a:t>Hit / Stand</a:t>
            </a:r>
          </a:p>
        </p:txBody>
      </p:sp>
      <p:sp>
        <p:nvSpPr>
          <p:cNvPr id="44" name="Shape 23">
            <a:extLst xmlns:a="http://schemas.openxmlformats.org/drawingml/2006/main">
              <a:ext uri="{FF2B5EF4-FFF2-40B4-BE49-F238E27FC236}">
                <a16:creationId xmlns:a16="http://schemas.microsoft.com/office/drawing/2014/main" id="{3673FF2D-C57A-F2BC-67AA-C931B5349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0" y="7001256"/>
            <a:ext cx="3337560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6" name="Text 25">
            <a:extLst xmlns:a="http://schemas.openxmlformats.org/drawingml/2006/main">
              <a:ext uri="{FF2B5EF4-FFF2-40B4-BE49-F238E27FC236}">
                <a16:creationId xmlns:a16="http://schemas.microsoft.com/office/drawing/2014/main" id="{A983CBEC-D986-44CE-19E3-28BAD7F94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0" y="7338060"/>
            <a:ext cx="352044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64748B"/>
                </a:solidFill>
              </a:rPr>
              <a:t>Harte und weiche Hände reagieren bei gleichem Count unterschiedlich.</a:t>
            </a:r>
          </a:p>
        </p:txBody>
      </p:sp>
      <p:sp>
        <p:nvSpPr>
          <p:cNvPr id="47" name="Text 18">
            <a:extLst xmlns:a="http://schemas.openxmlformats.org/drawingml/2006/main">
              <a:ext uri="{FF2B5EF4-FFF2-40B4-BE49-F238E27FC236}">
                <a16:creationId xmlns:a16="http://schemas.microsoft.com/office/drawing/2014/main" id="{99ED1E9B-7652-65A9-422D-A60101A05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7222236"/>
            <a:ext cx="17373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64748B"/>
                </a:solidFill>
              </a:rPr>
              <a:t>Harte vs. weiche Hände</a:t>
            </a:r>
          </a:p>
        </p:txBody>
      </p:sp>
      <p:sp>
        <p:nvSpPr>
          <p:cNvPr id="49" name="Shape 24">
            <a:extLst xmlns:a="http://schemas.openxmlformats.org/drawingml/2006/main">
              <a:ext uri="{FF2B5EF4-FFF2-40B4-BE49-F238E27FC236}">
                <a16:creationId xmlns:a16="http://schemas.microsoft.com/office/drawing/2014/main" id="{1692A131-5F21-00F7-3137-11CC8620D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0" y="5809615"/>
            <a:ext cx="1521460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12700">
            <a:solidFill>
              <a:srgbClr val="F59E0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0" name="Shape 24">
            <a:extLst xmlns:a="http://schemas.openxmlformats.org/drawingml/2006/main">
              <a:ext uri="{FF2B5EF4-FFF2-40B4-BE49-F238E27FC236}">
                <a16:creationId xmlns:a16="http://schemas.microsoft.com/office/drawing/2014/main" id="{958749B5-6F1F-5C04-F1B5-CBE2B717D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0" y="7002462"/>
            <a:ext cx="1737360" cy="1999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12700">
            <a:solidFill>
              <a:srgbClr val="10B98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hape 26">
            <a:extLst xmlns:a="http://schemas.openxmlformats.org/drawingml/2006/main">
              <a:ext uri="{FF2B5EF4-FFF2-40B4-BE49-F238E27FC236}">
                <a16:creationId xmlns:a16="http://schemas.microsoft.com/office/drawing/2014/main" id="{6E22AAC7-082F-BC58-C195-682180CF4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936" y="1119110"/>
            <a:ext cx="8412480" cy="1078992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12700">
            <a:solidFill>
              <a:srgbClr val="10B981">
                <a:alpha val="50000"/>
              </a:srgbClr>
            </a:solidFill>
            <a:prstDash val="solid"/>
          </a:ln>
          <a:effectLst xmlns:a="http://schemas.openxmlformats.org/drawingml/2006/main">
            <a:outerShdw blurRad="101600" dist="25400" dir="2700000" algn="bl" rotWithShape="0">
              <a:srgbClr val="000000">
                <a:alpha val="14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hape 27">
            <a:extLst xmlns:a="http://schemas.openxmlformats.org/drawingml/2006/main">
              <a:ext uri="{FF2B5EF4-FFF2-40B4-BE49-F238E27FC236}">
                <a16:creationId xmlns:a16="http://schemas.microsoft.com/office/drawing/2014/main" id="{613EE559-DE7B-4563-AC40-44B0F34C7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096" y="1247126"/>
            <a:ext cx="1737360" cy="329184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10B981"/>
          </a:solidFill>
          <a:ln xmlns:a="http://schemas.openxmlformats.org/drawingml/2006/main" w="12700">
            <a:solidFill>
              <a:srgbClr val="10B98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Text 28">
            <a:extLst xmlns:a="http://schemas.openxmlformats.org/drawingml/2006/main">
              <a:ext uri="{FF2B5EF4-FFF2-40B4-BE49-F238E27FC236}">
                <a16:creationId xmlns:a16="http://schemas.microsoft.com/office/drawing/2014/main" id="{CA3B2AEB-B2CD-E2F1-427E-F6FAA9626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096" y="1247126"/>
            <a:ext cx="17373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</a:rPr>
              <a:t>True Count +3</a:t>
            </a:r>
          </a:p>
        </p:txBody>
      </p:sp>
      <p:sp>
        <p:nvSpPr>
          <p:cNvPr id="9" name="Text 30">
            <a:extLst xmlns:a="http://schemas.openxmlformats.org/drawingml/2006/main">
              <a:ext uri="{FF2B5EF4-FFF2-40B4-BE49-F238E27FC236}">
                <a16:creationId xmlns:a16="http://schemas.microsoft.com/office/drawing/2014/main" id="{97E4CC9D-41CD-557C-C999-C708E3CC8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0616" y="1228838"/>
            <a:ext cx="13716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64748B"/>
                </a:solidFill>
              </a:rPr>
              <a:t>Hard Totals</a:t>
            </a:r>
          </a:p>
        </p:txBody>
      </p:sp>
      <p:sp>
        <p:nvSpPr>
          <p:cNvPr id="10" name="Text 32">
            <a:extLst xmlns:a="http://schemas.openxmlformats.org/drawingml/2006/main">
              <a:ext uri="{FF2B5EF4-FFF2-40B4-BE49-F238E27FC236}">
                <a16:creationId xmlns:a16="http://schemas.microsoft.com/office/drawing/2014/main" id="{9006ED8E-B062-CAA2-9FEB-206976E1E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9376" y="1228838"/>
            <a:ext cx="109728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64748B"/>
                </a:solidFill>
              </a:rPr>
              <a:t>Soft Totals</a:t>
            </a:r>
          </a:p>
        </p:txBody>
      </p:sp>
      <p:sp>
        <p:nvSpPr>
          <p:cNvPr id="11" name="Text 22">
            <a:extLst xmlns:a="http://schemas.openxmlformats.org/drawingml/2006/main">
              <a:ext uri="{FF2B5EF4-FFF2-40B4-BE49-F238E27FC236}">
                <a16:creationId xmlns:a16="http://schemas.microsoft.com/office/drawing/2014/main" id="{E96EC797-7789-CEB7-92AD-489A41D96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9376" y="1457438"/>
            <a:ext cx="109728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10B981"/>
                </a:solidFill>
              </a:rPr>
              <a:t>Hit / Stand</a:t>
            </a:r>
          </a:p>
        </p:txBody>
      </p:sp>
      <p:sp>
        <p:nvSpPr>
          <p:cNvPr id="12" name="Text 20">
            <a:extLst xmlns:a="http://schemas.openxmlformats.org/drawingml/2006/main">
              <a:ext uri="{FF2B5EF4-FFF2-40B4-BE49-F238E27FC236}">
                <a16:creationId xmlns:a16="http://schemas.microsoft.com/office/drawing/2014/main" id="{3B78D9E4-407E-F781-DC40-53490652E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0616" y="1447151"/>
            <a:ext cx="13716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10B981"/>
                </a:solidFill>
              </a:rPr>
              <a:t>Hit / Stand</a:t>
            </a:r>
          </a:p>
        </p:txBody>
      </p:sp>
      <p:sp>
        <p:nvSpPr>
          <p:cNvPr id="14" name="Text 25">
            <a:extLst xmlns:a="http://schemas.openxmlformats.org/drawingml/2006/main">
              <a:ext uri="{FF2B5EF4-FFF2-40B4-BE49-F238E27FC236}">
                <a16:creationId xmlns:a16="http://schemas.microsoft.com/office/drawing/2014/main" id="{EDFED06F-86D2-8F53-F54D-FACC718F7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3816" y="1782050"/>
            <a:ext cx="352044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64748B"/>
                </a:solidFill>
              </a:rPr>
              <a:t>Harte und weiche Hände reagieren bei gleichem Count unterschiedlich.</a:t>
            </a:r>
          </a:p>
        </p:txBody>
      </p:sp>
      <p:sp>
        <p:nvSpPr>
          <p:cNvPr id="16" name="Text 18">
            <a:extLst xmlns:a="http://schemas.openxmlformats.org/drawingml/2006/main">
              <a:ext uri="{FF2B5EF4-FFF2-40B4-BE49-F238E27FC236}">
                <a16:creationId xmlns:a16="http://schemas.microsoft.com/office/drawing/2014/main" id="{DA13E672-0DC9-4374-DA82-4B37DEAA0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096" y="1666226"/>
            <a:ext cx="17373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64748B"/>
                </a:solidFill>
              </a:rPr>
              <a:t>Harte vs. weiche Hände</a:t>
            </a:r>
          </a:p>
        </p:txBody>
      </p:sp>
      <p:pic>
        <p:nvPicPr>
          <p:cNvPr id="60" name="Grafik 5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6a1922f7a649e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99569" y="2342877"/>
            <a:ext cx="3467775" cy="2600464"/>
          </a:xfrm>
          <a:prstGeom xmlns:a="http://schemas.openxmlformats.org/drawingml/2006/main" prst="rect">
            <a:avLst/>
          </a:prstGeom>
        </p:spPr>
      </p:pic>
      <p:pic>
        <p:nvPicPr>
          <p:cNvPr id="61" name="Grafik 5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4ce22c54954c3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98744" y="2342877"/>
            <a:ext cx="3545688" cy="2658891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9503120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1CD10B07-FDCE-CE3A-51C1-1807D7651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9488"/>
          </a:solidFill>
          <a:ln xmlns:a="http://schemas.openxmlformats.org/drawingml/2006/main" w="12700">
            <a:solidFill>
              <a:srgbClr val="0D948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79E84A3A-AF71-CD7A-F6C8-F73C25D7D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57200"/>
            <a:ext cx="4572000" cy="457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B8A6">
              <a:alpha val="8000"/>
            </a:srgbClr>
          </a:solidFill>
          <a:ln xmlns:a="http://schemas.openxmlformats.org/drawingml/2006/main" w="12700">
            <a:solidFill>
              <a:srgbClr val="0D9488">
                <a:alpha val="20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BF763431-8D0E-09FE-FA41-C52D6CEF5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4592"/>
            <a:ext cx="2286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14B8A6"/>
                </a:solidFill>
              </a:rPr>
              <a:t>ERGEBNISSE &amp; FAZIT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69290718-ED07-8E10-B227-5F2042D6E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8912"/>
            <a:ext cx="7315200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50" b="1">
                <a:solidFill>
                  <a:srgbClr val="111A2E"/>
                </a:solidFill>
                <a:latin typeface="Cambria"/>
                <a:ea typeface="Cambria"/>
                <a:cs typeface="Cambria"/>
              </a:rPr>
              <a:t>Drei Fragen, drei differenzierte Antworten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B851616B-0F14-CE4A-8C77-32EAC3377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1298448"/>
            <a:ext cx="8229600" cy="96012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E3A5F"/>
          </a:solidFill>
          <a:ln xmlns:a="http://schemas.openxmlformats.org/drawingml/2006/main" w="12700">
            <a:solidFill>
              <a:srgbClr val="0D9488">
                <a:alpha val="55000"/>
              </a:srgbClr>
            </a:solidFill>
            <a:prstDash val="solid"/>
          </a:ln>
          <a:effectLst xmlns:a="http://schemas.openxmlformats.org/drawingml/2006/main">
            <a:outerShdw blurRad="101600" dist="25400" dir="2700000" algn="bl" rotWithShape="0">
              <a:srgbClr val="000000">
                <a:alpha val="14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E51B084F-4384-B4EB-E3DD-60257DB44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389888"/>
            <a:ext cx="914400" cy="27432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D9488"/>
          </a:solidFill>
          <a:ln xmlns:a="http://schemas.openxmlformats.org/drawingml/2006/main" w="12700">
            <a:solidFill>
              <a:srgbClr val="0D948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C4F32C37-A4CC-DFB2-3F86-C0B968FDE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389888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0F172A"/>
                </a:solidFill>
              </a:rPr>
              <a:t>FQ 1 ✅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78CB7915-9119-DBDF-D914-3803A2774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6192" y="1389888"/>
            <a:ext cx="6858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0D9488"/>
                </a:solidFill>
              </a:rPr>
              <a:t>Nutzt Q-Learning Kartenzählinformationen?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E4EAF3BA-B7E5-D7FD-5D1E-908EFB762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6192" y="1709928"/>
            <a:ext cx="68580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94A3B8"/>
                </a:solidFill>
              </a:rPr>
              <a:t>Ja — Buckets und Policy-Karten zeigen systematische Änderungen der Aktionswahl.</a:t>
            </a:r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CC8ED723-732C-F88F-488C-997821D9D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2414016"/>
            <a:ext cx="8229600" cy="96012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E3A5F"/>
          </a:solidFill>
          <a:ln xmlns:a="http://schemas.openxmlformats.org/drawingml/2006/main" w="12700">
            <a:solidFill>
              <a:srgbClr val="F59E0B">
                <a:alpha val="55000"/>
              </a:srgbClr>
            </a:solidFill>
            <a:prstDash val="solid"/>
          </a:ln>
          <a:effectLst xmlns:a="http://schemas.openxmlformats.org/drawingml/2006/main">
            <a:outerShdw blurRad="101600" dist="25400" dir="2700000" algn="bl" rotWithShape="0">
              <a:srgbClr val="000000">
                <a:alpha val="14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D20BDC96-D9F4-B987-0DE3-7BBF54C6C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505456"/>
            <a:ext cx="914400" cy="27432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12700">
            <a:solidFill>
              <a:srgbClr val="F59E0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BB6F1B82-3243-1E24-60B1-41E1B8DBA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50545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0F172A"/>
                </a:solidFill>
              </a:rPr>
              <a:t>FQ 2 ✅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458F18FB-2492-550B-C760-A8DC4963A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6192" y="2505456"/>
            <a:ext cx="6858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F59E0B"/>
                </a:solidFill>
              </a:rPr>
              <a:t>Verbessern Zusatzmerkmale die Performance?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7F27F762-FC2A-8FE3-AF56-3CC503F42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6192" y="2825496"/>
            <a:ext cx="68580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94A3B8"/>
                </a:solidFill>
              </a:rPr>
              <a:t>Leicht — Reward +0,001794 und Win Rate +0,087 Pp.; mit p = 0,153 nicht robust signifikant.</a:t>
            </a:r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0263D1E2-36CC-E40D-77F8-03C352E02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3529584"/>
            <a:ext cx="8229600" cy="96012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E3A5F"/>
          </a:solidFill>
          <a:ln xmlns:a="http://schemas.openxmlformats.org/drawingml/2006/main" w="12700">
            <a:solidFill>
              <a:srgbClr val="10B981">
                <a:alpha val="55000"/>
              </a:srgbClr>
            </a:solidFill>
            <a:prstDash val="solid"/>
          </a:ln>
          <a:effectLst xmlns:a="http://schemas.openxmlformats.org/drawingml/2006/main">
            <a:outerShdw blurRad="101600" dist="25400" dir="2700000" algn="bl" rotWithShape="0">
              <a:srgbClr val="000000">
                <a:alpha val="14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E19B76E7-D053-DA62-F000-D10D73AD4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621024"/>
            <a:ext cx="914400" cy="27432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0B981"/>
          </a:solidFill>
          <a:ln xmlns:a="http://schemas.openxmlformats.org/drawingml/2006/main" w="12700">
            <a:solidFill>
              <a:srgbClr val="10B98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6666CD30-FAE5-7121-F399-680CB084E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621024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0F172A"/>
                </a:solidFill>
              </a:rPr>
              <a:t>FQ 3 ✅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68A0E297-3895-1042-75A6-17CD1EB30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6192" y="3621024"/>
            <a:ext cx="6858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10B981"/>
                </a:solidFill>
              </a:rPr>
              <a:t>Sind 100 Mio. Episoden ausreichend?</a:t>
            </a:r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FFE2F024-36E6-6D07-B07D-B2CEA3140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6192" y="3941064"/>
            <a:ext cx="68580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94A3B8"/>
                </a:solidFill>
              </a:rPr>
              <a:t>Zum Aufschließen, nicht zum Konvergenznachweis: Die Counting-Tabelle wächst weiter.</a:t>
            </a:r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787A7F01-4136-5612-7C37-496D393F3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5391150"/>
            <a:ext cx="8412480" cy="658368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D9488"/>
          </a:solidFill>
          <a:ln xmlns:a="http://schemas.openxmlformats.org/drawingml/2006/main" w="12700">
            <a:solidFill>
              <a:srgbClr val="0D9488"/>
            </a:solidFill>
            <a:prstDash val="solid"/>
          </a:ln>
          <a:effectLst xmlns:a="http://schemas.openxmlformats.org/drawingml/2006/main">
            <a:outerShdw blurRad="152400" dist="38100" dir="2700000" algn="bl" rotWithShape="0">
              <a:srgbClr val="000000">
                <a:alpha val="1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8064625F-04BD-BE36-2798-5F302E23E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391150"/>
            <a:ext cx="795528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</a:rPr>
              <a:t>Ergebnis: reale Verhaltensänderung, kleiner Gesamtnutzen und eine 406-mal größere Q-Tabelle.</a:t>
            </a:r>
          </a:p>
        </p:txBody>
      </p:sp>
    </p:spTree>
    <p:extLst>
      <p:ext uri="{BB962C8B-B14F-4D97-AF65-F5344CB8AC3E}">
        <p14:creationId xmlns:p14="http://schemas.microsoft.com/office/powerpoint/2010/main" val="2774865777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21E8DE18-849C-4266-A223-6A854FBA3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9488"/>
          </a:solidFill>
          <a:ln xmlns:a="http://schemas.openxmlformats.org/drawingml/2006/main" w="12700">
            <a:solidFill>
              <a:srgbClr val="0D948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15D8AD0F-5155-4AE1-B2DE-922FD5376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9728"/>
            <a:ext cx="1828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14B8A6"/>
                </a:solidFill>
              </a:rPr>
              <a:t>AUSBLICK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ABEA64AE-AE1E-40C6-B0F3-7EAF46736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7472"/>
            <a:ext cx="82296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50" b="1">
                <a:solidFill>
                  <a:srgbClr val="111A2E"/>
                </a:solidFill>
                <a:latin typeface="Cambria"/>
                <a:ea typeface="Cambria"/>
                <a:cs typeface="Cambria"/>
              </a:rPr>
              <a:t>Nächste Schritte: kompakter, realistischer, robuster</a:t>
            </a:r>
          </a:p>
        </p:txBody>
      </p:sp>
      <p:sp>
        <p:nvSpPr>
          <p:cNvPr id="5" name="!!1">
            <a:extLst xmlns:a="http://schemas.openxmlformats.org/drawingml/2006/main">
              <a:ext uri="{FF2B5EF4-FFF2-40B4-BE49-F238E27FC236}">
                <a16:creationId xmlns:a16="http://schemas.microsoft.com/office/drawing/2014/main" id="{250A88AF-8B26-4D67-9CBF-2C9FF9472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1097280"/>
            <a:ext cx="3977640" cy="1572768"/>
          </a:xfrm>
          <a:prstGeom xmlns:a="http://schemas.openxmlformats.org/drawingml/2006/main" prst="roundRect">
            <a:avLst>
              <a:gd name="adj" fmla="val 8140"/>
            </a:avLst>
          </a:prstGeom>
          <a:solidFill xmlns:a="http://schemas.openxmlformats.org/drawingml/2006/main">
            <a:srgbClr val="1E3A5F"/>
          </a:solidFill>
          <a:ln xmlns:a="http://schemas.openxmlformats.org/drawingml/2006/main" w="12700">
            <a:solidFill>
              <a:srgbClr val="0D9488">
                <a:alpha val="60000"/>
              </a:srgbClr>
            </a:solidFill>
            <a:prstDash val="solid"/>
          </a:ln>
          <a:effectLst xmlns:a="http://schemas.openxmlformats.org/drawingml/2006/main">
            <a:outerShdw blurRad="152400" dist="38100" dir="2700000" algn="bl" rotWithShape="0">
              <a:srgbClr val="000000">
                <a:alpha val="1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78AE575E-0CA2-49EC-8490-FD848D13F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261872"/>
            <a:ext cx="594360" cy="5943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9488"/>
          </a:solidFill>
          <a:ln xmlns:a="http://schemas.openxmlformats.org/drawingml/2006/main" w="12700">
            <a:solidFill>
              <a:srgbClr val="0D948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A4A304FA-CF2F-4976-87FD-3D6088A39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261872"/>
            <a:ext cx="59436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0F172A"/>
                </a:solidFill>
              </a:rPr>
              <a:t>01</a:t>
            </a: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21D92B7B-DF35-43C2-96D8-7AD8B9D8B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1325880"/>
            <a:ext cx="877824" cy="237744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0D9488">
              <a:alpha val="25000"/>
            </a:srgbClr>
          </a:solidFill>
          <a:ln xmlns:a="http://schemas.openxmlformats.org/drawingml/2006/main" w="12700">
            <a:solidFill>
              <a:srgbClr val="0D948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15A79486-95C1-4F1D-9C86-0A08EC361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1325880"/>
            <a:ext cx="87782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50" b="1" spc="100">
                <a:solidFill>
                  <a:srgbClr val="0D9488"/>
                </a:solidFill>
              </a:rPr>
              <a:t>HOCH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F4EF6254-1FEF-4D16-9B7E-F3109B9E4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584" y="1280160"/>
            <a:ext cx="283464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0D9488"/>
                </a:solidFill>
              </a:rPr>
              <a:t>Ablationsstudie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50F7500C-CF35-4170-BC91-D04878423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993392"/>
            <a:ext cx="365760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94A3B8"/>
                </a:solidFill>
              </a:rPr>
              <a:t>True Count, Running Count und Deck-Bucket einzeln testen und redundante Merkmale entfernen.</a:t>
            </a:r>
          </a:p>
        </p:txBody>
      </p:sp>
      <p:sp>
        <p:nvSpPr>
          <p:cNvPr id="12" name="!!2">
            <a:extLst xmlns:a="http://schemas.openxmlformats.org/drawingml/2006/main">
              <a:ext uri="{FF2B5EF4-FFF2-40B4-BE49-F238E27FC236}">
                <a16:creationId xmlns:a16="http://schemas.microsoft.com/office/drawing/2014/main" id="{E8D7B2A5-8DAF-484E-BF12-EE0561833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1097280"/>
            <a:ext cx="3977640" cy="1572768"/>
          </a:xfrm>
          <a:prstGeom xmlns:a="http://schemas.openxmlformats.org/drawingml/2006/main" prst="roundRect">
            <a:avLst>
              <a:gd name="adj" fmla="val 8140"/>
            </a:avLst>
          </a:prstGeom>
          <a:solidFill xmlns:a="http://schemas.openxmlformats.org/drawingml/2006/main">
            <a:srgbClr val="1E3A5F"/>
          </a:solidFill>
          <a:ln xmlns:a="http://schemas.openxmlformats.org/drawingml/2006/main" w="12700">
            <a:solidFill>
              <a:srgbClr val="F59E0B">
                <a:alpha val="60000"/>
              </a:srgbClr>
            </a:solidFill>
            <a:prstDash val="solid"/>
          </a:ln>
          <a:effectLst xmlns:a="http://schemas.openxmlformats.org/drawingml/2006/main">
            <a:outerShdw blurRad="152400" dist="38100" dir="2700000" algn="bl" rotWithShape="0">
              <a:srgbClr val="000000">
                <a:alpha val="1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7F1157BC-2613-4A51-A7E9-456E4BB3A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8032" y="1261872"/>
            <a:ext cx="594360" cy="5943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12700">
            <a:solidFill>
              <a:srgbClr val="F59E0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A6A08C99-CED3-4440-8B55-C3744C75A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8032" y="1261872"/>
            <a:ext cx="59436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0F172A"/>
                </a:solidFill>
              </a:rPr>
              <a:t>02</a:t>
            </a: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0D223CA1-98C5-4297-BB3B-D275CB25E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0" y="1325880"/>
            <a:ext cx="877824" cy="237744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59E0B">
              <a:alpha val="25000"/>
            </a:srgbClr>
          </a:solidFill>
          <a:ln xmlns:a="http://schemas.openxmlformats.org/drawingml/2006/main" w="12700">
            <a:solidFill>
              <a:srgbClr val="F59E0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69EBC31B-EC26-47C8-8B46-A42EE24B5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0" y="1325880"/>
            <a:ext cx="87782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50" b="1">
                <a:solidFill>
                  <a:srgbClr val="F59E0B"/>
                </a:solidFill>
              </a:rPr>
              <a:t>HOCH</a:t>
            </a: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3CA56938-C949-41AA-97EB-7E1313F74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1264" y="1280160"/>
            <a:ext cx="283464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F59E0B"/>
                </a:solidFill>
              </a:rPr>
              <a:t>Mehr Trainingsseeds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1898058E-5609-4EE2-B2BA-FC4D17249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8032" y="1993392"/>
            <a:ext cx="365760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94A3B8"/>
                </a:solidFill>
              </a:rPr>
              <a:t>Mindestens zehn unabhängige Läufe und explizite Zufallszahlengeneratoren pro Worker.</a:t>
            </a:r>
          </a:p>
        </p:txBody>
      </p:sp>
      <p:sp>
        <p:nvSpPr>
          <p:cNvPr id="19" name="!!3">
            <a:extLst xmlns:a="http://schemas.openxmlformats.org/drawingml/2006/main">
              <a:ext uri="{FF2B5EF4-FFF2-40B4-BE49-F238E27FC236}">
                <a16:creationId xmlns:a16="http://schemas.microsoft.com/office/drawing/2014/main" id="{7B627DD0-3962-4F69-912B-D657B6347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2926080"/>
            <a:ext cx="3977640" cy="1572768"/>
          </a:xfrm>
          <a:prstGeom xmlns:a="http://schemas.openxmlformats.org/drawingml/2006/main" prst="roundRect">
            <a:avLst>
              <a:gd name="adj" fmla="val 8140"/>
            </a:avLst>
          </a:prstGeom>
          <a:solidFill xmlns:a="http://schemas.openxmlformats.org/drawingml/2006/main">
            <a:srgbClr val="1E3A5F"/>
          </a:solidFill>
          <a:ln xmlns:a="http://schemas.openxmlformats.org/drawingml/2006/main" w="12700">
            <a:solidFill>
              <a:srgbClr val="14B8A6">
                <a:alpha val="60000"/>
              </a:srgbClr>
            </a:solidFill>
            <a:prstDash val="solid"/>
          </a:ln>
          <a:effectLst xmlns:a="http://schemas.openxmlformats.org/drawingml/2006/main">
            <a:outerShdw blurRad="152400" dist="38100" dir="2700000" algn="bl" rotWithShape="0">
              <a:srgbClr val="000000">
                <a:alpha val="1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BEBD00FB-B364-4C25-8655-578428B8E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3090672"/>
            <a:ext cx="594360" cy="5943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12700">
            <a:solidFill>
              <a:srgbClr val="14B8A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D5346947-1203-4D67-BD6A-E531FD762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3090672"/>
            <a:ext cx="59436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0F172A"/>
                </a:solidFill>
              </a:rPr>
              <a:t>03</a:t>
            </a:r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D6FB7AA5-B9E8-49AB-996E-67D6984E9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3154680"/>
            <a:ext cx="877824" cy="237744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14B8A6">
              <a:alpha val="25000"/>
            </a:srgbClr>
          </a:solidFill>
          <a:ln xmlns:a="http://schemas.openxmlformats.org/drawingml/2006/main" w="12700">
            <a:solidFill>
              <a:srgbClr val="14B8A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E0894FDE-FA81-4E53-BD47-52014DF56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3154680"/>
            <a:ext cx="87782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50" b="1">
                <a:solidFill>
                  <a:srgbClr val="14B8A6"/>
                </a:solidFill>
              </a:rPr>
              <a:t>HOCH</a:t>
            </a: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15322B83-6BE4-48BF-B7BB-6F67835CF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584" y="3108960"/>
            <a:ext cx="283464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4B8A6"/>
                </a:solidFill>
              </a:rPr>
              <a:t>Vollständige Regeln</a:t>
            </a:r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D58D4947-C4A8-4C7E-A786-0DE50F159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3822192"/>
            <a:ext cx="365760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94A3B8"/>
                </a:solidFill>
              </a:rPr>
              <a:t>Natural-3:2-Payout, Double Down, Split und variable Einsätze realistisch abbilden.</a:t>
            </a:r>
          </a:p>
        </p:txBody>
      </p:sp>
      <p:sp>
        <p:nvSpPr>
          <p:cNvPr id="26" name="!!4">
            <a:extLst xmlns:a="http://schemas.openxmlformats.org/drawingml/2006/main">
              <a:ext uri="{FF2B5EF4-FFF2-40B4-BE49-F238E27FC236}">
                <a16:creationId xmlns:a16="http://schemas.microsoft.com/office/drawing/2014/main" id="{ECFBA6D5-ADD8-4631-BC31-C8B1C877D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2926080"/>
            <a:ext cx="3977640" cy="1572768"/>
          </a:xfrm>
          <a:prstGeom xmlns:a="http://schemas.openxmlformats.org/drawingml/2006/main" prst="roundRect">
            <a:avLst>
              <a:gd name="adj" fmla="val 8140"/>
            </a:avLst>
          </a:prstGeom>
          <a:solidFill xmlns:a="http://schemas.openxmlformats.org/drawingml/2006/main">
            <a:srgbClr val="1E3A5F"/>
          </a:solidFill>
          <a:ln xmlns:a="http://schemas.openxmlformats.org/drawingml/2006/main" w="12700">
            <a:solidFill>
              <a:srgbClr val="10B981">
                <a:alpha val="60000"/>
              </a:srgbClr>
            </a:solidFill>
            <a:prstDash val="solid"/>
          </a:ln>
          <a:effectLst xmlns:a="http://schemas.openxmlformats.org/drawingml/2006/main">
            <a:outerShdw blurRad="152400" dist="38100" dir="2700000" algn="bl" rotWithShape="0">
              <a:srgbClr val="000000">
                <a:alpha val="18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65CA25A4-4318-4096-828C-98095B9D3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8032" y="3090672"/>
            <a:ext cx="594360" cy="5943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12700">
            <a:solidFill>
              <a:srgbClr val="10B98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40A70082-A672-4858-BA4F-11E814EC5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8032" y="3090672"/>
            <a:ext cx="59436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0F172A"/>
                </a:solidFill>
              </a:rPr>
              <a:t>04</a:t>
            </a:r>
          </a:p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A7330056-4CF9-4FAF-8A45-56E603293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0" y="3154680"/>
            <a:ext cx="877824" cy="237744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10B981">
              <a:alpha val="25000"/>
            </a:srgbClr>
          </a:solidFill>
          <a:ln xmlns:a="http://schemas.openxmlformats.org/drawingml/2006/main" w="12700">
            <a:solidFill>
              <a:srgbClr val="10B98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1750E3CB-0579-441D-959E-935B6E3AC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0" y="3154680"/>
            <a:ext cx="87782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50" b="1" spc="100">
                <a:solidFill>
                  <a:srgbClr val="10B981"/>
                </a:solidFill>
              </a:rPr>
              <a:t>VISION</a:t>
            </a:r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72C32EF8-392A-4A67-BF2F-86164F944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1264" y="3108960"/>
            <a:ext cx="283464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0B981"/>
                </a:solidFill>
              </a:rPr>
              <a:t>DQN / PPO</a:t>
            </a:r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14C2AD3F-FDDE-4BA2-B26E-EE763F65D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8032" y="3822192"/>
            <a:ext cx="365760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94A3B8"/>
                </a:solidFill>
              </a:rPr>
              <a:t>Funktionsapproximation nutzen, damit ähnliche Zustände Wissen teilen können.</a:t>
            </a:r>
          </a:p>
        </p:txBody>
      </p:sp>
    </p:spTree>
    <p:extLst>
      <p:ext uri="{BB962C8B-B14F-4D97-AF65-F5344CB8AC3E}">
        <p14:creationId xmlns:p14="http://schemas.microsoft.com/office/powerpoint/2010/main" val="1051472307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2026-06-13T18:06:23.8440000Z</dcterms:created>
  <dcterms:modified xsi:type="dcterms:W3CDTF">2026-06-13T18:06:23.8440000Z</dcterms:modified>
</coreProperties>
</file>