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316" r:id="rId3"/>
    <p:sldId id="289" r:id="rId4"/>
    <p:sldId id="321" r:id="rId5"/>
    <p:sldId id="315" r:id="rId6"/>
    <p:sldId id="317" r:id="rId7"/>
    <p:sldId id="343" r:id="rId8"/>
    <p:sldId id="344" r:id="rId9"/>
    <p:sldId id="345" r:id="rId10"/>
    <p:sldId id="320" r:id="rId11"/>
    <p:sldId id="318" r:id="rId12"/>
    <p:sldId id="291" r:id="rId13"/>
    <p:sldId id="322" r:id="rId14"/>
    <p:sldId id="347" r:id="rId15"/>
    <p:sldId id="332" r:id="rId16"/>
    <p:sldId id="348" r:id="rId17"/>
    <p:sldId id="323" r:id="rId18"/>
    <p:sldId id="349" r:id="rId19"/>
    <p:sldId id="351" r:id="rId20"/>
    <p:sldId id="333" r:id="rId21"/>
    <p:sldId id="334" r:id="rId22"/>
    <p:sldId id="335" r:id="rId23"/>
    <p:sldId id="336" r:id="rId24"/>
    <p:sldId id="290" r:id="rId25"/>
    <p:sldId id="327" r:id="rId26"/>
    <p:sldId id="353" r:id="rId27"/>
    <p:sldId id="338" r:id="rId28"/>
    <p:sldId id="354" r:id="rId29"/>
    <p:sldId id="337" r:id="rId30"/>
    <p:sldId id="355" r:id="rId31"/>
    <p:sldId id="340" r:id="rId32"/>
    <p:sldId id="352" r:id="rId33"/>
    <p:sldId id="356" r:id="rId34"/>
    <p:sldId id="350" r:id="rId35"/>
    <p:sldId id="357" r:id="rId36"/>
    <p:sldId id="342" r:id="rId37"/>
    <p:sldId id="346" r:id="rId38"/>
    <p:sldId id="341" r:id="rId3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inleitung" id="{536FACCD-4653-4BA5-8DF7-2232DEB13E83}">
          <p14:sldIdLst>
            <p14:sldId id="256"/>
            <p14:sldId id="316"/>
          </p14:sldIdLst>
        </p14:section>
        <p14:section name="1 Motivation &amp; Theorie" id="{3EBA12E5-41B4-428E-8C09-1FD8D4D08F43}">
          <p14:sldIdLst>
            <p14:sldId id="289"/>
            <p14:sldId id="321"/>
            <p14:sldId id="315"/>
            <p14:sldId id="317"/>
            <p14:sldId id="343"/>
            <p14:sldId id="344"/>
            <p14:sldId id="345"/>
            <p14:sldId id="320"/>
            <p14:sldId id="318"/>
          </p14:sldIdLst>
        </p14:section>
        <p14:section name="2 Methodik &amp; Technik" id="{4A5FD6B1-3FE2-451E-99BA-10FC68385627}">
          <p14:sldIdLst>
            <p14:sldId id="291"/>
            <p14:sldId id="322"/>
            <p14:sldId id="347"/>
            <p14:sldId id="332"/>
            <p14:sldId id="348"/>
            <p14:sldId id="323"/>
            <p14:sldId id="349"/>
            <p14:sldId id="351"/>
            <p14:sldId id="333"/>
            <p14:sldId id="334"/>
            <p14:sldId id="335"/>
            <p14:sldId id="336"/>
          </p14:sldIdLst>
        </p14:section>
        <p14:section name="3 Ergebnisse &amp; Fazit" id="{E0CB15F2-38AF-408A-9FCD-CDD7179D5C5A}">
          <p14:sldIdLst>
            <p14:sldId id="290"/>
            <p14:sldId id="327"/>
            <p14:sldId id="353"/>
            <p14:sldId id="338"/>
            <p14:sldId id="354"/>
            <p14:sldId id="337"/>
            <p14:sldId id="355"/>
            <p14:sldId id="340"/>
            <p14:sldId id="352"/>
            <p14:sldId id="356"/>
            <p14:sldId id="350"/>
            <p14:sldId id="357"/>
            <p14:sldId id="342"/>
            <p14:sldId id="346"/>
            <p14:sldId id="34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9488"/>
    <a:srgbClr val="0F172A"/>
    <a:srgbClr val="334155"/>
    <a:srgbClr val="14B8A6"/>
    <a:srgbClr val="1E293B"/>
    <a:srgbClr val="FFFFFF"/>
    <a:srgbClr val="5EEAD4"/>
    <a:srgbClr val="10B9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572549-9237-46F3-AC9B-15E27B387EFE}" v="107" dt="2026-06-14T14:16:31.2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55018" autoAdjust="0"/>
  </p:normalViewPr>
  <p:slideViewPr>
    <p:cSldViewPr snapToGrid="0" snapToObjects="1">
      <p:cViewPr varScale="1">
        <p:scale>
          <a:sx n="82" d="100"/>
          <a:sy n="82" d="100"/>
        </p:scale>
        <p:origin x="2772" y="84"/>
      </p:cViewPr>
      <p:guideLst/>
    </p:cSldViewPr>
  </p:slideViewPr>
  <p:outlineViewPr>
    <p:cViewPr>
      <p:scale>
        <a:sx n="20" d="100"/>
        <a:sy n="2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2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7222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D44B6-DFF6-643A-3D09-AF1BB2DDB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8E2DE3-EBCE-F7AD-AA22-77FD28A884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458D3D-CCCD-1FF8-1236-A6D6794E47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/>
              <a:t>Ziel:</a:t>
            </a:r>
            <a:r>
              <a:rPr lang="de-DE" dirty="0"/>
              <a:t> Überleitung zum ersten großen Hauptkapitel.</a:t>
            </a:r>
          </a:p>
          <a:p>
            <a:r>
              <a:rPr lang="de-DE" b="1" dirty="0"/>
              <a:t>Überleitung:</a:t>
            </a:r>
            <a:r>
              <a:rPr lang="de-DE" dirty="0"/>
              <a:t> „Wir starten mit dem theoretischen Fundament. Warum eignet sich Blackjack überhaupt für Reinforcement Learning und wie bringen wir dem Agenten das Kartenzählen bei?“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C9A4F-8A97-87AD-6CBA-12CB75227A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8707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de-DE" b="1" dirty="0"/>
              <a:t>Das Modell:</a:t>
            </a:r>
            <a:r>
              <a:rPr lang="de-DE" dirty="0"/>
              <a:t> Blackjack lässt sich mathematisch als MDP abbilden. Der Agent interagiert in Zyklen mit der Umgebung (dem Dealer).</a:t>
            </a:r>
          </a:p>
          <a:p>
            <a:r>
              <a:rPr lang="de-DE" b="1" dirty="0"/>
              <a:t>Der Zustand (State):</a:t>
            </a:r>
            <a:r>
              <a:rPr lang="de-DE" dirty="0"/>
              <a:t> Besteht standardmäßig aus drei Merkmalen: der aktuellen Spielersumme, der offenen Karte des Dealers (</a:t>
            </a:r>
            <a:r>
              <a:rPr lang="de-DE" dirty="0" err="1"/>
              <a:t>Upcard</a:t>
            </a:r>
            <a:r>
              <a:rPr lang="de-DE" dirty="0"/>
              <a:t>) und der Information, ob ein nutzbares Ass auf der Hand liegt.</a:t>
            </a:r>
          </a:p>
          <a:p>
            <a:r>
              <a:rPr lang="de-DE" b="1" dirty="0"/>
              <a:t>Die Aktionen:</a:t>
            </a:r>
            <a:r>
              <a:rPr lang="de-DE" dirty="0"/>
              <a:t> Ein binärer Aktionsraum. Nur </a:t>
            </a:r>
            <a:r>
              <a:rPr lang="de-DE" i="1" dirty="0"/>
              <a:t>Stand</a:t>
            </a:r>
            <a:r>
              <a:rPr lang="de-DE" dirty="0"/>
              <a:t> (keine Karte mehr) oder </a:t>
            </a:r>
            <a:r>
              <a:rPr lang="de-DE" i="1" dirty="0"/>
              <a:t>Hit</a:t>
            </a:r>
            <a:r>
              <a:rPr lang="de-DE" dirty="0"/>
              <a:t> (Karte ziehen).</a:t>
            </a:r>
          </a:p>
          <a:p>
            <a:r>
              <a:rPr lang="de-DE" b="1" dirty="0"/>
              <a:t>Einschränkung:</a:t>
            </a:r>
            <a:r>
              <a:rPr lang="de-DE" dirty="0"/>
              <a:t> Um das Problem kompakt zu halten, verzichten wir in diesem Modell bewusst auf komplexere Aktionen wie </a:t>
            </a:r>
            <a:r>
              <a:rPr lang="de-DE" i="1" dirty="0"/>
              <a:t>Split</a:t>
            </a:r>
            <a:r>
              <a:rPr lang="de-DE" dirty="0"/>
              <a:t> oder </a:t>
            </a:r>
            <a:r>
              <a:rPr lang="de-DE" i="1" dirty="0"/>
              <a:t>Double Down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3659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 Belohnungssystem: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Klassisch und simpel gehalten. $+1$ für einen Rundengewinn, $0$ für ein Unentschieden (Push) und $-1$ bei einem Verlust.</a:t>
            </a:r>
          </a:p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Unsere Messlatte: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Wann ist der Agent erfolgreich?</a:t>
            </a: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 muss einen durchschnittlichen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Reward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von über $-0.05$ erzielen.</a:t>
            </a: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Rate muss zwischen 42 % und 45 % liegen, womit der typische Hausvorteil des Casinos (House Edge) praktisch bezwungen wäre.</a:t>
            </a: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 Lernen muss stabil sein (Konfidenzintervall unter $\pm0.003$ über verschiedene Trainings-Seeds).</a:t>
            </a:r>
          </a:p>
        </p:txBody>
      </p:sp>
    </p:spTree>
    <p:extLst>
      <p:ext uri="{BB962C8B-B14F-4D97-AF65-F5344CB8AC3E}">
        <p14:creationId xmlns:p14="http://schemas.microsoft.com/office/powerpoint/2010/main" val="39223132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de-DE" b="1" dirty="0"/>
              <a:t>Der Clou beim Blackjack:</a:t>
            </a:r>
            <a:r>
              <a:rPr lang="de-DE" dirty="0"/>
              <a:t> Im Gegensatz zu Roulette oder Würfeln ist Blackjack kein Spiel mit unabhängigen Ereignissen. Gezogene Karten verändern die Wahrscheinlichkeiten für die nächsten Runden.</a:t>
            </a:r>
          </a:p>
          <a:p>
            <a:r>
              <a:rPr lang="de-DE" b="1" dirty="0"/>
              <a:t>Das Setup (Der „Schlitten“):</a:t>
            </a:r>
            <a:r>
              <a:rPr lang="de-DE" dirty="0"/>
              <a:t> Wir simulieren ein realistisches Casino-Szenario mit einem Kartenschlitten (Shoe) aus 6 Decks (insgesamt 312 Karten).</a:t>
            </a:r>
          </a:p>
          <a:p>
            <a:r>
              <a:rPr lang="de-DE" b="1" dirty="0"/>
              <a:t>Penetration:</a:t>
            </a:r>
            <a:r>
              <a:rPr lang="de-DE" dirty="0"/>
              <a:t> Gemischt wird bei einer Penetration von 75 % – das heißt, nach 234 gespielten Karten wird neu gemischt. Bis zu diesem Punkt „erinnert“ sich das Deck an die Vergangenheit.</a:t>
            </a:r>
          </a:p>
          <a:p>
            <a:r>
              <a:rPr lang="de-DE" b="1" dirty="0"/>
              <a:t>Trennkarte</a:t>
            </a:r>
          </a:p>
        </p:txBody>
      </p:sp>
    </p:spTree>
    <p:extLst>
      <p:ext uri="{BB962C8B-B14F-4D97-AF65-F5344CB8AC3E}">
        <p14:creationId xmlns:p14="http://schemas.microsoft.com/office/powerpoint/2010/main" val="21891547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1CE5D-0944-9BAA-E16C-0695063C9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DBE60F0-F35A-515C-D947-3F9D0292D2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CE1B9E0-FD06-E835-A31E-D4F8C5CDA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Der Schlitten bleibt über mehrere Episoden bestehen. Deshalb hängt die nächste Kartenwahrscheinlichkeit von bereits gespielten Karten ab. Für die Baseline ist dieser Unterschied unsichtbar.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61768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06563-FE82-184B-FB4D-D60F93429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85D4BCF-AFBD-A3C3-B6A7-0EEA75DAA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EDCE50B-2F96-112A-1246-BC645A360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Der Schlitten bleibt über mehrere Episoden bestehen. Deshalb hängt die nächste Kartenwahrscheinlichkeit von bereits gespielten Karten ab. Für die Baseline ist dieser Unterschied unsichtbar.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06295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DD982-EE76-C358-6F49-53AD6E979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62CE88B-7451-164F-EC38-21BBBACF92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388324D-E737-B869-F6D3-5EBE495195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Der Schlitten bleibt über mehrere Episoden bestehen. Deshalb hängt die nächste Kartenwahrscheinlichkeit von bereits gespielten Karten ab. Für die Baseline ist dieser Unterschied unsichtbar.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8035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 Methode: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Wie nutzt man das Gedächtnis des Decks? Über das klassische Hi-Lo-Kartenzählsystem.</a:t>
            </a:r>
          </a:p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 Werte: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Niedrige Karten (2–6) erhalten den Wert +1 (gut für den Spieler, wenn sie weg sind).</a:t>
            </a: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Neutrale Karten (7–9) zählen als 0.</a:t>
            </a: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Hohe Karten (10er, Bilder, Asse) zählen als -1 (schlecht für den Spieler, wenn sie das Deck verlassen).</a:t>
            </a:r>
          </a:p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Vom Running zum True Count: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Der </a:t>
            </a:r>
            <a:r>
              <a:rPr lang="de-DE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Running Count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ist die bloße Summe aller sichtbaren Karten. Um die wahre Aussagekraft zu erhalten, teilen wir ihn durch die Anzahl der verbleibenden Decks. Das ergibt den </a:t>
            </a:r>
            <a:r>
              <a:rPr lang="de-DE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 Count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der die tatsächliche Wahrscheinlichkeitsverschiebung beziffert.</a:t>
            </a:r>
          </a:p>
        </p:txBody>
      </p:sp>
    </p:spTree>
    <p:extLst>
      <p:ext uri="{BB962C8B-B14F-4D97-AF65-F5344CB8AC3E}">
        <p14:creationId xmlns:p14="http://schemas.microsoft.com/office/powerpoint/2010/main" val="1225417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de-DE" b="1" dirty="0"/>
              <a:t>Die Kernfragen unserer Arbeit:</a:t>
            </a:r>
            <a:endParaRPr lang="de-DE" dirty="0"/>
          </a:p>
          <a:p>
            <a:r>
              <a:rPr lang="de-DE" dirty="0"/>
              <a:t>Kann ein mathematischer Q-Learning-Agent diese Zählinformationen (den True Count) überhaupt aktiv nutzen, um bessere Entscheidungen zu treffen?</a:t>
            </a:r>
          </a:p>
          <a:p>
            <a:r>
              <a:rPr lang="de-DE" dirty="0"/>
              <a:t>Verbessert sich die Gesamtperformance spürbar, wenn wir den Zustandsraum um diese Feature erweitern?</a:t>
            </a:r>
          </a:p>
          <a:p>
            <a:r>
              <a:rPr lang="de-DE"/>
              <a:t>Wie lange (wie viele Episoden) braucht das System, um stabil zu konvergieren?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191132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7FDAD-1419-9C8A-E8FC-12E377692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C0B8C2-6460-724A-47F6-AA0E61856A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07C3C1-502E-1A1D-7C09-3C94C9753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AFD66-D298-888F-06F2-2A228A7ED8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8583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 kleine Tabelle wird schnell vollständig besucht. Zustände wiederholen sich häufig und ihre Q-Werte werden entsprechend oft aktualisiert.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54969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03F7D-9B8B-70BD-2044-3AAD68FAF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5B48AF4-8095-1126-8AF6-A0021B9D40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D2BB81D-DFA4-4AC6-112A-7A0C1CC6F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 kleine Tabelle wird schnell vollständig besucht. Zustände wiederholen sich häufig und ihre Q-Werte werden entsprechend oft aktualisiert.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69992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Mehr Kontext erzeugt viele seltene Kombinationen. Running Count, True Count und Deck-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Bucket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sind zudem teilweise redundant.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0501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AD92F-51EC-4612-9C45-CC7B24008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0779F72-BB36-ADE6-3116-57E967E104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1AFCA40-0DA7-6C01-FE1A-0FD75A0C7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Mehr Kontext erzeugt viele seltene Kombinationen. Running Count, True Count und Deck-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Bucket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sind zudem teilweise redundant.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12572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5CE78-9B96-2AF7-00D6-98BBF2F11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18F951-9773-8F93-CE19-32A5C066FB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54ED93-00F8-DC1C-6D96-56D05A6CA7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Übergang von Methodik und Training zur empirischen Auswertung</a:t>
            </a:r>
          </a:p>
          <a:p>
            <a:r>
              <a:rPr lang="de-DE" dirty="0"/>
              <a:t>Gliederung: Lernverlauf, Agentenverhalten, Fazit und nächste Schritte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6D9E7-8D0D-BAB8-53D4-11868FE3A8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2826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de-DE" dirty="0" err="1"/>
              <a:t>Greedy</a:t>
            </a:r>
            <a:r>
              <a:rPr lang="de-DE" dirty="0"/>
              <a:t>-Evaluation der Checkpoints über den Trainingsverlauf</a:t>
            </a:r>
          </a:p>
          <a:p>
            <a:r>
              <a:rPr lang="de-DE" dirty="0"/>
              <a:t>Beide Agenten überwiegend bei etwa −0,05 durchschnittlichem </a:t>
            </a:r>
            <a:r>
              <a:rPr lang="de-DE" dirty="0" err="1"/>
              <a:t>Reward</a:t>
            </a:r>
            <a:endParaRPr lang="de-DE" dirty="0"/>
          </a:p>
          <a:p>
            <a:r>
              <a:rPr lang="de-DE" dirty="0"/>
              <a:t>Baseline: konstanter Zustandsraum mit 280 Q-States</a:t>
            </a:r>
          </a:p>
          <a:p>
            <a:r>
              <a:rPr lang="de-DE" dirty="0" err="1"/>
              <a:t>Counting</a:t>
            </a:r>
            <a:r>
              <a:rPr lang="de-DE" dirty="0"/>
              <a:t>: Wachstum von 104.104 auf 113.760 Q-States zwischen 10 und 100 Mio. Episoden</a:t>
            </a:r>
          </a:p>
          <a:p>
            <a:r>
              <a:rPr lang="de-DE" dirty="0"/>
              <a:t>Kein dauerhaft klarer Leistungsvorsprung im Trainingsverlauf</a:t>
            </a:r>
          </a:p>
        </p:txBody>
      </p:sp>
    </p:spTree>
    <p:extLst>
      <p:ext uri="{BB962C8B-B14F-4D97-AF65-F5344CB8AC3E}">
        <p14:creationId xmlns:p14="http://schemas.microsoft.com/office/powerpoint/2010/main" val="23668669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Ähnliches </a:t>
            </a:r>
            <a:r>
              <a:rPr lang="de-DE" dirty="0" err="1"/>
              <a:t>Reward</a:t>
            </a:r>
            <a:r>
              <a:rPr lang="de-DE" dirty="0"/>
              <a:t>-Niveau trotz rund 406-mal größerer Q-Tabelle</a:t>
            </a:r>
          </a:p>
          <a:p>
            <a:r>
              <a:rPr lang="de-DE" dirty="0"/>
              <a:t>Zustandsraum des </a:t>
            </a:r>
            <a:r>
              <a:rPr lang="de-DE" dirty="0" err="1"/>
              <a:t>Counting</a:t>
            </a:r>
            <a:r>
              <a:rPr lang="de-DE" dirty="0"/>
              <a:t>-Agenten wächst nach 100 Mio. Episoden weiterhin</a:t>
            </a:r>
          </a:p>
          <a:p>
            <a:r>
              <a:rPr lang="de-DE" dirty="0"/>
              <a:t>Hohe zusätzliche Komplexität bei geringem Zusatznutzen</a:t>
            </a:r>
          </a:p>
        </p:txBody>
      </p:sp>
    </p:spTree>
    <p:extLst>
      <p:ext uri="{BB962C8B-B14F-4D97-AF65-F5344CB8AC3E}">
        <p14:creationId xmlns:p14="http://schemas.microsoft.com/office/powerpoint/2010/main" val="11117336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GB" dirty="0" err="1"/>
              <a:t>Aggregierte</a:t>
            </a:r>
            <a:r>
              <a:rPr lang="en-GB" dirty="0"/>
              <a:t> finale Greedy-Evaluation </a:t>
            </a:r>
            <a:r>
              <a:rPr lang="en-GB" dirty="0" err="1"/>
              <a:t>über</a:t>
            </a:r>
            <a:r>
              <a:rPr lang="en-GB" dirty="0"/>
              <a:t> alle </a:t>
            </a:r>
            <a:r>
              <a:rPr lang="en-GB" dirty="0" err="1"/>
              <a:t>Trainingsseeds</a:t>
            </a:r>
            <a:endParaRPr lang="en-GB" dirty="0"/>
          </a:p>
          <a:p>
            <a:r>
              <a:rPr lang="en-GB" dirty="0" err="1"/>
              <a:t>Durchschnittlicher</a:t>
            </a:r>
            <a:r>
              <a:rPr lang="en-GB" dirty="0"/>
              <a:t> Reward: −0,051562 </a:t>
            </a:r>
            <a:r>
              <a:rPr lang="en-GB" dirty="0" err="1"/>
              <a:t>gegenüber</a:t>
            </a:r>
            <a:r>
              <a:rPr lang="en-GB" dirty="0"/>
              <a:t> −0,049767</a:t>
            </a:r>
          </a:p>
          <a:p>
            <a:r>
              <a:rPr lang="en-GB" dirty="0"/>
              <a:t>Win Rate: 42,746 % </a:t>
            </a:r>
            <a:r>
              <a:rPr lang="en-GB" dirty="0" err="1"/>
              <a:t>gegenüber</a:t>
            </a:r>
            <a:r>
              <a:rPr lang="en-GB" dirty="0"/>
              <a:t> 42,833 %, </a:t>
            </a:r>
            <a:r>
              <a:rPr lang="en-GB" dirty="0" err="1"/>
              <a:t>Differenz</a:t>
            </a:r>
            <a:r>
              <a:rPr lang="en-GB" dirty="0"/>
              <a:t> +0,087 Pp.</a:t>
            </a:r>
          </a:p>
          <a:p>
            <a:r>
              <a:rPr lang="en-GB" dirty="0"/>
              <a:t>Loss Rate und Push Rate </a:t>
            </a:r>
            <a:r>
              <a:rPr lang="en-GB" dirty="0" err="1"/>
              <a:t>nahezu</a:t>
            </a:r>
            <a:r>
              <a:rPr lang="en-GB" dirty="0"/>
              <a:t> </a:t>
            </a:r>
            <a:r>
              <a:rPr lang="en-GB" dirty="0" err="1"/>
              <a:t>unverändert</a:t>
            </a:r>
            <a:endParaRPr lang="en-GB" dirty="0"/>
          </a:p>
          <a:p>
            <a:r>
              <a:rPr lang="en-GB" dirty="0"/>
              <a:t>280 </a:t>
            </a:r>
            <a:r>
              <a:rPr lang="en-GB" dirty="0" err="1"/>
              <a:t>gegenüber</a:t>
            </a:r>
            <a:r>
              <a:rPr lang="en-GB" dirty="0"/>
              <a:t> 113.760 Q-States</a:t>
            </a:r>
          </a:p>
        </p:txBody>
      </p:sp>
    </p:spTree>
    <p:extLst>
      <p:ext uri="{BB962C8B-B14F-4D97-AF65-F5344CB8AC3E}">
        <p14:creationId xmlns:p14="http://schemas.microsoft.com/office/powerpoint/2010/main" val="32782446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de-DE" dirty="0" err="1"/>
              <a:t>Counting</a:t>
            </a:r>
            <a:r>
              <a:rPr lang="de-DE" dirty="0"/>
              <a:t>-Agent bei </a:t>
            </a:r>
            <a:r>
              <a:rPr lang="de-DE" dirty="0" err="1"/>
              <a:t>Reward</a:t>
            </a:r>
            <a:r>
              <a:rPr lang="de-DE" dirty="0"/>
              <a:t> und </a:t>
            </a:r>
            <a:r>
              <a:rPr lang="de-DE" dirty="0" err="1"/>
              <a:t>Win</a:t>
            </a:r>
            <a:r>
              <a:rPr lang="de-DE" dirty="0"/>
              <a:t> Rate leicht besser</a:t>
            </a:r>
          </a:p>
          <a:p>
            <a:r>
              <a:rPr lang="de-DE" dirty="0"/>
              <a:t>Verbesserung im Verhältnis zur Größe des Zustandsraums sehr klein</a:t>
            </a:r>
          </a:p>
          <a:p>
            <a:r>
              <a:rPr lang="de-DE" dirty="0"/>
              <a:t>Zusätzliche Features führen nicht automatisch zu proportional besserer Performance</a:t>
            </a:r>
          </a:p>
          <a:p>
            <a:r>
              <a:rPr lang="de-DE" dirty="0"/>
              <a:t>Klarer Trade-off zwischen Leistung und Komplexität</a:t>
            </a:r>
          </a:p>
        </p:txBody>
      </p:sp>
    </p:spTree>
    <p:extLst>
      <p:ext uri="{BB962C8B-B14F-4D97-AF65-F5344CB8AC3E}">
        <p14:creationId xmlns:p14="http://schemas.microsoft.com/office/powerpoint/2010/main" val="23995516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Balken zeigen Mittelwerte, schwarze Punkte die einzelnen </a:t>
            </a:r>
            <a:r>
              <a:rPr lang="de-DE" dirty="0" err="1"/>
              <a:t>Trainingsseeds</a:t>
            </a:r>
            <a:endParaRPr lang="de-DE" dirty="0"/>
          </a:p>
          <a:p>
            <a:r>
              <a:rPr lang="de-DE" dirty="0" err="1"/>
              <a:t>Counting</a:t>
            </a:r>
            <a:r>
              <a:rPr lang="de-DE" dirty="0"/>
              <a:t>-Agent mit höherem mittleren </a:t>
            </a:r>
            <a:r>
              <a:rPr lang="de-DE" dirty="0" err="1"/>
              <a:t>Reward</a:t>
            </a:r>
            <a:r>
              <a:rPr lang="de-DE" dirty="0"/>
              <a:t> und höherer mittlerer </a:t>
            </a:r>
            <a:r>
              <a:rPr lang="de-DE" dirty="0" err="1"/>
              <a:t>Win</a:t>
            </a:r>
            <a:r>
              <a:rPr lang="de-DE" dirty="0"/>
              <a:t> Rate</a:t>
            </a:r>
          </a:p>
          <a:p>
            <a:r>
              <a:rPr lang="de-DE" dirty="0" err="1"/>
              <a:t>Counting</a:t>
            </a:r>
            <a:r>
              <a:rPr lang="de-DE" dirty="0"/>
              <a:t>-Agent bei allen drei gepaarten </a:t>
            </a:r>
            <a:r>
              <a:rPr lang="de-DE" dirty="0" err="1"/>
              <a:t>Trainingsseeds</a:t>
            </a:r>
            <a:r>
              <a:rPr lang="de-DE" dirty="0"/>
              <a:t> mit besserem </a:t>
            </a:r>
            <a:r>
              <a:rPr lang="de-DE" dirty="0" err="1"/>
              <a:t>Reward</a:t>
            </a:r>
            <a:endParaRPr lang="de-DE" dirty="0"/>
          </a:p>
          <a:p>
            <a:r>
              <a:rPr lang="de-DE" dirty="0"/>
              <a:t>Unterschiede zwischen beiden Agenten insgesamt sehr klein</a:t>
            </a:r>
          </a:p>
        </p:txBody>
      </p:sp>
    </p:spTree>
    <p:extLst>
      <p:ext uri="{BB962C8B-B14F-4D97-AF65-F5344CB8AC3E}">
        <p14:creationId xmlns:p14="http://schemas.microsoft.com/office/powerpoint/2010/main" val="42014029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Mittlere </a:t>
            </a:r>
            <a:r>
              <a:rPr lang="de-DE" dirty="0" err="1"/>
              <a:t>Reward</a:t>
            </a:r>
            <a:r>
              <a:rPr lang="de-DE" dirty="0"/>
              <a:t>-Verbesserung: +0,001794</a:t>
            </a:r>
          </a:p>
          <a:p>
            <a:r>
              <a:rPr lang="de-DE" dirty="0"/>
              <a:t>Nur drei unabhängige Trainingsläufe pro Agent</a:t>
            </a:r>
          </a:p>
          <a:p>
            <a:r>
              <a:rPr lang="de-DE" dirty="0"/>
              <a:t>Explorative Auswertung: p = 0,153</a:t>
            </a:r>
          </a:p>
          <a:p>
            <a:r>
              <a:rPr lang="de-DE" dirty="0"/>
              <a:t>95%-Konfidenzintervall der Differenz enthält null</a:t>
            </a:r>
          </a:p>
          <a:p>
            <a:r>
              <a:rPr lang="de-DE" dirty="0"/>
              <a:t>Positive Tendenz, aber kein robuster statistischer Nachweis</a:t>
            </a:r>
          </a:p>
        </p:txBody>
      </p:sp>
    </p:spTree>
    <p:extLst>
      <p:ext uri="{BB962C8B-B14F-4D97-AF65-F5344CB8AC3E}">
        <p14:creationId xmlns:p14="http://schemas.microsoft.com/office/powerpoint/2010/main" val="33156249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Linke </a:t>
            </a:r>
            <a:r>
              <a:rPr lang="en-GB" dirty="0" err="1"/>
              <a:t>Grafik</a:t>
            </a:r>
            <a:r>
              <a:rPr lang="en-GB" dirty="0"/>
              <a:t>: </a:t>
            </a:r>
            <a:r>
              <a:rPr lang="en-GB" dirty="0" err="1"/>
              <a:t>durchschnittlicher</a:t>
            </a:r>
            <a:r>
              <a:rPr lang="en-GB" dirty="0"/>
              <a:t> Reward </a:t>
            </a:r>
            <a:r>
              <a:rPr lang="en-GB" dirty="0" err="1"/>
              <a:t>nach</a:t>
            </a:r>
            <a:r>
              <a:rPr lang="en-GB" dirty="0"/>
              <a:t> True-Count-Bucket</a:t>
            </a:r>
          </a:p>
          <a:p>
            <a:r>
              <a:rPr lang="en-GB" dirty="0"/>
              <a:t>Rechte </a:t>
            </a:r>
            <a:r>
              <a:rPr lang="en-GB" dirty="0" err="1"/>
              <a:t>Grafik</a:t>
            </a:r>
            <a:r>
              <a:rPr lang="en-GB" dirty="0"/>
              <a:t>: </a:t>
            </a:r>
            <a:r>
              <a:rPr lang="en-GB" dirty="0" err="1"/>
              <a:t>Anteil</a:t>
            </a:r>
            <a:r>
              <a:rPr lang="en-GB" dirty="0"/>
              <a:t> der Hit-</a:t>
            </a:r>
            <a:r>
              <a:rPr lang="en-GB" dirty="0" err="1"/>
              <a:t>Aktionen</a:t>
            </a:r>
            <a:r>
              <a:rPr lang="en-GB" dirty="0"/>
              <a:t> </a:t>
            </a:r>
            <a:r>
              <a:rPr lang="en-GB" dirty="0" err="1"/>
              <a:t>nach</a:t>
            </a:r>
            <a:r>
              <a:rPr lang="en-GB" dirty="0"/>
              <a:t> True-Count-Bucket</a:t>
            </a:r>
          </a:p>
          <a:p>
            <a:r>
              <a:rPr lang="en-GB" dirty="0"/>
              <a:t>Counting-Agent </a:t>
            </a:r>
            <a:r>
              <a:rPr lang="en-GB" dirty="0" err="1"/>
              <a:t>zieht</a:t>
            </a:r>
            <a:r>
              <a:rPr lang="en-GB" dirty="0"/>
              <a:t> </a:t>
            </a:r>
            <a:r>
              <a:rPr lang="en-GB" dirty="0" err="1"/>
              <a:t>bei</a:t>
            </a:r>
            <a:r>
              <a:rPr lang="en-GB" dirty="0"/>
              <a:t> </a:t>
            </a:r>
            <a:r>
              <a:rPr lang="en-GB" dirty="0" err="1"/>
              <a:t>negativem</a:t>
            </a:r>
            <a:r>
              <a:rPr lang="en-GB" dirty="0"/>
              <a:t> True Count </a:t>
            </a:r>
            <a:r>
              <a:rPr lang="en-GB" dirty="0" err="1"/>
              <a:t>häufiger</a:t>
            </a:r>
            <a:endParaRPr lang="en-GB" dirty="0"/>
          </a:p>
          <a:p>
            <a:r>
              <a:rPr lang="en-GB" dirty="0"/>
              <a:t>Bei </a:t>
            </a:r>
            <a:r>
              <a:rPr lang="en-GB" dirty="0" err="1"/>
              <a:t>positivem</a:t>
            </a:r>
            <a:r>
              <a:rPr lang="en-GB" dirty="0"/>
              <a:t> True Count </a:t>
            </a:r>
            <a:r>
              <a:rPr lang="en-GB" dirty="0" err="1"/>
              <a:t>deutlich</a:t>
            </a:r>
            <a:r>
              <a:rPr lang="en-GB" dirty="0"/>
              <a:t> </a:t>
            </a:r>
            <a:r>
              <a:rPr lang="en-GB" dirty="0" err="1"/>
              <a:t>geringerer</a:t>
            </a:r>
            <a:r>
              <a:rPr lang="en-GB" dirty="0"/>
              <a:t> Hit-</a:t>
            </a:r>
            <a:r>
              <a:rPr lang="en-GB" dirty="0" err="1"/>
              <a:t>Anteil</a:t>
            </a:r>
            <a:endParaRPr lang="en-GB" dirty="0"/>
          </a:p>
          <a:p>
            <a:r>
              <a:rPr lang="en-GB" dirty="0"/>
              <a:t>Absoluter Reward </a:t>
            </a:r>
            <a:r>
              <a:rPr lang="en-GB" dirty="0" err="1"/>
              <a:t>bei</a:t>
            </a:r>
            <a:r>
              <a:rPr lang="en-GB" dirty="0"/>
              <a:t> </a:t>
            </a:r>
            <a:r>
              <a:rPr lang="en-GB" dirty="0" err="1"/>
              <a:t>hohen</a:t>
            </a:r>
            <a:r>
              <a:rPr lang="en-GB" dirty="0"/>
              <a:t> Counts </a:t>
            </a:r>
            <a:r>
              <a:rPr lang="en-GB" dirty="0" err="1"/>
              <a:t>weiterhin</a:t>
            </a:r>
            <a:r>
              <a:rPr lang="en-GB" dirty="0"/>
              <a:t> </a:t>
            </a:r>
            <a:r>
              <a:rPr lang="en-GB" dirty="0" err="1"/>
              <a:t>negativ</a:t>
            </a:r>
            <a:endParaRPr lang="en-GB" dirty="0"/>
          </a:p>
          <a:p>
            <a:r>
              <a:rPr lang="en-GB" dirty="0" err="1"/>
              <a:t>Vereinfachte</a:t>
            </a:r>
            <a:r>
              <a:rPr lang="en-GB" dirty="0"/>
              <a:t> </a:t>
            </a:r>
            <a:r>
              <a:rPr lang="en-GB" dirty="0" err="1"/>
              <a:t>Umgebung</a:t>
            </a:r>
            <a:r>
              <a:rPr lang="en-GB" dirty="0"/>
              <a:t> </a:t>
            </a:r>
            <a:r>
              <a:rPr lang="en-GB" dirty="0" err="1"/>
              <a:t>ohne</a:t>
            </a:r>
            <a:r>
              <a:rPr lang="en-GB" dirty="0"/>
              <a:t> variable </a:t>
            </a:r>
            <a:r>
              <a:rPr lang="en-GB" dirty="0" err="1"/>
              <a:t>Einsätze</a:t>
            </a:r>
            <a:r>
              <a:rPr lang="en-GB" dirty="0"/>
              <a:t>, Double Down und Natural-Payout</a:t>
            </a:r>
          </a:p>
        </p:txBody>
      </p:sp>
    </p:spTree>
    <p:extLst>
      <p:ext uri="{BB962C8B-B14F-4D97-AF65-F5344CB8AC3E}">
        <p14:creationId xmlns:p14="http://schemas.microsoft.com/office/powerpoint/2010/main" val="39857501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Entscheidungen verändern sich systematisch mit dem True Count</a:t>
            </a:r>
          </a:p>
          <a:p>
            <a:r>
              <a:rPr lang="de-DE" dirty="0"/>
              <a:t>Negativer Count: häufiger Hit</a:t>
            </a:r>
          </a:p>
          <a:p>
            <a:r>
              <a:rPr lang="de-DE" dirty="0"/>
              <a:t>Positiver Count: häufiger Stand</a:t>
            </a:r>
          </a:p>
          <a:p>
            <a:r>
              <a:rPr lang="de-DE" dirty="0"/>
              <a:t>Ab True Count −2 besserer </a:t>
            </a:r>
            <a:r>
              <a:rPr lang="de-DE" dirty="0" err="1"/>
              <a:t>Reward</a:t>
            </a:r>
            <a:r>
              <a:rPr lang="de-DE" dirty="0"/>
              <a:t> als bei der Baseline</a:t>
            </a:r>
          </a:p>
          <a:p>
            <a:r>
              <a:rPr lang="de-DE" dirty="0"/>
              <a:t>Nachweis der Nutzung der Count-Information, nicht eines allgemeinen Spielvorteils</a:t>
            </a:r>
          </a:p>
        </p:txBody>
      </p:sp>
    </p:spTree>
    <p:extLst>
      <p:ext uri="{BB962C8B-B14F-4D97-AF65-F5344CB8AC3E}">
        <p14:creationId xmlns:p14="http://schemas.microsoft.com/office/powerpoint/2010/main" val="28497080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Vergleich derselben </a:t>
            </a:r>
            <a:r>
              <a:rPr lang="de-DE" dirty="0" err="1"/>
              <a:t>Counting</a:t>
            </a:r>
            <a:r>
              <a:rPr lang="de-DE" dirty="0"/>
              <a:t>-Policy bei True Count −3 und +3</a:t>
            </a:r>
          </a:p>
          <a:p>
            <a:r>
              <a:rPr lang="de-DE" dirty="0"/>
              <a:t>Darstellung ausschließlich für Hard Totals</a:t>
            </a:r>
          </a:p>
          <a:p>
            <a:r>
              <a:rPr lang="de-DE" dirty="0"/>
              <a:t>Rot: Stand, Grün: Hit</a:t>
            </a:r>
          </a:p>
          <a:p>
            <a:r>
              <a:rPr lang="de-DE" dirty="0"/>
              <a:t>Unterschiede vor allem bei niedrigen und mittleren Handwerten</a:t>
            </a:r>
          </a:p>
          <a:p>
            <a:r>
              <a:rPr lang="de-DE" dirty="0"/>
              <a:t>Policy Maps als qualitative Zusammenfassung des Agentenverhaltens</a:t>
            </a:r>
          </a:p>
        </p:txBody>
      </p:sp>
    </p:spTree>
    <p:extLst>
      <p:ext uri="{BB962C8B-B14F-4D97-AF65-F5344CB8AC3E}">
        <p14:creationId xmlns:p14="http://schemas.microsoft.com/office/powerpoint/2010/main" val="25977873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25DCF-9858-202A-830A-927C72D57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FC8B403-2992-3028-CF84-D6B391969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19435E8-462D-68BB-8470-5A80B2841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GB" dirty="0" err="1"/>
              <a:t>Negativer</a:t>
            </a:r>
            <a:r>
              <a:rPr lang="en-GB" dirty="0"/>
              <a:t> Count: </a:t>
            </a:r>
            <a:r>
              <a:rPr lang="en-GB" dirty="0" err="1"/>
              <a:t>häufiger</a:t>
            </a:r>
            <a:r>
              <a:rPr lang="en-GB" dirty="0"/>
              <a:t> Hit </a:t>
            </a:r>
            <a:r>
              <a:rPr lang="en-GB" dirty="0" err="1"/>
              <a:t>bei</a:t>
            </a:r>
            <a:r>
              <a:rPr lang="en-GB" dirty="0"/>
              <a:t> </a:t>
            </a:r>
            <a:r>
              <a:rPr lang="en-GB" dirty="0" err="1"/>
              <a:t>niedrigen</a:t>
            </a:r>
            <a:r>
              <a:rPr lang="en-GB" dirty="0"/>
              <a:t> und </a:t>
            </a:r>
            <a:r>
              <a:rPr lang="en-GB" dirty="0" err="1"/>
              <a:t>mittleren</a:t>
            </a:r>
            <a:r>
              <a:rPr lang="en-GB" dirty="0"/>
              <a:t> </a:t>
            </a:r>
            <a:r>
              <a:rPr lang="en-GB" dirty="0" err="1"/>
              <a:t>Handwerten</a:t>
            </a:r>
            <a:endParaRPr lang="en-GB" dirty="0"/>
          </a:p>
          <a:p>
            <a:r>
              <a:rPr lang="en-GB" dirty="0" err="1"/>
              <a:t>Positiver</a:t>
            </a:r>
            <a:r>
              <a:rPr lang="en-GB" dirty="0"/>
              <a:t> Count: </a:t>
            </a:r>
            <a:r>
              <a:rPr lang="en-GB" dirty="0" err="1"/>
              <a:t>häufiger</a:t>
            </a:r>
            <a:r>
              <a:rPr lang="en-GB" dirty="0"/>
              <a:t> Stand </a:t>
            </a:r>
            <a:r>
              <a:rPr lang="en-GB" dirty="0" err="1"/>
              <a:t>gegen</a:t>
            </a:r>
            <a:r>
              <a:rPr lang="en-GB" dirty="0"/>
              <a:t> </a:t>
            </a:r>
            <a:r>
              <a:rPr lang="en-GB" dirty="0" err="1"/>
              <a:t>niedrige</a:t>
            </a:r>
            <a:r>
              <a:rPr lang="en-GB" dirty="0"/>
              <a:t> Dealer-Karten</a:t>
            </a:r>
          </a:p>
          <a:p>
            <a:r>
              <a:rPr lang="en-GB" dirty="0"/>
              <a:t>True Count </a:t>
            </a:r>
            <a:r>
              <a:rPr lang="en-GB" dirty="0" err="1"/>
              <a:t>beeinflusst</a:t>
            </a:r>
            <a:r>
              <a:rPr lang="en-GB" dirty="0"/>
              <a:t> </a:t>
            </a:r>
            <a:r>
              <a:rPr lang="en-GB" dirty="0" err="1"/>
              <a:t>konkrete</a:t>
            </a:r>
            <a:r>
              <a:rPr lang="en-GB" dirty="0"/>
              <a:t> </a:t>
            </a:r>
            <a:r>
              <a:rPr lang="en-GB" dirty="0" err="1"/>
              <a:t>Entscheidungen</a:t>
            </a:r>
            <a:r>
              <a:rPr lang="en-GB" dirty="0"/>
              <a:t> des </a:t>
            </a:r>
            <a:r>
              <a:rPr lang="en-GB" dirty="0" err="1"/>
              <a:t>Agenten</a:t>
            </a:r>
            <a:endParaRPr lang="en-GB" dirty="0"/>
          </a:p>
          <a:p>
            <a:r>
              <a:rPr lang="en-GB" dirty="0"/>
              <a:t>Count-</a:t>
            </a:r>
            <a:r>
              <a:rPr lang="en-GB" dirty="0" err="1"/>
              <a:t>abhängige</a:t>
            </a:r>
            <a:r>
              <a:rPr lang="en-GB" dirty="0"/>
              <a:t> Policy, </a:t>
            </a:r>
            <a:r>
              <a:rPr lang="en-GB" dirty="0" err="1"/>
              <a:t>aber</a:t>
            </a:r>
            <a:r>
              <a:rPr lang="en-GB" dirty="0"/>
              <a:t> </a:t>
            </a:r>
            <a:r>
              <a:rPr lang="en-GB" dirty="0" err="1"/>
              <a:t>kein</a:t>
            </a:r>
            <a:r>
              <a:rPr lang="en-GB" dirty="0"/>
              <a:t> </a:t>
            </a:r>
            <a:r>
              <a:rPr lang="en-GB" dirty="0" err="1"/>
              <a:t>Beleg</a:t>
            </a:r>
            <a:r>
              <a:rPr lang="en-GB" dirty="0"/>
              <a:t> für </a:t>
            </a:r>
            <a:r>
              <a:rPr lang="en-GB" dirty="0" err="1"/>
              <a:t>eine</a:t>
            </a:r>
            <a:r>
              <a:rPr lang="en-GB" dirty="0"/>
              <a:t> </a:t>
            </a:r>
            <a:r>
              <a:rPr lang="en-GB" dirty="0" err="1"/>
              <a:t>optimale</a:t>
            </a:r>
            <a:r>
              <a:rPr lang="en-GB" dirty="0"/>
              <a:t> Policy</a:t>
            </a:r>
          </a:p>
        </p:txBody>
      </p:sp>
    </p:spTree>
    <p:extLst>
      <p:ext uri="{BB962C8B-B14F-4D97-AF65-F5344CB8AC3E}">
        <p14:creationId xmlns:p14="http://schemas.microsoft.com/office/powerpoint/2010/main" val="40355469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Q-Learning lernt eine grundsätzlich plausible Hit/Stand-Policy</a:t>
            </a:r>
          </a:p>
          <a:p>
            <a:r>
              <a:rPr lang="de-DE" dirty="0"/>
              <a:t>Count-Information wird systematisch für Entscheidungen verwendet</a:t>
            </a:r>
          </a:p>
          <a:p>
            <a:r>
              <a:rPr lang="de-DE" dirty="0"/>
              <a:t>Performancegewinn: +0,001794 durchschnittlicher </a:t>
            </a:r>
            <a:r>
              <a:rPr lang="de-DE" dirty="0" err="1"/>
              <a:t>Reward</a:t>
            </a:r>
            <a:endParaRPr lang="de-DE" dirty="0"/>
          </a:p>
          <a:p>
            <a:r>
              <a:rPr lang="de-DE" dirty="0" err="1"/>
              <a:t>Win</a:t>
            </a:r>
            <a:r>
              <a:rPr lang="de-DE" dirty="0"/>
              <a:t>-Rate-Verbesserung: +0,087 Pp.</a:t>
            </a:r>
          </a:p>
          <a:p>
            <a:r>
              <a:rPr lang="de-DE" dirty="0"/>
              <a:t>Preis des Vorteils: rund 406-mal größerer Zustandsraum</a:t>
            </a:r>
          </a:p>
        </p:txBody>
      </p:sp>
    </p:spTree>
    <p:extLst>
      <p:ext uri="{BB962C8B-B14F-4D97-AF65-F5344CB8AC3E}">
        <p14:creationId xmlns:p14="http://schemas.microsoft.com/office/powerpoint/2010/main" val="8558026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FQ 1: </a:t>
            </a:r>
            <a:r>
              <a:rPr lang="en-GB" dirty="0" err="1"/>
              <a:t>Nutzung</a:t>
            </a:r>
            <a:r>
              <a:rPr lang="en-GB" dirty="0"/>
              <a:t> der </a:t>
            </a:r>
            <a:r>
              <a:rPr lang="en-GB" dirty="0" err="1"/>
              <a:t>Kartenzählinformation</a:t>
            </a:r>
            <a:r>
              <a:rPr lang="en-GB" dirty="0"/>
              <a:t> </a:t>
            </a:r>
            <a:r>
              <a:rPr lang="en-GB" dirty="0" err="1"/>
              <a:t>durch</a:t>
            </a:r>
            <a:r>
              <a:rPr lang="en-GB" dirty="0"/>
              <a:t> Q-Learning </a:t>
            </a:r>
            <a:r>
              <a:rPr lang="en-GB" dirty="0" err="1"/>
              <a:t>bestätigt</a:t>
            </a:r>
            <a:endParaRPr lang="en-GB" dirty="0"/>
          </a:p>
          <a:p>
            <a:r>
              <a:rPr lang="en-GB" dirty="0" err="1"/>
              <a:t>Deutlich</a:t>
            </a:r>
            <a:r>
              <a:rPr lang="en-GB" dirty="0"/>
              <a:t> </a:t>
            </a:r>
            <a:r>
              <a:rPr lang="en-GB" dirty="0" err="1"/>
              <a:t>höherer</a:t>
            </a:r>
            <a:r>
              <a:rPr lang="en-GB" dirty="0"/>
              <a:t> Trainings- und </a:t>
            </a:r>
            <a:r>
              <a:rPr lang="en-GB" dirty="0" err="1"/>
              <a:t>Zustandsraumbedarf</a:t>
            </a:r>
            <a:endParaRPr lang="en-GB" dirty="0"/>
          </a:p>
          <a:p>
            <a:r>
              <a:rPr lang="en-GB" dirty="0"/>
              <a:t>FQ 2: </a:t>
            </a:r>
            <a:r>
              <a:rPr lang="en-GB" dirty="0" err="1"/>
              <a:t>klare</a:t>
            </a:r>
            <a:r>
              <a:rPr lang="en-GB" dirty="0"/>
              <a:t> </a:t>
            </a:r>
            <a:r>
              <a:rPr lang="en-GB" dirty="0" err="1"/>
              <a:t>Verhaltensunterschiede</a:t>
            </a:r>
            <a:r>
              <a:rPr lang="en-GB" dirty="0"/>
              <a:t> </a:t>
            </a:r>
            <a:r>
              <a:rPr lang="en-GB" dirty="0" err="1"/>
              <a:t>nach</a:t>
            </a:r>
            <a:r>
              <a:rPr lang="en-GB" dirty="0"/>
              <a:t> True Count, </a:t>
            </a:r>
            <a:r>
              <a:rPr lang="en-GB" dirty="0" err="1"/>
              <a:t>aber</a:t>
            </a:r>
            <a:r>
              <a:rPr lang="en-GB" dirty="0"/>
              <a:t> </a:t>
            </a:r>
            <a:r>
              <a:rPr lang="en-GB" dirty="0" err="1"/>
              <a:t>nur</a:t>
            </a:r>
            <a:r>
              <a:rPr lang="en-GB" dirty="0"/>
              <a:t> </a:t>
            </a:r>
            <a:r>
              <a:rPr lang="en-GB" dirty="0" err="1"/>
              <a:t>marginale</a:t>
            </a:r>
            <a:r>
              <a:rPr lang="en-GB" dirty="0"/>
              <a:t> </a:t>
            </a:r>
            <a:r>
              <a:rPr lang="en-GB" dirty="0" err="1"/>
              <a:t>Gesamtverbesserung</a:t>
            </a:r>
            <a:endParaRPr lang="en-GB" dirty="0"/>
          </a:p>
          <a:p>
            <a:r>
              <a:rPr lang="en-GB" dirty="0"/>
              <a:t>FQ 3: </a:t>
            </a:r>
            <a:r>
              <a:rPr lang="en-GB" dirty="0" err="1"/>
              <a:t>kein</a:t>
            </a:r>
            <a:r>
              <a:rPr lang="en-GB" dirty="0"/>
              <a:t> </a:t>
            </a:r>
            <a:r>
              <a:rPr lang="en-GB" dirty="0" err="1"/>
              <a:t>vollständiger</a:t>
            </a:r>
            <a:r>
              <a:rPr lang="en-GB" dirty="0"/>
              <a:t> </a:t>
            </a:r>
            <a:r>
              <a:rPr lang="en-GB" dirty="0" err="1"/>
              <a:t>Konvergenznachweis</a:t>
            </a:r>
            <a:endParaRPr lang="en-GB" dirty="0"/>
          </a:p>
          <a:p>
            <a:r>
              <a:rPr lang="en-GB" dirty="0"/>
              <a:t>100 Mio. </a:t>
            </a:r>
            <a:r>
              <a:rPr lang="en-GB" dirty="0" err="1"/>
              <a:t>Episoden</a:t>
            </a:r>
            <a:r>
              <a:rPr lang="en-GB" dirty="0"/>
              <a:t> </a:t>
            </a:r>
            <a:r>
              <a:rPr lang="en-GB" dirty="0" err="1"/>
              <a:t>als</a:t>
            </a:r>
            <a:r>
              <a:rPr lang="en-GB" dirty="0"/>
              <a:t> </a:t>
            </a:r>
            <a:r>
              <a:rPr lang="en-GB" dirty="0" err="1"/>
              <a:t>belastbarer</a:t>
            </a:r>
            <a:r>
              <a:rPr lang="en-GB" dirty="0"/>
              <a:t> </a:t>
            </a:r>
            <a:r>
              <a:rPr lang="en-GB" dirty="0" err="1"/>
              <a:t>Zwischenstand</a:t>
            </a:r>
            <a:r>
              <a:rPr lang="en-GB" dirty="0"/>
              <a:t>, </a:t>
            </a:r>
            <a:r>
              <a:rPr lang="en-GB" dirty="0" err="1"/>
              <a:t>nicht</a:t>
            </a:r>
            <a:r>
              <a:rPr lang="en-GB" dirty="0"/>
              <a:t> </a:t>
            </a:r>
            <a:r>
              <a:rPr lang="en-GB" dirty="0" err="1"/>
              <a:t>als</a:t>
            </a:r>
            <a:r>
              <a:rPr lang="en-GB" dirty="0"/>
              <a:t> </a:t>
            </a:r>
            <a:r>
              <a:rPr lang="en-GB" dirty="0" err="1"/>
              <a:t>Endpunkt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9422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Zusätzliche Zusammenfassung der Ergebnisse bei 100 Mio. Episoden</a:t>
            </a:r>
          </a:p>
          <a:p>
            <a:r>
              <a:rPr lang="de-DE" dirty="0"/>
              <a:t>Beide Agenten bei ungefähr −0,050 durchschnittlichem </a:t>
            </a:r>
            <a:r>
              <a:rPr lang="de-DE" dirty="0" err="1"/>
              <a:t>Reward</a:t>
            </a:r>
            <a:endParaRPr lang="de-DE" dirty="0"/>
          </a:p>
          <a:p>
            <a:r>
              <a:rPr lang="de-DE" dirty="0" err="1"/>
              <a:t>Counting</a:t>
            </a:r>
            <a:r>
              <a:rPr lang="de-DE" dirty="0"/>
              <a:t>-Agent geringfügig besser als die Baseline</a:t>
            </a:r>
          </a:p>
          <a:p>
            <a:r>
              <a:rPr lang="de-DE" dirty="0" err="1"/>
              <a:t>Win</a:t>
            </a:r>
            <a:r>
              <a:rPr lang="de-DE" dirty="0"/>
              <a:t> Rate beider Agenten bei ungefähr 42,8 %</a:t>
            </a:r>
          </a:p>
          <a:p>
            <a:r>
              <a:rPr lang="de-DE" dirty="0"/>
              <a:t>Deutlicher Verhaltenseffekt, aber nur kleiner Performanceeffekt</a:t>
            </a:r>
          </a:p>
        </p:txBody>
      </p:sp>
    </p:spTree>
    <p:extLst>
      <p:ext uri="{BB962C8B-B14F-4D97-AF65-F5344CB8AC3E}">
        <p14:creationId xmlns:p14="http://schemas.microsoft.com/office/powerpoint/2010/main" val="26911051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GB" dirty="0" err="1"/>
              <a:t>Priorität</a:t>
            </a:r>
            <a:r>
              <a:rPr lang="en-GB" dirty="0"/>
              <a:t> 1: Ablation von Running Count, True Count und </a:t>
            </a:r>
            <a:r>
              <a:rPr lang="en-GB" dirty="0" err="1"/>
              <a:t>verbleibenden</a:t>
            </a:r>
            <a:r>
              <a:rPr lang="en-GB" dirty="0"/>
              <a:t> Decks; </a:t>
            </a:r>
            <a:r>
              <a:rPr lang="en-GB" dirty="0" err="1"/>
              <a:t>redundante</a:t>
            </a:r>
            <a:r>
              <a:rPr lang="en-GB" dirty="0"/>
              <a:t> </a:t>
            </a:r>
            <a:r>
              <a:rPr lang="en-GB" dirty="0" err="1"/>
              <a:t>Merkmale</a:t>
            </a:r>
            <a:r>
              <a:rPr lang="en-GB" dirty="0"/>
              <a:t> </a:t>
            </a:r>
            <a:r>
              <a:rPr lang="en-GB" dirty="0" err="1"/>
              <a:t>entfernen</a:t>
            </a:r>
            <a:endParaRPr lang="en-GB" dirty="0"/>
          </a:p>
          <a:p>
            <a:r>
              <a:rPr lang="en-GB" dirty="0" err="1"/>
              <a:t>Priorität</a:t>
            </a:r>
            <a:r>
              <a:rPr lang="en-GB" dirty="0"/>
              <a:t> 2: </a:t>
            </a:r>
            <a:r>
              <a:rPr lang="en-GB" dirty="0" err="1"/>
              <a:t>mindestens</a:t>
            </a:r>
            <a:r>
              <a:rPr lang="en-GB" dirty="0"/>
              <a:t> </a:t>
            </a:r>
            <a:r>
              <a:rPr lang="en-GB" dirty="0" err="1"/>
              <a:t>zehn</a:t>
            </a:r>
            <a:r>
              <a:rPr lang="en-GB" dirty="0"/>
              <a:t> </a:t>
            </a:r>
            <a:r>
              <a:rPr lang="en-GB" dirty="0" err="1"/>
              <a:t>unabhängige</a:t>
            </a:r>
            <a:r>
              <a:rPr lang="en-GB" dirty="0"/>
              <a:t> </a:t>
            </a:r>
            <a:r>
              <a:rPr lang="en-GB" dirty="0" err="1"/>
              <a:t>Trainingsseeds</a:t>
            </a:r>
            <a:r>
              <a:rPr lang="en-GB" dirty="0"/>
              <a:t>; </a:t>
            </a:r>
            <a:r>
              <a:rPr lang="en-GB" dirty="0" err="1"/>
              <a:t>Streuung</a:t>
            </a:r>
            <a:r>
              <a:rPr lang="en-GB" dirty="0"/>
              <a:t> und </a:t>
            </a:r>
            <a:r>
              <a:rPr lang="en-GB" dirty="0" err="1"/>
              <a:t>Signifikanz</a:t>
            </a:r>
            <a:r>
              <a:rPr lang="en-GB" dirty="0"/>
              <a:t> </a:t>
            </a:r>
            <a:r>
              <a:rPr lang="en-GB" dirty="0" err="1"/>
              <a:t>belastbarer</a:t>
            </a:r>
            <a:r>
              <a:rPr lang="en-GB" dirty="0"/>
              <a:t> </a:t>
            </a:r>
            <a:r>
              <a:rPr lang="en-GB" dirty="0" err="1"/>
              <a:t>bestimmen</a:t>
            </a:r>
            <a:endParaRPr lang="en-GB" dirty="0"/>
          </a:p>
          <a:p>
            <a:r>
              <a:rPr lang="en-GB" dirty="0" err="1"/>
              <a:t>Priorität</a:t>
            </a:r>
            <a:r>
              <a:rPr lang="en-GB" dirty="0"/>
              <a:t> 3: Natural-Payout, Double Down und variable </a:t>
            </a:r>
            <a:r>
              <a:rPr lang="en-GB" dirty="0" err="1"/>
              <a:t>Einsätze</a:t>
            </a:r>
            <a:r>
              <a:rPr lang="en-GB" dirty="0"/>
              <a:t> </a:t>
            </a:r>
            <a:r>
              <a:rPr lang="en-GB" dirty="0" err="1"/>
              <a:t>ergänzen</a:t>
            </a:r>
            <a:endParaRPr lang="en-GB" dirty="0"/>
          </a:p>
          <a:p>
            <a:r>
              <a:rPr lang="en-GB" dirty="0" err="1"/>
              <a:t>Priorität</a:t>
            </a:r>
            <a:r>
              <a:rPr lang="en-GB" dirty="0"/>
              <a:t> 4: DQN </a:t>
            </a:r>
            <a:r>
              <a:rPr lang="en-GB" dirty="0" err="1"/>
              <a:t>oder</a:t>
            </a:r>
            <a:r>
              <a:rPr lang="en-GB" dirty="0"/>
              <a:t> PPO 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kompakter</a:t>
            </a:r>
            <a:r>
              <a:rPr lang="en-GB" dirty="0"/>
              <a:t> </a:t>
            </a:r>
            <a:r>
              <a:rPr lang="en-GB" dirty="0" err="1"/>
              <a:t>Zustandsrepräsentation</a:t>
            </a:r>
            <a:r>
              <a:rPr lang="en-GB" dirty="0"/>
              <a:t> </a:t>
            </a:r>
            <a:r>
              <a:rPr lang="en-GB"/>
              <a:t>untersuchen</a:t>
            </a:r>
          </a:p>
        </p:txBody>
      </p:sp>
    </p:spTree>
    <p:extLst>
      <p:ext uri="{BB962C8B-B14F-4D97-AF65-F5344CB8AC3E}">
        <p14:creationId xmlns:p14="http://schemas.microsoft.com/office/powerpoint/2010/main" val="676316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8D9F3DC-F7F6-5694-B924-1E4E2DEB4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9A811-E436-43CE-BA75-4E2174801D49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57A03BC-0C7D-F9E4-7B2F-E2BA1B2B6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7925C47-55AD-9530-055B-6E2D84B05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3BAD-F72E-40C1-8986-E2F00D6EF42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1413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89BF7D4-72AF-2001-39A9-03B7DC731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6AFFD29-E3E9-762B-CE46-FC1A086B35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137319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A171FE-A770-41BE-BA6E-8393C1639340}" type="slidenum">
              <a:rPr lang="en-GB" smtClean="0"/>
              <a:t>‹Nr.›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C8A818B2-C3A5-B80D-DA75-B1318A3367F8}"/>
              </a:ext>
            </a:extLst>
          </p:cNvPr>
          <p:cNvGrpSpPr/>
          <p:nvPr/>
        </p:nvGrpSpPr>
        <p:grpSpPr>
          <a:xfrm>
            <a:off x="6217920" y="-1097280"/>
            <a:ext cx="5029200" cy="5029200"/>
            <a:chOff x="6217920" y="-1097280"/>
            <a:chExt cx="5029200" cy="5029200"/>
          </a:xfrm>
        </p:grpSpPr>
        <p:sp>
          <p:nvSpPr>
            <p:cNvPr id="3" name="Shape 1"/>
            <p:cNvSpPr/>
            <p:nvPr/>
          </p:nvSpPr>
          <p:spPr>
            <a:xfrm>
              <a:off x="6217920" y="-1097280"/>
              <a:ext cx="5029200" cy="5029200"/>
            </a:xfrm>
            <a:prstGeom prst="ellipse">
              <a:avLst/>
            </a:prstGeom>
            <a:solidFill>
              <a:srgbClr val="14B8A6">
                <a:alpha val="12000"/>
              </a:srgbClr>
            </a:solidFill>
            <a:ln w="12700">
              <a:solidFill>
                <a:srgbClr val="0D9488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de-DE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" name="Shape 2"/>
            <p:cNvSpPr/>
            <p:nvPr/>
          </p:nvSpPr>
          <p:spPr>
            <a:xfrm>
              <a:off x="6766560" y="-548640"/>
              <a:ext cx="3474720" cy="3474720"/>
            </a:xfrm>
            <a:prstGeom prst="ellipse">
              <a:avLst/>
            </a:prstGeom>
            <a:solidFill>
              <a:srgbClr val="14B8A6">
                <a:alpha val="18000"/>
              </a:srgbClr>
            </a:solidFill>
            <a:ln w="12700">
              <a:solidFill>
                <a:srgbClr val="0D9488">
                  <a:alpha val="40000"/>
                </a:srgbClr>
              </a:solidFill>
              <a:prstDash val="solid"/>
            </a:ln>
          </p:spPr>
          <p:txBody>
            <a:bodyPr/>
            <a:lstStyle/>
            <a:p>
              <a:endParaRPr lang="de-DE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BCF9396-4B3A-1777-E4F2-DC8C0EFFB817}"/>
              </a:ext>
            </a:extLst>
          </p:cNvPr>
          <p:cNvGrpSpPr/>
          <p:nvPr/>
        </p:nvGrpSpPr>
        <p:grpSpPr>
          <a:xfrm>
            <a:off x="548640" y="1005840"/>
            <a:ext cx="2926080" cy="347472"/>
            <a:chOff x="548640" y="1005840"/>
            <a:chExt cx="2926080" cy="347472"/>
          </a:xfrm>
        </p:grpSpPr>
        <p:sp>
          <p:nvSpPr>
            <p:cNvPr id="5" name="Shape 3"/>
            <p:cNvSpPr/>
            <p:nvPr/>
          </p:nvSpPr>
          <p:spPr>
            <a:xfrm>
              <a:off x="548640" y="1005840"/>
              <a:ext cx="2926080" cy="347472"/>
            </a:xfrm>
            <a:prstGeom prst="roundRect">
              <a:avLst>
                <a:gd name="adj" fmla="val 21053"/>
              </a:avLst>
            </a:prstGeom>
            <a:solidFill>
              <a:srgbClr val="0D9488">
                <a:alpha val="85000"/>
              </a:srgbClr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de-DE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548640" y="1005840"/>
              <a:ext cx="29260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900" b="1" dirty="0" err="1">
                  <a:solidFill>
                    <a:srgbClr val="FFFFFF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Berufliche</a:t>
              </a:r>
              <a:r>
                <a:rPr lang="en-US" sz="900" b="1" dirty="0">
                  <a:solidFill>
                    <a:srgbClr val="FFFFFF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 Hochschule Hamburg · Machine Learning</a:t>
              </a:r>
              <a:endParaRPr lang="en-US" sz="9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7" name="Text 5"/>
          <p:cNvSpPr/>
          <p:nvPr/>
        </p:nvSpPr>
        <p:spPr>
          <a:xfrm>
            <a:off x="548640" y="1572768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GB" sz="4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Evaluation von Q-Learning-</a:t>
            </a:r>
            <a:r>
              <a:rPr lang="en-GB" sz="46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Agenten</a:t>
            </a:r>
            <a:r>
              <a:rPr lang="en-GB" sz="4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in Blackjack</a:t>
            </a:r>
            <a:endParaRPr lang="en-US" sz="4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002FD12B-9FF9-A621-05B6-00EB51A9F880}"/>
              </a:ext>
            </a:extLst>
          </p:cNvPr>
          <p:cNvGrpSpPr/>
          <p:nvPr/>
        </p:nvGrpSpPr>
        <p:grpSpPr>
          <a:xfrm>
            <a:off x="548640" y="3200400"/>
            <a:ext cx="5486400" cy="612648"/>
            <a:chOff x="548640" y="3200400"/>
            <a:chExt cx="5486400" cy="612648"/>
          </a:xfrm>
        </p:grpSpPr>
        <p:sp>
          <p:nvSpPr>
            <p:cNvPr id="9" name="Shape 7"/>
            <p:cNvSpPr/>
            <p:nvPr/>
          </p:nvSpPr>
          <p:spPr>
            <a:xfrm>
              <a:off x="548640" y="3200400"/>
              <a:ext cx="2194560" cy="36576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de-DE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548640" y="3401568"/>
              <a:ext cx="548640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fld id="{9DC2D139-71C2-4058-9E3F-69A18641E6F6}" type="datetime4">
                <a:rPr lang="de-DE" sz="1600" smtClean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libri" pitchFamily="34" charset="-120"/>
                </a:rPr>
                <a:t>14. Juni 2026</a:t>
              </a:fld>
              <a:endParaRPr lang="en-US" sz="16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endParaRPr>
            </a:p>
            <a:p>
              <a:pPr marL="0" indent="0" algn="l">
                <a:buNone/>
              </a:pPr>
              <a:r>
                <a:rPr lang="en-US" sz="1600" dirty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libri" pitchFamily="34" charset="-120"/>
                </a:rPr>
                <a:t>Arvid Freese · Linus Paliga · Tom Markmann</a:t>
              </a:r>
              <a:endParaRPr lang="en-US" sz="16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12098-1EFD-3D0A-FD3F-5CE33EE16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B71ABA53-18A8-E2FB-1649-6DA25BA92797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CB7DD163-71C7-501B-EEDE-1E8ECFEB9F1D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755B9E8-F40A-73FF-E71A-F94649B82C7F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Agenda</a:t>
            </a:r>
            <a:endParaRPr lang="en-US" sz="2600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!!8">
            <a:extLst>
              <a:ext uri="{FF2B5EF4-FFF2-40B4-BE49-F238E27FC236}">
                <a16:creationId xmlns:a16="http://schemas.microsoft.com/office/drawing/2014/main" id="{123F59CE-9B50-4F45-AA4C-AEBA3F2FAF8C}"/>
              </a:ext>
            </a:extLst>
          </p:cNvPr>
          <p:cNvSpPr/>
          <p:nvPr/>
        </p:nvSpPr>
        <p:spPr>
          <a:xfrm>
            <a:off x="6035040" y="1097280"/>
            <a:ext cx="2606040" cy="146304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280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Ergebnisse</a:t>
            </a:r>
            <a:endParaRPr lang="en-US" sz="2800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8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&amp; </a:t>
            </a:r>
            <a:r>
              <a:rPr lang="en-US" sz="280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Fazit</a:t>
            </a:r>
            <a:endParaRPr lang="en-US" sz="2800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!!8">
            <a:extLst>
              <a:ext uri="{FF2B5EF4-FFF2-40B4-BE49-F238E27FC236}">
                <a16:creationId xmlns:a16="http://schemas.microsoft.com/office/drawing/2014/main" id="{0041BA2D-FEE2-322A-F35E-39E4BC197E0A}"/>
              </a:ext>
            </a:extLst>
          </p:cNvPr>
          <p:cNvSpPr/>
          <p:nvPr/>
        </p:nvSpPr>
        <p:spPr>
          <a:xfrm>
            <a:off x="3200400" y="1097280"/>
            <a:ext cx="2606040" cy="146304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280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Methodik</a:t>
            </a:r>
            <a:endParaRPr lang="en-US" sz="2800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8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&amp; Technik</a:t>
            </a:r>
          </a:p>
        </p:txBody>
      </p:sp>
      <p:sp>
        <p:nvSpPr>
          <p:cNvPr id="10" name="!!8">
            <a:extLst>
              <a:ext uri="{FF2B5EF4-FFF2-40B4-BE49-F238E27FC236}">
                <a16:creationId xmlns:a16="http://schemas.microsoft.com/office/drawing/2014/main" id="{624EF8BD-5123-B14E-9611-6D4C02A55287}"/>
              </a:ext>
            </a:extLst>
          </p:cNvPr>
          <p:cNvSpPr/>
          <p:nvPr/>
        </p:nvSpPr>
        <p:spPr>
          <a:xfrm>
            <a:off x="365760" y="1097280"/>
            <a:ext cx="2606040" cy="146304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28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</a:t>
            </a:r>
          </a:p>
          <a:p>
            <a:pPr algn="ctr"/>
            <a:r>
              <a:rPr lang="en-US" sz="28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&amp; </a:t>
            </a:r>
            <a:r>
              <a:rPr lang="en-US" sz="280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Theorie</a:t>
            </a:r>
            <a:endParaRPr lang="en-US" sz="2800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!!6">
            <a:extLst>
              <a:ext uri="{FF2B5EF4-FFF2-40B4-BE49-F238E27FC236}">
                <a16:creationId xmlns:a16="http://schemas.microsoft.com/office/drawing/2014/main" id="{F1F2025E-865D-F611-F616-5C9AC7A1B6B2}"/>
              </a:ext>
            </a:extLst>
          </p:cNvPr>
          <p:cNvSpPr/>
          <p:nvPr/>
        </p:nvSpPr>
        <p:spPr>
          <a:xfrm>
            <a:off x="365760" y="2868930"/>
            <a:ext cx="2606040" cy="200025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20">
            <a:extLst>
              <a:ext uri="{FF2B5EF4-FFF2-40B4-BE49-F238E27FC236}">
                <a16:creationId xmlns:a16="http://schemas.microsoft.com/office/drawing/2014/main" id="{403875D2-EE7E-FF3D-5E0D-9C28781EA13F}"/>
              </a:ext>
            </a:extLst>
          </p:cNvPr>
          <p:cNvSpPr/>
          <p:nvPr/>
        </p:nvSpPr>
        <p:spPr>
          <a:xfrm>
            <a:off x="1005838" y="3126105"/>
            <a:ext cx="18288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Blackjack </a:t>
            </a:r>
            <a:r>
              <a:rPr lang="en-US" sz="1100" b="1" dirty="0" err="1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als</a:t>
            </a:r>
            <a:r>
              <a:rPr lang="en-US" sz="11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100" b="1" dirty="0" err="1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Entscheidungsproblem</a:t>
            </a:r>
            <a:endParaRPr lang="en-US" sz="1100" dirty="0">
              <a:solidFill>
                <a:srgbClr val="0F172A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20">
            <a:extLst>
              <a:ext uri="{FF2B5EF4-FFF2-40B4-BE49-F238E27FC236}">
                <a16:creationId xmlns:a16="http://schemas.microsoft.com/office/drawing/2014/main" id="{FE80A8B2-292A-3956-7839-F936C453DCE2}"/>
              </a:ext>
            </a:extLst>
          </p:cNvPr>
          <p:cNvSpPr/>
          <p:nvPr/>
        </p:nvSpPr>
        <p:spPr>
          <a:xfrm>
            <a:off x="1005838" y="3686175"/>
            <a:ext cx="18288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11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Kartenzählen als Zusatzinformation</a:t>
            </a:r>
            <a:endParaRPr lang="en-US" sz="1100" b="1" dirty="0">
              <a:solidFill>
                <a:srgbClr val="0F172A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20">
            <a:extLst>
              <a:ext uri="{FF2B5EF4-FFF2-40B4-BE49-F238E27FC236}">
                <a16:creationId xmlns:a16="http://schemas.microsoft.com/office/drawing/2014/main" id="{DD96DEBF-40BE-A114-1224-7532DF9562D7}"/>
              </a:ext>
            </a:extLst>
          </p:cNvPr>
          <p:cNvSpPr/>
          <p:nvPr/>
        </p:nvSpPr>
        <p:spPr>
          <a:xfrm>
            <a:off x="1005838" y="4300728"/>
            <a:ext cx="18288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11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Forschungsrahmen und Grenzen</a:t>
            </a:r>
            <a:endParaRPr lang="en-US" sz="1100" b="1" dirty="0">
              <a:solidFill>
                <a:srgbClr val="0F172A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D04B4ED9-FA69-6E43-9429-276CA33FAFD5}"/>
              </a:ext>
            </a:extLst>
          </p:cNvPr>
          <p:cNvSpPr/>
          <p:nvPr/>
        </p:nvSpPr>
        <p:spPr>
          <a:xfrm>
            <a:off x="502919" y="4300728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!!6">
            <a:extLst>
              <a:ext uri="{FF2B5EF4-FFF2-40B4-BE49-F238E27FC236}">
                <a16:creationId xmlns:a16="http://schemas.microsoft.com/office/drawing/2014/main" id="{9815779C-099E-C1A4-59D2-2995A6A89F14}"/>
              </a:ext>
            </a:extLst>
          </p:cNvPr>
          <p:cNvSpPr/>
          <p:nvPr/>
        </p:nvSpPr>
        <p:spPr>
          <a:xfrm>
            <a:off x="3200400" y="2868930"/>
            <a:ext cx="2606040" cy="200025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7" name="!!6">
            <a:extLst>
              <a:ext uri="{FF2B5EF4-FFF2-40B4-BE49-F238E27FC236}">
                <a16:creationId xmlns:a16="http://schemas.microsoft.com/office/drawing/2014/main" id="{BAFFB33E-7D2C-789E-5563-BFB8F4D19AEA}"/>
              </a:ext>
            </a:extLst>
          </p:cNvPr>
          <p:cNvSpPr/>
          <p:nvPr/>
        </p:nvSpPr>
        <p:spPr>
          <a:xfrm>
            <a:off x="6035040" y="2868930"/>
            <a:ext cx="2606040" cy="200025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Shape 16">
            <a:extLst>
              <a:ext uri="{FF2B5EF4-FFF2-40B4-BE49-F238E27FC236}">
                <a16:creationId xmlns:a16="http://schemas.microsoft.com/office/drawing/2014/main" id="{ED7900E1-FC8A-8015-BB74-6FF1101F035D}"/>
              </a:ext>
            </a:extLst>
          </p:cNvPr>
          <p:cNvSpPr/>
          <p:nvPr/>
        </p:nvSpPr>
        <p:spPr>
          <a:xfrm>
            <a:off x="502919" y="3686175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hape 16">
            <a:extLst>
              <a:ext uri="{FF2B5EF4-FFF2-40B4-BE49-F238E27FC236}">
                <a16:creationId xmlns:a16="http://schemas.microsoft.com/office/drawing/2014/main" id="{CA4361FC-9E6F-227D-424A-D81505ED1E23}"/>
              </a:ext>
            </a:extLst>
          </p:cNvPr>
          <p:cNvSpPr/>
          <p:nvPr/>
        </p:nvSpPr>
        <p:spPr>
          <a:xfrm>
            <a:off x="502919" y="3126105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Shape 16">
            <a:extLst>
              <a:ext uri="{FF2B5EF4-FFF2-40B4-BE49-F238E27FC236}">
                <a16:creationId xmlns:a16="http://schemas.microsoft.com/office/drawing/2014/main" id="{1E2F5E0A-60D2-50EA-66A0-D49195777C05}"/>
              </a:ext>
            </a:extLst>
          </p:cNvPr>
          <p:cNvSpPr/>
          <p:nvPr/>
        </p:nvSpPr>
        <p:spPr>
          <a:xfrm>
            <a:off x="3337559" y="4300728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6F0A422E-470D-DC95-41DA-019AB69F7977}"/>
              </a:ext>
            </a:extLst>
          </p:cNvPr>
          <p:cNvSpPr/>
          <p:nvPr/>
        </p:nvSpPr>
        <p:spPr>
          <a:xfrm>
            <a:off x="3337559" y="3686175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" name="Shape 16">
            <a:extLst>
              <a:ext uri="{FF2B5EF4-FFF2-40B4-BE49-F238E27FC236}">
                <a16:creationId xmlns:a16="http://schemas.microsoft.com/office/drawing/2014/main" id="{72777890-51FB-9C5C-FF58-C1D51D1DD5E0}"/>
              </a:ext>
            </a:extLst>
          </p:cNvPr>
          <p:cNvSpPr/>
          <p:nvPr/>
        </p:nvSpPr>
        <p:spPr>
          <a:xfrm>
            <a:off x="3337559" y="3126105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" name="Shape 16">
            <a:extLst>
              <a:ext uri="{FF2B5EF4-FFF2-40B4-BE49-F238E27FC236}">
                <a16:creationId xmlns:a16="http://schemas.microsoft.com/office/drawing/2014/main" id="{8C5D10EA-E162-B09F-C138-E646F6355EAB}"/>
              </a:ext>
            </a:extLst>
          </p:cNvPr>
          <p:cNvSpPr/>
          <p:nvPr/>
        </p:nvSpPr>
        <p:spPr>
          <a:xfrm>
            <a:off x="6172200" y="4300728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FFECF91D-37E5-A34B-AC44-570AF94629D0}"/>
              </a:ext>
            </a:extLst>
          </p:cNvPr>
          <p:cNvSpPr/>
          <p:nvPr/>
        </p:nvSpPr>
        <p:spPr>
          <a:xfrm>
            <a:off x="6172200" y="3686175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8" name="Shape 16">
            <a:extLst>
              <a:ext uri="{FF2B5EF4-FFF2-40B4-BE49-F238E27FC236}">
                <a16:creationId xmlns:a16="http://schemas.microsoft.com/office/drawing/2014/main" id="{70B55967-276A-6E82-98EE-1409653FC37C}"/>
              </a:ext>
            </a:extLst>
          </p:cNvPr>
          <p:cNvSpPr/>
          <p:nvPr/>
        </p:nvSpPr>
        <p:spPr>
          <a:xfrm>
            <a:off x="6172200" y="3126105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6A1BBA7D-7837-EDB6-D790-CB86C4A9CA25}"/>
              </a:ext>
            </a:extLst>
          </p:cNvPr>
          <p:cNvSpPr/>
          <p:nvPr/>
        </p:nvSpPr>
        <p:spPr>
          <a:xfrm>
            <a:off x="3840478" y="3126105"/>
            <a:ext cx="18288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Vergleich</a:t>
            </a:r>
            <a:r>
              <a:rPr lang="en-US" sz="11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der </a:t>
            </a:r>
            <a:r>
              <a:rPr lang="en-US" sz="1100" b="1" dirty="0" err="1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Zustandsräume</a:t>
            </a:r>
            <a:endParaRPr lang="en-US" sz="1100" dirty="0">
              <a:solidFill>
                <a:srgbClr val="0F172A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0" name="Text 20">
            <a:extLst>
              <a:ext uri="{FF2B5EF4-FFF2-40B4-BE49-F238E27FC236}">
                <a16:creationId xmlns:a16="http://schemas.microsoft.com/office/drawing/2014/main" id="{344DD6D2-8C23-CEF2-9AE8-5C99EC021A0D}"/>
              </a:ext>
            </a:extLst>
          </p:cNvPr>
          <p:cNvSpPr/>
          <p:nvPr/>
        </p:nvSpPr>
        <p:spPr>
          <a:xfrm>
            <a:off x="3840478" y="3686175"/>
            <a:ext cx="18288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11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Q-Learning und Hyperparameter</a:t>
            </a:r>
            <a:endParaRPr lang="en-US" sz="1100" b="1" dirty="0">
              <a:solidFill>
                <a:srgbClr val="0F172A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1" name="Text 20">
            <a:extLst>
              <a:ext uri="{FF2B5EF4-FFF2-40B4-BE49-F238E27FC236}">
                <a16:creationId xmlns:a16="http://schemas.microsoft.com/office/drawing/2014/main" id="{CFB96C1D-D03D-396F-A37B-6B99E704DD29}"/>
              </a:ext>
            </a:extLst>
          </p:cNvPr>
          <p:cNvSpPr/>
          <p:nvPr/>
        </p:nvSpPr>
        <p:spPr>
          <a:xfrm>
            <a:off x="3840478" y="4300728"/>
            <a:ext cx="18288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11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Training und Evaluation</a:t>
            </a:r>
            <a:endParaRPr lang="en-US" sz="1100" b="1" dirty="0">
              <a:solidFill>
                <a:srgbClr val="0F172A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2" name="Text 20">
            <a:extLst>
              <a:ext uri="{FF2B5EF4-FFF2-40B4-BE49-F238E27FC236}">
                <a16:creationId xmlns:a16="http://schemas.microsoft.com/office/drawing/2014/main" id="{954E7060-5EF0-E2AD-836F-02997FEDB000}"/>
              </a:ext>
            </a:extLst>
          </p:cNvPr>
          <p:cNvSpPr/>
          <p:nvPr/>
        </p:nvSpPr>
        <p:spPr>
          <a:xfrm>
            <a:off x="6675119" y="3126105"/>
            <a:ext cx="18288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Lernverlauf</a:t>
            </a:r>
            <a:r>
              <a:rPr lang="en-US" sz="11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und Performance</a:t>
            </a:r>
            <a:endParaRPr lang="en-US" sz="1100" dirty="0">
              <a:solidFill>
                <a:srgbClr val="0F172A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3" name="Text 20">
            <a:extLst>
              <a:ext uri="{FF2B5EF4-FFF2-40B4-BE49-F238E27FC236}">
                <a16:creationId xmlns:a16="http://schemas.microsoft.com/office/drawing/2014/main" id="{95063DD1-CB6C-BDC4-5264-E36E0B0FD0A1}"/>
              </a:ext>
            </a:extLst>
          </p:cNvPr>
          <p:cNvSpPr/>
          <p:nvPr/>
        </p:nvSpPr>
        <p:spPr>
          <a:xfrm>
            <a:off x="6675119" y="3686175"/>
            <a:ext cx="18288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11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Analyse des Agentenverhaltens</a:t>
            </a:r>
            <a:endParaRPr lang="en-US" sz="1100" b="1" dirty="0">
              <a:solidFill>
                <a:srgbClr val="0F172A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4" name="Text 20">
            <a:extLst>
              <a:ext uri="{FF2B5EF4-FFF2-40B4-BE49-F238E27FC236}">
                <a16:creationId xmlns:a16="http://schemas.microsoft.com/office/drawing/2014/main" id="{0BCBF1F6-6E07-9BC0-E7E8-4BB42468725C}"/>
              </a:ext>
            </a:extLst>
          </p:cNvPr>
          <p:cNvSpPr/>
          <p:nvPr/>
        </p:nvSpPr>
        <p:spPr>
          <a:xfrm>
            <a:off x="6675119" y="4300728"/>
            <a:ext cx="18288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11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Fazit und nächste Schritte</a:t>
            </a:r>
            <a:endParaRPr lang="en-US" sz="1100" b="1" dirty="0">
              <a:solidFill>
                <a:srgbClr val="0F172A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9180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CCF8C1-E119-7397-2F5A-CB6B9E7BA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C2DB30E-7043-9BEF-342C-7E116DF81D54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C7263D53-9ACA-950B-4C78-515B1084FACA}"/>
              </a:ext>
            </a:extLst>
          </p:cNvPr>
          <p:cNvGrpSpPr/>
          <p:nvPr/>
        </p:nvGrpSpPr>
        <p:grpSpPr>
          <a:xfrm>
            <a:off x="6217920" y="-1097280"/>
            <a:ext cx="5029200" cy="5029200"/>
            <a:chOff x="6217920" y="-1097280"/>
            <a:chExt cx="5029200" cy="5029200"/>
          </a:xfrm>
        </p:grpSpPr>
        <p:sp>
          <p:nvSpPr>
            <p:cNvPr id="3" name="Shape 1">
              <a:extLst>
                <a:ext uri="{FF2B5EF4-FFF2-40B4-BE49-F238E27FC236}">
                  <a16:creationId xmlns:a16="http://schemas.microsoft.com/office/drawing/2014/main" id="{D744BE99-295A-6DCC-3047-29A0B9493F4E}"/>
                </a:ext>
              </a:extLst>
            </p:cNvPr>
            <p:cNvSpPr/>
            <p:nvPr/>
          </p:nvSpPr>
          <p:spPr>
            <a:xfrm>
              <a:off x="6217920" y="-1097280"/>
              <a:ext cx="5029200" cy="5029200"/>
            </a:xfrm>
            <a:prstGeom prst="ellipse">
              <a:avLst/>
            </a:prstGeom>
            <a:solidFill>
              <a:srgbClr val="14B8A6">
                <a:alpha val="12000"/>
              </a:srgbClr>
            </a:solidFill>
            <a:ln w="12700">
              <a:solidFill>
                <a:srgbClr val="0D9488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de-DE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9F1850D4-34AB-802C-47D5-35698AC30135}"/>
                </a:ext>
              </a:extLst>
            </p:cNvPr>
            <p:cNvSpPr/>
            <p:nvPr/>
          </p:nvSpPr>
          <p:spPr>
            <a:xfrm>
              <a:off x="6766560" y="-548640"/>
              <a:ext cx="3474720" cy="3474720"/>
            </a:xfrm>
            <a:prstGeom prst="ellipse">
              <a:avLst/>
            </a:prstGeom>
            <a:solidFill>
              <a:srgbClr val="14B8A6">
                <a:alpha val="18000"/>
              </a:srgbClr>
            </a:solidFill>
            <a:ln w="12700">
              <a:solidFill>
                <a:srgbClr val="0D9488">
                  <a:alpha val="40000"/>
                </a:srgbClr>
              </a:solidFill>
              <a:prstDash val="solid"/>
            </a:ln>
          </p:spPr>
          <p:txBody>
            <a:bodyPr/>
            <a:lstStyle/>
            <a:p>
              <a:endParaRPr lang="de-DE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7" name="Text 5">
            <a:extLst>
              <a:ext uri="{FF2B5EF4-FFF2-40B4-BE49-F238E27FC236}">
                <a16:creationId xmlns:a16="http://schemas.microsoft.com/office/drawing/2014/main" id="{026ACCBB-BA1A-1191-2EBA-53DF24418FE5}"/>
              </a:ext>
            </a:extLst>
          </p:cNvPr>
          <p:cNvSpPr/>
          <p:nvPr/>
        </p:nvSpPr>
        <p:spPr>
          <a:xfrm>
            <a:off x="548640" y="157276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Motivation</a:t>
            </a:r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&amp; </a:t>
            </a:r>
            <a:r>
              <a:rPr lang="en-US" sz="46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Theorie</a:t>
            </a:r>
            <a:endParaRPr lang="en-US" sz="46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Cambria" pitchFamily="34" charset="-120"/>
            </a:endParaRPr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765C4C81-6854-16CC-3CD0-FA89C9B83364}"/>
              </a:ext>
            </a:extLst>
          </p:cNvPr>
          <p:cNvGrpSpPr/>
          <p:nvPr/>
        </p:nvGrpSpPr>
        <p:grpSpPr>
          <a:xfrm>
            <a:off x="548640" y="2535174"/>
            <a:ext cx="5486400" cy="1146811"/>
            <a:chOff x="548640" y="2535174"/>
            <a:chExt cx="5486400" cy="1146811"/>
          </a:xfrm>
        </p:grpSpPr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8D6241D1-9A2F-78FE-3C6F-7F5E0492CF34}"/>
                </a:ext>
              </a:extLst>
            </p:cNvPr>
            <p:cNvSpPr/>
            <p:nvPr/>
          </p:nvSpPr>
          <p:spPr>
            <a:xfrm>
              <a:off x="548640" y="2535174"/>
              <a:ext cx="3240000" cy="36576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de-DE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8A138491-3507-2D31-0984-69504EFD033F}"/>
                </a:ext>
              </a:extLst>
            </p:cNvPr>
            <p:cNvSpPr/>
            <p:nvPr/>
          </p:nvSpPr>
          <p:spPr>
            <a:xfrm>
              <a:off x="548640" y="2747773"/>
              <a:ext cx="5486400" cy="93421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de-DE" sz="1600" dirty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libri" pitchFamily="34" charset="-120"/>
                </a:rPr>
                <a:t>Blackjack als Entscheidungsproblem</a:t>
              </a:r>
            </a:p>
            <a:p>
              <a:pPr marL="0" indent="0" algn="l">
                <a:buNone/>
              </a:pPr>
              <a:endParaRPr lang="de-DE" sz="16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endParaRPr>
            </a:p>
            <a:p>
              <a:pPr marL="0" indent="0" algn="l">
                <a:buNone/>
              </a:pPr>
              <a:r>
                <a:rPr lang="de-DE" sz="1600" dirty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libri" pitchFamily="34" charset="-120"/>
                </a:rPr>
                <a:t>Kartenzählen als Zusatzinformation</a:t>
              </a:r>
            </a:p>
            <a:p>
              <a:pPr marL="0" indent="0" algn="l">
                <a:buNone/>
              </a:pPr>
              <a:endParaRPr lang="de-DE" sz="16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endParaRPr>
            </a:p>
            <a:p>
              <a:pPr marL="0" indent="0" algn="l">
                <a:buNone/>
              </a:pPr>
              <a:r>
                <a:rPr lang="de-DE" sz="1600" dirty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libri" pitchFamily="34" charset="-120"/>
                </a:rPr>
                <a:t>Forschungsrahmen und Grenzen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9416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D2654-773E-F860-BE30-C85A5EDFB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6">
            <a:extLst>
              <a:ext uri="{FF2B5EF4-FFF2-40B4-BE49-F238E27FC236}">
                <a16:creationId xmlns:a16="http://schemas.microsoft.com/office/drawing/2014/main" id="{99D68CDA-25CE-6D40-4047-05D03873E35C}"/>
              </a:ext>
            </a:extLst>
          </p:cNvPr>
          <p:cNvSpPr/>
          <p:nvPr/>
        </p:nvSpPr>
        <p:spPr>
          <a:xfrm>
            <a:off x="2560320" y="3794224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7" name="Shape 9">
            <a:extLst>
              <a:ext uri="{FF2B5EF4-FFF2-40B4-BE49-F238E27FC236}">
                <a16:creationId xmlns:a16="http://schemas.microsoft.com/office/drawing/2014/main" id="{2308C4C8-C1AC-93FE-CEBA-6505DC608122}"/>
              </a:ext>
            </a:extLst>
          </p:cNvPr>
          <p:cNvSpPr/>
          <p:nvPr/>
        </p:nvSpPr>
        <p:spPr>
          <a:xfrm>
            <a:off x="4754880" y="3794224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1" name="Shape 3">
            <a:extLst>
              <a:ext uri="{FF2B5EF4-FFF2-40B4-BE49-F238E27FC236}">
                <a16:creationId xmlns:a16="http://schemas.microsoft.com/office/drawing/2014/main" id="{8B06954B-74C6-499F-80E5-1B01FEE483C9}"/>
              </a:ext>
            </a:extLst>
          </p:cNvPr>
          <p:cNvSpPr/>
          <p:nvPr/>
        </p:nvSpPr>
        <p:spPr>
          <a:xfrm>
            <a:off x="365760" y="3794224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AAD4B681-F2BD-6ACA-FFD0-EE307FB7DD9D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noFill/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AFBC9068-832B-28CC-113F-8C34C1D87CAE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17E7C67-F351-1799-21B0-5F3E9CEE5F03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Blackjack </a:t>
            </a:r>
            <a:r>
              <a:rPr lang="en-US" sz="26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als</a:t>
            </a:r>
            <a:r>
              <a:rPr lang="en-US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Markov-</a:t>
            </a:r>
            <a:r>
              <a:rPr lang="en-US" sz="26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Entscheidungsproblem</a:t>
            </a:r>
            <a:endParaRPr lang="en-US" sz="26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35F46E5-D3BF-1E63-2D33-5B5EC8189EB9}"/>
              </a:ext>
            </a:extLst>
          </p:cNvPr>
          <p:cNvSpPr/>
          <p:nvPr/>
        </p:nvSpPr>
        <p:spPr>
          <a:xfrm>
            <a:off x="6367670" y="54864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1C87B5CB-FDE1-4D92-AEBF-0F36A1936069}" type="slidenum">
              <a:rPr lang="en-US" sz="900" b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4</a:t>
            </a:fld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73826787-C314-4516-D88B-B6C0452CB1D6}"/>
              </a:ext>
            </a:extLst>
          </p:cNvPr>
          <p:cNvSpPr/>
          <p:nvPr/>
        </p:nvSpPr>
        <p:spPr>
          <a:xfrm>
            <a:off x="3412435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BHH · Machine Learning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0EADFE9E-1379-4945-3246-6C4A474C4276}"/>
              </a:ext>
            </a:extLst>
          </p:cNvPr>
          <p:cNvSpPr/>
          <p:nvPr/>
        </p:nvSpPr>
        <p:spPr>
          <a:xfrm>
            <a:off x="457200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Motivation &amp; </a:t>
            </a: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Theorie</a:t>
            </a:r>
            <a:endParaRPr lang="en-US" sz="9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Cambria" pitchFamily="34" charset="-120"/>
            </a:endParaRPr>
          </a:p>
        </p:txBody>
      </p:sp>
      <p:sp>
        <p:nvSpPr>
          <p:cNvPr id="2" name="!!7"/>
          <p:cNvSpPr/>
          <p:nvPr/>
        </p:nvSpPr>
        <p:spPr>
          <a:xfrm>
            <a:off x="365760" y="1097280"/>
            <a:ext cx="3931920" cy="1933465"/>
          </a:xfrm>
          <a:prstGeom prst="roundRect">
            <a:avLst>
              <a:gd name="adj" fmla="val 9600"/>
            </a:avLst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!!8"/>
          <p:cNvSpPr/>
          <p:nvPr/>
        </p:nvSpPr>
        <p:spPr>
          <a:xfrm>
            <a:off x="4617720" y="1097280"/>
            <a:ext cx="3931920" cy="1933465"/>
          </a:xfrm>
          <a:prstGeom prst="roundRect">
            <a:avLst>
              <a:gd name="adj" fmla="val 9600"/>
            </a:avLst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98DB75BD-8738-1479-BA26-BC23E7C3B6ED}"/>
              </a:ext>
            </a:extLst>
          </p:cNvPr>
          <p:cNvSpPr/>
          <p:nvPr/>
        </p:nvSpPr>
        <p:spPr>
          <a:xfrm>
            <a:off x="530352" y="1277209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Zustand</a:t>
            </a:r>
            <a:endParaRPr lang="en-US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B3B48937-90E3-6C4C-3A13-6A440021D111}"/>
              </a:ext>
            </a:extLst>
          </p:cNvPr>
          <p:cNvSpPr/>
          <p:nvPr/>
        </p:nvSpPr>
        <p:spPr>
          <a:xfrm>
            <a:off x="530352" y="1639131"/>
            <a:ext cx="3657600" cy="103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DE" sz="1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 = ( Spielersumme,</a:t>
            </a:r>
          </a:p>
          <a:p>
            <a:r>
              <a:rPr lang="de-DE" sz="1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offene </a:t>
            </a:r>
            <a:r>
              <a:rPr lang="de-DE" sz="140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Dealerkarte</a:t>
            </a:r>
            <a:r>
              <a:rPr lang="de-DE" sz="1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</a:t>
            </a:r>
          </a:p>
          <a:p>
            <a:r>
              <a:rPr lang="de-DE" sz="1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nutzbares Ass)</a:t>
            </a:r>
            <a:endParaRPr lang="en-US" sz="1400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Text 12">
            <a:extLst>
              <a:ext uri="{FF2B5EF4-FFF2-40B4-BE49-F238E27FC236}">
                <a16:creationId xmlns:a16="http://schemas.microsoft.com/office/drawing/2014/main" id="{3FBF1A63-1838-58E7-144D-AD30BEBF4E8C}"/>
              </a:ext>
            </a:extLst>
          </p:cNvPr>
          <p:cNvSpPr/>
          <p:nvPr/>
        </p:nvSpPr>
        <p:spPr>
          <a:xfrm>
            <a:off x="4782312" y="1277209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Aktionen</a:t>
            </a:r>
            <a:endParaRPr lang="en-US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Text 13">
            <a:extLst>
              <a:ext uri="{FF2B5EF4-FFF2-40B4-BE49-F238E27FC236}">
                <a16:creationId xmlns:a16="http://schemas.microsoft.com/office/drawing/2014/main" id="{72A13062-CE8E-0AA9-3E7F-B9AB03FDD053}"/>
              </a:ext>
            </a:extLst>
          </p:cNvPr>
          <p:cNvSpPr/>
          <p:nvPr/>
        </p:nvSpPr>
        <p:spPr>
          <a:xfrm>
            <a:off x="4782312" y="1639131"/>
            <a:ext cx="3657600" cy="103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1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∈ {Stand, Hit}</a:t>
            </a:r>
          </a:p>
          <a:p>
            <a:endParaRPr lang="en-GB" sz="1400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GB" sz="1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 = Stand</a:t>
            </a:r>
          </a:p>
          <a:p>
            <a:r>
              <a:rPr lang="en-GB" sz="1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 = Hit</a:t>
            </a:r>
            <a:endParaRPr lang="en-US" sz="1400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7" name="Text 14">
            <a:extLst>
              <a:ext uri="{FF2B5EF4-FFF2-40B4-BE49-F238E27FC236}">
                <a16:creationId xmlns:a16="http://schemas.microsoft.com/office/drawing/2014/main" id="{6B58C5D0-4637-61DC-67BE-B9A5D64661E7}"/>
              </a:ext>
            </a:extLst>
          </p:cNvPr>
          <p:cNvSpPr/>
          <p:nvPr/>
        </p:nvSpPr>
        <p:spPr>
          <a:xfrm>
            <a:off x="4782312" y="254112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Binärer Aktionsraum ohne Split und Double Down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0" name="Text 14">
            <a:extLst>
              <a:ext uri="{FF2B5EF4-FFF2-40B4-BE49-F238E27FC236}">
                <a16:creationId xmlns:a16="http://schemas.microsoft.com/office/drawing/2014/main" id="{ABCE9C89-8F92-8E2F-5BCD-80628ED9C5BE}"/>
              </a:ext>
            </a:extLst>
          </p:cNvPr>
          <p:cNvSpPr/>
          <p:nvPr/>
        </p:nvSpPr>
        <p:spPr>
          <a:xfrm>
            <a:off x="530352" y="254112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Kompakte Beobachtung der aktuellen Spielsituation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66" name="Verbinder: gewinkelt 65">
            <a:extLst>
              <a:ext uri="{FF2B5EF4-FFF2-40B4-BE49-F238E27FC236}">
                <a16:creationId xmlns:a16="http://schemas.microsoft.com/office/drawing/2014/main" id="{E4354F33-50E4-78CC-B108-EF81D69E3999}"/>
              </a:ext>
            </a:extLst>
          </p:cNvPr>
          <p:cNvCxnSpPr>
            <a:cxnSpLocks/>
            <a:stCxn id="60" idx="2"/>
            <a:endCxn id="51" idx="2"/>
          </p:cNvCxnSpPr>
          <p:nvPr/>
        </p:nvCxnSpPr>
        <p:spPr>
          <a:xfrm rot="5400000">
            <a:off x="4457700" y="1160752"/>
            <a:ext cx="12700" cy="6583680"/>
          </a:xfrm>
          <a:prstGeom prst="bentConnector3">
            <a:avLst>
              <a:gd name="adj1" fmla="val 1800000"/>
            </a:avLst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cxnSp>
      <p:sp>
        <p:nvSpPr>
          <p:cNvPr id="68" name="Text 12">
            <a:extLst>
              <a:ext uri="{FF2B5EF4-FFF2-40B4-BE49-F238E27FC236}">
                <a16:creationId xmlns:a16="http://schemas.microsoft.com/office/drawing/2014/main" id="{8869E230-592E-B6CB-6936-D2F15B9A9F51}"/>
              </a:ext>
            </a:extLst>
          </p:cNvPr>
          <p:cNvSpPr/>
          <p:nvPr/>
        </p:nvSpPr>
        <p:spPr>
          <a:xfrm>
            <a:off x="689378" y="3866902"/>
            <a:ext cx="92738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Zustand</a:t>
            </a:r>
            <a:endParaRPr lang="en-US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9" name="Text 12">
            <a:extLst>
              <a:ext uri="{FF2B5EF4-FFF2-40B4-BE49-F238E27FC236}">
                <a16:creationId xmlns:a16="http://schemas.microsoft.com/office/drawing/2014/main" id="{AF2D7822-EDFC-B516-6526-C6208739691D}"/>
              </a:ext>
            </a:extLst>
          </p:cNvPr>
          <p:cNvSpPr/>
          <p:nvPr/>
        </p:nvSpPr>
        <p:spPr>
          <a:xfrm>
            <a:off x="689378" y="4130830"/>
            <a:ext cx="927387" cy="2011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sₜ</a:t>
            </a:r>
          </a:p>
        </p:txBody>
      </p: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30AA4E73-2E4D-FF1D-1510-986668B2AC2F}"/>
              </a:ext>
            </a:extLst>
          </p:cNvPr>
          <p:cNvCxnSpPr>
            <a:stCxn id="51" idx="3"/>
            <a:endCxn id="54" idx="1"/>
          </p:cNvCxnSpPr>
          <p:nvPr/>
        </p:nvCxnSpPr>
        <p:spPr>
          <a:xfrm>
            <a:off x="1965960" y="4123408"/>
            <a:ext cx="59436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CCF12030-D086-81B5-93D8-6894EDF3D89E}"/>
              </a:ext>
            </a:extLst>
          </p:cNvPr>
          <p:cNvCxnSpPr>
            <a:stCxn id="54" idx="3"/>
            <a:endCxn id="57" idx="1"/>
          </p:cNvCxnSpPr>
          <p:nvPr/>
        </p:nvCxnSpPr>
        <p:spPr>
          <a:xfrm>
            <a:off x="4160520" y="4123408"/>
            <a:ext cx="59436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cxnSp>
      <p:cxnSp>
        <p:nvCxnSpPr>
          <p:cNvPr id="75" name="Gerader Verbinder 74">
            <a:extLst>
              <a:ext uri="{FF2B5EF4-FFF2-40B4-BE49-F238E27FC236}">
                <a16:creationId xmlns:a16="http://schemas.microsoft.com/office/drawing/2014/main" id="{DBC1641A-DC52-79D7-9854-373B0E26932B}"/>
              </a:ext>
            </a:extLst>
          </p:cNvPr>
          <p:cNvCxnSpPr>
            <a:stCxn id="57" idx="3"/>
            <a:endCxn id="60" idx="1"/>
          </p:cNvCxnSpPr>
          <p:nvPr/>
        </p:nvCxnSpPr>
        <p:spPr>
          <a:xfrm>
            <a:off x="6355080" y="4123408"/>
            <a:ext cx="59436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cxnSp>
      <p:sp>
        <p:nvSpPr>
          <p:cNvPr id="76" name="Text 12">
            <a:extLst>
              <a:ext uri="{FF2B5EF4-FFF2-40B4-BE49-F238E27FC236}">
                <a16:creationId xmlns:a16="http://schemas.microsoft.com/office/drawing/2014/main" id="{7E8D51A8-9735-ACAD-B65F-0AA51D009DF3}"/>
              </a:ext>
            </a:extLst>
          </p:cNvPr>
          <p:cNvSpPr/>
          <p:nvPr/>
        </p:nvSpPr>
        <p:spPr>
          <a:xfrm>
            <a:off x="2909515" y="3866902"/>
            <a:ext cx="92738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Aktion</a:t>
            </a:r>
          </a:p>
        </p:txBody>
      </p:sp>
      <p:sp>
        <p:nvSpPr>
          <p:cNvPr id="77" name="Text 12">
            <a:extLst>
              <a:ext uri="{FF2B5EF4-FFF2-40B4-BE49-F238E27FC236}">
                <a16:creationId xmlns:a16="http://schemas.microsoft.com/office/drawing/2014/main" id="{7FAD64BD-E6F6-66FB-8BA5-66CC297D0CC3}"/>
              </a:ext>
            </a:extLst>
          </p:cNvPr>
          <p:cNvSpPr/>
          <p:nvPr/>
        </p:nvSpPr>
        <p:spPr>
          <a:xfrm>
            <a:off x="2909515" y="4130830"/>
            <a:ext cx="927387" cy="2011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aₜ</a:t>
            </a: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E09FEB1B-F433-22C2-97CA-92CC40227EAD}"/>
              </a:ext>
            </a:extLst>
          </p:cNvPr>
          <p:cNvSpPr/>
          <p:nvPr/>
        </p:nvSpPr>
        <p:spPr>
          <a:xfrm>
            <a:off x="4860389" y="3866902"/>
            <a:ext cx="13891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Umgebung</a:t>
            </a:r>
            <a:endParaRPr lang="en-US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9" name="Text 12">
            <a:extLst>
              <a:ext uri="{FF2B5EF4-FFF2-40B4-BE49-F238E27FC236}">
                <a16:creationId xmlns:a16="http://schemas.microsoft.com/office/drawing/2014/main" id="{4AC709D2-8030-1160-27B4-2F5B19558779}"/>
              </a:ext>
            </a:extLst>
          </p:cNvPr>
          <p:cNvSpPr/>
          <p:nvPr/>
        </p:nvSpPr>
        <p:spPr>
          <a:xfrm>
            <a:off x="4927208" y="4130830"/>
            <a:ext cx="1255544" cy="2011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Karte/Dealer</a:t>
            </a:r>
          </a:p>
        </p:txBody>
      </p:sp>
      <p:sp>
        <p:nvSpPr>
          <p:cNvPr id="60" name="Shape 12">
            <a:extLst>
              <a:ext uri="{FF2B5EF4-FFF2-40B4-BE49-F238E27FC236}">
                <a16:creationId xmlns:a16="http://schemas.microsoft.com/office/drawing/2014/main" id="{3CC4385E-CC74-933C-252B-BD61F22E3AB5}"/>
              </a:ext>
            </a:extLst>
          </p:cNvPr>
          <p:cNvSpPr/>
          <p:nvPr/>
        </p:nvSpPr>
        <p:spPr>
          <a:xfrm>
            <a:off x="6949440" y="3794224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0" name="Text 12">
            <a:extLst>
              <a:ext uri="{FF2B5EF4-FFF2-40B4-BE49-F238E27FC236}">
                <a16:creationId xmlns:a16="http://schemas.microsoft.com/office/drawing/2014/main" id="{5A7FD5B3-26BD-8083-34C0-1952D5EEB2BA}"/>
              </a:ext>
            </a:extLst>
          </p:cNvPr>
          <p:cNvSpPr/>
          <p:nvPr/>
        </p:nvSpPr>
        <p:spPr>
          <a:xfrm>
            <a:off x="7285846" y="3866902"/>
            <a:ext cx="92738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Ergebnis</a:t>
            </a:r>
            <a:endParaRPr lang="en-US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1" name="Text 12">
            <a:extLst>
              <a:ext uri="{FF2B5EF4-FFF2-40B4-BE49-F238E27FC236}">
                <a16:creationId xmlns:a16="http://schemas.microsoft.com/office/drawing/2014/main" id="{180E7CA7-3CDA-0D8A-7C63-D0BB6243A952}"/>
              </a:ext>
            </a:extLst>
          </p:cNvPr>
          <p:cNvSpPr/>
          <p:nvPr/>
        </p:nvSpPr>
        <p:spPr>
          <a:xfrm>
            <a:off x="7285846" y="4130830"/>
            <a:ext cx="927387" cy="2011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rₜ₊₁, sₜ₊₁ </a:t>
            </a:r>
          </a:p>
        </p:txBody>
      </p:sp>
      <p:sp>
        <p:nvSpPr>
          <p:cNvPr id="90" name="Text 16">
            <a:extLst>
              <a:ext uri="{FF2B5EF4-FFF2-40B4-BE49-F238E27FC236}">
                <a16:creationId xmlns:a16="http://schemas.microsoft.com/office/drawing/2014/main" id="{39F16CEC-2E7E-7B6A-481C-EF0581C223C4}"/>
              </a:ext>
            </a:extLst>
          </p:cNvPr>
          <p:cNvSpPr/>
          <p:nvPr/>
        </p:nvSpPr>
        <p:spPr>
          <a:xfrm>
            <a:off x="365760" y="328147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Entscheidungszyklus</a:t>
            </a:r>
            <a:r>
              <a:rPr lang="en-US" sz="14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1400" b="1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im</a:t>
            </a:r>
            <a:r>
              <a:rPr lang="en-US" sz="14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MDP</a:t>
            </a:r>
          </a:p>
        </p:txBody>
      </p:sp>
    </p:spTree>
    <p:extLst>
      <p:ext uri="{BB962C8B-B14F-4D97-AF65-F5344CB8AC3E}">
        <p14:creationId xmlns:p14="http://schemas.microsoft.com/office/powerpoint/2010/main" val="1530003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69584CB4-DC63-C456-1278-081512B1F737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BCAA48AC-DC44-3F17-EEFB-A43F82CB0603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F25DAD0-93D7-3C78-D332-DC4CD8C39B67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Reward-System und </a:t>
            </a:r>
            <a:r>
              <a:rPr lang="en-US" sz="26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Übergänge</a:t>
            </a:r>
            <a:endParaRPr lang="en-US" sz="26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7A62879-C597-2E51-98B5-C4D8D8FAC348}"/>
              </a:ext>
            </a:extLst>
          </p:cNvPr>
          <p:cNvSpPr/>
          <p:nvPr/>
        </p:nvSpPr>
        <p:spPr>
          <a:xfrm>
            <a:off x="6367670" y="54864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1C87B5CB-FDE1-4D92-AEBF-0F36A1936069}" type="slidenum">
              <a:rPr lang="en-US" sz="900" b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5</a:t>
            </a:fld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13BE2948-32EF-78EC-DBC5-53E97EB81A79}"/>
              </a:ext>
            </a:extLst>
          </p:cNvPr>
          <p:cNvSpPr/>
          <p:nvPr/>
        </p:nvSpPr>
        <p:spPr>
          <a:xfrm>
            <a:off x="3412435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BHH · Machine Learning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D32FB7BF-77AA-1D5D-F936-FF173E38B2A9}"/>
              </a:ext>
            </a:extLst>
          </p:cNvPr>
          <p:cNvSpPr/>
          <p:nvPr/>
        </p:nvSpPr>
        <p:spPr>
          <a:xfrm>
            <a:off x="457200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Motivation &amp; </a:t>
            </a: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Theorie</a:t>
            </a:r>
            <a:endParaRPr lang="en-US" sz="9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Cambria" pitchFamily="34" charset="-120"/>
            </a:endParaRPr>
          </a:p>
        </p:txBody>
      </p:sp>
      <p:sp>
        <p:nvSpPr>
          <p:cNvPr id="59" name="!!7">
            <a:extLst>
              <a:ext uri="{FF2B5EF4-FFF2-40B4-BE49-F238E27FC236}">
                <a16:creationId xmlns:a16="http://schemas.microsoft.com/office/drawing/2014/main" id="{490448FD-EE64-A055-99F3-F0C492715399}"/>
              </a:ext>
            </a:extLst>
          </p:cNvPr>
          <p:cNvSpPr/>
          <p:nvPr/>
        </p:nvSpPr>
        <p:spPr>
          <a:xfrm>
            <a:off x="365760" y="1097280"/>
            <a:ext cx="2606040" cy="146304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0" name="Text 5">
            <a:extLst>
              <a:ext uri="{FF2B5EF4-FFF2-40B4-BE49-F238E27FC236}">
                <a16:creationId xmlns:a16="http://schemas.microsoft.com/office/drawing/2014/main" id="{A949824B-5D24-3A75-DF3A-9EC1A4FEF5B5}"/>
              </a:ext>
            </a:extLst>
          </p:cNvPr>
          <p:cNvSpPr/>
          <p:nvPr/>
        </p:nvSpPr>
        <p:spPr>
          <a:xfrm>
            <a:off x="365760" y="1188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0B98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+1</a:t>
            </a:r>
            <a:endParaRPr lang="en-US" sz="3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1" name="Text 6">
            <a:extLst>
              <a:ext uri="{FF2B5EF4-FFF2-40B4-BE49-F238E27FC236}">
                <a16:creationId xmlns:a16="http://schemas.microsoft.com/office/drawing/2014/main" id="{A73F7969-6776-8182-F12C-FDEA47618137}"/>
              </a:ext>
            </a:extLst>
          </p:cNvPr>
          <p:cNvSpPr/>
          <p:nvPr/>
        </p:nvSpPr>
        <p:spPr>
          <a:xfrm>
            <a:off x="365760" y="18105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Gewinn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2" name="Text 7">
            <a:extLst>
              <a:ext uri="{FF2B5EF4-FFF2-40B4-BE49-F238E27FC236}">
                <a16:creationId xmlns:a16="http://schemas.microsoft.com/office/drawing/2014/main" id="{D5225BAA-5AD6-FF71-92C3-70D8D4046200}"/>
              </a:ext>
            </a:extLst>
          </p:cNvPr>
          <p:cNvSpPr/>
          <p:nvPr/>
        </p:nvSpPr>
        <p:spPr>
          <a:xfrm>
            <a:off x="475488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Agent gewinnt die Runde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7" name="!!8">
            <a:extLst>
              <a:ext uri="{FF2B5EF4-FFF2-40B4-BE49-F238E27FC236}">
                <a16:creationId xmlns:a16="http://schemas.microsoft.com/office/drawing/2014/main" id="{160B86F6-5E1B-6897-C760-95637D1C3637}"/>
              </a:ext>
            </a:extLst>
          </p:cNvPr>
          <p:cNvSpPr/>
          <p:nvPr/>
        </p:nvSpPr>
        <p:spPr>
          <a:xfrm>
            <a:off x="3200400" y="1097280"/>
            <a:ext cx="2606040" cy="146304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8" name="Text 13">
            <a:extLst>
              <a:ext uri="{FF2B5EF4-FFF2-40B4-BE49-F238E27FC236}">
                <a16:creationId xmlns:a16="http://schemas.microsoft.com/office/drawing/2014/main" id="{67552164-B51B-7456-4EEE-EED7533CAC98}"/>
              </a:ext>
            </a:extLst>
          </p:cNvPr>
          <p:cNvSpPr/>
          <p:nvPr/>
        </p:nvSpPr>
        <p:spPr>
          <a:xfrm>
            <a:off x="3200400" y="1188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0</a:t>
            </a:r>
            <a:endParaRPr lang="en-US" sz="3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9" name="Text 14">
            <a:extLst>
              <a:ext uri="{FF2B5EF4-FFF2-40B4-BE49-F238E27FC236}">
                <a16:creationId xmlns:a16="http://schemas.microsoft.com/office/drawing/2014/main" id="{2E42AACC-6672-891F-9FC3-A05577DF10AB}"/>
              </a:ext>
            </a:extLst>
          </p:cNvPr>
          <p:cNvSpPr/>
          <p:nvPr/>
        </p:nvSpPr>
        <p:spPr>
          <a:xfrm>
            <a:off x="3200400" y="18105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Push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0" name="Text 15">
            <a:extLst>
              <a:ext uri="{FF2B5EF4-FFF2-40B4-BE49-F238E27FC236}">
                <a16:creationId xmlns:a16="http://schemas.microsoft.com/office/drawing/2014/main" id="{79623D49-6A83-52AB-F1ED-3E7F94AA1E72}"/>
              </a:ext>
            </a:extLst>
          </p:cNvPr>
          <p:cNvSpPr/>
          <p:nvPr/>
        </p:nvSpPr>
        <p:spPr>
          <a:xfrm>
            <a:off x="3310128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Unentschieden – kein Reward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1" name="Text 16">
            <a:extLst>
              <a:ext uri="{FF2B5EF4-FFF2-40B4-BE49-F238E27FC236}">
                <a16:creationId xmlns:a16="http://schemas.microsoft.com/office/drawing/2014/main" id="{DE30BB6D-C3CD-F350-61D5-ADC524DE734D}"/>
              </a:ext>
            </a:extLst>
          </p:cNvPr>
          <p:cNvSpPr/>
          <p:nvPr/>
        </p:nvSpPr>
        <p:spPr>
          <a:xfrm>
            <a:off x="365760" y="28346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Erfolgskriterien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2" name="!!6">
            <a:extLst>
              <a:ext uri="{FF2B5EF4-FFF2-40B4-BE49-F238E27FC236}">
                <a16:creationId xmlns:a16="http://schemas.microsoft.com/office/drawing/2014/main" id="{E3C27E31-ECC7-0B56-72FE-E5EEBB097896}"/>
              </a:ext>
            </a:extLst>
          </p:cNvPr>
          <p:cNvSpPr/>
          <p:nvPr/>
        </p:nvSpPr>
        <p:spPr>
          <a:xfrm>
            <a:off x="365760" y="32461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>
              <a:solidFill>
                <a:srgbClr val="0F172A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3" name="Shape 18">
            <a:extLst>
              <a:ext uri="{FF2B5EF4-FFF2-40B4-BE49-F238E27FC236}">
                <a16:creationId xmlns:a16="http://schemas.microsoft.com/office/drawing/2014/main" id="{8E12F02F-54E6-1A25-BEBC-D603F210203D}"/>
              </a:ext>
            </a:extLst>
          </p:cNvPr>
          <p:cNvSpPr/>
          <p:nvPr/>
        </p:nvSpPr>
        <p:spPr>
          <a:xfrm>
            <a:off x="502920" y="338328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4" name="Text 19">
            <a:extLst>
              <a:ext uri="{FF2B5EF4-FFF2-40B4-BE49-F238E27FC236}">
                <a16:creationId xmlns:a16="http://schemas.microsoft.com/office/drawing/2014/main" id="{BA9BA8DD-8974-C9A9-C05B-730407DE7957}"/>
              </a:ext>
            </a:extLst>
          </p:cNvPr>
          <p:cNvSpPr/>
          <p:nvPr/>
        </p:nvSpPr>
        <p:spPr>
          <a:xfrm>
            <a:off x="50292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✓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5" name="Text 20">
            <a:extLst>
              <a:ext uri="{FF2B5EF4-FFF2-40B4-BE49-F238E27FC236}">
                <a16:creationId xmlns:a16="http://schemas.microsoft.com/office/drawing/2014/main" id="{16E85030-7C12-0992-49CB-974D985CC19D}"/>
              </a:ext>
            </a:extLst>
          </p:cNvPr>
          <p:cNvSpPr/>
          <p:nvPr/>
        </p:nvSpPr>
        <p:spPr>
          <a:xfrm>
            <a:off x="914400" y="33649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Avg. Reward &gt; −0.05</a:t>
            </a:r>
            <a:endParaRPr lang="en-US" sz="1100" dirty="0">
              <a:solidFill>
                <a:srgbClr val="0F172A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6" name="Text 21">
            <a:extLst>
              <a:ext uri="{FF2B5EF4-FFF2-40B4-BE49-F238E27FC236}">
                <a16:creationId xmlns:a16="http://schemas.microsoft.com/office/drawing/2014/main" id="{F854FAF3-26D7-E212-47ED-5CD038F7E643}"/>
              </a:ext>
            </a:extLst>
          </p:cNvPr>
          <p:cNvSpPr/>
          <p:nvPr/>
        </p:nvSpPr>
        <p:spPr>
          <a:xfrm>
            <a:off x="530352" y="3749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Signifikant besser als Zufallsstrategie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7" name="!!11">
            <a:extLst>
              <a:ext uri="{FF2B5EF4-FFF2-40B4-BE49-F238E27FC236}">
                <a16:creationId xmlns:a16="http://schemas.microsoft.com/office/drawing/2014/main" id="{74AD0F14-F4DA-D2B5-4DF6-D17F9A572246}"/>
              </a:ext>
            </a:extLst>
          </p:cNvPr>
          <p:cNvSpPr/>
          <p:nvPr/>
        </p:nvSpPr>
        <p:spPr>
          <a:xfrm>
            <a:off x="3200400" y="32461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8" name="Shape 23">
            <a:extLst>
              <a:ext uri="{FF2B5EF4-FFF2-40B4-BE49-F238E27FC236}">
                <a16:creationId xmlns:a16="http://schemas.microsoft.com/office/drawing/2014/main" id="{B52923F4-81C5-BFDE-87DA-A432A0819D13}"/>
              </a:ext>
            </a:extLst>
          </p:cNvPr>
          <p:cNvSpPr/>
          <p:nvPr/>
        </p:nvSpPr>
        <p:spPr>
          <a:xfrm>
            <a:off x="3337560" y="338328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9" name="Text 24">
            <a:extLst>
              <a:ext uri="{FF2B5EF4-FFF2-40B4-BE49-F238E27FC236}">
                <a16:creationId xmlns:a16="http://schemas.microsoft.com/office/drawing/2014/main" id="{3F4C2177-C8F7-0405-7D7A-227EE7702F77}"/>
              </a:ext>
            </a:extLst>
          </p:cNvPr>
          <p:cNvSpPr/>
          <p:nvPr/>
        </p:nvSpPr>
        <p:spPr>
          <a:xfrm>
            <a:off x="333756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✓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0" name="Text 25">
            <a:extLst>
              <a:ext uri="{FF2B5EF4-FFF2-40B4-BE49-F238E27FC236}">
                <a16:creationId xmlns:a16="http://schemas.microsoft.com/office/drawing/2014/main" id="{CD8BB51B-43F9-75E3-5913-D858B0FD58F4}"/>
              </a:ext>
            </a:extLst>
          </p:cNvPr>
          <p:cNvSpPr/>
          <p:nvPr/>
        </p:nvSpPr>
        <p:spPr>
          <a:xfrm>
            <a:off x="3749040" y="33649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Win Rate 42-45%</a:t>
            </a:r>
            <a:endParaRPr lang="en-US" sz="1100" dirty="0">
              <a:solidFill>
                <a:srgbClr val="0F172A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1" name="Text 26">
            <a:extLst>
              <a:ext uri="{FF2B5EF4-FFF2-40B4-BE49-F238E27FC236}">
                <a16:creationId xmlns:a16="http://schemas.microsoft.com/office/drawing/2014/main" id="{F846444B-F3A2-C9F2-A636-80F453B0EA82}"/>
              </a:ext>
            </a:extLst>
          </p:cNvPr>
          <p:cNvSpPr/>
          <p:nvPr/>
        </p:nvSpPr>
        <p:spPr>
          <a:xfrm>
            <a:off x="3364992" y="3749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Casino House Edge überwunden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2" name="!!5">
            <a:extLst>
              <a:ext uri="{FF2B5EF4-FFF2-40B4-BE49-F238E27FC236}">
                <a16:creationId xmlns:a16="http://schemas.microsoft.com/office/drawing/2014/main" id="{93939E6D-032A-D8D1-BF39-E92F330995B2}"/>
              </a:ext>
            </a:extLst>
          </p:cNvPr>
          <p:cNvSpPr/>
          <p:nvPr/>
        </p:nvSpPr>
        <p:spPr>
          <a:xfrm>
            <a:off x="6035040" y="32461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3" name="Shape 28">
            <a:extLst>
              <a:ext uri="{FF2B5EF4-FFF2-40B4-BE49-F238E27FC236}">
                <a16:creationId xmlns:a16="http://schemas.microsoft.com/office/drawing/2014/main" id="{7437AD16-25E7-519D-7F99-862CFCB0CFB9}"/>
              </a:ext>
            </a:extLst>
          </p:cNvPr>
          <p:cNvSpPr/>
          <p:nvPr/>
        </p:nvSpPr>
        <p:spPr>
          <a:xfrm>
            <a:off x="6172200" y="338328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4" name="Text 29">
            <a:extLst>
              <a:ext uri="{FF2B5EF4-FFF2-40B4-BE49-F238E27FC236}">
                <a16:creationId xmlns:a16="http://schemas.microsoft.com/office/drawing/2014/main" id="{90010D8D-7DDD-D5DD-356E-7F79FFBA13D1}"/>
              </a:ext>
            </a:extLst>
          </p:cNvPr>
          <p:cNvSpPr/>
          <p:nvPr/>
        </p:nvSpPr>
        <p:spPr>
          <a:xfrm>
            <a:off x="617220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✓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5" name="Text 30">
            <a:extLst>
              <a:ext uri="{FF2B5EF4-FFF2-40B4-BE49-F238E27FC236}">
                <a16:creationId xmlns:a16="http://schemas.microsoft.com/office/drawing/2014/main" id="{001367B1-338B-DB35-F96E-E48EA35A4FB7}"/>
              </a:ext>
            </a:extLst>
          </p:cNvPr>
          <p:cNvSpPr/>
          <p:nvPr/>
        </p:nvSpPr>
        <p:spPr>
          <a:xfrm>
            <a:off x="6583680" y="33649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CI &lt; ±0.003</a:t>
            </a:r>
            <a:endParaRPr lang="en-US" sz="1100" dirty="0">
              <a:solidFill>
                <a:srgbClr val="0F172A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6" name="Text 31">
            <a:extLst>
              <a:ext uri="{FF2B5EF4-FFF2-40B4-BE49-F238E27FC236}">
                <a16:creationId xmlns:a16="http://schemas.microsoft.com/office/drawing/2014/main" id="{8009D131-E20B-92D7-57E2-D08EF4FC3A17}"/>
              </a:ext>
            </a:extLst>
          </p:cNvPr>
          <p:cNvSpPr/>
          <p:nvPr/>
        </p:nvSpPr>
        <p:spPr>
          <a:xfrm>
            <a:off x="6199632" y="3749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Stabiles, konsistentes Lernen über Seeds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7" name="!!10">
            <a:extLst>
              <a:ext uri="{FF2B5EF4-FFF2-40B4-BE49-F238E27FC236}">
                <a16:creationId xmlns:a16="http://schemas.microsoft.com/office/drawing/2014/main" id="{CE2475E2-393F-B504-D6E8-498EC7CA80EB}"/>
              </a:ext>
            </a:extLst>
          </p:cNvPr>
          <p:cNvSpPr/>
          <p:nvPr/>
        </p:nvSpPr>
        <p:spPr>
          <a:xfrm>
            <a:off x="6035040" y="1097280"/>
            <a:ext cx="2606040" cy="146304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12700">
            <a:solidFill>
              <a:srgbClr val="EF4444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A6D3868B-789B-70AC-1466-F2D61E771DD5}"/>
              </a:ext>
            </a:extLst>
          </p:cNvPr>
          <p:cNvSpPr/>
          <p:nvPr/>
        </p:nvSpPr>
        <p:spPr>
          <a:xfrm>
            <a:off x="6035040" y="1188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F444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−1</a:t>
            </a:r>
            <a:endParaRPr lang="en-US" sz="3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9" name="Text 10">
            <a:extLst>
              <a:ext uri="{FF2B5EF4-FFF2-40B4-BE49-F238E27FC236}">
                <a16:creationId xmlns:a16="http://schemas.microsoft.com/office/drawing/2014/main" id="{CCBF8502-63B9-6B58-347C-BB712EA6B085}"/>
              </a:ext>
            </a:extLst>
          </p:cNvPr>
          <p:cNvSpPr/>
          <p:nvPr/>
        </p:nvSpPr>
        <p:spPr>
          <a:xfrm>
            <a:off x="6035040" y="18105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Verlust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Text 11">
            <a:extLst>
              <a:ext uri="{FF2B5EF4-FFF2-40B4-BE49-F238E27FC236}">
                <a16:creationId xmlns:a16="http://schemas.microsoft.com/office/drawing/2014/main" id="{51DD7ED6-BDF2-D961-E741-DC72F5530B70}"/>
              </a:ext>
            </a:extLst>
          </p:cNvPr>
          <p:cNvSpPr/>
          <p:nvPr/>
        </p:nvSpPr>
        <p:spPr>
          <a:xfrm>
            <a:off x="6144768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Agent verliert die Runde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9613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BCBB9-173D-BAE7-EFE8-A81E19D89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1B056DED-1A91-A1E6-1185-67F2142B48D1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1BCE832C-9149-DFF9-3442-9215ECED2534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DC31EF7-903D-B99E-182B-1B09FD1DAF9E}"/>
              </a:ext>
            </a:extLst>
          </p:cNvPr>
          <p:cNvSpPr/>
          <p:nvPr/>
        </p:nvSpPr>
        <p:spPr>
          <a:xfrm>
            <a:off x="457200" y="274320"/>
            <a:ext cx="8549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Das Deck hat Gedächtnis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2D66724-6F61-05E2-D719-A202A6F36C70}"/>
              </a:ext>
            </a:extLst>
          </p:cNvPr>
          <p:cNvSpPr/>
          <p:nvPr/>
        </p:nvSpPr>
        <p:spPr>
          <a:xfrm>
            <a:off x="6367670" y="54864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1C87B5CB-FDE1-4D92-AEBF-0F36A1936069}" type="slidenum">
              <a:rPr lang="en-US" sz="900" b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6</a:t>
            </a:fld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1EE16C30-1682-275D-B4EF-417D16E095A9}"/>
              </a:ext>
            </a:extLst>
          </p:cNvPr>
          <p:cNvSpPr/>
          <p:nvPr/>
        </p:nvSpPr>
        <p:spPr>
          <a:xfrm>
            <a:off x="3412435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BHH · Machine Learning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840D29DE-A6CC-B136-6B5A-A5F028EB4C20}"/>
              </a:ext>
            </a:extLst>
          </p:cNvPr>
          <p:cNvSpPr/>
          <p:nvPr/>
        </p:nvSpPr>
        <p:spPr>
          <a:xfrm>
            <a:off x="457200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Motivation &amp; </a:t>
            </a: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Theorie</a:t>
            </a:r>
            <a:endParaRPr lang="en-US" sz="9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Cambria" pitchFamily="34" charset="-120"/>
            </a:endParaRPr>
          </a:p>
        </p:txBody>
      </p:sp>
      <p:sp>
        <p:nvSpPr>
          <p:cNvPr id="55" name="!!1.1">
            <a:extLst>
              <a:ext uri="{FF2B5EF4-FFF2-40B4-BE49-F238E27FC236}">
                <a16:creationId xmlns:a16="http://schemas.microsoft.com/office/drawing/2014/main" id="{BC1F80FF-3725-952B-E428-DF90F70C4498}"/>
              </a:ext>
            </a:extLst>
          </p:cNvPr>
          <p:cNvSpPr/>
          <p:nvPr/>
        </p:nvSpPr>
        <p:spPr>
          <a:xfrm>
            <a:off x="3478840" y="1352625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" name="!!1.2">
            <a:extLst>
              <a:ext uri="{FF2B5EF4-FFF2-40B4-BE49-F238E27FC236}">
                <a16:creationId xmlns:a16="http://schemas.microsoft.com/office/drawing/2014/main" id="{8461E58F-013C-E576-1277-4AE74CAF7635}"/>
              </a:ext>
            </a:extLst>
          </p:cNvPr>
          <p:cNvSpPr/>
          <p:nvPr/>
        </p:nvSpPr>
        <p:spPr>
          <a:xfrm>
            <a:off x="3580235" y="1464713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7" name="!!1.3">
            <a:extLst>
              <a:ext uri="{FF2B5EF4-FFF2-40B4-BE49-F238E27FC236}">
                <a16:creationId xmlns:a16="http://schemas.microsoft.com/office/drawing/2014/main" id="{0D014C59-BDF7-148B-E12E-C58E1C7A4D3E}"/>
              </a:ext>
            </a:extLst>
          </p:cNvPr>
          <p:cNvSpPr/>
          <p:nvPr/>
        </p:nvSpPr>
        <p:spPr>
          <a:xfrm>
            <a:off x="3681630" y="1576801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9" name="!!2.1">
            <a:extLst>
              <a:ext uri="{FF2B5EF4-FFF2-40B4-BE49-F238E27FC236}">
                <a16:creationId xmlns:a16="http://schemas.microsoft.com/office/drawing/2014/main" id="{EC771D54-83E8-4302-0B25-2DC76BE358DF}"/>
              </a:ext>
            </a:extLst>
          </p:cNvPr>
          <p:cNvSpPr/>
          <p:nvPr/>
        </p:nvSpPr>
        <p:spPr>
          <a:xfrm>
            <a:off x="5227860" y="1352625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0" name="!!2.2">
            <a:extLst>
              <a:ext uri="{FF2B5EF4-FFF2-40B4-BE49-F238E27FC236}">
                <a16:creationId xmlns:a16="http://schemas.microsoft.com/office/drawing/2014/main" id="{59DAA8AB-0154-5A44-6B16-B72BF5B973FE}"/>
              </a:ext>
            </a:extLst>
          </p:cNvPr>
          <p:cNvSpPr/>
          <p:nvPr/>
        </p:nvSpPr>
        <p:spPr>
          <a:xfrm>
            <a:off x="5329255" y="1464713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1" name="!!2.3">
            <a:extLst>
              <a:ext uri="{FF2B5EF4-FFF2-40B4-BE49-F238E27FC236}">
                <a16:creationId xmlns:a16="http://schemas.microsoft.com/office/drawing/2014/main" id="{19148E79-3871-D145-A4CA-AEE5C2F56187}"/>
              </a:ext>
            </a:extLst>
          </p:cNvPr>
          <p:cNvSpPr/>
          <p:nvPr/>
        </p:nvSpPr>
        <p:spPr>
          <a:xfrm>
            <a:off x="5430650" y="1576801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3" name="!!3.1">
            <a:extLst>
              <a:ext uri="{FF2B5EF4-FFF2-40B4-BE49-F238E27FC236}">
                <a16:creationId xmlns:a16="http://schemas.microsoft.com/office/drawing/2014/main" id="{423B72DD-6AB0-2FE3-FF08-0A3AE4A4CDB5}"/>
              </a:ext>
            </a:extLst>
          </p:cNvPr>
          <p:cNvSpPr/>
          <p:nvPr/>
        </p:nvSpPr>
        <p:spPr>
          <a:xfrm>
            <a:off x="6976880" y="1352625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4" name="!!3.2">
            <a:extLst>
              <a:ext uri="{FF2B5EF4-FFF2-40B4-BE49-F238E27FC236}">
                <a16:creationId xmlns:a16="http://schemas.microsoft.com/office/drawing/2014/main" id="{12106302-C5DF-FFD0-EC65-A559C567245A}"/>
              </a:ext>
            </a:extLst>
          </p:cNvPr>
          <p:cNvSpPr/>
          <p:nvPr/>
        </p:nvSpPr>
        <p:spPr>
          <a:xfrm>
            <a:off x="7078275" y="1464713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5" name="!!3.3">
            <a:extLst>
              <a:ext uri="{FF2B5EF4-FFF2-40B4-BE49-F238E27FC236}">
                <a16:creationId xmlns:a16="http://schemas.microsoft.com/office/drawing/2014/main" id="{5B244C63-9A32-850D-876A-F6E181253885}"/>
              </a:ext>
            </a:extLst>
          </p:cNvPr>
          <p:cNvSpPr/>
          <p:nvPr/>
        </p:nvSpPr>
        <p:spPr>
          <a:xfrm>
            <a:off x="7179670" y="1576801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!!4.1">
            <a:extLst>
              <a:ext uri="{FF2B5EF4-FFF2-40B4-BE49-F238E27FC236}">
                <a16:creationId xmlns:a16="http://schemas.microsoft.com/office/drawing/2014/main" id="{918DBDAF-ABB4-713C-086B-4634E81C69DD}"/>
              </a:ext>
            </a:extLst>
          </p:cNvPr>
          <p:cNvSpPr/>
          <p:nvPr/>
        </p:nvSpPr>
        <p:spPr>
          <a:xfrm>
            <a:off x="3478840" y="3033941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!!</a:t>
            </a:r>
            <a:endParaRPr lang="en-GB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!!4.2">
            <a:extLst>
              <a:ext uri="{FF2B5EF4-FFF2-40B4-BE49-F238E27FC236}">
                <a16:creationId xmlns:a16="http://schemas.microsoft.com/office/drawing/2014/main" id="{17205B19-4FEE-9863-2488-8CB0BB017D58}"/>
              </a:ext>
            </a:extLst>
          </p:cNvPr>
          <p:cNvSpPr/>
          <p:nvPr/>
        </p:nvSpPr>
        <p:spPr>
          <a:xfrm>
            <a:off x="3580235" y="3146029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!!4.3">
            <a:extLst>
              <a:ext uri="{FF2B5EF4-FFF2-40B4-BE49-F238E27FC236}">
                <a16:creationId xmlns:a16="http://schemas.microsoft.com/office/drawing/2014/main" id="{B7A6119D-4393-22AB-FB87-5866B2E8EBF6}"/>
              </a:ext>
            </a:extLst>
          </p:cNvPr>
          <p:cNvSpPr/>
          <p:nvPr/>
        </p:nvSpPr>
        <p:spPr>
          <a:xfrm>
            <a:off x="3681630" y="3258117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7" name="!!5.1">
            <a:extLst>
              <a:ext uri="{FF2B5EF4-FFF2-40B4-BE49-F238E27FC236}">
                <a16:creationId xmlns:a16="http://schemas.microsoft.com/office/drawing/2014/main" id="{896AF2C7-33EC-DB0B-93AC-FF5F67B86F22}"/>
              </a:ext>
            </a:extLst>
          </p:cNvPr>
          <p:cNvSpPr/>
          <p:nvPr/>
        </p:nvSpPr>
        <p:spPr>
          <a:xfrm>
            <a:off x="5227860" y="3033941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" name="!!5.2">
            <a:extLst>
              <a:ext uri="{FF2B5EF4-FFF2-40B4-BE49-F238E27FC236}">
                <a16:creationId xmlns:a16="http://schemas.microsoft.com/office/drawing/2014/main" id="{80AD2445-4626-418B-0A96-6E4ED63FCAF0}"/>
              </a:ext>
            </a:extLst>
          </p:cNvPr>
          <p:cNvSpPr/>
          <p:nvPr/>
        </p:nvSpPr>
        <p:spPr>
          <a:xfrm>
            <a:off x="5329255" y="3146029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" name="!!5.3">
            <a:extLst>
              <a:ext uri="{FF2B5EF4-FFF2-40B4-BE49-F238E27FC236}">
                <a16:creationId xmlns:a16="http://schemas.microsoft.com/office/drawing/2014/main" id="{14F8E9DC-EED6-14CA-7B04-CE933FBAFBBB}"/>
              </a:ext>
            </a:extLst>
          </p:cNvPr>
          <p:cNvSpPr/>
          <p:nvPr/>
        </p:nvSpPr>
        <p:spPr>
          <a:xfrm>
            <a:off x="5430650" y="3258117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1" name="!!6.1">
            <a:extLst>
              <a:ext uri="{FF2B5EF4-FFF2-40B4-BE49-F238E27FC236}">
                <a16:creationId xmlns:a16="http://schemas.microsoft.com/office/drawing/2014/main" id="{FD32E050-D259-2429-144B-462152037101}"/>
              </a:ext>
            </a:extLst>
          </p:cNvPr>
          <p:cNvSpPr/>
          <p:nvPr/>
        </p:nvSpPr>
        <p:spPr>
          <a:xfrm>
            <a:off x="6976880" y="3033941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2" name="!!6.2">
            <a:extLst>
              <a:ext uri="{FF2B5EF4-FFF2-40B4-BE49-F238E27FC236}">
                <a16:creationId xmlns:a16="http://schemas.microsoft.com/office/drawing/2014/main" id="{85C16DAC-F59E-932B-B6D0-D48E651B9D86}"/>
              </a:ext>
            </a:extLst>
          </p:cNvPr>
          <p:cNvSpPr/>
          <p:nvPr/>
        </p:nvSpPr>
        <p:spPr>
          <a:xfrm>
            <a:off x="7078275" y="3146029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3" name="!!6.3">
            <a:extLst>
              <a:ext uri="{FF2B5EF4-FFF2-40B4-BE49-F238E27FC236}">
                <a16:creationId xmlns:a16="http://schemas.microsoft.com/office/drawing/2014/main" id="{A66D1219-CD1D-7473-4026-F097C8696F64}"/>
              </a:ext>
            </a:extLst>
          </p:cNvPr>
          <p:cNvSpPr/>
          <p:nvPr/>
        </p:nvSpPr>
        <p:spPr>
          <a:xfrm>
            <a:off x="7179670" y="3258117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7" name="!!8">
            <a:extLst>
              <a:ext uri="{FF2B5EF4-FFF2-40B4-BE49-F238E27FC236}">
                <a16:creationId xmlns:a16="http://schemas.microsoft.com/office/drawing/2014/main" id="{0AFB1731-CEC8-9654-CB19-C1E23816EC61}"/>
              </a:ext>
            </a:extLst>
          </p:cNvPr>
          <p:cNvSpPr/>
          <p:nvPr/>
        </p:nvSpPr>
        <p:spPr>
          <a:xfrm>
            <a:off x="358290" y="1242650"/>
            <a:ext cx="2606040" cy="146304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8" name="!!8">
            <a:extLst>
              <a:ext uri="{FF2B5EF4-FFF2-40B4-BE49-F238E27FC236}">
                <a16:creationId xmlns:a16="http://schemas.microsoft.com/office/drawing/2014/main" id="{0E4E16F1-9DBA-E9A2-DE62-46CBACE6E4C9}"/>
              </a:ext>
            </a:extLst>
          </p:cNvPr>
          <p:cNvSpPr/>
          <p:nvPr/>
        </p:nvSpPr>
        <p:spPr>
          <a:xfrm>
            <a:off x="358290" y="3089210"/>
            <a:ext cx="2606040" cy="146304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9" name="Text 12">
            <a:extLst>
              <a:ext uri="{FF2B5EF4-FFF2-40B4-BE49-F238E27FC236}">
                <a16:creationId xmlns:a16="http://schemas.microsoft.com/office/drawing/2014/main" id="{9B7A1464-3E67-30CF-01A3-31B36874296F}"/>
              </a:ext>
            </a:extLst>
          </p:cNvPr>
          <p:cNvSpPr/>
          <p:nvPr/>
        </p:nvSpPr>
        <p:spPr>
          <a:xfrm>
            <a:off x="358290" y="138505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Shoe / </a:t>
            </a:r>
            <a:r>
              <a:rPr lang="en-US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Schlitten</a:t>
            </a:r>
            <a:endParaRPr lang="en-US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1" name="Text 12">
            <a:extLst>
              <a:ext uri="{FF2B5EF4-FFF2-40B4-BE49-F238E27FC236}">
                <a16:creationId xmlns:a16="http://schemas.microsoft.com/office/drawing/2014/main" id="{8C24E9AD-3D42-E665-296A-0CBDFA3D14E3}"/>
              </a:ext>
            </a:extLst>
          </p:cNvPr>
          <p:cNvSpPr/>
          <p:nvPr/>
        </p:nvSpPr>
        <p:spPr>
          <a:xfrm>
            <a:off x="358290" y="3264869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Shuffle</a:t>
            </a:r>
          </a:p>
        </p:txBody>
      </p:sp>
      <p:sp>
        <p:nvSpPr>
          <p:cNvPr id="72" name="Text 13">
            <a:extLst>
              <a:ext uri="{FF2B5EF4-FFF2-40B4-BE49-F238E27FC236}">
                <a16:creationId xmlns:a16="http://schemas.microsoft.com/office/drawing/2014/main" id="{03601C7A-CDF0-7551-3E07-0BB0363779D0}"/>
              </a:ext>
            </a:extLst>
          </p:cNvPr>
          <p:cNvSpPr/>
          <p:nvPr/>
        </p:nvSpPr>
        <p:spPr>
          <a:xfrm>
            <a:off x="498786" y="1764790"/>
            <a:ext cx="2325048" cy="82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de-DE" sz="1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6 Decks</a:t>
            </a:r>
          </a:p>
          <a:p>
            <a:pPr algn="ctr"/>
            <a:endParaRPr lang="de-DE" sz="1400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de-DE" sz="1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312 Karten</a:t>
            </a:r>
          </a:p>
        </p:txBody>
      </p:sp>
      <p:sp>
        <p:nvSpPr>
          <p:cNvPr id="73" name="Text 13">
            <a:extLst>
              <a:ext uri="{FF2B5EF4-FFF2-40B4-BE49-F238E27FC236}">
                <a16:creationId xmlns:a16="http://schemas.microsoft.com/office/drawing/2014/main" id="{E2559E92-6997-5493-8846-A715827BC655}"/>
              </a:ext>
            </a:extLst>
          </p:cNvPr>
          <p:cNvSpPr/>
          <p:nvPr/>
        </p:nvSpPr>
        <p:spPr>
          <a:xfrm>
            <a:off x="498786" y="3641696"/>
            <a:ext cx="2325048" cy="80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de-DE" sz="1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75 % Penetration</a:t>
            </a:r>
          </a:p>
          <a:p>
            <a:pPr algn="ctr"/>
            <a:endParaRPr lang="de-DE" sz="1400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de-DE" sz="1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Nach 234 Karten</a:t>
            </a:r>
          </a:p>
        </p:txBody>
      </p:sp>
    </p:spTree>
    <p:extLst>
      <p:ext uri="{BB962C8B-B14F-4D97-AF65-F5344CB8AC3E}">
        <p14:creationId xmlns:p14="http://schemas.microsoft.com/office/powerpoint/2010/main" val="828079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78B9F-8757-B1B2-0465-AB32B74DB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320E742F-7D84-ADEE-EA3A-1B4E0DA02778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0EF7C46F-1E1E-B487-B853-0FF3B3B87B2D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2A4E5C6-5C62-9191-F679-58EBFB85EFAE}"/>
              </a:ext>
            </a:extLst>
          </p:cNvPr>
          <p:cNvSpPr/>
          <p:nvPr/>
        </p:nvSpPr>
        <p:spPr>
          <a:xfrm>
            <a:off x="457200" y="274320"/>
            <a:ext cx="8549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Das Deck hat Gedächtnis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9E4F4FC3-DB53-F9E1-5FA0-D211B1DA7F8C}"/>
              </a:ext>
            </a:extLst>
          </p:cNvPr>
          <p:cNvSpPr/>
          <p:nvPr/>
        </p:nvSpPr>
        <p:spPr>
          <a:xfrm>
            <a:off x="6367670" y="54864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1C87B5CB-FDE1-4D92-AEBF-0F36A1936069}" type="slidenum">
              <a:rPr lang="en-US" sz="900" b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7</a:t>
            </a:fld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100C7E85-C1D9-30E9-1AA4-45B72F482D0C}"/>
              </a:ext>
            </a:extLst>
          </p:cNvPr>
          <p:cNvSpPr/>
          <p:nvPr/>
        </p:nvSpPr>
        <p:spPr>
          <a:xfrm>
            <a:off x="3412435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BHH · Machine Learning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F9CE8DAE-9F2B-6B55-037D-35F08C49EE1A}"/>
              </a:ext>
            </a:extLst>
          </p:cNvPr>
          <p:cNvSpPr/>
          <p:nvPr/>
        </p:nvSpPr>
        <p:spPr>
          <a:xfrm>
            <a:off x="457200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Motivation &amp; </a:t>
            </a: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Theorie</a:t>
            </a:r>
            <a:endParaRPr lang="en-US" sz="9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Cambria" pitchFamily="34" charset="-120"/>
            </a:endParaRPr>
          </a:p>
        </p:txBody>
      </p:sp>
      <p:sp>
        <p:nvSpPr>
          <p:cNvPr id="55" name="!!1.1">
            <a:extLst>
              <a:ext uri="{FF2B5EF4-FFF2-40B4-BE49-F238E27FC236}">
                <a16:creationId xmlns:a16="http://schemas.microsoft.com/office/drawing/2014/main" id="{28621656-9471-2083-7398-648CD58B7677}"/>
              </a:ext>
            </a:extLst>
          </p:cNvPr>
          <p:cNvSpPr/>
          <p:nvPr/>
        </p:nvSpPr>
        <p:spPr>
          <a:xfrm>
            <a:off x="1342102" y="1352625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" name="!!1.2">
            <a:extLst>
              <a:ext uri="{FF2B5EF4-FFF2-40B4-BE49-F238E27FC236}">
                <a16:creationId xmlns:a16="http://schemas.microsoft.com/office/drawing/2014/main" id="{EDD38266-C40D-A782-7591-A3B5E3F82665}"/>
              </a:ext>
            </a:extLst>
          </p:cNvPr>
          <p:cNvSpPr/>
          <p:nvPr/>
        </p:nvSpPr>
        <p:spPr>
          <a:xfrm>
            <a:off x="1443497" y="1464713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7" name="!!1.3">
            <a:extLst>
              <a:ext uri="{FF2B5EF4-FFF2-40B4-BE49-F238E27FC236}">
                <a16:creationId xmlns:a16="http://schemas.microsoft.com/office/drawing/2014/main" id="{064DC014-6780-080D-6A0A-F8EFF08CEBA4}"/>
              </a:ext>
            </a:extLst>
          </p:cNvPr>
          <p:cNvSpPr/>
          <p:nvPr/>
        </p:nvSpPr>
        <p:spPr>
          <a:xfrm>
            <a:off x="1544892" y="1576801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9" name="!!2.1">
            <a:extLst>
              <a:ext uri="{FF2B5EF4-FFF2-40B4-BE49-F238E27FC236}">
                <a16:creationId xmlns:a16="http://schemas.microsoft.com/office/drawing/2014/main" id="{FCED62E5-2EF5-4970-C84F-6FD64A08B74A}"/>
              </a:ext>
            </a:extLst>
          </p:cNvPr>
          <p:cNvSpPr/>
          <p:nvPr/>
        </p:nvSpPr>
        <p:spPr>
          <a:xfrm>
            <a:off x="1651405" y="1688493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0" name="!!2.2">
            <a:extLst>
              <a:ext uri="{FF2B5EF4-FFF2-40B4-BE49-F238E27FC236}">
                <a16:creationId xmlns:a16="http://schemas.microsoft.com/office/drawing/2014/main" id="{C4D8FB55-0633-004C-0992-04943E49B408}"/>
              </a:ext>
            </a:extLst>
          </p:cNvPr>
          <p:cNvSpPr/>
          <p:nvPr/>
        </p:nvSpPr>
        <p:spPr>
          <a:xfrm>
            <a:off x="1752800" y="1800581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1" name="!!2.3">
            <a:extLst>
              <a:ext uri="{FF2B5EF4-FFF2-40B4-BE49-F238E27FC236}">
                <a16:creationId xmlns:a16="http://schemas.microsoft.com/office/drawing/2014/main" id="{27F217FF-5947-FB55-B332-DBD23BA955B0}"/>
              </a:ext>
            </a:extLst>
          </p:cNvPr>
          <p:cNvSpPr/>
          <p:nvPr/>
        </p:nvSpPr>
        <p:spPr>
          <a:xfrm>
            <a:off x="1854195" y="1912669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3" name="!!3.1">
            <a:extLst>
              <a:ext uri="{FF2B5EF4-FFF2-40B4-BE49-F238E27FC236}">
                <a16:creationId xmlns:a16="http://schemas.microsoft.com/office/drawing/2014/main" id="{0E4DB637-500A-5F26-8C21-D4A6EF7AEB31}"/>
              </a:ext>
            </a:extLst>
          </p:cNvPr>
          <p:cNvSpPr/>
          <p:nvPr/>
        </p:nvSpPr>
        <p:spPr>
          <a:xfrm>
            <a:off x="1954161" y="2025941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4" name="!!3.2">
            <a:extLst>
              <a:ext uri="{FF2B5EF4-FFF2-40B4-BE49-F238E27FC236}">
                <a16:creationId xmlns:a16="http://schemas.microsoft.com/office/drawing/2014/main" id="{BE23CA3C-A24D-44A2-E3A7-FDF3EE26F586}"/>
              </a:ext>
            </a:extLst>
          </p:cNvPr>
          <p:cNvSpPr/>
          <p:nvPr/>
        </p:nvSpPr>
        <p:spPr>
          <a:xfrm>
            <a:off x="2055556" y="2138029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5" name="!!3.3">
            <a:extLst>
              <a:ext uri="{FF2B5EF4-FFF2-40B4-BE49-F238E27FC236}">
                <a16:creationId xmlns:a16="http://schemas.microsoft.com/office/drawing/2014/main" id="{92E0916E-831B-BE73-34D1-9FD049CE4B21}"/>
              </a:ext>
            </a:extLst>
          </p:cNvPr>
          <p:cNvSpPr/>
          <p:nvPr/>
        </p:nvSpPr>
        <p:spPr>
          <a:xfrm>
            <a:off x="2156951" y="2250117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!!4.1">
            <a:extLst>
              <a:ext uri="{FF2B5EF4-FFF2-40B4-BE49-F238E27FC236}">
                <a16:creationId xmlns:a16="http://schemas.microsoft.com/office/drawing/2014/main" id="{53ADE2F7-253F-4AB1-40A7-F16678178986}"/>
              </a:ext>
            </a:extLst>
          </p:cNvPr>
          <p:cNvSpPr/>
          <p:nvPr/>
        </p:nvSpPr>
        <p:spPr>
          <a:xfrm>
            <a:off x="2263464" y="2360625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!!</a:t>
            </a:r>
            <a:endParaRPr lang="en-GB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!!4.2">
            <a:extLst>
              <a:ext uri="{FF2B5EF4-FFF2-40B4-BE49-F238E27FC236}">
                <a16:creationId xmlns:a16="http://schemas.microsoft.com/office/drawing/2014/main" id="{C4E648DF-63CC-9CB5-99A6-C34C1C213B09}"/>
              </a:ext>
            </a:extLst>
          </p:cNvPr>
          <p:cNvSpPr/>
          <p:nvPr/>
        </p:nvSpPr>
        <p:spPr>
          <a:xfrm>
            <a:off x="2364859" y="2472713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!!4.3">
            <a:extLst>
              <a:ext uri="{FF2B5EF4-FFF2-40B4-BE49-F238E27FC236}">
                <a16:creationId xmlns:a16="http://schemas.microsoft.com/office/drawing/2014/main" id="{0259750B-AD52-1DBD-C2E4-49236D4DBA10}"/>
              </a:ext>
            </a:extLst>
          </p:cNvPr>
          <p:cNvSpPr/>
          <p:nvPr/>
        </p:nvSpPr>
        <p:spPr>
          <a:xfrm>
            <a:off x="2466254" y="2584801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7" name="!!5.1">
            <a:extLst>
              <a:ext uri="{FF2B5EF4-FFF2-40B4-BE49-F238E27FC236}">
                <a16:creationId xmlns:a16="http://schemas.microsoft.com/office/drawing/2014/main" id="{4F7125C2-4A3E-3375-5543-8770FF681192}"/>
              </a:ext>
            </a:extLst>
          </p:cNvPr>
          <p:cNvSpPr/>
          <p:nvPr/>
        </p:nvSpPr>
        <p:spPr>
          <a:xfrm>
            <a:off x="2566220" y="2696493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" name="!!5.2">
            <a:extLst>
              <a:ext uri="{FF2B5EF4-FFF2-40B4-BE49-F238E27FC236}">
                <a16:creationId xmlns:a16="http://schemas.microsoft.com/office/drawing/2014/main" id="{7411DC85-F37C-E1B6-C56C-0F9917CBC231}"/>
              </a:ext>
            </a:extLst>
          </p:cNvPr>
          <p:cNvSpPr/>
          <p:nvPr/>
        </p:nvSpPr>
        <p:spPr>
          <a:xfrm>
            <a:off x="2667615" y="2808581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" name="!!5.3">
            <a:extLst>
              <a:ext uri="{FF2B5EF4-FFF2-40B4-BE49-F238E27FC236}">
                <a16:creationId xmlns:a16="http://schemas.microsoft.com/office/drawing/2014/main" id="{8D188C16-29DD-79DC-87B9-CCA0959DFCF0}"/>
              </a:ext>
            </a:extLst>
          </p:cNvPr>
          <p:cNvSpPr/>
          <p:nvPr/>
        </p:nvSpPr>
        <p:spPr>
          <a:xfrm>
            <a:off x="2769010" y="2920669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1" name="!!6.1">
            <a:extLst>
              <a:ext uri="{FF2B5EF4-FFF2-40B4-BE49-F238E27FC236}">
                <a16:creationId xmlns:a16="http://schemas.microsoft.com/office/drawing/2014/main" id="{F1F263E0-4D76-4899-E473-4BFD1754805C}"/>
              </a:ext>
            </a:extLst>
          </p:cNvPr>
          <p:cNvSpPr/>
          <p:nvPr/>
        </p:nvSpPr>
        <p:spPr>
          <a:xfrm>
            <a:off x="2874094" y="3033941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2" name="!!6.2">
            <a:extLst>
              <a:ext uri="{FF2B5EF4-FFF2-40B4-BE49-F238E27FC236}">
                <a16:creationId xmlns:a16="http://schemas.microsoft.com/office/drawing/2014/main" id="{054ECCF5-4CD8-B61D-E6C1-847149CA1D15}"/>
              </a:ext>
            </a:extLst>
          </p:cNvPr>
          <p:cNvSpPr/>
          <p:nvPr/>
        </p:nvSpPr>
        <p:spPr>
          <a:xfrm>
            <a:off x="2975489" y="3146029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3" name="!!6.3">
            <a:extLst>
              <a:ext uri="{FF2B5EF4-FFF2-40B4-BE49-F238E27FC236}">
                <a16:creationId xmlns:a16="http://schemas.microsoft.com/office/drawing/2014/main" id="{E6D0A88A-D9D2-4DFA-A96E-42B2046039A2}"/>
              </a:ext>
            </a:extLst>
          </p:cNvPr>
          <p:cNvSpPr/>
          <p:nvPr/>
        </p:nvSpPr>
        <p:spPr>
          <a:xfrm>
            <a:off x="3076884" y="3258117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504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915E7-500B-69FE-7BF2-D2D06F5E0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75A3335C-3545-E7B2-80B2-6F60B0A64945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6DD7BC73-9638-4CC5-C692-6EC15CADEC93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DC5F514-0B2E-97F2-0EB2-60CED7A896AC}"/>
              </a:ext>
            </a:extLst>
          </p:cNvPr>
          <p:cNvSpPr/>
          <p:nvPr/>
        </p:nvSpPr>
        <p:spPr>
          <a:xfrm>
            <a:off x="457200" y="274320"/>
            <a:ext cx="8549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Das Deck hat Gedächtnis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1FC0578-9E34-6DB9-6A83-B48B9D786234}"/>
              </a:ext>
            </a:extLst>
          </p:cNvPr>
          <p:cNvSpPr/>
          <p:nvPr/>
        </p:nvSpPr>
        <p:spPr>
          <a:xfrm>
            <a:off x="6367670" y="54864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1C87B5CB-FDE1-4D92-AEBF-0F36A1936069}" type="slidenum">
              <a:rPr lang="en-US" sz="900" b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8</a:t>
            </a:fld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8B081B29-C474-C80F-91DB-FE063ED96EE6}"/>
              </a:ext>
            </a:extLst>
          </p:cNvPr>
          <p:cNvSpPr/>
          <p:nvPr/>
        </p:nvSpPr>
        <p:spPr>
          <a:xfrm>
            <a:off x="3412435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BHH · Machine Learning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894E8250-00C1-BD38-EFE8-5D57A205D9A8}"/>
              </a:ext>
            </a:extLst>
          </p:cNvPr>
          <p:cNvSpPr/>
          <p:nvPr/>
        </p:nvSpPr>
        <p:spPr>
          <a:xfrm>
            <a:off x="457200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Motivation &amp; </a:t>
            </a: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Theorie</a:t>
            </a:r>
            <a:endParaRPr lang="en-US" sz="9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Cambria" pitchFamily="34" charset="-120"/>
            </a:endParaRPr>
          </a:p>
        </p:txBody>
      </p:sp>
      <p:sp>
        <p:nvSpPr>
          <p:cNvPr id="55" name="!!1.1">
            <a:extLst>
              <a:ext uri="{FF2B5EF4-FFF2-40B4-BE49-F238E27FC236}">
                <a16:creationId xmlns:a16="http://schemas.microsoft.com/office/drawing/2014/main" id="{45379A23-A6CB-688C-7E35-871C90F9C8A0}"/>
              </a:ext>
            </a:extLst>
          </p:cNvPr>
          <p:cNvSpPr/>
          <p:nvPr/>
        </p:nvSpPr>
        <p:spPr>
          <a:xfrm>
            <a:off x="1342102" y="1352625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" name="!!1.2">
            <a:extLst>
              <a:ext uri="{FF2B5EF4-FFF2-40B4-BE49-F238E27FC236}">
                <a16:creationId xmlns:a16="http://schemas.microsoft.com/office/drawing/2014/main" id="{9925D029-2714-8010-FB58-4039E7525EE3}"/>
              </a:ext>
            </a:extLst>
          </p:cNvPr>
          <p:cNvSpPr/>
          <p:nvPr/>
        </p:nvSpPr>
        <p:spPr>
          <a:xfrm>
            <a:off x="1443497" y="1464713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7" name="!!1.3">
            <a:extLst>
              <a:ext uri="{FF2B5EF4-FFF2-40B4-BE49-F238E27FC236}">
                <a16:creationId xmlns:a16="http://schemas.microsoft.com/office/drawing/2014/main" id="{FBB125B8-5277-03E4-1816-FD1B9484E20C}"/>
              </a:ext>
            </a:extLst>
          </p:cNvPr>
          <p:cNvSpPr/>
          <p:nvPr/>
        </p:nvSpPr>
        <p:spPr>
          <a:xfrm>
            <a:off x="1544892" y="1576801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9" name="!!2.1">
            <a:extLst>
              <a:ext uri="{FF2B5EF4-FFF2-40B4-BE49-F238E27FC236}">
                <a16:creationId xmlns:a16="http://schemas.microsoft.com/office/drawing/2014/main" id="{2E914A5B-7FFE-0729-8392-4BC4943DA113}"/>
              </a:ext>
            </a:extLst>
          </p:cNvPr>
          <p:cNvSpPr/>
          <p:nvPr/>
        </p:nvSpPr>
        <p:spPr>
          <a:xfrm>
            <a:off x="1651405" y="1688493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0" name="!!2.2">
            <a:extLst>
              <a:ext uri="{FF2B5EF4-FFF2-40B4-BE49-F238E27FC236}">
                <a16:creationId xmlns:a16="http://schemas.microsoft.com/office/drawing/2014/main" id="{BD06E9E9-19D8-E810-4678-238218D442F0}"/>
              </a:ext>
            </a:extLst>
          </p:cNvPr>
          <p:cNvSpPr/>
          <p:nvPr/>
        </p:nvSpPr>
        <p:spPr>
          <a:xfrm>
            <a:off x="1752800" y="1800581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1" name="!!2.3">
            <a:extLst>
              <a:ext uri="{FF2B5EF4-FFF2-40B4-BE49-F238E27FC236}">
                <a16:creationId xmlns:a16="http://schemas.microsoft.com/office/drawing/2014/main" id="{8C04DBC8-EED7-9E70-E45F-02917975A38A}"/>
              </a:ext>
            </a:extLst>
          </p:cNvPr>
          <p:cNvSpPr/>
          <p:nvPr/>
        </p:nvSpPr>
        <p:spPr>
          <a:xfrm>
            <a:off x="1854195" y="1912669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3" name="!!3.1">
            <a:extLst>
              <a:ext uri="{FF2B5EF4-FFF2-40B4-BE49-F238E27FC236}">
                <a16:creationId xmlns:a16="http://schemas.microsoft.com/office/drawing/2014/main" id="{03BC1F3B-F3E3-DC9D-E48F-A82284DF9008}"/>
              </a:ext>
            </a:extLst>
          </p:cNvPr>
          <p:cNvSpPr/>
          <p:nvPr/>
        </p:nvSpPr>
        <p:spPr>
          <a:xfrm>
            <a:off x="1954161" y="2025941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4" name="!!3.2">
            <a:extLst>
              <a:ext uri="{FF2B5EF4-FFF2-40B4-BE49-F238E27FC236}">
                <a16:creationId xmlns:a16="http://schemas.microsoft.com/office/drawing/2014/main" id="{CB528946-E6DA-EB70-EF35-87659A420586}"/>
              </a:ext>
            </a:extLst>
          </p:cNvPr>
          <p:cNvSpPr/>
          <p:nvPr/>
        </p:nvSpPr>
        <p:spPr>
          <a:xfrm>
            <a:off x="2055556" y="2138029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5" name="!!3.3">
            <a:extLst>
              <a:ext uri="{FF2B5EF4-FFF2-40B4-BE49-F238E27FC236}">
                <a16:creationId xmlns:a16="http://schemas.microsoft.com/office/drawing/2014/main" id="{4F64C70B-128A-D5A4-55F7-B63249ABEECB}"/>
              </a:ext>
            </a:extLst>
          </p:cNvPr>
          <p:cNvSpPr/>
          <p:nvPr/>
        </p:nvSpPr>
        <p:spPr>
          <a:xfrm>
            <a:off x="2156951" y="2250117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!!4.1">
            <a:extLst>
              <a:ext uri="{FF2B5EF4-FFF2-40B4-BE49-F238E27FC236}">
                <a16:creationId xmlns:a16="http://schemas.microsoft.com/office/drawing/2014/main" id="{4E0E6159-65DA-37B4-A827-11B2D0B87889}"/>
              </a:ext>
            </a:extLst>
          </p:cNvPr>
          <p:cNvSpPr/>
          <p:nvPr/>
        </p:nvSpPr>
        <p:spPr>
          <a:xfrm>
            <a:off x="2263464" y="2360625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!!4.2">
            <a:extLst>
              <a:ext uri="{FF2B5EF4-FFF2-40B4-BE49-F238E27FC236}">
                <a16:creationId xmlns:a16="http://schemas.microsoft.com/office/drawing/2014/main" id="{336195F5-DCEB-7BE5-4EF0-4649623D02F3}"/>
              </a:ext>
            </a:extLst>
          </p:cNvPr>
          <p:cNvSpPr/>
          <p:nvPr/>
        </p:nvSpPr>
        <p:spPr>
          <a:xfrm>
            <a:off x="2364859" y="2472713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!!4.3">
            <a:extLst>
              <a:ext uri="{FF2B5EF4-FFF2-40B4-BE49-F238E27FC236}">
                <a16:creationId xmlns:a16="http://schemas.microsoft.com/office/drawing/2014/main" id="{C63E3C73-7003-1373-5F13-83ED5A2B926C}"/>
              </a:ext>
            </a:extLst>
          </p:cNvPr>
          <p:cNvSpPr/>
          <p:nvPr/>
        </p:nvSpPr>
        <p:spPr>
          <a:xfrm>
            <a:off x="2466254" y="2584801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7" name="!!5.1">
            <a:extLst>
              <a:ext uri="{FF2B5EF4-FFF2-40B4-BE49-F238E27FC236}">
                <a16:creationId xmlns:a16="http://schemas.microsoft.com/office/drawing/2014/main" id="{C251FD94-71D3-167F-5B6B-16B5BCDF357B}"/>
              </a:ext>
            </a:extLst>
          </p:cNvPr>
          <p:cNvSpPr/>
          <p:nvPr/>
        </p:nvSpPr>
        <p:spPr>
          <a:xfrm>
            <a:off x="2566220" y="2696493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" name="!!5.2">
            <a:extLst>
              <a:ext uri="{FF2B5EF4-FFF2-40B4-BE49-F238E27FC236}">
                <a16:creationId xmlns:a16="http://schemas.microsoft.com/office/drawing/2014/main" id="{43D2F3FC-BCDE-2FC3-F726-87C69E82A4B8}"/>
              </a:ext>
            </a:extLst>
          </p:cNvPr>
          <p:cNvSpPr/>
          <p:nvPr/>
        </p:nvSpPr>
        <p:spPr>
          <a:xfrm>
            <a:off x="3969660" y="3090756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" name="!!5.3">
            <a:extLst>
              <a:ext uri="{FF2B5EF4-FFF2-40B4-BE49-F238E27FC236}">
                <a16:creationId xmlns:a16="http://schemas.microsoft.com/office/drawing/2014/main" id="{070E9EE9-D00C-2C1D-66F9-D027FB972BA1}"/>
              </a:ext>
            </a:extLst>
          </p:cNvPr>
          <p:cNvSpPr/>
          <p:nvPr/>
        </p:nvSpPr>
        <p:spPr>
          <a:xfrm>
            <a:off x="5021254" y="3090756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1" name="!!6.1">
            <a:extLst>
              <a:ext uri="{FF2B5EF4-FFF2-40B4-BE49-F238E27FC236}">
                <a16:creationId xmlns:a16="http://schemas.microsoft.com/office/drawing/2014/main" id="{7C428E69-12AF-2F94-DCC6-FEB91E8CD7D9}"/>
              </a:ext>
            </a:extLst>
          </p:cNvPr>
          <p:cNvSpPr/>
          <p:nvPr/>
        </p:nvSpPr>
        <p:spPr>
          <a:xfrm>
            <a:off x="6072849" y="3090756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2" name="!!6.2">
            <a:extLst>
              <a:ext uri="{FF2B5EF4-FFF2-40B4-BE49-F238E27FC236}">
                <a16:creationId xmlns:a16="http://schemas.microsoft.com/office/drawing/2014/main" id="{5F2A7931-7ECA-AAE9-D52E-40F057238F69}"/>
              </a:ext>
            </a:extLst>
          </p:cNvPr>
          <p:cNvSpPr/>
          <p:nvPr/>
        </p:nvSpPr>
        <p:spPr>
          <a:xfrm>
            <a:off x="4495457" y="1352625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3" name="!!6.3">
            <a:extLst>
              <a:ext uri="{FF2B5EF4-FFF2-40B4-BE49-F238E27FC236}">
                <a16:creationId xmlns:a16="http://schemas.microsoft.com/office/drawing/2014/main" id="{DFA2E415-0522-7ED4-3168-63FFFC093549}"/>
              </a:ext>
            </a:extLst>
          </p:cNvPr>
          <p:cNvSpPr/>
          <p:nvPr/>
        </p:nvSpPr>
        <p:spPr>
          <a:xfrm>
            <a:off x="5547051" y="1352625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Shape 7">
            <a:extLst>
              <a:ext uri="{FF2B5EF4-FFF2-40B4-BE49-F238E27FC236}">
                <a16:creationId xmlns:a16="http://schemas.microsoft.com/office/drawing/2014/main" id="{45882EFF-DBD6-A225-49DE-5BC679F2CF54}"/>
              </a:ext>
            </a:extLst>
          </p:cNvPr>
          <p:cNvSpPr/>
          <p:nvPr/>
        </p:nvSpPr>
        <p:spPr>
          <a:xfrm>
            <a:off x="3732849" y="2798850"/>
            <a:ext cx="3240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9120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CB57E-A961-232E-8848-57C1EF6A9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110B5C4F-1E43-D9B0-52D6-49E243BC4EBA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1619307F-0BDB-C84C-04BC-0DB10C86786E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8CAD464-2B81-D6C1-2EA3-F7A704496948}"/>
              </a:ext>
            </a:extLst>
          </p:cNvPr>
          <p:cNvSpPr/>
          <p:nvPr/>
        </p:nvSpPr>
        <p:spPr>
          <a:xfrm>
            <a:off x="457200" y="274320"/>
            <a:ext cx="8549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Das Deck hat Gedächtnis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3E4BBAE-0809-CCFB-FE9B-D6B11C82E351}"/>
              </a:ext>
            </a:extLst>
          </p:cNvPr>
          <p:cNvSpPr/>
          <p:nvPr/>
        </p:nvSpPr>
        <p:spPr>
          <a:xfrm>
            <a:off x="6367670" y="54864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1C87B5CB-FDE1-4D92-AEBF-0F36A1936069}" type="slidenum">
              <a:rPr lang="en-US" sz="900" b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9</a:t>
            </a:fld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291E864B-691A-F21D-5F74-7FA916A8B3AC}"/>
              </a:ext>
            </a:extLst>
          </p:cNvPr>
          <p:cNvSpPr/>
          <p:nvPr/>
        </p:nvSpPr>
        <p:spPr>
          <a:xfrm>
            <a:off x="3412435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BHH · Machine Learning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DC598618-732E-31FA-1D88-B89785D476D7}"/>
              </a:ext>
            </a:extLst>
          </p:cNvPr>
          <p:cNvSpPr/>
          <p:nvPr/>
        </p:nvSpPr>
        <p:spPr>
          <a:xfrm>
            <a:off x="457200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Motivation &amp; </a:t>
            </a: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Theorie</a:t>
            </a:r>
            <a:endParaRPr lang="en-US" sz="9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Cambria" pitchFamily="34" charset="-120"/>
            </a:endParaRPr>
          </a:p>
        </p:txBody>
      </p:sp>
      <p:sp>
        <p:nvSpPr>
          <p:cNvPr id="55" name="!!1.1">
            <a:extLst>
              <a:ext uri="{FF2B5EF4-FFF2-40B4-BE49-F238E27FC236}">
                <a16:creationId xmlns:a16="http://schemas.microsoft.com/office/drawing/2014/main" id="{05C9D2C4-354D-DD2B-DC70-F7EAFEEAD647}"/>
              </a:ext>
            </a:extLst>
          </p:cNvPr>
          <p:cNvSpPr/>
          <p:nvPr/>
        </p:nvSpPr>
        <p:spPr>
          <a:xfrm>
            <a:off x="1342102" y="1352625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" name="!!1.2">
            <a:extLst>
              <a:ext uri="{FF2B5EF4-FFF2-40B4-BE49-F238E27FC236}">
                <a16:creationId xmlns:a16="http://schemas.microsoft.com/office/drawing/2014/main" id="{A5AC7D4F-D6BD-12F8-6169-11686A445D3C}"/>
              </a:ext>
            </a:extLst>
          </p:cNvPr>
          <p:cNvSpPr/>
          <p:nvPr/>
        </p:nvSpPr>
        <p:spPr>
          <a:xfrm>
            <a:off x="1443497" y="1464713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7" name="!!1.3">
            <a:extLst>
              <a:ext uri="{FF2B5EF4-FFF2-40B4-BE49-F238E27FC236}">
                <a16:creationId xmlns:a16="http://schemas.microsoft.com/office/drawing/2014/main" id="{25FDD969-7174-8128-736C-569E85364982}"/>
              </a:ext>
            </a:extLst>
          </p:cNvPr>
          <p:cNvSpPr/>
          <p:nvPr/>
        </p:nvSpPr>
        <p:spPr>
          <a:xfrm>
            <a:off x="1544892" y="1576801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9" name="!!2.1">
            <a:extLst>
              <a:ext uri="{FF2B5EF4-FFF2-40B4-BE49-F238E27FC236}">
                <a16:creationId xmlns:a16="http://schemas.microsoft.com/office/drawing/2014/main" id="{33C8E2A0-905E-E0A8-2C8A-B1996D7BAF08}"/>
              </a:ext>
            </a:extLst>
          </p:cNvPr>
          <p:cNvSpPr/>
          <p:nvPr/>
        </p:nvSpPr>
        <p:spPr>
          <a:xfrm>
            <a:off x="1651405" y="1688493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0" name="!!2.2">
            <a:extLst>
              <a:ext uri="{FF2B5EF4-FFF2-40B4-BE49-F238E27FC236}">
                <a16:creationId xmlns:a16="http://schemas.microsoft.com/office/drawing/2014/main" id="{6D3A83B6-38D5-0F20-D209-3DD77ED8980B}"/>
              </a:ext>
            </a:extLst>
          </p:cNvPr>
          <p:cNvSpPr/>
          <p:nvPr/>
        </p:nvSpPr>
        <p:spPr>
          <a:xfrm>
            <a:off x="1752800" y="1800581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1" name="!!2.3">
            <a:extLst>
              <a:ext uri="{FF2B5EF4-FFF2-40B4-BE49-F238E27FC236}">
                <a16:creationId xmlns:a16="http://schemas.microsoft.com/office/drawing/2014/main" id="{52043FDC-FB25-AE90-935A-14AB7574408C}"/>
              </a:ext>
            </a:extLst>
          </p:cNvPr>
          <p:cNvSpPr/>
          <p:nvPr/>
        </p:nvSpPr>
        <p:spPr>
          <a:xfrm>
            <a:off x="1854195" y="1912669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3" name="!!3.1">
            <a:extLst>
              <a:ext uri="{FF2B5EF4-FFF2-40B4-BE49-F238E27FC236}">
                <a16:creationId xmlns:a16="http://schemas.microsoft.com/office/drawing/2014/main" id="{FB1165BD-9878-C99C-C781-D78B9A2E4C17}"/>
              </a:ext>
            </a:extLst>
          </p:cNvPr>
          <p:cNvSpPr/>
          <p:nvPr/>
        </p:nvSpPr>
        <p:spPr>
          <a:xfrm>
            <a:off x="1954161" y="2025941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4" name="!!3.2">
            <a:extLst>
              <a:ext uri="{FF2B5EF4-FFF2-40B4-BE49-F238E27FC236}">
                <a16:creationId xmlns:a16="http://schemas.microsoft.com/office/drawing/2014/main" id="{31ECC121-EDC2-3494-0FB4-71200B8E7918}"/>
              </a:ext>
            </a:extLst>
          </p:cNvPr>
          <p:cNvSpPr/>
          <p:nvPr/>
        </p:nvSpPr>
        <p:spPr>
          <a:xfrm>
            <a:off x="2055556" y="2138029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5" name="!!3.3">
            <a:extLst>
              <a:ext uri="{FF2B5EF4-FFF2-40B4-BE49-F238E27FC236}">
                <a16:creationId xmlns:a16="http://schemas.microsoft.com/office/drawing/2014/main" id="{06D600E1-2728-98DB-63B1-CEA54FEEA4A7}"/>
              </a:ext>
            </a:extLst>
          </p:cNvPr>
          <p:cNvSpPr/>
          <p:nvPr/>
        </p:nvSpPr>
        <p:spPr>
          <a:xfrm>
            <a:off x="3968734" y="3082421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!!4.1">
            <a:extLst>
              <a:ext uri="{FF2B5EF4-FFF2-40B4-BE49-F238E27FC236}">
                <a16:creationId xmlns:a16="http://schemas.microsoft.com/office/drawing/2014/main" id="{008464FB-7151-BF89-3D78-12DD0651A31E}"/>
              </a:ext>
            </a:extLst>
          </p:cNvPr>
          <p:cNvSpPr/>
          <p:nvPr/>
        </p:nvSpPr>
        <p:spPr>
          <a:xfrm>
            <a:off x="5029003" y="3082421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!!4.2">
            <a:extLst>
              <a:ext uri="{FF2B5EF4-FFF2-40B4-BE49-F238E27FC236}">
                <a16:creationId xmlns:a16="http://schemas.microsoft.com/office/drawing/2014/main" id="{D3F2172C-3092-5F60-E56F-4BA295F08B9A}"/>
              </a:ext>
            </a:extLst>
          </p:cNvPr>
          <p:cNvSpPr/>
          <p:nvPr/>
        </p:nvSpPr>
        <p:spPr>
          <a:xfrm>
            <a:off x="6087947" y="3090372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!!4.3">
            <a:extLst>
              <a:ext uri="{FF2B5EF4-FFF2-40B4-BE49-F238E27FC236}">
                <a16:creationId xmlns:a16="http://schemas.microsoft.com/office/drawing/2014/main" id="{A3E76453-0293-AC19-8C3E-9CFB1A616267}"/>
              </a:ext>
            </a:extLst>
          </p:cNvPr>
          <p:cNvSpPr/>
          <p:nvPr/>
        </p:nvSpPr>
        <p:spPr>
          <a:xfrm>
            <a:off x="4492517" y="1352139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7" name="!!5.1">
            <a:extLst>
              <a:ext uri="{FF2B5EF4-FFF2-40B4-BE49-F238E27FC236}">
                <a16:creationId xmlns:a16="http://schemas.microsoft.com/office/drawing/2014/main" id="{4C5F713F-E97A-DBE0-5783-309E756D7A5F}"/>
              </a:ext>
            </a:extLst>
          </p:cNvPr>
          <p:cNvSpPr/>
          <p:nvPr/>
        </p:nvSpPr>
        <p:spPr>
          <a:xfrm>
            <a:off x="5552491" y="1352139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" name="!!5.2">
            <a:extLst>
              <a:ext uri="{FF2B5EF4-FFF2-40B4-BE49-F238E27FC236}">
                <a16:creationId xmlns:a16="http://schemas.microsoft.com/office/drawing/2014/main" id="{C1453BC1-F4EE-F2C8-D1D0-4DB6FD5460DB}"/>
              </a:ext>
            </a:extLst>
          </p:cNvPr>
          <p:cNvSpPr/>
          <p:nvPr/>
        </p:nvSpPr>
        <p:spPr>
          <a:xfrm>
            <a:off x="7700503" y="2315990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" name="!!5.3">
            <a:extLst>
              <a:ext uri="{FF2B5EF4-FFF2-40B4-BE49-F238E27FC236}">
                <a16:creationId xmlns:a16="http://schemas.microsoft.com/office/drawing/2014/main" id="{02600278-D2B0-211B-4EFD-1FAD3C8A6391}"/>
              </a:ext>
            </a:extLst>
          </p:cNvPr>
          <p:cNvSpPr/>
          <p:nvPr/>
        </p:nvSpPr>
        <p:spPr>
          <a:xfrm>
            <a:off x="7700503" y="2315990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1" name="!!6.1">
            <a:extLst>
              <a:ext uri="{FF2B5EF4-FFF2-40B4-BE49-F238E27FC236}">
                <a16:creationId xmlns:a16="http://schemas.microsoft.com/office/drawing/2014/main" id="{578FF880-C8ED-DB9E-518D-E3081C4A0600}"/>
              </a:ext>
            </a:extLst>
          </p:cNvPr>
          <p:cNvSpPr/>
          <p:nvPr/>
        </p:nvSpPr>
        <p:spPr>
          <a:xfrm>
            <a:off x="7700503" y="2315990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2" name="!!6.2">
            <a:extLst>
              <a:ext uri="{FF2B5EF4-FFF2-40B4-BE49-F238E27FC236}">
                <a16:creationId xmlns:a16="http://schemas.microsoft.com/office/drawing/2014/main" id="{5906C416-0F1F-5B73-A029-209745EE09E8}"/>
              </a:ext>
            </a:extLst>
          </p:cNvPr>
          <p:cNvSpPr/>
          <p:nvPr/>
        </p:nvSpPr>
        <p:spPr>
          <a:xfrm>
            <a:off x="7700503" y="2315990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3" name="!!6.3">
            <a:extLst>
              <a:ext uri="{FF2B5EF4-FFF2-40B4-BE49-F238E27FC236}">
                <a16:creationId xmlns:a16="http://schemas.microsoft.com/office/drawing/2014/main" id="{12CCF2DA-1662-2FB0-447A-9935BF8E1DBF}"/>
              </a:ext>
            </a:extLst>
          </p:cNvPr>
          <p:cNvSpPr/>
          <p:nvPr/>
        </p:nvSpPr>
        <p:spPr>
          <a:xfrm>
            <a:off x="7700503" y="2315990"/>
            <a:ext cx="720000" cy="100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Shape 7">
            <a:extLst>
              <a:ext uri="{FF2B5EF4-FFF2-40B4-BE49-F238E27FC236}">
                <a16:creationId xmlns:a16="http://schemas.microsoft.com/office/drawing/2014/main" id="{672B06EA-C70F-D7B0-712F-53CB017BA06A}"/>
              </a:ext>
            </a:extLst>
          </p:cNvPr>
          <p:cNvSpPr/>
          <p:nvPr/>
        </p:nvSpPr>
        <p:spPr>
          <a:xfrm>
            <a:off x="3732849" y="2798850"/>
            <a:ext cx="3240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9107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6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0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40F20-4C60-D53C-9267-1AC62321F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DF16E5FF-9AC4-46A4-14F2-EAA3A5A735A9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F08439B4-F9A8-98BA-13CC-972A1F324777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9D3EC13-4637-6112-6986-0A7E2A8E4486}"/>
              </a:ext>
            </a:extLst>
          </p:cNvPr>
          <p:cNvSpPr/>
          <p:nvPr/>
        </p:nvSpPr>
        <p:spPr>
          <a:xfrm>
            <a:off x="457200" y="274320"/>
            <a:ext cx="8549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Das Hi-Lo-Verfahren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C410493-899D-83CF-44E3-170AEBAF9A22}"/>
              </a:ext>
            </a:extLst>
          </p:cNvPr>
          <p:cNvSpPr/>
          <p:nvPr/>
        </p:nvSpPr>
        <p:spPr>
          <a:xfrm>
            <a:off x="6367670" y="54864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1C87B5CB-FDE1-4D92-AEBF-0F36A1936069}" type="slidenum">
              <a:rPr lang="en-US" sz="900" b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10</a:t>
            </a:fld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15BE5AF7-D0D6-1B5C-0658-11077A6D337D}"/>
              </a:ext>
            </a:extLst>
          </p:cNvPr>
          <p:cNvSpPr/>
          <p:nvPr/>
        </p:nvSpPr>
        <p:spPr>
          <a:xfrm>
            <a:off x="3412435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BHH · Machine Learning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76228C6C-BC4E-DB11-23FA-0C9939AB1CF1}"/>
              </a:ext>
            </a:extLst>
          </p:cNvPr>
          <p:cNvSpPr/>
          <p:nvPr/>
        </p:nvSpPr>
        <p:spPr>
          <a:xfrm>
            <a:off x="457200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Motivation &amp; </a:t>
            </a: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Theorie</a:t>
            </a:r>
            <a:endParaRPr lang="en-US" sz="9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Cambria" pitchFamily="34" charset="-120"/>
            </a:endParaRPr>
          </a:p>
        </p:txBody>
      </p:sp>
      <p:sp>
        <p:nvSpPr>
          <p:cNvPr id="2" name="!!7">
            <a:extLst>
              <a:ext uri="{FF2B5EF4-FFF2-40B4-BE49-F238E27FC236}">
                <a16:creationId xmlns:a16="http://schemas.microsoft.com/office/drawing/2014/main" id="{1E40F0C2-E05D-EC6E-686C-D17FB5143265}"/>
              </a:ext>
            </a:extLst>
          </p:cNvPr>
          <p:cNvSpPr>
            <a:spLocks noGrp="1"/>
          </p:cNvSpPr>
          <p:nvPr/>
        </p:nvSpPr>
        <p:spPr>
          <a:xfrm>
            <a:off x="365760" y="1097280"/>
            <a:ext cx="2606040" cy="146304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B63EE15C-1959-2707-EEF6-022066061AB0}"/>
              </a:ext>
            </a:extLst>
          </p:cNvPr>
          <p:cNvSpPr>
            <a:spLocks noGrp="1"/>
          </p:cNvSpPr>
          <p:nvPr/>
        </p:nvSpPr>
        <p:spPr>
          <a:xfrm>
            <a:off x="365760" y="118872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800" b="1" dirty="0">
                <a:solidFill>
                  <a:srgbClr val="10B98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+1</a:t>
            </a: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050DC578-1DF3-43E2-FE91-04FC7EB567D8}"/>
              </a:ext>
            </a:extLst>
          </p:cNvPr>
          <p:cNvSpPr>
            <a:spLocks noGrp="1"/>
          </p:cNvSpPr>
          <p:nvPr/>
        </p:nvSpPr>
        <p:spPr>
          <a:xfrm>
            <a:off x="365760" y="1810512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Niedrige</a:t>
            </a:r>
            <a:r>
              <a:rPr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Karten</a:t>
            </a: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C6129421-E27B-4AEF-BBE0-6B49753987FA}"/>
              </a:ext>
            </a:extLst>
          </p:cNvPr>
          <p:cNvSpPr>
            <a:spLocks noGrp="1"/>
          </p:cNvSpPr>
          <p:nvPr/>
        </p:nvSpPr>
        <p:spPr>
          <a:xfrm>
            <a:off x="475488" y="210312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 bis 6 </a:t>
            </a:r>
            <a:r>
              <a:rPr sz="100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erhöhen</a:t>
            </a:r>
            <a:r>
              <a:rPr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den </a:t>
            </a: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</a:t>
            </a:r>
            <a:r>
              <a:rPr sz="100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ount</a:t>
            </a:r>
            <a:endParaRPr sz="1000" dirty="0">
              <a:solidFill>
                <a:srgbClr val="94A3B8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!!8">
            <a:extLst>
              <a:ext uri="{FF2B5EF4-FFF2-40B4-BE49-F238E27FC236}">
                <a16:creationId xmlns:a16="http://schemas.microsoft.com/office/drawing/2014/main" id="{27D0C52B-39AD-BBDC-704D-C7C2FF17D8DD}"/>
              </a:ext>
            </a:extLst>
          </p:cNvPr>
          <p:cNvSpPr>
            <a:spLocks noGrp="1"/>
          </p:cNvSpPr>
          <p:nvPr/>
        </p:nvSpPr>
        <p:spPr>
          <a:xfrm>
            <a:off x="3200400" y="1097280"/>
            <a:ext cx="2606040" cy="146304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AEE9853B-0969-0496-65C2-278836F36422}"/>
              </a:ext>
            </a:extLst>
          </p:cNvPr>
          <p:cNvSpPr>
            <a:spLocks noGrp="1"/>
          </p:cNvSpPr>
          <p:nvPr/>
        </p:nvSpPr>
        <p:spPr>
          <a:xfrm>
            <a:off x="3200400" y="118872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800" b="1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0</a:t>
            </a: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59DBA9A4-F3E8-6BE2-F07B-67132D820315}"/>
              </a:ext>
            </a:extLst>
          </p:cNvPr>
          <p:cNvSpPr>
            <a:spLocks noGrp="1"/>
          </p:cNvSpPr>
          <p:nvPr/>
        </p:nvSpPr>
        <p:spPr>
          <a:xfrm>
            <a:off x="3200400" y="1810512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Neutrale Karten</a:t>
            </a: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B2F72B31-AB3F-DF7C-A614-935E272FC97F}"/>
              </a:ext>
            </a:extLst>
          </p:cNvPr>
          <p:cNvSpPr>
            <a:spLocks noGrp="1"/>
          </p:cNvSpPr>
          <p:nvPr/>
        </p:nvSpPr>
        <p:spPr>
          <a:xfrm>
            <a:off x="3310128" y="210312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7 bis 9 verändern den Count nicht</a:t>
            </a: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ED1DDA07-1CF0-D765-DB93-81588569D6BC}"/>
              </a:ext>
            </a:extLst>
          </p:cNvPr>
          <p:cNvSpPr>
            <a:spLocks noGrp="1"/>
          </p:cNvSpPr>
          <p:nvPr/>
        </p:nvSpPr>
        <p:spPr>
          <a:xfrm>
            <a:off x="365760" y="2834640"/>
            <a:ext cx="45720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Vom</a:t>
            </a:r>
            <a:r>
              <a:rPr sz="14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Running </a:t>
            </a:r>
            <a:r>
              <a:rPr sz="1400" b="1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zum</a:t>
            </a:r>
            <a:r>
              <a:rPr sz="14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True Count</a:t>
            </a:r>
          </a:p>
        </p:txBody>
      </p:sp>
      <p:sp>
        <p:nvSpPr>
          <p:cNvPr id="21" name="!!6">
            <a:extLst>
              <a:ext uri="{FF2B5EF4-FFF2-40B4-BE49-F238E27FC236}">
                <a16:creationId xmlns:a16="http://schemas.microsoft.com/office/drawing/2014/main" id="{F52C55CE-25F3-B191-1E42-092349EFFC20}"/>
              </a:ext>
            </a:extLst>
          </p:cNvPr>
          <p:cNvSpPr>
            <a:spLocks noGrp="1"/>
          </p:cNvSpPr>
          <p:nvPr/>
        </p:nvSpPr>
        <p:spPr>
          <a:xfrm>
            <a:off x="365760" y="32461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0058968B-046F-9F95-5B16-4B0B35316882}"/>
              </a:ext>
            </a:extLst>
          </p:cNvPr>
          <p:cNvSpPr>
            <a:spLocks noGrp="1"/>
          </p:cNvSpPr>
          <p:nvPr/>
        </p:nvSpPr>
        <p:spPr>
          <a:xfrm>
            <a:off x="502920" y="338328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F775431B-D946-4CB7-B9D5-6C19A36C5998}"/>
              </a:ext>
            </a:extLst>
          </p:cNvPr>
          <p:cNvSpPr>
            <a:spLocks noGrp="1"/>
          </p:cNvSpPr>
          <p:nvPr/>
        </p:nvSpPr>
        <p:spPr>
          <a:xfrm>
            <a:off x="502920" y="338328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Σ</a:t>
            </a: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D81DC62A-095B-4F82-1AE7-5644574568B1}"/>
              </a:ext>
            </a:extLst>
          </p:cNvPr>
          <p:cNvSpPr>
            <a:spLocks noGrp="1"/>
          </p:cNvSpPr>
          <p:nvPr/>
        </p:nvSpPr>
        <p:spPr>
          <a:xfrm>
            <a:off x="914400" y="3364992"/>
            <a:ext cx="19202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Running Count</a:t>
            </a:r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41A21FCA-A6C6-4F6E-5EA5-63A1F6063049}"/>
              </a:ext>
            </a:extLst>
          </p:cNvPr>
          <p:cNvSpPr>
            <a:spLocks noGrp="1"/>
          </p:cNvSpPr>
          <p:nvPr/>
        </p:nvSpPr>
        <p:spPr>
          <a:xfrm>
            <a:off x="530352" y="3749040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Summe </a:t>
            </a:r>
            <a:r>
              <a:rPr sz="1000" dirty="0" err="1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aller</a:t>
            </a:r>
            <a:r>
              <a:rPr sz="10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sz="1000" dirty="0" err="1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sichtbaren</a:t>
            </a:r>
            <a:r>
              <a:rPr sz="10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Hi-Lo-</a:t>
            </a:r>
            <a:r>
              <a:rPr sz="1000" dirty="0" err="1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Werte</a:t>
            </a:r>
            <a:endParaRPr sz="1000" dirty="0">
              <a:solidFill>
                <a:srgbClr val="64748B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!!11">
            <a:extLst>
              <a:ext uri="{FF2B5EF4-FFF2-40B4-BE49-F238E27FC236}">
                <a16:creationId xmlns:a16="http://schemas.microsoft.com/office/drawing/2014/main" id="{F75FAC76-D2F6-3413-DECE-A8AE3BBF8140}"/>
              </a:ext>
            </a:extLst>
          </p:cNvPr>
          <p:cNvSpPr>
            <a:spLocks noGrp="1"/>
          </p:cNvSpPr>
          <p:nvPr/>
        </p:nvSpPr>
        <p:spPr>
          <a:xfrm>
            <a:off x="3200400" y="32461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8DDBE9F2-747B-A8EB-F718-A67CF9C39002}"/>
              </a:ext>
            </a:extLst>
          </p:cNvPr>
          <p:cNvSpPr>
            <a:spLocks noGrp="1"/>
          </p:cNvSpPr>
          <p:nvPr/>
        </p:nvSpPr>
        <p:spPr>
          <a:xfrm>
            <a:off x="3337560" y="338328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57E23CFF-444A-6F40-D925-041AB0779802}"/>
              </a:ext>
            </a:extLst>
          </p:cNvPr>
          <p:cNvSpPr>
            <a:spLocks noGrp="1"/>
          </p:cNvSpPr>
          <p:nvPr/>
        </p:nvSpPr>
        <p:spPr>
          <a:xfrm>
            <a:off x="3337560" y="338328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÷</a:t>
            </a:r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E4FE0DD1-6BD6-F785-E727-9A584CE680AE}"/>
              </a:ext>
            </a:extLst>
          </p:cNvPr>
          <p:cNvSpPr>
            <a:spLocks noGrp="1"/>
          </p:cNvSpPr>
          <p:nvPr/>
        </p:nvSpPr>
        <p:spPr>
          <a:xfrm>
            <a:off x="3749040" y="3364992"/>
            <a:ext cx="19202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Verbleibende Decks</a:t>
            </a:r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B927DEDD-D244-31F9-4844-91AB93452A06}"/>
              </a:ext>
            </a:extLst>
          </p:cNvPr>
          <p:cNvSpPr>
            <a:spLocks noGrp="1"/>
          </p:cNvSpPr>
          <p:nvPr/>
        </p:nvSpPr>
        <p:spPr>
          <a:xfrm>
            <a:off x="3364992" y="3749040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verbleibende Karten / 52</a:t>
            </a:r>
          </a:p>
        </p:txBody>
      </p:sp>
      <p:sp>
        <p:nvSpPr>
          <p:cNvPr id="31" name="!!5">
            <a:extLst>
              <a:ext uri="{FF2B5EF4-FFF2-40B4-BE49-F238E27FC236}">
                <a16:creationId xmlns:a16="http://schemas.microsoft.com/office/drawing/2014/main" id="{631F05F7-CD3F-83F7-0AEE-C965696B233C}"/>
              </a:ext>
            </a:extLst>
          </p:cNvPr>
          <p:cNvSpPr>
            <a:spLocks noGrp="1"/>
          </p:cNvSpPr>
          <p:nvPr/>
        </p:nvSpPr>
        <p:spPr>
          <a:xfrm>
            <a:off x="6035040" y="32461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1E9ED043-E960-1BD9-F48D-02BD58990F1B}"/>
              </a:ext>
            </a:extLst>
          </p:cNvPr>
          <p:cNvSpPr>
            <a:spLocks noGrp="1"/>
          </p:cNvSpPr>
          <p:nvPr/>
        </p:nvSpPr>
        <p:spPr>
          <a:xfrm>
            <a:off x="6172200" y="338328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CE52CC3D-421E-5B69-F6C7-044E893E1F19}"/>
              </a:ext>
            </a:extLst>
          </p:cNvPr>
          <p:cNvSpPr>
            <a:spLocks noGrp="1"/>
          </p:cNvSpPr>
          <p:nvPr/>
        </p:nvSpPr>
        <p:spPr>
          <a:xfrm>
            <a:off x="6172200" y="338328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=</a:t>
            </a:r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E658B8D3-0847-2E0A-3F7E-B7F50678BD42}"/>
              </a:ext>
            </a:extLst>
          </p:cNvPr>
          <p:cNvSpPr>
            <a:spLocks noGrp="1"/>
          </p:cNvSpPr>
          <p:nvPr/>
        </p:nvSpPr>
        <p:spPr>
          <a:xfrm>
            <a:off x="6583680" y="3364992"/>
            <a:ext cx="19202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True Count</a:t>
            </a:r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8A5566D8-A5F4-7D24-B2B2-DF5283433517}"/>
              </a:ext>
            </a:extLst>
          </p:cNvPr>
          <p:cNvSpPr>
            <a:spLocks noGrp="1"/>
          </p:cNvSpPr>
          <p:nvPr/>
        </p:nvSpPr>
        <p:spPr>
          <a:xfrm>
            <a:off x="6199632" y="3749040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Running Count / verbleibende Decks</a:t>
            </a:r>
          </a:p>
        </p:txBody>
      </p:sp>
      <p:sp>
        <p:nvSpPr>
          <p:cNvPr id="36" name="!!10">
            <a:extLst>
              <a:ext uri="{FF2B5EF4-FFF2-40B4-BE49-F238E27FC236}">
                <a16:creationId xmlns:a16="http://schemas.microsoft.com/office/drawing/2014/main" id="{7C003369-08A0-4E0E-860F-A044BA981845}"/>
              </a:ext>
            </a:extLst>
          </p:cNvPr>
          <p:cNvSpPr>
            <a:spLocks noGrp="1"/>
          </p:cNvSpPr>
          <p:nvPr/>
        </p:nvSpPr>
        <p:spPr>
          <a:xfrm>
            <a:off x="6035040" y="1099640"/>
            <a:ext cx="2606040" cy="146304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12700">
            <a:solidFill>
              <a:srgbClr val="EF4444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3F1C376A-225C-AFBA-24D0-8A7EE32C2525}"/>
              </a:ext>
            </a:extLst>
          </p:cNvPr>
          <p:cNvSpPr>
            <a:spLocks noGrp="1"/>
          </p:cNvSpPr>
          <p:nvPr/>
        </p:nvSpPr>
        <p:spPr>
          <a:xfrm>
            <a:off x="6035040" y="119108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800" b="1">
                <a:solidFill>
                  <a:srgbClr val="EF444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−1</a:t>
            </a:r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86209BA3-5B89-23AF-9993-69292A6DFD00}"/>
              </a:ext>
            </a:extLst>
          </p:cNvPr>
          <p:cNvSpPr>
            <a:spLocks noGrp="1"/>
          </p:cNvSpPr>
          <p:nvPr/>
        </p:nvSpPr>
        <p:spPr>
          <a:xfrm>
            <a:off x="6035040" y="1812872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Hohe Karten</a:t>
            </a:r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0EB87D08-AC19-E2F8-6CCE-0951069A2A40}"/>
              </a:ext>
            </a:extLst>
          </p:cNvPr>
          <p:cNvSpPr>
            <a:spLocks noGrp="1"/>
          </p:cNvSpPr>
          <p:nvPr/>
        </p:nvSpPr>
        <p:spPr>
          <a:xfrm>
            <a:off x="6144768" y="210548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10, Bildkarten und Asse senken den Count</a:t>
            </a:r>
          </a:p>
        </p:txBody>
      </p:sp>
    </p:spTree>
    <p:extLst>
      <p:ext uri="{BB962C8B-B14F-4D97-AF65-F5344CB8AC3E}">
        <p14:creationId xmlns:p14="http://schemas.microsoft.com/office/powerpoint/2010/main" val="3226009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EDC6E-D765-52C8-9C96-D22B958AA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B771B513-9A3B-64B8-BD18-2CBE7DCED27C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2051B90-A756-E77C-CB4F-62C7896ABAE4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2A455A6-BDA9-4CD2-E697-53A86BD6AAF6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Forschungsfragen</a:t>
            </a:r>
            <a:r>
              <a:rPr lang="en-US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und </a:t>
            </a:r>
            <a:r>
              <a:rPr lang="en-US" sz="26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Grenzen</a:t>
            </a:r>
            <a:endParaRPr lang="en-US" sz="2600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9EEBFE-36F1-9D5B-BE6C-630FBC1069FF}"/>
              </a:ext>
            </a:extLst>
          </p:cNvPr>
          <p:cNvSpPr/>
          <p:nvPr/>
        </p:nvSpPr>
        <p:spPr>
          <a:xfrm>
            <a:off x="6367670" y="54864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1C87B5CB-FDE1-4D92-AEBF-0F36A1936069}" type="slidenum">
              <a:rPr lang="en-US" sz="900" b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11</a:t>
            </a:fld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EF8B595A-F6EA-2BC0-6DA3-4247DEB41A3F}"/>
              </a:ext>
            </a:extLst>
          </p:cNvPr>
          <p:cNvSpPr/>
          <p:nvPr/>
        </p:nvSpPr>
        <p:spPr>
          <a:xfrm>
            <a:off x="3412435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BHH · Machine Learning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C5EDCB72-2822-0475-AA60-6928E2B1A8BF}"/>
              </a:ext>
            </a:extLst>
          </p:cNvPr>
          <p:cNvSpPr/>
          <p:nvPr/>
        </p:nvSpPr>
        <p:spPr>
          <a:xfrm>
            <a:off x="457200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Motivation &amp; </a:t>
            </a: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Theorie</a:t>
            </a:r>
            <a:endParaRPr lang="en-US" sz="9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Cambria" pitchFamily="34" charset="-120"/>
            </a:endParaRPr>
          </a:p>
        </p:txBody>
      </p:sp>
      <p:sp>
        <p:nvSpPr>
          <p:cNvPr id="2" name="!!6">
            <a:extLst>
              <a:ext uri="{FF2B5EF4-FFF2-40B4-BE49-F238E27FC236}">
                <a16:creationId xmlns:a16="http://schemas.microsoft.com/office/drawing/2014/main" id="{029E8EA6-60C8-3416-8F0A-8F33106056ED}"/>
              </a:ext>
            </a:extLst>
          </p:cNvPr>
          <p:cNvSpPr>
            <a:spLocks/>
          </p:cNvSpPr>
          <p:nvPr/>
        </p:nvSpPr>
        <p:spPr>
          <a:xfrm>
            <a:off x="365760" y="1097280"/>
            <a:ext cx="3931920" cy="347472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>
              <a:solidFill>
                <a:srgbClr val="1E293B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4393347-CE48-3D9E-1CF0-2D1000386BDE}"/>
              </a:ext>
            </a:extLst>
          </p:cNvPr>
          <p:cNvSpPr/>
          <p:nvPr/>
        </p:nvSpPr>
        <p:spPr>
          <a:xfrm>
            <a:off x="5029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Forschungsfragen</a:t>
            </a:r>
            <a:endParaRPr lang="en-US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!!5">
            <a:extLst>
              <a:ext uri="{FF2B5EF4-FFF2-40B4-BE49-F238E27FC236}">
                <a16:creationId xmlns:a16="http://schemas.microsoft.com/office/drawing/2014/main" id="{4C87B213-15BD-EC93-23D2-C096D9B7CF8C}"/>
              </a:ext>
            </a:extLst>
          </p:cNvPr>
          <p:cNvSpPr/>
          <p:nvPr/>
        </p:nvSpPr>
        <p:spPr>
          <a:xfrm>
            <a:off x="4663440" y="1097280"/>
            <a:ext cx="4114800" cy="347472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E5A5DE81-7F3B-6EE7-B797-4FFDD75900FF}"/>
              </a:ext>
            </a:extLst>
          </p:cNvPr>
          <p:cNvSpPr/>
          <p:nvPr/>
        </p:nvSpPr>
        <p:spPr>
          <a:xfrm>
            <a:off x="480060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Restriktionen</a:t>
            </a:r>
            <a:endParaRPr lang="en-US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Shape 16">
            <a:extLst>
              <a:ext uri="{FF2B5EF4-FFF2-40B4-BE49-F238E27FC236}">
                <a16:creationId xmlns:a16="http://schemas.microsoft.com/office/drawing/2014/main" id="{485F3F8F-D0C1-8618-4215-8E7ED5DA9DB9}"/>
              </a:ext>
            </a:extLst>
          </p:cNvPr>
          <p:cNvSpPr/>
          <p:nvPr/>
        </p:nvSpPr>
        <p:spPr>
          <a:xfrm>
            <a:off x="4800600" y="181051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noFill/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0D708410-DBA3-23AE-A7A7-66FE286A70CA}"/>
              </a:ext>
            </a:extLst>
          </p:cNvPr>
          <p:cNvSpPr/>
          <p:nvPr/>
        </p:nvSpPr>
        <p:spPr>
          <a:xfrm>
            <a:off x="5257800" y="17967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Kein Split, Double Down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Shape 19">
            <a:extLst>
              <a:ext uri="{FF2B5EF4-FFF2-40B4-BE49-F238E27FC236}">
                <a16:creationId xmlns:a16="http://schemas.microsoft.com/office/drawing/2014/main" id="{3EB4C59E-201E-B0AA-5653-6B909A8BDCB6}"/>
              </a:ext>
            </a:extLst>
          </p:cNvPr>
          <p:cNvSpPr/>
          <p:nvPr/>
        </p:nvSpPr>
        <p:spPr>
          <a:xfrm>
            <a:off x="4800600" y="245059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noFill/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7" name="Text 21">
            <a:extLst>
              <a:ext uri="{FF2B5EF4-FFF2-40B4-BE49-F238E27FC236}">
                <a16:creationId xmlns:a16="http://schemas.microsoft.com/office/drawing/2014/main" id="{8B59C9D5-35E9-271B-3D47-3720E9A31AA8}"/>
              </a:ext>
            </a:extLst>
          </p:cNvPr>
          <p:cNvSpPr/>
          <p:nvPr/>
        </p:nvSpPr>
        <p:spPr>
          <a:xfrm>
            <a:off x="5257800" y="241401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F1F5F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Konstante</a:t>
            </a:r>
            <a:r>
              <a:rPr lang="en-US" sz="1400" dirty="0">
                <a:solidFill>
                  <a:srgbClr val="F1F5F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solidFill>
                  <a:srgbClr val="F1F5F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Einsätze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Shape 22">
            <a:extLst>
              <a:ext uri="{FF2B5EF4-FFF2-40B4-BE49-F238E27FC236}">
                <a16:creationId xmlns:a16="http://schemas.microsoft.com/office/drawing/2014/main" id="{438E395B-F821-346C-714A-797B67D0634D}"/>
              </a:ext>
            </a:extLst>
          </p:cNvPr>
          <p:cNvSpPr/>
          <p:nvPr/>
        </p:nvSpPr>
        <p:spPr>
          <a:xfrm>
            <a:off x="4800600" y="373075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noFill/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0" name="Text 24">
            <a:extLst>
              <a:ext uri="{FF2B5EF4-FFF2-40B4-BE49-F238E27FC236}">
                <a16:creationId xmlns:a16="http://schemas.microsoft.com/office/drawing/2014/main" id="{346A3ABD-8BEA-7269-8E3D-6FB2F1172C59}"/>
              </a:ext>
            </a:extLst>
          </p:cNvPr>
          <p:cNvSpPr/>
          <p:nvPr/>
        </p:nvSpPr>
        <p:spPr>
          <a:xfrm>
            <a:off x="5257800" y="3798025"/>
            <a:ext cx="3200400" cy="222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400" dirty="0">
                <a:solidFill>
                  <a:srgbClr val="F1F5F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Vergleich von Spielentscheidungen, nicht Wettstrategien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Shape 16">
            <a:extLst>
              <a:ext uri="{FF2B5EF4-FFF2-40B4-BE49-F238E27FC236}">
                <a16:creationId xmlns:a16="http://schemas.microsoft.com/office/drawing/2014/main" id="{FC47CA1B-9A5F-BEFC-B995-D74BE53A2E75}"/>
              </a:ext>
            </a:extLst>
          </p:cNvPr>
          <p:cNvSpPr/>
          <p:nvPr/>
        </p:nvSpPr>
        <p:spPr>
          <a:xfrm>
            <a:off x="502920" y="181051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noFill/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2622F89B-CD32-1355-D6B4-2392C790B11B}"/>
              </a:ext>
            </a:extLst>
          </p:cNvPr>
          <p:cNvSpPr/>
          <p:nvPr/>
        </p:nvSpPr>
        <p:spPr>
          <a:xfrm>
            <a:off x="502920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Text 18">
            <a:extLst>
              <a:ext uri="{FF2B5EF4-FFF2-40B4-BE49-F238E27FC236}">
                <a16:creationId xmlns:a16="http://schemas.microsoft.com/office/drawing/2014/main" id="{CEC00E4F-CFB2-0C62-ED90-135B90436F48}"/>
              </a:ext>
            </a:extLst>
          </p:cNvPr>
          <p:cNvSpPr/>
          <p:nvPr/>
        </p:nvSpPr>
        <p:spPr>
          <a:xfrm>
            <a:off x="960120" y="17967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Kann ein Q-Learning Agent Kartenzählung aktiv nutzen?</a:t>
            </a:r>
          </a:p>
        </p:txBody>
      </p:sp>
      <p:sp>
        <p:nvSpPr>
          <p:cNvPr id="44" name="Shape 19">
            <a:extLst>
              <a:ext uri="{FF2B5EF4-FFF2-40B4-BE49-F238E27FC236}">
                <a16:creationId xmlns:a16="http://schemas.microsoft.com/office/drawing/2014/main" id="{C56D7B2C-523F-A16F-E29D-1D3B7A8A8873}"/>
              </a:ext>
            </a:extLst>
          </p:cNvPr>
          <p:cNvSpPr/>
          <p:nvPr/>
        </p:nvSpPr>
        <p:spPr>
          <a:xfrm>
            <a:off x="502920" y="277063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noFill/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5E1CC6DF-D0D7-0C6B-363D-F9C05EE1DB0C}"/>
              </a:ext>
            </a:extLst>
          </p:cNvPr>
          <p:cNvSpPr/>
          <p:nvPr/>
        </p:nvSpPr>
        <p:spPr>
          <a:xfrm>
            <a:off x="502920" y="2770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37F2A764-8255-9AD2-E418-F78001D9E211}"/>
              </a:ext>
            </a:extLst>
          </p:cNvPr>
          <p:cNvSpPr/>
          <p:nvPr/>
        </p:nvSpPr>
        <p:spPr>
          <a:xfrm>
            <a:off x="960120" y="27432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Verbessert sich die Performance signifikant mit erweiterten State-Features?</a:t>
            </a:r>
          </a:p>
        </p:txBody>
      </p:sp>
      <p:sp>
        <p:nvSpPr>
          <p:cNvPr id="47" name="Shape 22">
            <a:extLst>
              <a:ext uri="{FF2B5EF4-FFF2-40B4-BE49-F238E27FC236}">
                <a16:creationId xmlns:a16="http://schemas.microsoft.com/office/drawing/2014/main" id="{11B142B7-1C67-8BB2-10AC-D8FC1B9C433A}"/>
              </a:ext>
            </a:extLst>
          </p:cNvPr>
          <p:cNvSpPr/>
          <p:nvPr/>
        </p:nvSpPr>
        <p:spPr>
          <a:xfrm>
            <a:off x="502920" y="373075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noFill/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" name="Text 23">
            <a:extLst>
              <a:ext uri="{FF2B5EF4-FFF2-40B4-BE49-F238E27FC236}">
                <a16:creationId xmlns:a16="http://schemas.microsoft.com/office/drawing/2014/main" id="{244B6C13-ED61-3494-D828-DC05301DA679}"/>
              </a:ext>
            </a:extLst>
          </p:cNvPr>
          <p:cNvSpPr/>
          <p:nvPr/>
        </p:nvSpPr>
        <p:spPr>
          <a:xfrm>
            <a:off x="502920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" name="Text 24">
            <a:extLst>
              <a:ext uri="{FF2B5EF4-FFF2-40B4-BE49-F238E27FC236}">
                <a16:creationId xmlns:a16="http://schemas.microsoft.com/office/drawing/2014/main" id="{E16AC6BB-D461-1BDA-7BEC-0704A48F5C56}"/>
              </a:ext>
            </a:extLst>
          </p:cNvPr>
          <p:cNvSpPr/>
          <p:nvPr/>
        </p:nvSpPr>
        <p:spPr>
          <a:xfrm>
            <a:off x="960120" y="3798025"/>
            <a:ext cx="3200400" cy="222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Wie viele Episoden benötigt der Agent zur Konvergenz?</a:t>
            </a:r>
          </a:p>
        </p:txBody>
      </p:sp>
      <p:sp>
        <p:nvSpPr>
          <p:cNvPr id="50" name="Shape 19">
            <a:extLst>
              <a:ext uri="{FF2B5EF4-FFF2-40B4-BE49-F238E27FC236}">
                <a16:creationId xmlns:a16="http://schemas.microsoft.com/office/drawing/2014/main" id="{ECA5EDEA-3615-88FA-0FD1-473F4FA20535}"/>
              </a:ext>
            </a:extLst>
          </p:cNvPr>
          <p:cNvSpPr/>
          <p:nvPr/>
        </p:nvSpPr>
        <p:spPr>
          <a:xfrm>
            <a:off x="4800600" y="309067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noFill/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1" name="Text 21">
            <a:extLst>
              <a:ext uri="{FF2B5EF4-FFF2-40B4-BE49-F238E27FC236}">
                <a16:creationId xmlns:a16="http://schemas.microsoft.com/office/drawing/2014/main" id="{88EBBE51-7A61-7E38-8B10-7D3781456EBA}"/>
              </a:ext>
            </a:extLst>
          </p:cNvPr>
          <p:cNvSpPr/>
          <p:nvPr/>
        </p:nvSpPr>
        <p:spPr>
          <a:xfrm>
            <a:off x="5257800" y="305115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rgbClr val="F1F5F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Reduziertes</a:t>
            </a:r>
            <a:r>
              <a:rPr lang="en-US" sz="1400" dirty="0">
                <a:solidFill>
                  <a:srgbClr val="F1F5F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solidFill>
                  <a:srgbClr val="F1F5F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Regelwerk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368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6EDA3-0233-1171-A2B2-13F4DF7A0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0778B0C-B4A7-5ED2-1D45-1B342C4C6388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2CC0530-3EB2-27D6-7BB1-1DA0F5D4E546}"/>
              </a:ext>
            </a:extLst>
          </p:cNvPr>
          <p:cNvGrpSpPr/>
          <p:nvPr/>
        </p:nvGrpSpPr>
        <p:grpSpPr>
          <a:xfrm>
            <a:off x="6217920" y="-1097280"/>
            <a:ext cx="5029200" cy="5029200"/>
            <a:chOff x="6217920" y="-1097280"/>
            <a:chExt cx="5029200" cy="5029200"/>
          </a:xfrm>
        </p:grpSpPr>
        <p:sp>
          <p:nvSpPr>
            <p:cNvPr id="3" name="Shape 1">
              <a:extLst>
                <a:ext uri="{FF2B5EF4-FFF2-40B4-BE49-F238E27FC236}">
                  <a16:creationId xmlns:a16="http://schemas.microsoft.com/office/drawing/2014/main" id="{1AD5534C-615E-C219-4870-31AEBB6BA271}"/>
                </a:ext>
              </a:extLst>
            </p:cNvPr>
            <p:cNvSpPr/>
            <p:nvPr/>
          </p:nvSpPr>
          <p:spPr>
            <a:xfrm>
              <a:off x="6217920" y="-1097280"/>
              <a:ext cx="5029200" cy="5029200"/>
            </a:xfrm>
            <a:prstGeom prst="ellipse">
              <a:avLst/>
            </a:prstGeom>
            <a:solidFill>
              <a:srgbClr val="14B8A6">
                <a:alpha val="12000"/>
              </a:srgbClr>
            </a:solidFill>
            <a:ln w="12700">
              <a:solidFill>
                <a:srgbClr val="0D9488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de-DE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BC3D8A04-B0ED-411D-6D35-CD1A727D81D4}"/>
                </a:ext>
              </a:extLst>
            </p:cNvPr>
            <p:cNvSpPr/>
            <p:nvPr/>
          </p:nvSpPr>
          <p:spPr>
            <a:xfrm>
              <a:off x="6766560" y="-548640"/>
              <a:ext cx="3474720" cy="3474720"/>
            </a:xfrm>
            <a:prstGeom prst="ellipse">
              <a:avLst/>
            </a:prstGeom>
            <a:solidFill>
              <a:srgbClr val="14B8A6">
                <a:alpha val="18000"/>
              </a:srgbClr>
            </a:solidFill>
            <a:ln w="12700">
              <a:solidFill>
                <a:srgbClr val="0D9488">
                  <a:alpha val="40000"/>
                </a:srgbClr>
              </a:solidFill>
              <a:prstDash val="solid"/>
            </a:ln>
          </p:spPr>
          <p:txBody>
            <a:bodyPr/>
            <a:lstStyle/>
            <a:p>
              <a:endParaRPr lang="de-DE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7" name="Text 5">
            <a:extLst>
              <a:ext uri="{FF2B5EF4-FFF2-40B4-BE49-F238E27FC236}">
                <a16:creationId xmlns:a16="http://schemas.microsoft.com/office/drawing/2014/main" id="{593602C6-D149-AEE0-A6E3-CC9F2CEC5AB7}"/>
              </a:ext>
            </a:extLst>
          </p:cNvPr>
          <p:cNvSpPr/>
          <p:nvPr/>
        </p:nvSpPr>
        <p:spPr>
          <a:xfrm>
            <a:off x="548640" y="157276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6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Methodik</a:t>
            </a:r>
            <a:endParaRPr lang="en-US" sz="46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Cambria" pitchFamily="34" charset="-120"/>
            </a:endParaRPr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&amp; Technik</a:t>
            </a:r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A0A8991C-9E1A-AFC4-BFB8-318B9363E6D3}"/>
              </a:ext>
            </a:extLst>
          </p:cNvPr>
          <p:cNvGrpSpPr/>
          <p:nvPr/>
        </p:nvGrpSpPr>
        <p:grpSpPr>
          <a:xfrm>
            <a:off x="548640" y="2535174"/>
            <a:ext cx="5486400" cy="1146811"/>
            <a:chOff x="548640" y="2535174"/>
            <a:chExt cx="5486400" cy="1146811"/>
          </a:xfrm>
        </p:grpSpPr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AF92A29C-2E30-3650-BF7E-55DEDD8D6B41}"/>
                </a:ext>
              </a:extLst>
            </p:cNvPr>
            <p:cNvSpPr/>
            <p:nvPr/>
          </p:nvSpPr>
          <p:spPr>
            <a:xfrm>
              <a:off x="548640" y="2535174"/>
              <a:ext cx="3240000" cy="36576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de-DE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66417712-CC3C-48B2-C0D6-6D83F265752F}"/>
                </a:ext>
              </a:extLst>
            </p:cNvPr>
            <p:cNvSpPr/>
            <p:nvPr/>
          </p:nvSpPr>
          <p:spPr>
            <a:xfrm>
              <a:off x="548640" y="2747773"/>
              <a:ext cx="5486400" cy="93421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de-DE" sz="1600" dirty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libri" pitchFamily="34" charset="-120"/>
                </a:rPr>
                <a:t>Vergleich der Zustandsräume</a:t>
              </a:r>
            </a:p>
            <a:p>
              <a:pPr marL="0" indent="0" algn="l">
                <a:buNone/>
              </a:pPr>
              <a:endParaRPr lang="de-DE" sz="16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endParaRPr>
            </a:p>
            <a:p>
              <a:pPr marL="0" indent="0" algn="l">
                <a:buNone/>
              </a:pPr>
              <a:r>
                <a:rPr lang="de-DE" sz="1600" dirty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libri" pitchFamily="34" charset="-120"/>
                </a:rPr>
                <a:t>Q-Learning und Hyperparameter</a:t>
              </a:r>
            </a:p>
            <a:p>
              <a:pPr marL="0" indent="0" algn="l">
                <a:buNone/>
              </a:pPr>
              <a:endParaRPr lang="de-DE" sz="16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endParaRPr>
            </a:p>
            <a:p>
              <a:pPr marL="0" indent="0" algn="l">
                <a:buNone/>
              </a:pPr>
              <a:r>
                <a:rPr lang="de-DE" sz="1600" dirty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libri" pitchFamily="34" charset="-120"/>
                </a:rPr>
                <a:t>Training und Evaluation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75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4141C413-DB1F-AB11-AF8B-2768D3964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00B32462-7613-E01B-99A1-54E09977E96A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53257B9-BA93-2831-0600-BDCE2B40FEA0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E6E30D7-E5D3-B79B-F6A6-0A76549785B6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Baseline</a:t>
            </a:r>
            <a:endParaRPr lang="en-US" sz="2600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8EAACE4-D4CE-6BFD-3BED-00A1EE08F409}"/>
              </a:ext>
            </a:extLst>
          </p:cNvPr>
          <p:cNvSpPr/>
          <p:nvPr/>
        </p:nvSpPr>
        <p:spPr>
          <a:xfrm>
            <a:off x="6367670" y="54864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1C87B5CB-FDE1-4D92-AEBF-0F36A1936069}" type="slidenum">
              <a:rPr lang="en-US" sz="900" b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13</a:t>
            </a:fld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B7A31D71-FCC3-D486-6608-A8D868E29361}"/>
              </a:ext>
            </a:extLst>
          </p:cNvPr>
          <p:cNvSpPr/>
          <p:nvPr/>
        </p:nvSpPr>
        <p:spPr>
          <a:xfrm>
            <a:off x="3412435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BHH · Machine Learning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4F63991F-6A7A-9E1A-029A-737CC7049B75}"/>
              </a:ext>
            </a:extLst>
          </p:cNvPr>
          <p:cNvSpPr/>
          <p:nvPr/>
        </p:nvSpPr>
        <p:spPr>
          <a:xfrm>
            <a:off x="457200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Methodik</a:t>
            </a: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&amp; Technik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!!11">
                <a:extLst>
                  <a:ext uri="{FF2B5EF4-FFF2-40B4-BE49-F238E27FC236}">
                    <a16:creationId xmlns:a16="http://schemas.microsoft.com/office/drawing/2014/main" id="{A14A5D4A-A6EC-5BEF-CD0D-6CFAD240D4EA}"/>
                  </a:ext>
                </a:extLst>
              </p:cNvPr>
              <p:cNvSpPr/>
              <p:nvPr/>
            </p:nvSpPr>
            <p:spPr>
              <a:xfrm>
                <a:off x="380138" y="1167435"/>
                <a:ext cx="3942480" cy="937546"/>
              </a:xfrm>
              <a:prstGeom prst="roundRect">
                <a:avLst>
                  <a:gd name="adj" fmla="val 8750"/>
                </a:avLst>
              </a:prstGeom>
              <a:solidFill>
                <a:srgbClr val="1E293B"/>
              </a:solidFill>
              <a:ln w="12700">
                <a:solidFill>
                  <a:srgbClr val="10B981">
                    <a:alpha val="60000"/>
                  </a:srgbClr>
                </a:solidFill>
                <a:prstDash val="solid"/>
              </a:ln>
              <a:effectLst>
                <a:outerShdw blurRad="152400" dist="38100" dir="2700000" algn="bl" rotWithShape="0">
                  <a:srgbClr val="000000">
                    <a:alpha val="18000"/>
                  </a:srgbClr>
                </a:outerShdw>
              </a:effectLst>
            </p:spPr>
            <p:txBody>
              <a:bodyPr/>
              <a:lstStyle/>
              <a:p>
                <a:pPr algn="ctr"/>
                <a:r>
                  <a:rPr lang="en-US" b="1" dirty="0">
                    <a:solidFill>
                      <a:srgbClr val="14B8A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Mathematische Definition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sz="12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p>
                          <m:r>
                            <a:rPr lang="de-DE" sz="1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𝐁</m:t>
                          </m:r>
                        </m:sup>
                      </m:sSup>
                      <m:r>
                        <a:rPr lang="de-DE" sz="12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sz="1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𝐒𝐩𝐢𝐞𝐥𝐞𝐫𝐬𝐮𝐦𝐦𝐞</m:t>
                          </m:r>
                          <m:r>
                            <a:rPr lang="de-DE" sz="1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2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𝐃𝐞𝐚𝐥𝐞𝐫𝐤𝐚𝐫𝐭𝐞</m:t>
                          </m:r>
                          <m:r>
                            <a:rPr lang="de-DE" sz="1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2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2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𝐧𝐮𝐭𝐳𝐛𝐚𝐫𝐞𝐬</m:t>
                          </m:r>
                          <m:r>
                            <a:rPr lang="en-GB" sz="12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2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𝐀𝐬𝐬</m:t>
                          </m:r>
                        </m:e>
                      </m:d>
                    </m:oMath>
                  </m:oMathPara>
                </a14:m>
                <a:endParaRPr lang="de-DE" sz="1200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𝐐</m:t>
                      </m:r>
                      <m:d>
                        <m:dPr>
                          <m:ctrlPr>
                            <a:rPr lang="de-DE" sz="1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</m:d>
                      <m:r>
                        <a:rPr lang="de-DE" sz="12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de-DE" sz="1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𝐐</m:t>
                          </m:r>
                          <m:d>
                            <m:dPr>
                              <m:ctrlPr>
                                <a:rPr lang="de-DE" sz="1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de-DE" sz="1200" b="1">
                                  <a:solidFill>
                                    <a:schemeClr val="bg1"/>
                                  </a:solidFill>
                                  <a:latin typeface="Cambria" panose="02040503050406030204" pitchFamily="18" charset="0"/>
                                  <a:ea typeface="Cambria" panose="02040503050406030204" pitchFamily="18" charset="0"/>
                                </a:rPr>
                                <m:t>Stand</m:t>
                              </m:r>
                            </m:e>
                          </m:d>
                          <m:r>
                            <a:rPr lang="de-DE" sz="1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1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𝐐</m:t>
                          </m:r>
                          <m:d>
                            <m:dPr>
                              <m:ctrlPr>
                                <a:rPr lang="de-DE" sz="1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de-DE" sz="1200" b="1">
                                  <a:solidFill>
                                    <a:schemeClr val="bg1"/>
                                  </a:solidFill>
                                  <a:latin typeface="Cambria" panose="02040503050406030204" pitchFamily="18" charset="0"/>
                                  <a:ea typeface="Cambria" panose="02040503050406030204" pitchFamily="18" charset="0"/>
                                </a:rPr>
                                <m:t>Hit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de-DE" sz="1400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:endParaRPr lang="de-DE" sz="14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:endParaRPr lang="en-US" b="1" dirty="0">
                  <a:solidFill>
                    <a:srgbClr val="14B8A6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!!11">
                <a:extLst>
                  <a:ext uri="{FF2B5EF4-FFF2-40B4-BE49-F238E27FC236}">
                    <a16:creationId xmlns:a16="http://schemas.microsoft.com/office/drawing/2014/main" id="{A14A5D4A-A6EC-5BEF-CD0D-6CFAD240D4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38" y="1167435"/>
                <a:ext cx="3942480" cy="937546"/>
              </a:xfrm>
              <a:prstGeom prst="roundRect">
                <a:avLst>
                  <a:gd name="adj" fmla="val 875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10B981">
                    <a:alpha val="60000"/>
                  </a:srgbClr>
                </a:solidFill>
                <a:prstDash val="solid"/>
              </a:ln>
              <a:effectLst>
                <a:outerShdw blurRad="152400" dist="38100" dir="2700000" algn="bl" rotWithShape="0">
                  <a:srgbClr val="000000">
                    <a:alpha val="18000"/>
                  </a:srgbClr>
                </a:outerShdw>
              </a:effectLst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FD5C14E3-39F1-D5C5-F5B2-C2DDA7D0FC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527804"/>
              </p:ext>
            </p:extLst>
          </p:nvPr>
        </p:nvGraphicFramePr>
        <p:xfrm>
          <a:off x="4986121" y="1501811"/>
          <a:ext cx="3947046" cy="499110"/>
        </p:xfrm>
        <a:graphic>
          <a:graphicData uri="http://schemas.openxmlformats.org/drawingml/2006/table">
            <a:tbl>
              <a:tblPr/>
              <a:tblGrid>
                <a:gridCol w="1315682">
                  <a:extLst>
                    <a:ext uri="{9D8B030D-6E8A-4147-A177-3AD203B41FA5}">
                      <a16:colId xmlns:a16="http://schemas.microsoft.com/office/drawing/2014/main" val="2272829790"/>
                    </a:ext>
                  </a:extLst>
                </a:gridCol>
                <a:gridCol w="1315682">
                  <a:extLst>
                    <a:ext uri="{9D8B030D-6E8A-4147-A177-3AD203B41FA5}">
                      <a16:colId xmlns:a16="http://schemas.microsoft.com/office/drawing/2014/main" val="3360644678"/>
                    </a:ext>
                  </a:extLst>
                </a:gridCol>
                <a:gridCol w="1315682">
                  <a:extLst>
                    <a:ext uri="{9D8B030D-6E8A-4147-A177-3AD203B41FA5}">
                      <a16:colId xmlns:a16="http://schemas.microsoft.com/office/drawing/2014/main" val="139605961"/>
                    </a:ext>
                  </a:extLst>
                </a:gridCol>
              </a:tblGrid>
              <a:tr h="4694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400" dirty="0">
                          <a:solidFill>
                            <a:srgbClr val="14B8A6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Zustand (s)</a:t>
                      </a: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400" dirty="0">
                          <a:solidFill>
                            <a:srgbClr val="14B8A6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Q(Stand)</a:t>
                      </a: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400" dirty="0">
                          <a:solidFill>
                            <a:srgbClr val="14B8A6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Q(Hit)</a:t>
                      </a: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965866"/>
                  </a:ext>
                </a:extLst>
              </a:tr>
            </a:tbl>
          </a:graphicData>
        </a:graphic>
      </p:graphicFrame>
      <p:sp>
        <p:nvSpPr>
          <p:cNvPr id="18" name="!!11">
            <a:extLst>
              <a:ext uri="{FF2B5EF4-FFF2-40B4-BE49-F238E27FC236}">
                <a16:creationId xmlns:a16="http://schemas.microsoft.com/office/drawing/2014/main" id="{4602EFD5-BF84-52CC-A4D5-E7322336C2E8}"/>
              </a:ext>
            </a:extLst>
          </p:cNvPr>
          <p:cNvSpPr/>
          <p:nvPr/>
        </p:nvSpPr>
        <p:spPr>
          <a:xfrm>
            <a:off x="210833" y="2294403"/>
            <a:ext cx="1172104" cy="336413"/>
          </a:xfrm>
          <a:prstGeom prst="roundRect">
            <a:avLst>
              <a:gd name="adj" fmla="val 8750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r>
              <a:rPr lang="en-GB" sz="1100" b="1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Spielersumme</a:t>
            </a:r>
            <a:endParaRPr lang="de-DE" sz="1100" b="1" dirty="0">
              <a:solidFill>
                <a:srgbClr val="1E293B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!!11">
            <a:extLst>
              <a:ext uri="{FF2B5EF4-FFF2-40B4-BE49-F238E27FC236}">
                <a16:creationId xmlns:a16="http://schemas.microsoft.com/office/drawing/2014/main" id="{9474947B-16FD-441D-8DA6-ABABE9D24802}"/>
              </a:ext>
            </a:extLst>
          </p:cNvPr>
          <p:cNvSpPr/>
          <p:nvPr/>
        </p:nvSpPr>
        <p:spPr>
          <a:xfrm>
            <a:off x="1535337" y="2294403"/>
            <a:ext cx="1593272" cy="336413"/>
          </a:xfrm>
          <a:prstGeom prst="roundRect">
            <a:avLst>
              <a:gd name="adj" fmla="val 8750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r>
              <a:rPr lang="de-DE" sz="11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Dealer-Aufdeckkarte</a:t>
            </a:r>
          </a:p>
        </p:txBody>
      </p:sp>
      <p:sp>
        <p:nvSpPr>
          <p:cNvPr id="20" name="!!11">
            <a:extLst>
              <a:ext uri="{FF2B5EF4-FFF2-40B4-BE49-F238E27FC236}">
                <a16:creationId xmlns:a16="http://schemas.microsoft.com/office/drawing/2014/main" id="{413A66FD-84ED-CFDB-1E2B-D197F8438CA3}"/>
              </a:ext>
            </a:extLst>
          </p:cNvPr>
          <p:cNvSpPr/>
          <p:nvPr/>
        </p:nvSpPr>
        <p:spPr>
          <a:xfrm>
            <a:off x="3281009" y="2294402"/>
            <a:ext cx="1172104" cy="336413"/>
          </a:xfrm>
          <a:prstGeom prst="roundRect">
            <a:avLst>
              <a:gd name="adj" fmla="val 8750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r>
              <a:rPr lang="de-DE" sz="11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Nutzbares</a:t>
            </a:r>
            <a:r>
              <a:rPr lang="de-DE" sz="1100" b="1" dirty="0">
                <a:latin typeface="Cambria" panose="02040503050406030204" pitchFamily="18" charset="0"/>
                <a:ea typeface="Cambria" panose="02040503050406030204" pitchFamily="18" charset="0"/>
              </a:rPr>
              <a:t> Ass?</a:t>
            </a:r>
            <a:endParaRPr lang="de-DE" sz="1100" b="1" dirty="0">
              <a:solidFill>
                <a:srgbClr val="1E293B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!!11">
            <a:extLst>
              <a:ext uri="{FF2B5EF4-FFF2-40B4-BE49-F238E27FC236}">
                <a16:creationId xmlns:a16="http://schemas.microsoft.com/office/drawing/2014/main" id="{A6634314-7B06-E9FE-6C5F-6CAD29F3641E}"/>
              </a:ext>
            </a:extLst>
          </p:cNvPr>
          <p:cNvSpPr/>
          <p:nvPr/>
        </p:nvSpPr>
        <p:spPr>
          <a:xfrm>
            <a:off x="1535337" y="3651986"/>
            <a:ext cx="1667145" cy="437335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r>
              <a:rPr lang="en-US" b="1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State Encoder</a:t>
            </a:r>
          </a:p>
        </p:txBody>
      </p:sp>
      <p:sp>
        <p:nvSpPr>
          <p:cNvPr id="23" name="!!4.3">
            <a:extLst>
              <a:ext uri="{FF2B5EF4-FFF2-40B4-BE49-F238E27FC236}">
                <a16:creationId xmlns:a16="http://schemas.microsoft.com/office/drawing/2014/main" id="{55F77BF7-3C19-7288-7664-22FB96542EB0}"/>
              </a:ext>
            </a:extLst>
          </p:cNvPr>
          <p:cNvSpPr/>
          <p:nvPr/>
        </p:nvSpPr>
        <p:spPr>
          <a:xfrm>
            <a:off x="601289" y="2651139"/>
            <a:ext cx="391192" cy="336413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r>
              <a:rPr lang="en-GB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16</a:t>
            </a:r>
            <a:endParaRPr lang="en-GB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!!4.3">
            <a:extLst>
              <a:ext uri="{FF2B5EF4-FFF2-40B4-BE49-F238E27FC236}">
                <a16:creationId xmlns:a16="http://schemas.microsoft.com/office/drawing/2014/main" id="{A37ECFDA-5DEC-BE2F-3C70-8F1A3130AEAC}"/>
              </a:ext>
            </a:extLst>
          </p:cNvPr>
          <p:cNvSpPr/>
          <p:nvPr/>
        </p:nvSpPr>
        <p:spPr>
          <a:xfrm>
            <a:off x="2173313" y="2678470"/>
            <a:ext cx="391192" cy="336413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r>
              <a:rPr lang="en-GB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  <a:endParaRPr lang="en-GB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!!4.3">
            <a:extLst>
              <a:ext uri="{FF2B5EF4-FFF2-40B4-BE49-F238E27FC236}">
                <a16:creationId xmlns:a16="http://schemas.microsoft.com/office/drawing/2014/main" id="{66DFF23E-85AF-B4E3-2D6C-9F6E5360C74B}"/>
              </a:ext>
            </a:extLst>
          </p:cNvPr>
          <p:cNvSpPr/>
          <p:nvPr/>
        </p:nvSpPr>
        <p:spPr>
          <a:xfrm>
            <a:off x="3605719" y="2678470"/>
            <a:ext cx="522684" cy="336413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r>
              <a:rPr lang="en-GB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Nein</a:t>
            </a:r>
            <a:endParaRPr lang="en-GB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E519C1C6-3EDB-D29A-EA82-8702FEB005A3}"/>
              </a:ext>
            </a:extLst>
          </p:cNvPr>
          <p:cNvCxnSpPr>
            <a:stCxn id="23" idx="2"/>
            <a:endCxn id="21" idx="0"/>
          </p:cNvCxnSpPr>
          <p:nvPr/>
        </p:nvCxnSpPr>
        <p:spPr>
          <a:xfrm>
            <a:off x="796885" y="2987552"/>
            <a:ext cx="1572025" cy="664434"/>
          </a:xfrm>
          <a:prstGeom prst="straightConnector1">
            <a:avLst/>
          </a:prstGeom>
          <a:ln w="19050"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5B8288AA-273E-381E-6789-2D5870CE2AC4}"/>
              </a:ext>
            </a:extLst>
          </p:cNvPr>
          <p:cNvCxnSpPr>
            <a:cxnSpLocks/>
            <a:stCxn id="24" idx="2"/>
            <a:endCxn id="21" idx="0"/>
          </p:cNvCxnSpPr>
          <p:nvPr/>
        </p:nvCxnSpPr>
        <p:spPr>
          <a:xfrm>
            <a:off x="2368909" y="3014883"/>
            <a:ext cx="1" cy="637103"/>
          </a:xfrm>
          <a:prstGeom prst="straightConnector1">
            <a:avLst/>
          </a:prstGeom>
          <a:ln w="19050"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49AB8767-F8E8-A06C-8291-ADB09FCD48D3}"/>
              </a:ext>
            </a:extLst>
          </p:cNvPr>
          <p:cNvCxnSpPr>
            <a:cxnSpLocks/>
            <a:stCxn id="25" idx="2"/>
            <a:endCxn id="21" idx="0"/>
          </p:cNvCxnSpPr>
          <p:nvPr/>
        </p:nvCxnSpPr>
        <p:spPr>
          <a:xfrm flipH="1">
            <a:off x="2368910" y="3014883"/>
            <a:ext cx="1498151" cy="637103"/>
          </a:xfrm>
          <a:prstGeom prst="straightConnector1">
            <a:avLst/>
          </a:prstGeom>
          <a:ln w="19050"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!!11">
            <a:extLst>
              <a:ext uri="{FF2B5EF4-FFF2-40B4-BE49-F238E27FC236}">
                <a16:creationId xmlns:a16="http://schemas.microsoft.com/office/drawing/2014/main" id="{2BB797D4-588F-488C-E595-05C4593C9EA5}"/>
              </a:ext>
            </a:extLst>
          </p:cNvPr>
          <p:cNvSpPr/>
          <p:nvPr/>
        </p:nvSpPr>
        <p:spPr>
          <a:xfrm>
            <a:off x="1468584" y="4499361"/>
            <a:ext cx="1812425" cy="437335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(16, 10, False)</a:t>
            </a:r>
          </a:p>
        </p:txBody>
      </p: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E2ED55F2-DA96-70D2-A9E0-279DF66A4A50}"/>
              </a:ext>
            </a:extLst>
          </p:cNvPr>
          <p:cNvCxnSpPr>
            <a:cxnSpLocks/>
            <a:stCxn id="21" idx="2"/>
            <a:endCxn id="34" idx="0"/>
          </p:cNvCxnSpPr>
          <p:nvPr/>
        </p:nvCxnSpPr>
        <p:spPr>
          <a:xfrm>
            <a:off x="2368910" y="4089321"/>
            <a:ext cx="5887" cy="410040"/>
          </a:xfrm>
          <a:prstGeom prst="straightConnector1">
            <a:avLst/>
          </a:prstGeom>
          <a:ln w="38100"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16">
            <a:extLst>
              <a:ext uri="{FF2B5EF4-FFF2-40B4-BE49-F238E27FC236}">
                <a16:creationId xmlns:a16="http://schemas.microsoft.com/office/drawing/2014/main" id="{7BE9949F-7ED4-44EA-BCE9-25EF6C1627A4}"/>
              </a:ext>
            </a:extLst>
          </p:cNvPr>
          <p:cNvSpPr>
            <a:spLocks noGrp="1"/>
          </p:cNvSpPr>
          <p:nvPr/>
        </p:nvSpPr>
        <p:spPr>
          <a:xfrm>
            <a:off x="4986121" y="1143000"/>
            <a:ext cx="45720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en-GB" sz="14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Q- Table</a:t>
            </a:r>
            <a:endParaRPr sz="1400" b="1" dirty="0">
              <a:solidFill>
                <a:srgbClr val="1E293B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  <p:graphicFrame>
        <p:nvGraphicFramePr>
          <p:cNvPr id="44" name="Tabelle 43">
            <a:extLst>
              <a:ext uri="{FF2B5EF4-FFF2-40B4-BE49-F238E27FC236}">
                <a16:creationId xmlns:a16="http://schemas.microsoft.com/office/drawing/2014/main" id="{7CA82802-E1FA-5979-9417-DACFB6942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813763"/>
              </p:ext>
            </p:extLst>
          </p:nvPr>
        </p:nvGraphicFramePr>
        <p:xfrm>
          <a:off x="4986121" y="1995307"/>
          <a:ext cx="3947046" cy="699318"/>
        </p:xfrm>
        <a:graphic>
          <a:graphicData uri="http://schemas.openxmlformats.org/drawingml/2006/table">
            <a:tbl>
              <a:tblPr/>
              <a:tblGrid>
                <a:gridCol w="1315682">
                  <a:extLst>
                    <a:ext uri="{9D8B030D-6E8A-4147-A177-3AD203B41FA5}">
                      <a16:colId xmlns:a16="http://schemas.microsoft.com/office/drawing/2014/main" val="793405982"/>
                    </a:ext>
                  </a:extLst>
                </a:gridCol>
                <a:gridCol w="1315682">
                  <a:extLst>
                    <a:ext uri="{9D8B030D-6E8A-4147-A177-3AD203B41FA5}">
                      <a16:colId xmlns:a16="http://schemas.microsoft.com/office/drawing/2014/main" val="1354970159"/>
                    </a:ext>
                  </a:extLst>
                </a:gridCol>
                <a:gridCol w="1315682">
                  <a:extLst>
                    <a:ext uri="{9D8B030D-6E8A-4147-A177-3AD203B41FA5}">
                      <a16:colId xmlns:a16="http://schemas.microsoft.com/office/drawing/2014/main" val="2235090893"/>
                    </a:ext>
                  </a:extLst>
                </a:gridCol>
              </a:tblGrid>
              <a:tr h="6993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(16, 10, </a:t>
                      </a:r>
                      <a:r>
                        <a:rPr lang="de-DE" sz="1200" dirty="0" err="1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False</a:t>
                      </a:r>
                      <a:r>
                        <a:rPr lang="de-DE" sz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)</a:t>
                      </a: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-0.542</a:t>
                      </a: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-0.210</a:t>
                      </a: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004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4650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24" grpId="0" animBg="1"/>
      <p:bldP spid="25" grpId="0" animBg="1"/>
      <p:bldP spid="3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5DE59-1CD3-E37E-5CEA-7A21FCDD9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8F87028-33A4-08AD-3471-CD920D48C8D0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1E9DC573-3982-1FE9-7C6F-EA7DCF63166D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41CCCF6-9A25-77C0-BBAC-227F7B2257D4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Baseline</a:t>
            </a:r>
            <a:endParaRPr lang="en-US" sz="2600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A9C00BE-17DB-A212-CDBF-4F6FD758D743}"/>
              </a:ext>
            </a:extLst>
          </p:cNvPr>
          <p:cNvSpPr/>
          <p:nvPr/>
        </p:nvSpPr>
        <p:spPr>
          <a:xfrm>
            <a:off x="6367670" y="54864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1C87B5CB-FDE1-4D92-AEBF-0F36A1936069}" type="slidenum">
              <a:rPr lang="en-US" sz="900" b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14</a:t>
            </a:fld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78FB5AEB-29D8-E37A-A668-58CEDBEF777D}"/>
              </a:ext>
            </a:extLst>
          </p:cNvPr>
          <p:cNvSpPr/>
          <p:nvPr/>
        </p:nvSpPr>
        <p:spPr>
          <a:xfrm>
            <a:off x="3412435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BHH · Machine Learning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8F7FD9B6-5B06-5848-1A2A-5F3E530A7A87}"/>
              </a:ext>
            </a:extLst>
          </p:cNvPr>
          <p:cNvSpPr/>
          <p:nvPr/>
        </p:nvSpPr>
        <p:spPr>
          <a:xfrm>
            <a:off x="457200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Methodik</a:t>
            </a: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&amp; Technik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!!11">
                <a:extLst>
                  <a:ext uri="{FF2B5EF4-FFF2-40B4-BE49-F238E27FC236}">
                    <a16:creationId xmlns:a16="http://schemas.microsoft.com/office/drawing/2014/main" id="{41873168-7CDE-91FF-FCDA-0B169182A658}"/>
                  </a:ext>
                </a:extLst>
              </p:cNvPr>
              <p:cNvSpPr/>
              <p:nvPr/>
            </p:nvSpPr>
            <p:spPr>
              <a:xfrm>
                <a:off x="380138" y="1167435"/>
                <a:ext cx="3942480" cy="937546"/>
              </a:xfrm>
              <a:prstGeom prst="roundRect">
                <a:avLst>
                  <a:gd name="adj" fmla="val 8750"/>
                </a:avLst>
              </a:prstGeom>
              <a:solidFill>
                <a:srgbClr val="1E293B"/>
              </a:solidFill>
              <a:ln w="12700">
                <a:solidFill>
                  <a:srgbClr val="10B981">
                    <a:alpha val="60000"/>
                  </a:srgbClr>
                </a:solidFill>
                <a:prstDash val="solid"/>
              </a:ln>
              <a:effectLst>
                <a:outerShdw blurRad="152400" dist="38100" dir="2700000" algn="bl" rotWithShape="0">
                  <a:srgbClr val="000000">
                    <a:alpha val="18000"/>
                  </a:srgbClr>
                </a:outerShdw>
              </a:effectLst>
            </p:spPr>
            <p:txBody>
              <a:bodyPr/>
              <a:lstStyle/>
              <a:p>
                <a:pPr algn="ctr"/>
                <a:r>
                  <a:rPr lang="en-US" b="1" dirty="0">
                    <a:solidFill>
                      <a:srgbClr val="14B8A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Mathematische Definition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sz="12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p>
                          <m:r>
                            <a:rPr lang="de-DE" sz="1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𝐁</m:t>
                          </m:r>
                        </m:sup>
                      </m:sSup>
                      <m:r>
                        <a:rPr lang="de-DE" sz="12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sz="1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𝐒𝐩𝐢𝐞𝐥𝐞𝐫𝐬𝐮𝐦𝐦𝐞</m:t>
                          </m:r>
                          <m:r>
                            <a:rPr lang="de-DE" sz="1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2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𝐃𝐞𝐚𝐥𝐞𝐫𝐤𝐚𝐫𝐭𝐞</m:t>
                          </m:r>
                          <m:r>
                            <a:rPr lang="de-DE" sz="1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2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2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𝐧𝐮𝐭𝐳𝐛𝐚𝐫𝐞𝐬</m:t>
                          </m:r>
                          <m:r>
                            <a:rPr lang="en-GB" sz="12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2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𝐀𝐬𝐬</m:t>
                          </m:r>
                        </m:e>
                      </m:d>
                    </m:oMath>
                  </m:oMathPara>
                </a14:m>
                <a:endParaRPr lang="de-DE" sz="1200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𝐐</m:t>
                      </m:r>
                      <m:d>
                        <m:dPr>
                          <m:ctrlPr>
                            <a:rPr lang="de-DE" sz="1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</m:d>
                      <m:r>
                        <a:rPr lang="de-DE" sz="12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de-DE" sz="1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𝐐</m:t>
                          </m:r>
                          <m:d>
                            <m:dPr>
                              <m:ctrlPr>
                                <a:rPr lang="de-DE" sz="1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de-DE" sz="1200" b="1">
                                  <a:solidFill>
                                    <a:schemeClr val="bg1"/>
                                  </a:solidFill>
                                  <a:latin typeface="Cambria" panose="02040503050406030204" pitchFamily="18" charset="0"/>
                                  <a:ea typeface="Cambria" panose="02040503050406030204" pitchFamily="18" charset="0"/>
                                </a:rPr>
                                <m:t>Stand</m:t>
                              </m:r>
                            </m:e>
                          </m:d>
                          <m:r>
                            <a:rPr lang="de-DE" sz="1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1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𝐐</m:t>
                          </m:r>
                          <m:d>
                            <m:dPr>
                              <m:ctrlPr>
                                <a:rPr lang="de-DE" sz="1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de-DE" sz="1200" b="1">
                                  <a:solidFill>
                                    <a:schemeClr val="bg1"/>
                                  </a:solidFill>
                                  <a:latin typeface="Cambria" panose="02040503050406030204" pitchFamily="18" charset="0"/>
                                  <a:ea typeface="Cambria" panose="02040503050406030204" pitchFamily="18" charset="0"/>
                                </a:rPr>
                                <m:t>Hit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de-DE" sz="1400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:endParaRPr lang="de-DE" sz="14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:endParaRPr lang="en-US" b="1" dirty="0">
                  <a:solidFill>
                    <a:srgbClr val="14B8A6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!!11">
                <a:extLst>
                  <a:ext uri="{FF2B5EF4-FFF2-40B4-BE49-F238E27FC236}">
                    <a16:creationId xmlns:a16="http://schemas.microsoft.com/office/drawing/2014/main" id="{41873168-7CDE-91FF-FCDA-0B169182A6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38" y="1167435"/>
                <a:ext cx="3942480" cy="937546"/>
              </a:xfrm>
              <a:prstGeom prst="roundRect">
                <a:avLst>
                  <a:gd name="adj" fmla="val 875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10B981">
                    <a:alpha val="60000"/>
                  </a:srgbClr>
                </a:solidFill>
                <a:prstDash val="solid"/>
              </a:ln>
              <a:effectLst>
                <a:outerShdw blurRad="152400" dist="38100" dir="2700000" algn="bl" rotWithShape="0">
                  <a:srgbClr val="000000">
                    <a:alpha val="18000"/>
                  </a:srgbClr>
                </a:outerShdw>
              </a:effectLst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ACF7B574-0A3E-3D79-AF28-2F28AC00E2FB}"/>
              </a:ext>
            </a:extLst>
          </p:cNvPr>
          <p:cNvGraphicFramePr>
            <a:graphicFrameLocks noGrp="1"/>
          </p:cNvGraphicFramePr>
          <p:nvPr/>
        </p:nvGraphicFramePr>
        <p:xfrm>
          <a:off x="4986121" y="1501811"/>
          <a:ext cx="3947046" cy="499110"/>
        </p:xfrm>
        <a:graphic>
          <a:graphicData uri="http://schemas.openxmlformats.org/drawingml/2006/table">
            <a:tbl>
              <a:tblPr/>
              <a:tblGrid>
                <a:gridCol w="1315682">
                  <a:extLst>
                    <a:ext uri="{9D8B030D-6E8A-4147-A177-3AD203B41FA5}">
                      <a16:colId xmlns:a16="http://schemas.microsoft.com/office/drawing/2014/main" val="2272829790"/>
                    </a:ext>
                  </a:extLst>
                </a:gridCol>
                <a:gridCol w="1315682">
                  <a:extLst>
                    <a:ext uri="{9D8B030D-6E8A-4147-A177-3AD203B41FA5}">
                      <a16:colId xmlns:a16="http://schemas.microsoft.com/office/drawing/2014/main" val="3360644678"/>
                    </a:ext>
                  </a:extLst>
                </a:gridCol>
                <a:gridCol w="1315682">
                  <a:extLst>
                    <a:ext uri="{9D8B030D-6E8A-4147-A177-3AD203B41FA5}">
                      <a16:colId xmlns:a16="http://schemas.microsoft.com/office/drawing/2014/main" val="139605961"/>
                    </a:ext>
                  </a:extLst>
                </a:gridCol>
              </a:tblGrid>
              <a:tr h="4694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400" dirty="0">
                          <a:solidFill>
                            <a:srgbClr val="14B8A6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Zustand (s)</a:t>
                      </a: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400" dirty="0">
                          <a:solidFill>
                            <a:srgbClr val="14B8A6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Q(Stand)</a:t>
                      </a: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400" dirty="0">
                          <a:solidFill>
                            <a:srgbClr val="14B8A6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Q(Hit)</a:t>
                      </a: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965866"/>
                  </a:ext>
                </a:extLst>
              </a:tr>
            </a:tbl>
          </a:graphicData>
        </a:graphic>
      </p:graphicFrame>
      <p:sp>
        <p:nvSpPr>
          <p:cNvPr id="18" name="!!11">
            <a:extLst>
              <a:ext uri="{FF2B5EF4-FFF2-40B4-BE49-F238E27FC236}">
                <a16:creationId xmlns:a16="http://schemas.microsoft.com/office/drawing/2014/main" id="{618A40C6-6EFE-EC93-7496-4DE82459EA1B}"/>
              </a:ext>
            </a:extLst>
          </p:cNvPr>
          <p:cNvSpPr/>
          <p:nvPr/>
        </p:nvSpPr>
        <p:spPr>
          <a:xfrm>
            <a:off x="210833" y="2294403"/>
            <a:ext cx="1172104" cy="336413"/>
          </a:xfrm>
          <a:prstGeom prst="roundRect">
            <a:avLst>
              <a:gd name="adj" fmla="val 8750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r>
              <a:rPr lang="en-GB" sz="1100" b="1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Spielersumme</a:t>
            </a:r>
            <a:endParaRPr lang="de-DE" sz="1100" b="1" dirty="0">
              <a:solidFill>
                <a:srgbClr val="1E293B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!!11">
            <a:extLst>
              <a:ext uri="{FF2B5EF4-FFF2-40B4-BE49-F238E27FC236}">
                <a16:creationId xmlns:a16="http://schemas.microsoft.com/office/drawing/2014/main" id="{70A3BEAD-68AD-513B-05D7-B21D86D5BD3A}"/>
              </a:ext>
            </a:extLst>
          </p:cNvPr>
          <p:cNvSpPr/>
          <p:nvPr/>
        </p:nvSpPr>
        <p:spPr>
          <a:xfrm>
            <a:off x="1535337" y="2294403"/>
            <a:ext cx="1593272" cy="336413"/>
          </a:xfrm>
          <a:prstGeom prst="roundRect">
            <a:avLst>
              <a:gd name="adj" fmla="val 8750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r>
              <a:rPr lang="de-DE" sz="11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Dealer-Aufdeckkarte</a:t>
            </a:r>
          </a:p>
        </p:txBody>
      </p:sp>
      <p:sp>
        <p:nvSpPr>
          <p:cNvPr id="20" name="!!11">
            <a:extLst>
              <a:ext uri="{FF2B5EF4-FFF2-40B4-BE49-F238E27FC236}">
                <a16:creationId xmlns:a16="http://schemas.microsoft.com/office/drawing/2014/main" id="{32F3F93B-219A-545C-86E2-88C2B9652B80}"/>
              </a:ext>
            </a:extLst>
          </p:cNvPr>
          <p:cNvSpPr/>
          <p:nvPr/>
        </p:nvSpPr>
        <p:spPr>
          <a:xfrm>
            <a:off x="3281009" y="2294402"/>
            <a:ext cx="1172104" cy="336413"/>
          </a:xfrm>
          <a:prstGeom prst="roundRect">
            <a:avLst>
              <a:gd name="adj" fmla="val 8750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r>
              <a:rPr lang="de-DE" sz="11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Nutzbares</a:t>
            </a:r>
            <a:r>
              <a:rPr lang="de-DE" sz="1100" b="1" dirty="0">
                <a:latin typeface="Cambria" panose="02040503050406030204" pitchFamily="18" charset="0"/>
                <a:ea typeface="Cambria" panose="02040503050406030204" pitchFamily="18" charset="0"/>
              </a:rPr>
              <a:t> Ass?</a:t>
            </a:r>
            <a:endParaRPr lang="de-DE" sz="1100" b="1" dirty="0">
              <a:solidFill>
                <a:srgbClr val="1E293B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!!11">
            <a:extLst>
              <a:ext uri="{FF2B5EF4-FFF2-40B4-BE49-F238E27FC236}">
                <a16:creationId xmlns:a16="http://schemas.microsoft.com/office/drawing/2014/main" id="{D25D1EDD-690A-5A26-4963-FFE1377BF3FF}"/>
              </a:ext>
            </a:extLst>
          </p:cNvPr>
          <p:cNvSpPr/>
          <p:nvPr/>
        </p:nvSpPr>
        <p:spPr>
          <a:xfrm>
            <a:off x="1535337" y="3651986"/>
            <a:ext cx="1667145" cy="437335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r>
              <a:rPr lang="en-US" b="1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State Encoder</a:t>
            </a:r>
          </a:p>
        </p:txBody>
      </p:sp>
      <p:sp>
        <p:nvSpPr>
          <p:cNvPr id="23" name="!!4.3">
            <a:extLst>
              <a:ext uri="{FF2B5EF4-FFF2-40B4-BE49-F238E27FC236}">
                <a16:creationId xmlns:a16="http://schemas.microsoft.com/office/drawing/2014/main" id="{E6B3F7DD-1DA1-D412-E4FB-3200D04F2329}"/>
              </a:ext>
            </a:extLst>
          </p:cNvPr>
          <p:cNvSpPr/>
          <p:nvPr/>
        </p:nvSpPr>
        <p:spPr>
          <a:xfrm>
            <a:off x="601289" y="2651139"/>
            <a:ext cx="391192" cy="336413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r>
              <a:rPr lang="en-GB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20</a:t>
            </a:r>
            <a:endParaRPr lang="en-GB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!!4.3">
            <a:extLst>
              <a:ext uri="{FF2B5EF4-FFF2-40B4-BE49-F238E27FC236}">
                <a16:creationId xmlns:a16="http://schemas.microsoft.com/office/drawing/2014/main" id="{A13036B5-9BEC-2915-1A8A-AD393FEC32D5}"/>
              </a:ext>
            </a:extLst>
          </p:cNvPr>
          <p:cNvSpPr/>
          <p:nvPr/>
        </p:nvSpPr>
        <p:spPr>
          <a:xfrm>
            <a:off x="2173313" y="2678470"/>
            <a:ext cx="391192" cy="336413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r>
              <a:rPr lang="en-GB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7</a:t>
            </a:r>
            <a:endParaRPr lang="en-GB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!!4.3">
            <a:extLst>
              <a:ext uri="{FF2B5EF4-FFF2-40B4-BE49-F238E27FC236}">
                <a16:creationId xmlns:a16="http://schemas.microsoft.com/office/drawing/2014/main" id="{42D6334A-7BDC-708C-D684-81E3DB1A7B2E}"/>
              </a:ext>
            </a:extLst>
          </p:cNvPr>
          <p:cNvSpPr/>
          <p:nvPr/>
        </p:nvSpPr>
        <p:spPr>
          <a:xfrm>
            <a:off x="3605719" y="2678470"/>
            <a:ext cx="522684" cy="336413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r>
              <a:rPr lang="en-GB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Ja</a:t>
            </a:r>
            <a:endParaRPr lang="en-GB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8CD6AC5C-3C00-8B82-086A-3894FBEB512B}"/>
              </a:ext>
            </a:extLst>
          </p:cNvPr>
          <p:cNvCxnSpPr>
            <a:stCxn id="23" idx="2"/>
            <a:endCxn id="21" idx="0"/>
          </p:cNvCxnSpPr>
          <p:nvPr/>
        </p:nvCxnSpPr>
        <p:spPr>
          <a:xfrm>
            <a:off x="796885" y="2987552"/>
            <a:ext cx="1572025" cy="664434"/>
          </a:xfrm>
          <a:prstGeom prst="straightConnector1">
            <a:avLst/>
          </a:prstGeom>
          <a:ln w="19050"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46D53907-BCED-5657-1060-EC9865CADF49}"/>
              </a:ext>
            </a:extLst>
          </p:cNvPr>
          <p:cNvCxnSpPr>
            <a:cxnSpLocks/>
            <a:stCxn id="24" idx="2"/>
            <a:endCxn id="21" idx="0"/>
          </p:cNvCxnSpPr>
          <p:nvPr/>
        </p:nvCxnSpPr>
        <p:spPr>
          <a:xfrm>
            <a:off x="2368909" y="3014883"/>
            <a:ext cx="1" cy="637103"/>
          </a:xfrm>
          <a:prstGeom prst="straightConnector1">
            <a:avLst/>
          </a:prstGeom>
          <a:ln w="19050"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AE50CA29-7455-370E-04C7-08D119DB2143}"/>
              </a:ext>
            </a:extLst>
          </p:cNvPr>
          <p:cNvCxnSpPr>
            <a:cxnSpLocks/>
            <a:stCxn id="25" idx="2"/>
            <a:endCxn id="21" idx="0"/>
          </p:cNvCxnSpPr>
          <p:nvPr/>
        </p:nvCxnSpPr>
        <p:spPr>
          <a:xfrm flipH="1">
            <a:off x="2368910" y="3014883"/>
            <a:ext cx="1498151" cy="637103"/>
          </a:xfrm>
          <a:prstGeom prst="straightConnector1">
            <a:avLst/>
          </a:prstGeom>
          <a:ln w="19050"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!!11">
            <a:extLst>
              <a:ext uri="{FF2B5EF4-FFF2-40B4-BE49-F238E27FC236}">
                <a16:creationId xmlns:a16="http://schemas.microsoft.com/office/drawing/2014/main" id="{90624CA7-A5C5-4E94-2581-199E1D294FEC}"/>
              </a:ext>
            </a:extLst>
          </p:cNvPr>
          <p:cNvSpPr/>
          <p:nvPr/>
        </p:nvSpPr>
        <p:spPr>
          <a:xfrm>
            <a:off x="1468584" y="4499361"/>
            <a:ext cx="1812425" cy="437335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(20, 7, True)</a:t>
            </a:r>
          </a:p>
        </p:txBody>
      </p: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86412083-8997-B244-FF17-F5ECBFE1C68C}"/>
              </a:ext>
            </a:extLst>
          </p:cNvPr>
          <p:cNvCxnSpPr>
            <a:cxnSpLocks/>
            <a:stCxn id="21" idx="2"/>
            <a:endCxn id="34" idx="0"/>
          </p:cNvCxnSpPr>
          <p:nvPr/>
        </p:nvCxnSpPr>
        <p:spPr>
          <a:xfrm>
            <a:off x="2368910" y="4089321"/>
            <a:ext cx="5887" cy="410040"/>
          </a:xfrm>
          <a:prstGeom prst="straightConnector1">
            <a:avLst/>
          </a:prstGeom>
          <a:ln w="38100"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Tabelle 40">
            <a:extLst>
              <a:ext uri="{FF2B5EF4-FFF2-40B4-BE49-F238E27FC236}">
                <a16:creationId xmlns:a16="http://schemas.microsoft.com/office/drawing/2014/main" id="{7FA6AE83-B195-60BF-BB5F-F8D8CA9E1E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069317"/>
              </p:ext>
            </p:extLst>
          </p:nvPr>
        </p:nvGraphicFramePr>
        <p:xfrm>
          <a:off x="4986121" y="1995307"/>
          <a:ext cx="3947046" cy="699318"/>
        </p:xfrm>
        <a:graphic>
          <a:graphicData uri="http://schemas.openxmlformats.org/drawingml/2006/table">
            <a:tbl>
              <a:tblPr/>
              <a:tblGrid>
                <a:gridCol w="1315682">
                  <a:extLst>
                    <a:ext uri="{9D8B030D-6E8A-4147-A177-3AD203B41FA5}">
                      <a16:colId xmlns:a16="http://schemas.microsoft.com/office/drawing/2014/main" val="793405982"/>
                    </a:ext>
                  </a:extLst>
                </a:gridCol>
                <a:gridCol w="1315682">
                  <a:extLst>
                    <a:ext uri="{9D8B030D-6E8A-4147-A177-3AD203B41FA5}">
                      <a16:colId xmlns:a16="http://schemas.microsoft.com/office/drawing/2014/main" val="1354970159"/>
                    </a:ext>
                  </a:extLst>
                </a:gridCol>
                <a:gridCol w="1315682">
                  <a:extLst>
                    <a:ext uri="{9D8B030D-6E8A-4147-A177-3AD203B41FA5}">
                      <a16:colId xmlns:a16="http://schemas.microsoft.com/office/drawing/2014/main" val="2235090893"/>
                    </a:ext>
                  </a:extLst>
                </a:gridCol>
              </a:tblGrid>
              <a:tr h="6993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(16, 10, </a:t>
                      </a:r>
                      <a:r>
                        <a:rPr lang="de-DE" sz="1200" dirty="0" err="1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False</a:t>
                      </a:r>
                      <a:r>
                        <a:rPr lang="de-DE" sz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)</a:t>
                      </a: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-0.542</a:t>
                      </a: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-0.210</a:t>
                      </a: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004905"/>
                  </a:ext>
                </a:extLst>
              </a:tr>
            </a:tbl>
          </a:graphicData>
        </a:graphic>
      </p:graphicFrame>
      <p:sp>
        <p:nvSpPr>
          <p:cNvPr id="42" name="Text 16">
            <a:extLst>
              <a:ext uri="{FF2B5EF4-FFF2-40B4-BE49-F238E27FC236}">
                <a16:creationId xmlns:a16="http://schemas.microsoft.com/office/drawing/2014/main" id="{F8A82726-B231-87F7-4F5C-C8EFEE3A40B0}"/>
              </a:ext>
            </a:extLst>
          </p:cNvPr>
          <p:cNvSpPr>
            <a:spLocks noGrp="1"/>
          </p:cNvSpPr>
          <p:nvPr/>
        </p:nvSpPr>
        <p:spPr>
          <a:xfrm>
            <a:off x="4986121" y="1143000"/>
            <a:ext cx="45720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en-GB" sz="14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Q- Table</a:t>
            </a:r>
            <a:endParaRPr sz="1400" b="1" dirty="0">
              <a:solidFill>
                <a:srgbClr val="1E293B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524FD3CE-4919-DB87-558C-1A939B2D13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509322"/>
              </p:ext>
            </p:extLst>
          </p:nvPr>
        </p:nvGraphicFramePr>
        <p:xfrm>
          <a:off x="4986559" y="2694625"/>
          <a:ext cx="3947046" cy="699318"/>
        </p:xfrm>
        <a:graphic>
          <a:graphicData uri="http://schemas.openxmlformats.org/drawingml/2006/table">
            <a:tbl>
              <a:tblPr/>
              <a:tblGrid>
                <a:gridCol w="1315682">
                  <a:extLst>
                    <a:ext uri="{9D8B030D-6E8A-4147-A177-3AD203B41FA5}">
                      <a16:colId xmlns:a16="http://schemas.microsoft.com/office/drawing/2014/main" val="793405982"/>
                    </a:ext>
                  </a:extLst>
                </a:gridCol>
                <a:gridCol w="1315682">
                  <a:extLst>
                    <a:ext uri="{9D8B030D-6E8A-4147-A177-3AD203B41FA5}">
                      <a16:colId xmlns:a16="http://schemas.microsoft.com/office/drawing/2014/main" val="1354970159"/>
                    </a:ext>
                  </a:extLst>
                </a:gridCol>
                <a:gridCol w="1315682">
                  <a:extLst>
                    <a:ext uri="{9D8B030D-6E8A-4147-A177-3AD203B41FA5}">
                      <a16:colId xmlns:a16="http://schemas.microsoft.com/office/drawing/2014/main" val="2235090893"/>
                    </a:ext>
                  </a:extLst>
                </a:gridCol>
              </a:tblGrid>
              <a:tr h="6993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(20, 7, True)</a:t>
                      </a: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  <a:r>
                        <a:rPr lang="de-DE" sz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.890</a:t>
                      </a: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-0.120</a:t>
                      </a: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004905"/>
                  </a:ext>
                </a:extLst>
              </a:tr>
            </a:tbl>
          </a:graphicData>
        </a:graphic>
      </p:graphicFrame>
      <p:sp>
        <p:nvSpPr>
          <p:cNvPr id="8" name="Textfeld 7">
            <a:extLst>
              <a:ext uri="{FF2B5EF4-FFF2-40B4-BE49-F238E27FC236}">
                <a16:creationId xmlns:a16="http://schemas.microsoft.com/office/drawing/2014/main" id="{AA6D5E7C-752C-4399-5FBD-E0862A7BD62C}"/>
              </a:ext>
            </a:extLst>
          </p:cNvPr>
          <p:cNvSpPr txBox="1"/>
          <p:nvPr/>
        </p:nvSpPr>
        <p:spPr>
          <a:xfrm>
            <a:off x="6230329" y="3529865"/>
            <a:ext cx="188169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7200" b="1" i="0" dirty="0">
                <a:solidFill>
                  <a:srgbClr val="14B8A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280</a:t>
            </a:r>
          </a:p>
          <a:p>
            <a:pPr>
              <a:buNone/>
            </a:pPr>
            <a:r>
              <a:rPr lang="de-DE" sz="1200" b="1" i="0" dirty="0">
                <a:solidFill>
                  <a:srgbClr val="14B8A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Beobachtete Zustände</a:t>
            </a:r>
          </a:p>
          <a:p>
            <a:pPr>
              <a:buNone/>
            </a:pPr>
            <a:br>
              <a:rPr lang="de-DE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de-DE" dirty="0">
              <a:solidFill>
                <a:srgbClr val="14B8A6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7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24" grpId="0" animBg="1"/>
      <p:bldP spid="25" grpId="0" animBg="1"/>
      <p:bldP spid="34" grpId="0" animBg="1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1935D-F9F4-2EC1-5156-5CDB4BB66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DDF42003-D170-66C4-A7B9-66BD52BAAEA2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D2C54733-D382-795E-72B6-68A77AB30C4B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B2BD198-0594-C961-AC1A-EE0250808D91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de-DE" sz="2600" b="1" dirty="0" err="1">
                <a:solidFill>
                  <a:srgbClr val="FFFFFF"/>
                </a:solidFill>
                <a:latin typeface="Cambria"/>
                <a:ea typeface="Cambria"/>
              </a:rPr>
              <a:t>Counting</a:t>
            </a:r>
            <a:r>
              <a:rPr lang="de-DE" sz="2600" b="1" dirty="0">
                <a:solidFill>
                  <a:srgbClr val="FFFFFF"/>
                </a:solidFill>
                <a:latin typeface="Cambria"/>
                <a:ea typeface="Cambria"/>
              </a:rPr>
              <a:t>: 113,760 Zustände</a:t>
            </a:r>
            <a:endParaRPr lang="en-US" sz="2600" dirty="0">
              <a:solidFill>
                <a:srgbClr val="FFFFFF"/>
              </a:solidFill>
              <a:latin typeface="Cambria"/>
              <a:ea typeface="Cambria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698BD4-3E52-C02C-D4A8-20FC7535A86A}"/>
              </a:ext>
            </a:extLst>
          </p:cNvPr>
          <p:cNvSpPr/>
          <p:nvPr/>
        </p:nvSpPr>
        <p:spPr>
          <a:xfrm>
            <a:off x="6367670" y="54864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1C87B5CB-FDE1-4D92-AEBF-0F36A1936069}" type="slidenum">
              <a:rPr lang="en-US" sz="900" b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15</a:t>
            </a:fld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D20DA8C1-685B-DA62-7131-EA2FDD233C3F}"/>
              </a:ext>
            </a:extLst>
          </p:cNvPr>
          <p:cNvSpPr/>
          <p:nvPr/>
        </p:nvSpPr>
        <p:spPr>
          <a:xfrm>
            <a:off x="3412435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BHH · Machine Learning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32961F75-5957-0003-A521-3BCE6D6C9315}"/>
              </a:ext>
            </a:extLst>
          </p:cNvPr>
          <p:cNvSpPr/>
          <p:nvPr/>
        </p:nvSpPr>
        <p:spPr>
          <a:xfrm>
            <a:off x="457200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Methodik</a:t>
            </a: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&amp; Technik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!!11">
                <a:extLst>
                  <a:ext uri="{FF2B5EF4-FFF2-40B4-BE49-F238E27FC236}">
                    <a16:creationId xmlns:a16="http://schemas.microsoft.com/office/drawing/2014/main" id="{4D197291-5ABE-1642-3DF3-769D84C4F77D}"/>
                  </a:ext>
                </a:extLst>
              </p:cNvPr>
              <p:cNvSpPr/>
              <p:nvPr/>
            </p:nvSpPr>
            <p:spPr>
              <a:xfrm>
                <a:off x="2430727" y="1167435"/>
                <a:ext cx="4282546" cy="691593"/>
              </a:xfrm>
              <a:prstGeom prst="roundRect">
                <a:avLst>
                  <a:gd name="adj" fmla="val 8750"/>
                </a:avLst>
              </a:prstGeom>
              <a:solidFill>
                <a:srgbClr val="1E293B"/>
              </a:solidFill>
              <a:ln w="12700">
                <a:solidFill>
                  <a:srgbClr val="10B981">
                    <a:alpha val="60000"/>
                  </a:srgbClr>
                </a:solidFill>
                <a:prstDash val="solid"/>
              </a:ln>
              <a:effectLst>
                <a:outerShdw blurRad="152400" dist="38100" dir="2700000" algn="bl" rotWithShape="0">
                  <a:srgbClr val="000000">
                    <a:alpha val="18000"/>
                  </a:srgbClr>
                </a:outerShdw>
              </a:effectLst>
            </p:spPr>
            <p:txBody>
              <a:bodyPr/>
              <a:lstStyle/>
              <a:p>
                <a:pPr algn="ctr"/>
                <a:r>
                  <a:rPr lang="en-US" b="1" dirty="0">
                    <a:solidFill>
                      <a:srgbClr val="14B8A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Mathematische Definition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sz="12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p>
                          <m:r>
                            <a:rPr lang="de-DE" sz="1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p>
                      </m:sSup>
                      <m:r>
                        <a:rPr lang="de-DE" sz="12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sz="1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de-DE" sz="1200" b="1">
                              <a:solidFill>
                                <a:schemeClr val="bg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m:t>Baseline</m:t>
                          </m:r>
                          <m:r>
                            <a:rPr lang="de-DE" sz="1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de-DE" sz="1200" b="1">
                              <a:solidFill>
                                <a:schemeClr val="bg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m:t>Running</m:t>
                          </m:r>
                          <m:r>
                            <m:rPr>
                              <m:nor/>
                            </m:rPr>
                            <a:rPr lang="de-DE" sz="1200" b="1">
                              <a:solidFill>
                                <a:schemeClr val="bg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de-DE" sz="1200" b="1">
                              <a:solidFill>
                                <a:schemeClr val="bg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m:t>Count</m:t>
                          </m:r>
                          <m:r>
                            <a:rPr lang="de-DE" sz="1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de-DE" sz="1200" b="1">
                              <a:solidFill>
                                <a:schemeClr val="bg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m:t>True</m:t>
                          </m:r>
                          <m:r>
                            <m:rPr>
                              <m:nor/>
                            </m:rPr>
                            <a:rPr lang="de-DE" sz="1200" b="1">
                              <a:solidFill>
                                <a:schemeClr val="bg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de-DE" sz="1200" b="1">
                              <a:solidFill>
                                <a:schemeClr val="bg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m:t>Count</m:t>
                          </m:r>
                          <m:r>
                            <a:rPr lang="de-DE" sz="1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de-DE" sz="1200" b="1">
                              <a:solidFill>
                                <a:schemeClr val="bg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m:t>Deck</m:t>
                          </m:r>
                          <m:r>
                            <m:rPr>
                              <m:nor/>
                            </m:rPr>
                            <a:rPr lang="de-DE" sz="1200" b="1">
                              <a:solidFill>
                                <a:schemeClr val="bg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de-DE" sz="1200" b="1">
                              <a:solidFill>
                                <a:schemeClr val="bg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m:t>Bucket</m:t>
                          </m:r>
                        </m:e>
                      </m:d>
                    </m:oMath>
                  </m:oMathPara>
                </a14:m>
                <a:endParaRPr lang="de-DE" sz="1200" b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:endParaRPr lang="de-DE" sz="1400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:endParaRPr lang="de-DE" sz="14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:endParaRPr lang="en-US" b="1" dirty="0">
                  <a:solidFill>
                    <a:srgbClr val="14B8A6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!!11">
                <a:extLst>
                  <a:ext uri="{FF2B5EF4-FFF2-40B4-BE49-F238E27FC236}">
                    <a16:creationId xmlns:a16="http://schemas.microsoft.com/office/drawing/2014/main" id="{4D197291-5ABE-1642-3DF3-769D84C4F7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0727" y="1167435"/>
                <a:ext cx="4282546" cy="691593"/>
              </a:xfrm>
              <a:prstGeom prst="roundRect">
                <a:avLst>
                  <a:gd name="adj" fmla="val 875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10B981">
                    <a:alpha val="60000"/>
                  </a:srgbClr>
                </a:solidFill>
                <a:prstDash val="solid"/>
              </a:ln>
              <a:effectLst>
                <a:outerShdw blurRad="152400" dist="38100" dir="2700000" algn="bl" rotWithShape="0">
                  <a:srgbClr val="000000">
                    <a:alpha val="18000"/>
                  </a:srgbClr>
                </a:outerShdw>
              </a:effectLst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!!11">
            <a:extLst>
              <a:ext uri="{FF2B5EF4-FFF2-40B4-BE49-F238E27FC236}">
                <a16:creationId xmlns:a16="http://schemas.microsoft.com/office/drawing/2014/main" id="{806715E4-58AD-5C05-DCAB-6F0E541B128C}"/>
              </a:ext>
            </a:extLst>
          </p:cNvPr>
          <p:cNvSpPr/>
          <p:nvPr/>
        </p:nvSpPr>
        <p:spPr>
          <a:xfrm>
            <a:off x="4643795" y="2025909"/>
            <a:ext cx="1365534" cy="477543"/>
          </a:xfrm>
          <a:prstGeom prst="roundRect">
            <a:avLst>
              <a:gd name="adj" fmla="val 8750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en-GB" sz="1100" b="1" dirty="0">
                <a:latin typeface="Cambria" panose="02040503050406030204" pitchFamily="18" charset="0"/>
                <a:ea typeface="Cambria" panose="02040503050406030204" pitchFamily="18" charset="0"/>
              </a:rPr>
              <a:t>Running Count: </a:t>
            </a:r>
          </a:p>
          <a:p>
            <a:pPr algn="ctr"/>
            <a:r>
              <a:rPr lang="en-GB" sz="1100" dirty="0">
                <a:latin typeface="Cambria" panose="02040503050406030204" pitchFamily="18" charset="0"/>
                <a:ea typeface="Cambria" panose="02040503050406030204" pitchFamily="18" charset="0"/>
              </a:rPr>
              <a:t>[-20 … 20]</a:t>
            </a:r>
            <a:endParaRPr lang="de-DE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!!11">
            <a:extLst>
              <a:ext uri="{FF2B5EF4-FFF2-40B4-BE49-F238E27FC236}">
                <a16:creationId xmlns:a16="http://schemas.microsoft.com/office/drawing/2014/main" id="{B31DB957-2698-DBC6-D4A2-E341679525B8}"/>
              </a:ext>
            </a:extLst>
          </p:cNvPr>
          <p:cNvSpPr/>
          <p:nvPr/>
        </p:nvSpPr>
        <p:spPr>
          <a:xfrm>
            <a:off x="6102300" y="2033274"/>
            <a:ext cx="1365535" cy="477543"/>
          </a:xfrm>
          <a:prstGeom prst="roundRect">
            <a:avLst>
              <a:gd name="adj" fmla="val 8750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en-GB" sz="1100" b="1" dirty="0">
                <a:latin typeface="Cambria" panose="02040503050406030204" pitchFamily="18" charset="0"/>
                <a:ea typeface="Cambria" panose="02040503050406030204" pitchFamily="18" charset="0"/>
              </a:rPr>
              <a:t>True Count:</a:t>
            </a:r>
          </a:p>
          <a:p>
            <a:pPr algn="ctr"/>
            <a:r>
              <a:rPr lang="en-GB" sz="1100" dirty="0">
                <a:latin typeface="Cambria" panose="02040503050406030204" pitchFamily="18" charset="0"/>
                <a:ea typeface="Cambria" panose="02040503050406030204" pitchFamily="18" charset="0"/>
              </a:rPr>
              <a:t>[-10 … 10]</a:t>
            </a:r>
            <a:endParaRPr lang="de-DE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!!11">
            <a:extLst>
              <a:ext uri="{FF2B5EF4-FFF2-40B4-BE49-F238E27FC236}">
                <a16:creationId xmlns:a16="http://schemas.microsoft.com/office/drawing/2014/main" id="{754D9BCC-A202-0F27-AA40-82976EA0366D}"/>
              </a:ext>
            </a:extLst>
          </p:cNvPr>
          <p:cNvSpPr/>
          <p:nvPr/>
        </p:nvSpPr>
        <p:spPr>
          <a:xfrm>
            <a:off x="7560806" y="2033274"/>
            <a:ext cx="1365535" cy="477543"/>
          </a:xfrm>
          <a:prstGeom prst="roundRect">
            <a:avLst>
              <a:gd name="adj" fmla="val 8750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en-GB" sz="1100" b="1" dirty="0">
                <a:latin typeface="Cambria" panose="02040503050406030204" pitchFamily="18" charset="0"/>
                <a:ea typeface="Cambria" panose="02040503050406030204" pitchFamily="18" charset="0"/>
              </a:rPr>
              <a:t>Deck Bucket:</a:t>
            </a:r>
          </a:p>
          <a:p>
            <a:pPr algn="ctr"/>
            <a:r>
              <a:rPr lang="en-GB" sz="1100" dirty="0">
                <a:latin typeface="Cambria" panose="02040503050406030204" pitchFamily="18" charset="0"/>
                <a:ea typeface="Cambria" panose="02040503050406030204" pitchFamily="18" charset="0"/>
              </a:rPr>
              <a:t>[0 … 6]</a:t>
            </a:r>
            <a:endParaRPr lang="de-DE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!!11">
            <a:extLst>
              <a:ext uri="{FF2B5EF4-FFF2-40B4-BE49-F238E27FC236}">
                <a16:creationId xmlns:a16="http://schemas.microsoft.com/office/drawing/2014/main" id="{F6D23734-7542-AA31-8B9C-55F7C46A4512}"/>
              </a:ext>
            </a:extLst>
          </p:cNvPr>
          <p:cNvSpPr/>
          <p:nvPr/>
        </p:nvSpPr>
        <p:spPr>
          <a:xfrm>
            <a:off x="229109" y="2033274"/>
            <a:ext cx="1365535" cy="477543"/>
          </a:xfrm>
          <a:prstGeom prst="roundRect">
            <a:avLst>
              <a:gd name="adj" fmla="val 8750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en-GB" sz="1100" b="1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Spielersumme</a:t>
            </a:r>
            <a:endParaRPr lang="de-DE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!!11">
            <a:extLst>
              <a:ext uri="{FF2B5EF4-FFF2-40B4-BE49-F238E27FC236}">
                <a16:creationId xmlns:a16="http://schemas.microsoft.com/office/drawing/2014/main" id="{2E57CAB4-0E27-994C-0C5B-742A34AF60CA}"/>
              </a:ext>
            </a:extLst>
          </p:cNvPr>
          <p:cNvSpPr/>
          <p:nvPr/>
        </p:nvSpPr>
        <p:spPr>
          <a:xfrm>
            <a:off x="1687615" y="2027552"/>
            <a:ext cx="1365535" cy="477543"/>
          </a:xfrm>
          <a:prstGeom prst="roundRect">
            <a:avLst>
              <a:gd name="adj" fmla="val 8750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de-DE" sz="11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Dealer-Aufdeckkarte</a:t>
            </a:r>
          </a:p>
        </p:txBody>
      </p:sp>
      <p:sp>
        <p:nvSpPr>
          <p:cNvPr id="18" name="!!11">
            <a:extLst>
              <a:ext uri="{FF2B5EF4-FFF2-40B4-BE49-F238E27FC236}">
                <a16:creationId xmlns:a16="http://schemas.microsoft.com/office/drawing/2014/main" id="{A2D2BF1C-B30D-2ACD-F166-435B2F864A70}"/>
              </a:ext>
            </a:extLst>
          </p:cNvPr>
          <p:cNvSpPr/>
          <p:nvPr/>
        </p:nvSpPr>
        <p:spPr>
          <a:xfrm>
            <a:off x="3134672" y="2025909"/>
            <a:ext cx="1365535" cy="477543"/>
          </a:xfrm>
          <a:prstGeom prst="roundRect">
            <a:avLst>
              <a:gd name="adj" fmla="val 8750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de-DE" sz="11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Nutzbares</a:t>
            </a:r>
            <a:r>
              <a:rPr lang="de-DE" sz="1100" b="1" dirty="0">
                <a:latin typeface="Cambria" panose="02040503050406030204" pitchFamily="18" charset="0"/>
                <a:ea typeface="Cambria" panose="02040503050406030204" pitchFamily="18" charset="0"/>
              </a:rPr>
              <a:t> Ass?</a:t>
            </a:r>
            <a:endParaRPr lang="de-DE" sz="1100" b="1" dirty="0">
              <a:solidFill>
                <a:srgbClr val="1E293B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!!4.3">
            <a:extLst>
              <a:ext uri="{FF2B5EF4-FFF2-40B4-BE49-F238E27FC236}">
                <a16:creationId xmlns:a16="http://schemas.microsoft.com/office/drawing/2014/main" id="{2E93D432-1160-B283-B055-4F2C5B9A063F}"/>
              </a:ext>
            </a:extLst>
          </p:cNvPr>
          <p:cNvSpPr/>
          <p:nvPr/>
        </p:nvSpPr>
        <p:spPr>
          <a:xfrm>
            <a:off x="5130966" y="2545466"/>
            <a:ext cx="391192" cy="336413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r>
              <a:rPr lang="en-GB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12</a:t>
            </a:r>
            <a:endParaRPr lang="en-GB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!!4.3">
            <a:extLst>
              <a:ext uri="{FF2B5EF4-FFF2-40B4-BE49-F238E27FC236}">
                <a16:creationId xmlns:a16="http://schemas.microsoft.com/office/drawing/2014/main" id="{83501F9A-24D0-AF91-B5ED-5C408099FA43}"/>
              </a:ext>
            </a:extLst>
          </p:cNvPr>
          <p:cNvSpPr/>
          <p:nvPr/>
        </p:nvSpPr>
        <p:spPr>
          <a:xfrm>
            <a:off x="6589471" y="2551645"/>
            <a:ext cx="391192" cy="336413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r>
              <a:rPr lang="en-GB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endParaRPr lang="en-GB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!!4.3">
            <a:extLst>
              <a:ext uri="{FF2B5EF4-FFF2-40B4-BE49-F238E27FC236}">
                <a16:creationId xmlns:a16="http://schemas.microsoft.com/office/drawing/2014/main" id="{FB96E13C-7EFC-3F67-A485-07A19B3D64BD}"/>
              </a:ext>
            </a:extLst>
          </p:cNvPr>
          <p:cNvSpPr/>
          <p:nvPr/>
        </p:nvSpPr>
        <p:spPr>
          <a:xfrm>
            <a:off x="8073549" y="2555754"/>
            <a:ext cx="391192" cy="336413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r>
              <a:rPr lang="en-GB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endParaRPr lang="en-GB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!!4.3">
            <a:extLst>
              <a:ext uri="{FF2B5EF4-FFF2-40B4-BE49-F238E27FC236}">
                <a16:creationId xmlns:a16="http://schemas.microsoft.com/office/drawing/2014/main" id="{8EC1D48E-6BB4-E6B5-3C7B-5C3A48F0BB95}"/>
              </a:ext>
            </a:extLst>
          </p:cNvPr>
          <p:cNvSpPr/>
          <p:nvPr/>
        </p:nvSpPr>
        <p:spPr>
          <a:xfrm>
            <a:off x="718558" y="2563972"/>
            <a:ext cx="391192" cy="336413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r>
              <a:rPr lang="en-GB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20</a:t>
            </a:r>
            <a:endParaRPr lang="en-GB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!!4.3">
            <a:extLst>
              <a:ext uri="{FF2B5EF4-FFF2-40B4-BE49-F238E27FC236}">
                <a16:creationId xmlns:a16="http://schemas.microsoft.com/office/drawing/2014/main" id="{6269C196-00B0-D0A4-C678-FFF61F9E65F8}"/>
              </a:ext>
            </a:extLst>
          </p:cNvPr>
          <p:cNvSpPr/>
          <p:nvPr/>
        </p:nvSpPr>
        <p:spPr>
          <a:xfrm>
            <a:off x="2259497" y="2565986"/>
            <a:ext cx="391192" cy="336413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r>
              <a:rPr lang="en-GB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7</a:t>
            </a:r>
            <a:endParaRPr lang="en-GB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!!4.3">
            <a:extLst>
              <a:ext uri="{FF2B5EF4-FFF2-40B4-BE49-F238E27FC236}">
                <a16:creationId xmlns:a16="http://schemas.microsoft.com/office/drawing/2014/main" id="{E6CBC79F-072A-44A8-7B57-407646EBED4D}"/>
              </a:ext>
            </a:extLst>
          </p:cNvPr>
          <p:cNvSpPr/>
          <p:nvPr/>
        </p:nvSpPr>
        <p:spPr>
          <a:xfrm>
            <a:off x="3621417" y="2565986"/>
            <a:ext cx="391192" cy="336413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r>
              <a:rPr lang="en-GB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Ja</a:t>
            </a:r>
            <a:endParaRPr lang="en-GB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!!11">
            <a:extLst>
              <a:ext uri="{FF2B5EF4-FFF2-40B4-BE49-F238E27FC236}">
                <a16:creationId xmlns:a16="http://schemas.microsoft.com/office/drawing/2014/main" id="{6069B98D-EEBF-C0D5-2AF7-BF00F7825DB6}"/>
              </a:ext>
            </a:extLst>
          </p:cNvPr>
          <p:cNvSpPr/>
          <p:nvPr/>
        </p:nvSpPr>
        <p:spPr>
          <a:xfrm>
            <a:off x="3738427" y="3433318"/>
            <a:ext cx="1667145" cy="437335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r>
              <a:rPr lang="en-US" b="1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State Encoder</a:t>
            </a:r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F8126A99-F06A-54E4-9977-FFA0246C16BC}"/>
              </a:ext>
            </a:extLst>
          </p:cNvPr>
          <p:cNvCxnSpPr>
            <a:cxnSpLocks/>
            <a:stCxn id="22" idx="2"/>
            <a:endCxn id="25" idx="0"/>
          </p:cNvCxnSpPr>
          <p:nvPr/>
        </p:nvCxnSpPr>
        <p:spPr>
          <a:xfrm>
            <a:off x="914154" y="2900385"/>
            <a:ext cx="3657846" cy="532933"/>
          </a:xfrm>
          <a:prstGeom prst="straightConnector1">
            <a:avLst/>
          </a:prstGeom>
          <a:ln w="19050"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ED94C4DF-5CCB-A947-E849-06F6B5FC0772}"/>
              </a:ext>
            </a:extLst>
          </p:cNvPr>
          <p:cNvCxnSpPr>
            <a:cxnSpLocks/>
            <a:stCxn id="23" idx="2"/>
            <a:endCxn id="25" idx="0"/>
          </p:cNvCxnSpPr>
          <p:nvPr/>
        </p:nvCxnSpPr>
        <p:spPr>
          <a:xfrm>
            <a:off x="2455093" y="2902399"/>
            <a:ext cx="2116907" cy="530919"/>
          </a:xfrm>
          <a:prstGeom prst="straightConnector1">
            <a:avLst/>
          </a:prstGeom>
          <a:ln w="19050"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FE55ABB8-5306-6EF9-5639-ACA5880B3A96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3817013" y="2902399"/>
            <a:ext cx="754987" cy="530919"/>
          </a:xfrm>
          <a:prstGeom prst="straightConnector1">
            <a:avLst/>
          </a:prstGeom>
          <a:ln w="19050"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20B91B9A-DE64-F88E-3C52-247662D8042F}"/>
              </a:ext>
            </a:extLst>
          </p:cNvPr>
          <p:cNvCxnSpPr>
            <a:cxnSpLocks/>
            <a:stCxn id="19" idx="2"/>
            <a:endCxn id="25" idx="0"/>
          </p:cNvCxnSpPr>
          <p:nvPr/>
        </p:nvCxnSpPr>
        <p:spPr>
          <a:xfrm flipH="1">
            <a:off x="4572000" y="2881879"/>
            <a:ext cx="754562" cy="551439"/>
          </a:xfrm>
          <a:prstGeom prst="straightConnector1">
            <a:avLst/>
          </a:prstGeom>
          <a:ln w="19050"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5E22C9DF-7324-40CC-60E8-006595592FD2}"/>
              </a:ext>
            </a:extLst>
          </p:cNvPr>
          <p:cNvCxnSpPr>
            <a:cxnSpLocks/>
            <a:stCxn id="20" idx="2"/>
            <a:endCxn id="25" idx="0"/>
          </p:cNvCxnSpPr>
          <p:nvPr/>
        </p:nvCxnSpPr>
        <p:spPr>
          <a:xfrm flipH="1">
            <a:off x="4572000" y="2888058"/>
            <a:ext cx="2213067" cy="545260"/>
          </a:xfrm>
          <a:prstGeom prst="straightConnector1">
            <a:avLst/>
          </a:prstGeom>
          <a:ln w="19050"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BA01A9C0-F11A-0373-5AB0-BA05E2FE6154}"/>
              </a:ext>
            </a:extLst>
          </p:cNvPr>
          <p:cNvCxnSpPr>
            <a:cxnSpLocks/>
            <a:stCxn id="21" idx="2"/>
            <a:endCxn id="25" idx="0"/>
          </p:cNvCxnSpPr>
          <p:nvPr/>
        </p:nvCxnSpPr>
        <p:spPr>
          <a:xfrm flipH="1">
            <a:off x="4572000" y="2892167"/>
            <a:ext cx="3697145" cy="541151"/>
          </a:xfrm>
          <a:prstGeom prst="straightConnector1">
            <a:avLst/>
          </a:prstGeom>
          <a:ln w="19050"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!!11">
            <a:extLst>
              <a:ext uri="{FF2B5EF4-FFF2-40B4-BE49-F238E27FC236}">
                <a16:creationId xmlns:a16="http://schemas.microsoft.com/office/drawing/2014/main" id="{781A67BC-074E-6F7B-8A7A-FCB6FA5A3DB7}"/>
              </a:ext>
            </a:extLst>
          </p:cNvPr>
          <p:cNvSpPr/>
          <p:nvPr/>
        </p:nvSpPr>
        <p:spPr>
          <a:xfrm>
            <a:off x="3438762" y="4280693"/>
            <a:ext cx="2266477" cy="437335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(20, 7, True, 12, 3, 2)</a:t>
            </a:r>
          </a:p>
        </p:txBody>
      </p: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ADB6E167-1990-BDE0-C8A9-BA42AA67E62F}"/>
              </a:ext>
            </a:extLst>
          </p:cNvPr>
          <p:cNvCxnSpPr>
            <a:cxnSpLocks/>
            <a:endCxn id="44" idx="0"/>
          </p:cNvCxnSpPr>
          <p:nvPr/>
        </p:nvCxnSpPr>
        <p:spPr>
          <a:xfrm>
            <a:off x="4566113" y="3870653"/>
            <a:ext cx="5888" cy="410040"/>
          </a:xfrm>
          <a:prstGeom prst="straightConnector1">
            <a:avLst/>
          </a:prstGeom>
          <a:ln w="38100"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7" name="Tabelle 46">
            <a:extLst>
              <a:ext uri="{FF2B5EF4-FFF2-40B4-BE49-F238E27FC236}">
                <a16:creationId xmlns:a16="http://schemas.microsoft.com/office/drawing/2014/main" id="{497EF9F4-18FC-6EE2-F7C1-B281662B5E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070246"/>
              </p:ext>
            </p:extLst>
          </p:nvPr>
        </p:nvGraphicFramePr>
        <p:xfrm>
          <a:off x="364689" y="6038922"/>
          <a:ext cx="4572000" cy="499110"/>
        </p:xfrm>
        <a:graphic>
          <a:graphicData uri="http://schemas.openxmlformats.org/drawingml/2006/table">
            <a:tbl>
              <a:tblPr/>
              <a:tblGrid>
                <a:gridCol w="1781611">
                  <a:extLst>
                    <a:ext uri="{9D8B030D-6E8A-4147-A177-3AD203B41FA5}">
                      <a16:colId xmlns:a16="http://schemas.microsoft.com/office/drawing/2014/main" val="2272829790"/>
                    </a:ext>
                  </a:extLst>
                </a:gridCol>
                <a:gridCol w="1266389">
                  <a:extLst>
                    <a:ext uri="{9D8B030D-6E8A-4147-A177-3AD203B41FA5}">
                      <a16:colId xmlns:a16="http://schemas.microsoft.com/office/drawing/2014/main" val="336064467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39605961"/>
                    </a:ext>
                  </a:extLst>
                </a:gridCol>
              </a:tblGrid>
              <a:tr h="4694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400" b="1" dirty="0">
                          <a:solidFill>
                            <a:srgbClr val="14B8A6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Zustand (s)</a:t>
                      </a: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400" b="1" dirty="0">
                          <a:solidFill>
                            <a:srgbClr val="14B8A6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Q(Stand)</a:t>
                      </a: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400" b="1" dirty="0">
                          <a:solidFill>
                            <a:srgbClr val="14B8A6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Q(Hit)</a:t>
                      </a: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965866"/>
                  </a:ext>
                </a:extLst>
              </a:tr>
            </a:tbl>
          </a:graphicData>
        </a:graphic>
      </p:graphicFrame>
      <p:graphicFrame>
        <p:nvGraphicFramePr>
          <p:cNvPr id="48" name="Tabelle 47">
            <a:extLst>
              <a:ext uri="{FF2B5EF4-FFF2-40B4-BE49-F238E27FC236}">
                <a16:creationId xmlns:a16="http://schemas.microsoft.com/office/drawing/2014/main" id="{FB6C0770-5D52-9C6F-B0CB-0C40C433F9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773511"/>
              </p:ext>
            </p:extLst>
          </p:nvPr>
        </p:nvGraphicFramePr>
        <p:xfrm>
          <a:off x="364689" y="6532418"/>
          <a:ext cx="4572000" cy="699318"/>
        </p:xfrm>
        <a:graphic>
          <a:graphicData uri="http://schemas.openxmlformats.org/drawingml/2006/table">
            <a:tbl>
              <a:tblPr/>
              <a:tblGrid>
                <a:gridCol w="1807011">
                  <a:extLst>
                    <a:ext uri="{9D8B030D-6E8A-4147-A177-3AD203B41FA5}">
                      <a16:colId xmlns:a16="http://schemas.microsoft.com/office/drawing/2014/main" val="793405982"/>
                    </a:ext>
                  </a:extLst>
                </a:gridCol>
                <a:gridCol w="1240989">
                  <a:extLst>
                    <a:ext uri="{9D8B030D-6E8A-4147-A177-3AD203B41FA5}">
                      <a16:colId xmlns:a16="http://schemas.microsoft.com/office/drawing/2014/main" val="135497015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235090893"/>
                    </a:ext>
                  </a:extLst>
                </a:gridCol>
              </a:tblGrid>
              <a:tr h="6993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kern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(16, 10, </a:t>
                      </a:r>
                      <a:r>
                        <a:rPr lang="de-DE" sz="1200" kern="1200" dirty="0" err="1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False</a:t>
                      </a:r>
                      <a:r>
                        <a:rPr lang="de-DE" sz="1200" kern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 -5, -1, 4)</a:t>
                      </a: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-0.350</a:t>
                      </a: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0,085</a:t>
                      </a: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004905"/>
                  </a:ext>
                </a:extLst>
              </a:tr>
            </a:tbl>
          </a:graphicData>
        </a:graphic>
      </p:graphicFrame>
      <p:sp>
        <p:nvSpPr>
          <p:cNvPr id="49" name="Text 16">
            <a:extLst>
              <a:ext uri="{FF2B5EF4-FFF2-40B4-BE49-F238E27FC236}">
                <a16:creationId xmlns:a16="http://schemas.microsoft.com/office/drawing/2014/main" id="{78AA4B05-55C8-13DB-122F-0C8BF89A62C1}"/>
              </a:ext>
            </a:extLst>
          </p:cNvPr>
          <p:cNvSpPr>
            <a:spLocks noGrp="1"/>
          </p:cNvSpPr>
          <p:nvPr/>
        </p:nvSpPr>
        <p:spPr>
          <a:xfrm>
            <a:off x="364689" y="5680111"/>
            <a:ext cx="45720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en-GB" sz="14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Q- Table</a:t>
            </a:r>
            <a:endParaRPr sz="1400" b="1" dirty="0">
              <a:solidFill>
                <a:srgbClr val="1E293B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915937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2" grpId="0" animBg="1"/>
      <p:bldP spid="19" grpId="0" animBg="1"/>
      <p:bldP spid="20" grpId="0" animBg="1"/>
      <p:bldP spid="21" grpId="0" animBg="1"/>
      <p:bldP spid="25" grpId="0" animBg="1"/>
      <p:bldP spid="4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AF3DA-24F5-0D62-845F-EA1484535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3C46FAEE-0418-B09B-ABE4-0A2E0205EB0E}"/>
              </a:ext>
            </a:extLst>
          </p:cNvPr>
          <p:cNvSpPr/>
          <p:nvPr/>
        </p:nvSpPr>
        <p:spPr>
          <a:xfrm>
            <a:off x="0" y="-332740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E2E8C87F-B455-4B79-60AF-EB7396CC61C3}"/>
              </a:ext>
            </a:extLst>
          </p:cNvPr>
          <p:cNvSpPr/>
          <p:nvPr/>
        </p:nvSpPr>
        <p:spPr>
          <a:xfrm>
            <a:off x="0" y="-332740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9EA3AFC-ECB1-AC70-57B7-0525F2F7A62F}"/>
              </a:ext>
            </a:extLst>
          </p:cNvPr>
          <p:cNvSpPr/>
          <p:nvPr/>
        </p:nvSpPr>
        <p:spPr>
          <a:xfrm>
            <a:off x="457200" y="-3053080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de-DE" sz="2600" b="1" dirty="0" err="1">
                <a:solidFill>
                  <a:srgbClr val="FFFFFF"/>
                </a:solidFill>
                <a:latin typeface="Cambria"/>
                <a:ea typeface="Cambria"/>
              </a:rPr>
              <a:t>Counting</a:t>
            </a:r>
            <a:r>
              <a:rPr lang="de-DE" sz="2600" b="1" dirty="0">
                <a:solidFill>
                  <a:srgbClr val="FFFFFF"/>
                </a:solidFill>
                <a:latin typeface="Cambria"/>
                <a:ea typeface="Cambria"/>
              </a:rPr>
              <a:t>: 113,760 Zustände</a:t>
            </a:r>
            <a:endParaRPr lang="en-US" sz="2600" dirty="0">
              <a:solidFill>
                <a:srgbClr val="FFFFFF"/>
              </a:solidFill>
              <a:latin typeface="Cambria"/>
              <a:ea typeface="Cambria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ABA07E66-B331-245D-41E2-733BEDB13B62}"/>
              </a:ext>
            </a:extLst>
          </p:cNvPr>
          <p:cNvSpPr/>
          <p:nvPr/>
        </p:nvSpPr>
        <p:spPr>
          <a:xfrm>
            <a:off x="6367670" y="-3272536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1C87B5CB-FDE1-4D92-AEBF-0F36A1936069}" type="slidenum">
              <a:rPr lang="en-US" sz="900" b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16</a:t>
            </a:fld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03077DF5-7E59-B74B-0F8A-C211FB0DBDD2}"/>
              </a:ext>
            </a:extLst>
          </p:cNvPr>
          <p:cNvSpPr/>
          <p:nvPr/>
        </p:nvSpPr>
        <p:spPr>
          <a:xfrm>
            <a:off x="3412435" y="-326644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BHH · Machine Learning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F7558883-E56F-F0F8-B54A-4FCFCBB4D9FB}"/>
              </a:ext>
            </a:extLst>
          </p:cNvPr>
          <p:cNvSpPr/>
          <p:nvPr/>
        </p:nvSpPr>
        <p:spPr>
          <a:xfrm>
            <a:off x="457200" y="-326644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Methodik</a:t>
            </a: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&amp; Technik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!!11">
                <a:extLst>
                  <a:ext uri="{FF2B5EF4-FFF2-40B4-BE49-F238E27FC236}">
                    <a16:creationId xmlns:a16="http://schemas.microsoft.com/office/drawing/2014/main" id="{113826A7-2380-F6F3-6EF7-8E0D13864971}"/>
                  </a:ext>
                </a:extLst>
              </p:cNvPr>
              <p:cNvSpPr/>
              <p:nvPr/>
            </p:nvSpPr>
            <p:spPr>
              <a:xfrm>
                <a:off x="2430727" y="-2159965"/>
                <a:ext cx="4282546" cy="691593"/>
              </a:xfrm>
              <a:prstGeom prst="roundRect">
                <a:avLst>
                  <a:gd name="adj" fmla="val 8750"/>
                </a:avLst>
              </a:prstGeom>
              <a:solidFill>
                <a:srgbClr val="1E293B"/>
              </a:solidFill>
              <a:ln w="12700">
                <a:solidFill>
                  <a:srgbClr val="10B981">
                    <a:alpha val="60000"/>
                  </a:srgbClr>
                </a:solidFill>
                <a:prstDash val="solid"/>
              </a:ln>
              <a:effectLst>
                <a:outerShdw blurRad="152400" dist="38100" dir="2700000" algn="bl" rotWithShape="0">
                  <a:srgbClr val="000000">
                    <a:alpha val="18000"/>
                  </a:srgbClr>
                </a:outerShdw>
              </a:effectLst>
            </p:spPr>
            <p:txBody>
              <a:bodyPr/>
              <a:lstStyle/>
              <a:p>
                <a:pPr algn="ctr"/>
                <a:r>
                  <a:rPr lang="en-US" b="1" dirty="0">
                    <a:solidFill>
                      <a:srgbClr val="14B8A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Mathematische Definition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sz="12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p>
                          <m:r>
                            <a:rPr lang="de-DE" sz="1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p>
                      </m:sSup>
                      <m:r>
                        <a:rPr lang="de-DE" sz="12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sz="1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de-DE" sz="1200" b="1">
                              <a:solidFill>
                                <a:schemeClr val="bg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m:t>Baseline</m:t>
                          </m:r>
                          <m:r>
                            <a:rPr lang="de-DE" sz="1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de-DE" sz="1200" b="1">
                              <a:solidFill>
                                <a:schemeClr val="bg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m:t>Running</m:t>
                          </m:r>
                          <m:r>
                            <m:rPr>
                              <m:nor/>
                            </m:rPr>
                            <a:rPr lang="de-DE" sz="1200" b="1">
                              <a:solidFill>
                                <a:schemeClr val="bg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de-DE" sz="1200" b="1">
                              <a:solidFill>
                                <a:schemeClr val="bg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m:t>Count</m:t>
                          </m:r>
                          <m:r>
                            <a:rPr lang="de-DE" sz="1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de-DE" sz="1200" b="1">
                              <a:solidFill>
                                <a:schemeClr val="bg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m:t>True</m:t>
                          </m:r>
                          <m:r>
                            <m:rPr>
                              <m:nor/>
                            </m:rPr>
                            <a:rPr lang="de-DE" sz="1200" b="1">
                              <a:solidFill>
                                <a:schemeClr val="bg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de-DE" sz="1200" b="1">
                              <a:solidFill>
                                <a:schemeClr val="bg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m:t>Count</m:t>
                          </m:r>
                          <m:r>
                            <a:rPr lang="de-DE" sz="1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de-DE" sz="1200" b="1">
                              <a:solidFill>
                                <a:schemeClr val="bg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m:t>Deck</m:t>
                          </m:r>
                          <m:r>
                            <m:rPr>
                              <m:nor/>
                            </m:rPr>
                            <a:rPr lang="de-DE" sz="1200" b="1">
                              <a:solidFill>
                                <a:schemeClr val="bg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de-DE" sz="1200" b="1">
                              <a:solidFill>
                                <a:schemeClr val="bg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m:t>Bucket</m:t>
                          </m:r>
                        </m:e>
                      </m:d>
                    </m:oMath>
                  </m:oMathPara>
                </a14:m>
                <a:endParaRPr lang="de-DE" sz="1200" b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:endParaRPr lang="de-DE" sz="1400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:endParaRPr lang="de-DE" sz="14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:endParaRPr lang="en-US" b="1" dirty="0">
                  <a:solidFill>
                    <a:srgbClr val="14B8A6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!!11">
                <a:extLst>
                  <a:ext uri="{FF2B5EF4-FFF2-40B4-BE49-F238E27FC236}">
                    <a16:creationId xmlns:a16="http://schemas.microsoft.com/office/drawing/2014/main" id="{113826A7-2380-F6F3-6EF7-8E0D138649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0727" y="-2159965"/>
                <a:ext cx="4282546" cy="691593"/>
              </a:xfrm>
              <a:prstGeom prst="roundRect">
                <a:avLst>
                  <a:gd name="adj" fmla="val 875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10B981">
                    <a:alpha val="60000"/>
                  </a:srgbClr>
                </a:solidFill>
                <a:prstDash val="solid"/>
              </a:ln>
              <a:effectLst>
                <a:outerShdw blurRad="152400" dist="38100" dir="2700000" algn="bl" rotWithShape="0">
                  <a:srgbClr val="000000">
                    <a:alpha val="18000"/>
                  </a:srgbClr>
                </a:outerShdw>
              </a:effectLst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!!11">
            <a:extLst>
              <a:ext uri="{FF2B5EF4-FFF2-40B4-BE49-F238E27FC236}">
                <a16:creationId xmlns:a16="http://schemas.microsoft.com/office/drawing/2014/main" id="{3109D946-10BA-7DBC-5505-986238CC30BB}"/>
              </a:ext>
            </a:extLst>
          </p:cNvPr>
          <p:cNvSpPr/>
          <p:nvPr/>
        </p:nvSpPr>
        <p:spPr>
          <a:xfrm>
            <a:off x="4643795" y="-1301491"/>
            <a:ext cx="1365534" cy="477543"/>
          </a:xfrm>
          <a:prstGeom prst="roundRect">
            <a:avLst>
              <a:gd name="adj" fmla="val 8750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en-GB" sz="1100" b="1" dirty="0">
                <a:latin typeface="Cambria" panose="02040503050406030204" pitchFamily="18" charset="0"/>
                <a:ea typeface="Cambria" panose="02040503050406030204" pitchFamily="18" charset="0"/>
              </a:rPr>
              <a:t>Running Count: </a:t>
            </a:r>
          </a:p>
          <a:p>
            <a:pPr algn="ctr"/>
            <a:r>
              <a:rPr lang="en-GB" sz="1100" dirty="0">
                <a:latin typeface="Cambria" panose="02040503050406030204" pitchFamily="18" charset="0"/>
                <a:ea typeface="Cambria" panose="02040503050406030204" pitchFamily="18" charset="0"/>
              </a:rPr>
              <a:t>[-20 … 20]</a:t>
            </a:r>
            <a:endParaRPr lang="de-DE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!!11">
            <a:extLst>
              <a:ext uri="{FF2B5EF4-FFF2-40B4-BE49-F238E27FC236}">
                <a16:creationId xmlns:a16="http://schemas.microsoft.com/office/drawing/2014/main" id="{898BE1E3-6716-F55C-F35B-94D2C7C75E9B}"/>
              </a:ext>
            </a:extLst>
          </p:cNvPr>
          <p:cNvSpPr/>
          <p:nvPr/>
        </p:nvSpPr>
        <p:spPr>
          <a:xfrm>
            <a:off x="6102300" y="-1294126"/>
            <a:ext cx="1365535" cy="477543"/>
          </a:xfrm>
          <a:prstGeom prst="roundRect">
            <a:avLst>
              <a:gd name="adj" fmla="val 8750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en-GB" sz="1100" b="1" dirty="0">
                <a:latin typeface="Cambria" panose="02040503050406030204" pitchFamily="18" charset="0"/>
                <a:ea typeface="Cambria" panose="02040503050406030204" pitchFamily="18" charset="0"/>
              </a:rPr>
              <a:t>True Count:</a:t>
            </a:r>
          </a:p>
          <a:p>
            <a:pPr algn="ctr"/>
            <a:r>
              <a:rPr lang="en-GB" sz="1100" dirty="0">
                <a:latin typeface="Cambria" panose="02040503050406030204" pitchFamily="18" charset="0"/>
                <a:ea typeface="Cambria" panose="02040503050406030204" pitchFamily="18" charset="0"/>
              </a:rPr>
              <a:t>[-10 … 10]</a:t>
            </a:r>
            <a:endParaRPr lang="de-DE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!!11">
            <a:extLst>
              <a:ext uri="{FF2B5EF4-FFF2-40B4-BE49-F238E27FC236}">
                <a16:creationId xmlns:a16="http://schemas.microsoft.com/office/drawing/2014/main" id="{4F0F5FB4-690A-E163-3E0B-F1A0875F2AC9}"/>
              </a:ext>
            </a:extLst>
          </p:cNvPr>
          <p:cNvSpPr/>
          <p:nvPr/>
        </p:nvSpPr>
        <p:spPr>
          <a:xfrm>
            <a:off x="7560806" y="-1294126"/>
            <a:ext cx="1365535" cy="477543"/>
          </a:xfrm>
          <a:prstGeom prst="roundRect">
            <a:avLst>
              <a:gd name="adj" fmla="val 8750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en-GB" sz="1100" b="1" dirty="0">
                <a:latin typeface="Cambria" panose="02040503050406030204" pitchFamily="18" charset="0"/>
                <a:ea typeface="Cambria" panose="02040503050406030204" pitchFamily="18" charset="0"/>
              </a:rPr>
              <a:t>Deck Bucket:</a:t>
            </a:r>
          </a:p>
          <a:p>
            <a:pPr algn="ctr"/>
            <a:r>
              <a:rPr lang="en-GB" sz="1100" dirty="0">
                <a:latin typeface="Cambria" panose="02040503050406030204" pitchFamily="18" charset="0"/>
                <a:ea typeface="Cambria" panose="02040503050406030204" pitchFamily="18" charset="0"/>
              </a:rPr>
              <a:t>[0 … 6]</a:t>
            </a:r>
            <a:endParaRPr lang="de-DE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!!11">
            <a:extLst>
              <a:ext uri="{FF2B5EF4-FFF2-40B4-BE49-F238E27FC236}">
                <a16:creationId xmlns:a16="http://schemas.microsoft.com/office/drawing/2014/main" id="{8A76FD13-735F-788E-2FF0-0894AD9E8F1A}"/>
              </a:ext>
            </a:extLst>
          </p:cNvPr>
          <p:cNvSpPr/>
          <p:nvPr/>
        </p:nvSpPr>
        <p:spPr>
          <a:xfrm>
            <a:off x="229109" y="-1294126"/>
            <a:ext cx="1365535" cy="477543"/>
          </a:xfrm>
          <a:prstGeom prst="roundRect">
            <a:avLst>
              <a:gd name="adj" fmla="val 8750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en-GB" sz="1100" b="1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Spielersumme</a:t>
            </a:r>
            <a:endParaRPr lang="de-DE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!!11">
            <a:extLst>
              <a:ext uri="{FF2B5EF4-FFF2-40B4-BE49-F238E27FC236}">
                <a16:creationId xmlns:a16="http://schemas.microsoft.com/office/drawing/2014/main" id="{4E7B3A08-02F3-4D96-D47D-9310D29D7D35}"/>
              </a:ext>
            </a:extLst>
          </p:cNvPr>
          <p:cNvSpPr/>
          <p:nvPr/>
        </p:nvSpPr>
        <p:spPr>
          <a:xfrm>
            <a:off x="1687615" y="-1299848"/>
            <a:ext cx="1365535" cy="477543"/>
          </a:xfrm>
          <a:prstGeom prst="roundRect">
            <a:avLst>
              <a:gd name="adj" fmla="val 8750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de-DE" sz="11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Dealer-Aufdeckkarte</a:t>
            </a:r>
          </a:p>
        </p:txBody>
      </p:sp>
      <p:sp>
        <p:nvSpPr>
          <p:cNvPr id="18" name="!!11">
            <a:extLst>
              <a:ext uri="{FF2B5EF4-FFF2-40B4-BE49-F238E27FC236}">
                <a16:creationId xmlns:a16="http://schemas.microsoft.com/office/drawing/2014/main" id="{099B6C5A-6AF2-4E34-63D8-26600566AD64}"/>
              </a:ext>
            </a:extLst>
          </p:cNvPr>
          <p:cNvSpPr/>
          <p:nvPr/>
        </p:nvSpPr>
        <p:spPr>
          <a:xfrm>
            <a:off x="3134672" y="-1301491"/>
            <a:ext cx="1365535" cy="477543"/>
          </a:xfrm>
          <a:prstGeom prst="roundRect">
            <a:avLst>
              <a:gd name="adj" fmla="val 8750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de-DE" sz="11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Nutzbares</a:t>
            </a:r>
            <a:r>
              <a:rPr lang="de-DE" sz="1100" b="1" dirty="0">
                <a:latin typeface="Cambria" panose="02040503050406030204" pitchFamily="18" charset="0"/>
                <a:ea typeface="Cambria" panose="02040503050406030204" pitchFamily="18" charset="0"/>
              </a:rPr>
              <a:t> Ass?</a:t>
            </a:r>
            <a:endParaRPr lang="de-DE" sz="1100" b="1" dirty="0">
              <a:solidFill>
                <a:srgbClr val="1E293B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!!4.3">
            <a:extLst>
              <a:ext uri="{FF2B5EF4-FFF2-40B4-BE49-F238E27FC236}">
                <a16:creationId xmlns:a16="http://schemas.microsoft.com/office/drawing/2014/main" id="{5837A810-BE91-E2A2-EBC2-660E10443DBC}"/>
              </a:ext>
            </a:extLst>
          </p:cNvPr>
          <p:cNvSpPr/>
          <p:nvPr/>
        </p:nvSpPr>
        <p:spPr>
          <a:xfrm>
            <a:off x="5130966" y="-781934"/>
            <a:ext cx="391192" cy="336413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r>
              <a:rPr lang="en-GB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12</a:t>
            </a:r>
            <a:endParaRPr lang="en-GB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!!4.3">
            <a:extLst>
              <a:ext uri="{FF2B5EF4-FFF2-40B4-BE49-F238E27FC236}">
                <a16:creationId xmlns:a16="http://schemas.microsoft.com/office/drawing/2014/main" id="{20CD5563-10EF-85CC-143C-DA6F899872A5}"/>
              </a:ext>
            </a:extLst>
          </p:cNvPr>
          <p:cNvSpPr/>
          <p:nvPr/>
        </p:nvSpPr>
        <p:spPr>
          <a:xfrm>
            <a:off x="6589471" y="-775755"/>
            <a:ext cx="391192" cy="336413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r>
              <a:rPr lang="en-GB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endParaRPr lang="en-GB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!!4.3">
            <a:extLst>
              <a:ext uri="{FF2B5EF4-FFF2-40B4-BE49-F238E27FC236}">
                <a16:creationId xmlns:a16="http://schemas.microsoft.com/office/drawing/2014/main" id="{3138FB15-79F4-6465-290E-0213046FF1E1}"/>
              </a:ext>
            </a:extLst>
          </p:cNvPr>
          <p:cNvSpPr/>
          <p:nvPr/>
        </p:nvSpPr>
        <p:spPr>
          <a:xfrm>
            <a:off x="8073549" y="-771646"/>
            <a:ext cx="391192" cy="336413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r>
              <a:rPr lang="en-GB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endParaRPr lang="en-GB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!!4.3">
            <a:extLst>
              <a:ext uri="{FF2B5EF4-FFF2-40B4-BE49-F238E27FC236}">
                <a16:creationId xmlns:a16="http://schemas.microsoft.com/office/drawing/2014/main" id="{BE85EC6F-7547-7284-C8EC-E57A24E9C897}"/>
              </a:ext>
            </a:extLst>
          </p:cNvPr>
          <p:cNvSpPr/>
          <p:nvPr/>
        </p:nvSpPr>
        <p:spPr>
          <a:xfrm>
            <a:off x="718558" y="-763428"/>
            <a:ext cx="391192" cy="336413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r>
              <a:rPr lang="en-GB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20</a:t>
            </a:r>
            <a:endParaRPr lang="en-GB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!!4.3">
            <a:extLst>
              <a:ext uri="{FF2B5EF4-FFF2-40B4-BE49-F238E27FC236}">
                <a16:creationId xmlns:a16="http://schemas.microsoft.com/office/drawing/2014/main" id="{4BA6FFC2-F193-E1D3-D9B3-E3E41BFA15D1}"/>
              </a:ext>
            </a:extLst>
          </p:cNvPr>
          <p:cNvSpPr/>
          <p:nvPr/>
        </p:nvSpPr>
        <p:spPr>
          <a:xfrm>
            <a:off x="2259497" y="-761414"/>
            <a:ext cx="391192" cy="336413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r>
              <a:rPr lang="en-GB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7</a:t>
            </a:r>
            <a:endParaRPr lang="en-GB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!!4.3">
            <a:extLst>
              <a:ext uri="{FF2B5EF4-FFF2-40B4-BE49-F238E27FC236}">
                <a16:creationId xmlns:a16="http://schemas.microsoft.com/office/drawing/2014/main" id="{AD1DE867-B89F-8A8C-BD04-67B37FF6D53C}"/>
              </a:ext>
            </a:extLst>
          </p:cNvPr>
          <p:cNvSpPr/>
          <p:nvPr/>
        </p:nvSpPr>
        <p:spPr>
          <a:xfrm>
            <a:off x="3621417" y="-761414"/>
            <a:ext cx="391192" cy="336413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r>
              <a:rPr lang="en-GB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Ja</a:t>
            </a:r>
            <a:endParaRPr lang="en-GB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!!11">
            <a:extLst>
              <a:ext uri="{FF2B5EF4-FFF2-40B4-BE49-F238E27FC236}">
                <a16:creationId xmlns:a16="http://schemas.microsoft.com/office/drawing/2014/main" id="{4833D91F-7157-FFE0-5D39-A3080619E576}"/>
              </a:ext>
            </a:extLst>
          </p:cNvPr>
          <p:cNvSpPr/>
          <p:nvPr/>
        </p:nvSpPr>
        <p:spPr>
          <a:xfrm>
            <a:off x="3738427" y="105918"/>
            <a:ext cx="1667145" cy="437335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r>
              <a:rPr lang="en-US" b="1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State Encoder</a:t>
            </a:r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4C915ED5-AEA8-EA04-27F4-B8A2850DBC1F}"/>
              </a:ext>
            </a:extLst>
          </p:cNvPr>
          <p:cNvCxnSpPr>
            <a:cxnSpLocks/>
            <a:stCxn id="22" idx="2"/>
            <a:endCxn id="25" idx="0"/>
          </p:cNvCxnSpPr>
          <p:nvPr/>
        </p:nvCxnSpPr>
        <p:spPr>
          <a:xfrm>
            <a:off x="914154" y="-427015"/>
            <a:ext cx="3657846" cy="532933"/>
          </a:xfrm>
          <a:prstGeom prst="straightConnector1">
            <a:avLst/>
          </a:prstGeom>
          <a:ln w="19050"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354B15A7-4548-3C33-2380-BEA829563959}"/>
              </a:ext>
            </a:extLst>
          </p:cNvPr>
          <p:cNvCxnSpPr>
            <a:cxnSpLocks/>
            <a:stCxn id="23" idx="2"/>
            <a:endCxn id="25" idx="0"/>
          </p:cNvCxnSpPr>
          <p:nvPr/>
        </p:nvCxnSpPr>
        <p:spPr>
          <a:xfrm>
            <a:off x="2455093" y="-425001"/>
            <a:ext cx="2116907" cy="530919"/>
          </a:xfrm>
          <a:prstGeom prst="straightConnector1">
            <a:avLst/>
          </a:prstGeom>
          <a:ln w="19050"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108A7702-C0F7-8A3D-2317-A6121F36A8A1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3817013" y="-425001"/>
            <a:ext cx="754987" cy="530919"/>
          </a:xfrm>
          <a:prstGeom prst="straightConnector1">
            <a:avLst/>
          </a:prstGeom>
          <a:ln w="19050"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1C86C249-863E-0828-0A70-BD73F6D4DEB9}"/>
              </a:ext>
            </a:extLst>
          </p:cNvPr>
          <p:cNvCxnSpPr>
            <a:cxnSpLocks/>
            <a:stCxn id="19" idx="2"/>
            <a:endCxn id="25" idx="0"/>
          </p:cNvCxnSpPr>
          <p:nvPr/>
        </p:nvCxnSpPr>
        <p:spPr>
          <a:xfrm flipH="1">
            <a:off x="4572000" y="-445521"/>
            <a:ext cx="754562" cy="551439"/>
          </a:xfrm>
          <a:prstGeom prst="straightConnector1">
            <a:avLst/>
          </a:prstGeom>
          <a:ln w="19050"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80C7EDE9-83C1-A3B1-FCE7-5DFB6350830B}"/>
              </a:ext>
            </a:extLst>
          </p:cNvPr>
          <p:cNvCxnSpPr>
            <a:cxnSpLocks/>
            <a:stCxn id="20" idx="2"/>
            <a:endCxn id="25" idx="0"/>
          </p:cNvCxnSpPr>
          <p:nvPr/>
        </p:nvCxnSpPr>
        <p:spPr>
          <a:xfrm flipH="1">
            <a:off x="4572000" y="-439342"/>
            <a:ext cx="2213067" cy="545260"/>
          </a:xfrm>
          <a:prstGeom prst="straightConnector1">
            <a:avLst/>
          </a:prstGeom>
          <a:ln w="19050"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AD121A4C-64EA-CBFF-CF3B-9DDE15BBA37B}"/>
              </a:ext>
            </a:extLst>
          </p:cNvPr>
          <p:cNvCxnSpPr>
            <a:cxnSpLocks/>
            <a:stCxn id="21" idx="2"/>
            <a:endCxn id="25" idx="0"/>
          </p:cNvCxnSpPr>
          <p:nvPr/>
        </p:nvCxnSpPr>
        <p:spPr>
          <a:xfrm flipH="1">
            <a:off x="4572000" y="-435233"/>
            <a:ext cx="3697145" cy="541151"/>
          </a:xfrm>
          <a:prstGeom prst="straightConnector1">
            <a:avLst/>
          </a:prstGeom>
          <a:ln w="19050"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!!11">
            <a:extLst>
              <a:ext uri="{FF2B5EF4-FFF2-40B4-BE49-F238E27FC236}">
                <a16:creationId xmlns:a16="http://schemas.microsoft.com/office/drawing/2014/main" id="{BBC306FF-2A0D-B1F2-DAA8-202BC2CC1314}"/>
              </a:ext>
            </a:extLst>
          </p:cNvPr>
          <p:cNvSpPr/>
          <p:nvPr/>
        </p:nvSpPr>
        <p:spPr>
          <a:xfrm>
            <a:off x="3438762" y="953293"/>
            <a:ext cx="2266477" cy="437335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(20, 7, True, 12, 3, 2)</a:t>
            </a:r>
          </a:p>
        </p:txBody>
      </p: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72EC4F06-25DB-9356-5A9D-863AB0EB54B7}"/>
              </a:ext>
            </a:extLst>
          </p:cNvPr>
          <p:cNvCxnSpPr>
            <a:cxnSpLocks/>
            <a:endCxn id="44" idx="0"/>
          </p:cNvCxnSpPr>
          <p:nvPr/>
        </p:nvCxnSpPr>
        <p:spPr>
          <a:xfrm>
            <a:off x="4566113" y="543253"/>
            <a:ext cx="5888" cy="410040"/>
          </a:xfrm>
          <a:prstGeom prst="straightConnector1">
            <a:avLst/>
          </a:prstGeom>
          <a:ln w="38100"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C34BEFBC-E441-0943-B3B7-4332D0B0B6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100799"/>
              </p:ext>
            </p:extLst>
          </p:nvPr>
        </p:nvGraphicFramePr>
        <p:xfrm>
          <a:off x="364689" y="1835222"/>
          <a:ext cx="4572000" cy="499110"/>
        </p:xfrm>
        <a:graphic>
          <a:graphicData uri="http://schemas.openxmlformats.org/drawingml/2006/table">
            <a:tbl>
              <a:tblPr/>
              <a:tblGrid>
                <a:gridCol w="1781611">
                  <a:extLst>
                    <a:ext uri="{9D8B030D-6E8A-4147-A177-3AD203B41FA5}">
                      <a16:colId xmlns:a16="http://schemas.microsoft.com/office/drawing/2014/main" val="2272829790"/>
                    </a:ext>
                  </a:extLst>
                </a:gridCol>
                <a:gridCol w="1266389">
                  <a:extLst>
                    <a:ext uri="{9D8B030D-6E8A-4147-A177-3AD203B41FA5}">
                      <a16:colId xmlns:a16="http://schemas.microsoft.com/office/drawing/2014/main" val="336064467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39605961"/>
                    </a:ext>
                  </a:extLst>
                </a:gridCol>
              </a:tblGrid>
              <a:tr h="4694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400" b="1" dirty="0">
                          <a:solidFill>
                            <a:srgbClr val="14B8A6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Zustand (s)</a:t>
                      </a: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400" b="1" dirty="0">
                          <a:solidFill>
                            <a:srgbClr val="14B8A6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Q(Stand)</a:t>
                      </a: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400" b="1" dirty="0">
                          <a:solidFill>
                            <a:srgbClr val="14B8A6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Q(Hit)</a:t>
                      </a: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965866"/>
                  </a:ext>
                </a:extLst>
              </a:tr>
            </a:tbl>
          </a:graphicData>
        </a:graphic>
      </p:graphicFrame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D1BB8014-274F-F9AE-9F5C-3C5EF8A970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208245"/>
              </p:ext>
            </p:extLst>
          </p:nvPr>
        </p:nvGraphicFramePr>
        <p:xfrm>
          <a:off x="364689" y="2328718"/>
          <a:ext cx="4572000" cy="699318"/>
        </p:xfrm>
        <a:graphic>
          <a:graphicData uri="http://schemas.openxmlformats.org/drawingml/2006/table">
            <a:tbl>
              <a:tblPr/>
              <a:tblGrid>
                <a:gridCol w="1807011">
                  <a:extLst>
                    <a:ext uri="{9D8B030D-6E8A-4147-A177-3AD203B41FA5}">
                      <a16:colId xmlns:a16="http://schemas.microsoft.com/office/drawing/2014/main" val="793405982"/>
                    </a:ext>
                  </a:extLst>
                </a:gridCol>
                <a:gridCol w="1240989">
                  <a:extLst>
                    <a:ext uri="{9D8B030D-6E8A-4147-A177-3AD203B41FA5}">
                      <a16:colId xmlns:a16="http://schemas.microsoft.com/office/drawing/2014/main" val="135497015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235090893"/>
                    </a:ext>
                  </a:extLst>
                </a:gridCol>
              </a:tblGrid>
              <a:tr h="6993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kern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(16, 10, </a:t>
                      </a:r>
                      <a:r>
                        <a:rPr lang="de-DE" sz="1200" kern="1200" dirty="0" err="1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False</a:t>
                      </a:r>
                      <a:r>
                        <a:rPr lang="de-DE" sz="1200" kern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 -5, -1, 4)</a:t>
                      </a: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-0.350</a:t>
                      </a: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0,085</a:t>
                      </a: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004905"/>
                  </a:ext>
                </a:extLst>
              </a:tr>
            </a:tbl>
          </a:graphicData>
        </a:graphic>
      </p:graphicFrame>
      <p:sp>
        <p:nvSpPr>
          <p:cNvPr id="14" name="Text 16">
            <a:extLst>
              <a:ext uri="{FF2B5EF4-FFF2-40B4-BE49-F238E27FC236}">
                <a16:creationId xmlns:a16="http://schemas.microsoft.com/office/drawing/2014/main" id="{92614194-5381-4892-05CA-174947D93E2A}"/>
              </a:ext>
            </a:extLst>
          </p:cNvPr>
          <p:cNvSpPr>
            <a:spLocks noGrp="1"/>
          </p:cNvSpPr>
          <p:nvPr/>
        </p:nvSpPr>
        <p:spPr>
          <a:xfrm>
            <a:off x="364689" y="1476411"/>
            <a:ext cx="45720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en-GB" sz="14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Q- Table</a:t>
            </a:r>
            <a:endParaRPr sz="1400" b="1" dirty="0">
              <a:solidFill>
                <a:srgbClr val="1E293B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  <p:graphicFrame>
        <p:nvGraphicFramePr>
          <p:cNvPr id="15" name="Tabelle 14">
            <a:extLst>
              <a:ext uri="{FF2B5EF4-FFF2-40B4-BE49-F238E27FC236}">
                <a16:creationId xmlns:a16="http://schemas.microsoft.com/office/drawing/2014/main" id="{A7A416BD-3E13-D5A3-B2E3-682B30252D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107624"/>
              </p:ext>
            </p:extLst>
          </p:nvPr>
        </p:nvGraphicFramePr>
        <p:xfrm>
          <a:off x="365127" y="3028036"/>
          <a:ext cx="4571562" cy="699318"/>
        </p:xfrm>
        <a:graphic>
          <a:graphicData uri="http://schemas.openxmlformats.org/drawingml/2006/table">
            <a:tbl>
              <a:tblPr/>
              <a:tblGrid>
                <a:gridCol w="1793873">
                  <a:extLst>
                    <a:ext uri="{9D8B030D-6E8A-4147-A177-3AD203B41FA5}">
                      <a16:colId xmlns:a16="http://schemas.microsoft.com/office/drawing/2014/main" val="793405982"/>
                    </a:ext>
                  </a:extLst>
                </a:gridCol>
                <a:gridCol w="1253835">
                  <a:extLst>
                    <a:ext uri="{9D8B030D-6E8A-4147-A177-3AD203B41FA5}">
                      <a16:colId xmlns:a16="http://schemas.microsoft.com/office/drawing/2014/main" val="1354970159"/>
                    </a:ext>
                  </a:extLst>
                </a:gridCol>
                <a:gridCol w="1523854">
                  <a:extLst>
                    <a:ext uri="{9D8B030D-6E8A-4147-A177-3AD203B41FA5}">
                      <a16:colId xmlns:a16="http://schemas.microsoft.com/office/drawing/2014/main" val="2235090893"/>
                    </a:ext>
                  </a:extLst>
                </a:gridCol>
              </a:tblGrid>
              <a:tr h="6993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(20, 7, True, 12, 3, 2)</a:t>
                      </a:r>
                      <a:endParaRPr lang="de-DE" sz="12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0.845</a:t>
                      </a:r>
                      <a:endParaRPr lang="de-DE" sz="12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-0.612</a:t>
                      </a:r>
                      <a:endParaRPr lang="de-DE" sz="12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004905"/>
                  </a:ext>
                </a:extLst>
              </a:tr>
            </a:tbl>
          </a:graphicData>
        </a:graphic>
      </p:graphicFrame>
      <p:sp>
        <p:nvSpPr>
          <p:cNvPr id="27" name="Textfeld 26">
            <a:extLst>
              <a:ext uri="{FF2B5EF4-FFF2-40B4-BE49-F238E27FC236}">
                <a16:creationId xmlns:a16="http://schemas.microsoft.com/office/drawing/2014/main" id="{F747AB64-38C7-7379-831C-EF67E9BDF063}"/>
              </a:ext>
            </a:extLst>
          </p:cNvPr>
          <p:cNvSpPr txBox="1"/>
          <p:nvPr/>
        </p:nvSpPr>
        <p:spPr>
          <a:xfrm>
            <a:off x="5130966" y="1800668"/>
            <a:ext cx="340138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7200" b="1" i="0" dirty="0">
                <a:solidFill>
                  <a:srgbClr val="14B8A6"/>
                </a:solidFill>
                <a:effectLst/>
                <a:latin typeface="Inter"/>
              </a:rPr>
              <a:t>113.760</a:t>
            </a:r>
          </a:p>
          <a:p>
            <a:pPr algn="ctr">
              <a:buNone/>
            </a:pPr>
            <a:r>
              <a:rPr lang="de-DE" sz="1200" b="1" i="0" dirty="0">
                <a:solidFill>
                  <a:srgbClr val="14B8A6"/>
                </a:solidFill>
                <a:effectLst/>
                <a:latin typeface="Inter"/>
              </a:rPr>
              <a:t>Beobachtete Zustände</a:t>
            </a:r>
          </a:p>
          <a:p>
            <a:pPr>
              <a:buNone/>
            </a:pPr>
            <a:br>
              <a:rPr lang="de-DE" dirty="0">
                <a:solidFill>
                  <a:srgbClr val="14B8A6"/>
                </a:solidFill>
              </a:rPr>
            </a:br>
            <a:endParaRPr lang="de-DE" dirty="0">
              <a:solidFill>
                <a:srgbClr val="14B8A6"/>
              </a:solidFill>
            </a:endParaRPr>
          </a:p>
        </p:txBody>
      </p:sp>
      <p:graphicFrame>
        <p:nvGraphicFramePr>
          <p:cNvPr id="30" name="Tabelle 29">
            <a:extLst>
              <a:ext uri="{FF2B5EF4-FFF2-40B4-BE49-F238E27FC236}">
                <a16:creationId xmlns:a16="http://schemas.microsoft.com/office/drawing/2014/main" id="{A81EC016-E035-5C91-1017-B375F32D65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622986"/>
              </p:ext>
            </p:extLst>
          </p:nvPr>
        </p:nvGraphicFramePr>
        <p:xfrm>
          <a:off x="365127" y="3727354"/>
          <a:ext cx="4571562" cy="699318"/>
        </p:xfrm>
        <a:graphic>
          <a:graphicData uri="http://schemas.openxmlformats.org/drawingml/2006/table">
            <a:tbl>
              <a:tblPr/>
              <a:tblGrid>
                <a:gridCol w="1793873">
                  <a:extLst>
                    <a:ext uri="{9D8B030D-6E8A-4147-A177-3AD203B41FA5}">
                      <a16:colId xmlns:a16="http://schemas.microsoft.com/office/drawing/2014/main" val="793405982"/>
                    </a:ext>
                  </a:extLst>
                </a:gridCol>
                <a:gridCol w="1253835">
                  <a:extLst>
                    <a:ext uri="{9D8B030D-6E8A-4147-A177-3AD203B41FA5}">
                      <a16:colId xmlns:a16="http://schemas.microsoft.com/office/drawing/2014/main" val="1354970159"/>
                    </a:ext>
                  </a:extLst>
                </a:gridCol>
                <a:gridCol w="1523854">
                  <a:extLst>
                    <a:ext uri="{9D8B030D-6E8A-4147-A177-3AD203B41FA5}">
                      <a16:colId xmlns:a16="http://schemas.microsoft.com/office/drawing/2014/main" val="2235090893"/>
                    </a:ext>
                  </a:extLst>
                </a:gridCol>
              </a:tblGrid>
              <a:tr h="6993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...</a:t>
                      </a:r>
                      <a:endParaRPr lang="de-DE" sz="12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…</a:t>
                      </a:r>
                      <a:endParaRPr lang="de-DE" sz="12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…</a:t>
                      </a:r>
                      <a:endParaRPr lang="de-DE" sz="12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004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27290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D88474AB-A382-B699-0587-E85827C37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FFFB25D9-2DF6-9DA0-0965-EB5356663EE8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CC968AB8-8890-09F3-99E4-C02F17FD46AF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2F7BEB4-24DB-4375-B8C2-AC50778D5C0A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Das Q-Learning-Update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766250B-3BE7-F78A-81B2-05BAA8126DA8}"/>
              </a:ext>
            </a:extLst>
          </p:cNvPr>
          <p:cNvSpPr/>
          <p:nvPr/>
        </p:nvSpPr>
        <p:spPr>
          <a:xfrm>
            <a:off x="6367670" y="54864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1C87B5CB-FDE1-4D92-AEBF-0F36A1936069}" type="slidenum">
              <a:rPr lang="en-US" sz="900" b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17</a:t>
            </a:fld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0B36837B-17CF-974D-060E-8A07F5B07023}"/>
              </a:ext>
            </a:extLst>
          </p:cNvPr>
          <p:cNvSpPr/>
          <p:nvPr/>
        </p:nvSpPr>
        <p:spPr>
          <a:xfrm>
            <a:off x="3412435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BHH · Machine Learning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E84CF0F9-29A7-8E79-82F8-F3C6A863A34B}"/>
              </a:ext>
            </a:extLst>
          </p:cNvPr>
          <p:cNvSpPr/>
          <p:nvPr/>
        </p:nvSpPr>
        <p:spPr>
          <a:xfrm>
            <a:off x="457200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Methodik</a:t>
            </a: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&amp; Technik</a:t>
            </a:r>
          </a:p>
        </p:txBody>
      </p:sp>
      <p:sp>
        <p:nvSpPr>
          <p:cNvPr id="2" name="!!11">
            <a:extLst>
              <a:ext uri="{FF2B5EF4-FFF2-40B4-BE49-F238E27FC236}">
                <a16:creationId xmlns:a16="http://schemas.microsoft.com/office/drawing/2014/main" id="{C9672C62-6316-9771-F1D8-F54A20BB2587}"/>
              </a:ext>
            </a:extLst>
          </p:cNvPr>
          <p:cNvSpPr/>
          <p:nvPr/>
        </p:nvSpPr>
        <p:spPr>
          <a:xfrm>
            <a:off x="380139" y="2328543"/>
            <a:ext cx="8383724" cy="1088951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B021D101-425F-90D8-52EC-03049EEB7A4E}"/>
              </a:ext>
            </a:extLst>
          </p:cNvPr>
          <p:cNvSpPr/>
          <p:nvPr/>
        </p:nvSpPr>
        <p:spPr>
          <a:xfrm>
            <a:off x="380139" y="2444615"/>
            <a:ext cx="8383724" cy="386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Bellman Update-</a:t>
            </a:r>
            <a:r>
              <a:rPr lang="en-US" sz="2000" b="1" dirty="0" err="1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Gleichung</a:t>
            </a:r>
            <a:endParaRPr lang="en-US" sz="2000" b="1" dirty="0">
              <a:solidFill>
                <a:srgbClr val="14B8A6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9DBD9949-C6D0-ECD6-AE10-C7EF96539D04}"/>
              </a:ext>
            </a:extLst>
          </p:cNvPr>
          <p:cNvSpPr/>
          <p:nvPr/>
        </p:nvSpPr>
        <p:spPr>
          <a:xfrm>
            <a:off x="380139" y="2801894"/>
            <a:ext cx="8383724" cy="61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spc="2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 pitchFamily="34" charset="-120"/>
              </a:rPr>
              <a:t>Q(</a:t>
            </a:r>
            <a:r>
              <a:rPr lang="en-US" sz="1400" b="1" spc="20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 pitchFamily="34" charset="-120"/>
              </a:rPr>
              <a:t>s,a</a:t>
            </a:r>
            <a:r>
              <a:rPr lang="en-US" sz="1400" b="1" spc="2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 pitchFamily="34" charset="-120"/>
              </a:rPr>
              <a:t>) ← Q(</a:t>
            </a:r>
            <a:r>
              <a:rPr lang="en-US" sz="1400" b="1" spc="20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 pitchFamily="34" charset="-120"/>
              </a:rPr>
              <a:t>s,a</a:t>
            </a:r>
            <a:r>
              <a:rPr lang="en-US" sz="1400" b="1" spc="2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 pitchFamily="34" charset="-120"/>
              </a:rPr>
              <a:t>) + α · [ r + γ · max Q(</a:t>
            </a:r>
            <a:r>
              <a:rPr lang="en-US" sz="1400" b="1" spc="20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 pitchFamily="34" charset="-120"/>
              </a:rPr>
              <a:t>s',a</a:t>
            </a:r>
            <a:r>
              <a:rPr lang="en-US" sz="1400" b="1" spc="2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 pitchFamily="34" charset="-120"/>
              </a:rPr>
              <a:t>') − Q(</a:t>
            </a:r>
            <a:r>
              <a:rPr lang="en-US" sz="1400" b="1" spc="20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 pitchFamily="34" charset="-120"/>
              </a:rPr>
              <a:t>s,a</a:t>
            </a:r>
            <a:r>
              <a:rPr lang="en-US" sz="1400" b="1" spc="2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 pitchFamily="34" charset="-120"/>
              </a:rPr>
              <a:t>) ]</a:t>
            </a:r>
            <a:endParaRPr lang="en-US" sz="1400" spc="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!!11">
            <a:extLst>
              <a:ext uri="{FF2B5EF4-FFF2-40B4-BE49-F238E27FC236}">
                <a16:creationId xmlns:a16="http://schemas.microsoft.com/office/drawing/2014/main" id="{76C1680F-89A5-C71F-FFA4-EEA1548D80EA}"/>
              </a:ext>
            </a:extLst>
          </p:cNvPr>
          <p:cNvSpPr/>
          <p:nvPr/>
        </p:nvSpPr>
        <p:spPr>
          <a:xfrm>
            <a:off x="380138" y="3652432"/>
            <a:ext cx="1735979" cy="1216748"/>
          </a:xfrm>
          <a:prstGeom prst="roundRect">
            <a:avLst>
              <a:gd name="adj" fmla="val 8750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5F80E762-E91E-94E4-0650-D2E26A49C89B}"/>
              </a:ext>
            </a:extLst>
          </p:cNvPr>
          <p:cNvSpPr/>
          <p:nvPr/>
        </p:nvSpPr>
        <p:spPr>
          <a:xfrm>
            <a:off x="380138" y="3722719"/>
            <a:ext cx="1735979" cy="342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α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B05AF582-F406-C2FA-04AA-ADA3410564B3}"/>
              </a:ext>
            </a:extLst>
          </p:cNvPr>
          <p:cNvSpPr/>
          <p:nvPr/>
        </p:nvSpPr>
        <p:spPr>
          <a:xfrm>
            <a:off x="380138" y="4177786"/>
            <a:ext cx="1735979" cy="1673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1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Learning Rate</a:t>
            </a: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8FA16E2E-5CDB-04EE-9482-6803F9287DEC}"/>
              </a:ext>
            </a:extLst>
          </p:cNvPr>
          <p:cNvSpPr/>
          <p:nvPr/>
        </p:nvSpPr>
        <p:spPr>
          <a:xfrm>
            <a:off x="380138" y="4443165"/>
            <a:ext cx="1735979" cy="19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Schrittweite</a:t>
            </a:r>
            <a:r>
              <a:rPr lang="en-US" sz="85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der Updates</a:t>
            </a:r>
            <a:endParaRPr lang="en-US" sz="8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!!11">
            <a:extLst>
              <a:ext uri="{FF2B5EF4-FFF2-40B4-BE49-F238E27FC236}">
                <a16:creationId xmlns:a16="http://schemas.microsoft.com/office/drawing/2014/main" id="{F1803012-E686-F49B-E45F-856B7EEE151B}"/>
              </a:ext>
            </a:extLst>
          </p:cNvPr>
          <p:cNvSpPr/>
          <p:nvPr/>
        </p:nvSpPr>
        <p:spPr>
          <a:xfrm>
            <a:off x="4217389" y="3652432"/>
            <a:ext cx="4542838" cy="1216748"/>
          </a:xfrm>
          <a:prstGeom prst="roundRect">
            <a:avLst>
              <a:gd name="adj" fmla="val 8750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489C219A-95C9-CE10-66A5-A0099FC5B31C}"/>
              </a:ext>
            </a:extLst>
          </p:cNvPr>
          <p:cNvSpPr/>
          <p:nvPr/>
        </p:nvSpPr>
        <p:spPr>
          <a:xfrm>
            <a:off x="4217390" y="3717092"/>
            <a:ext cx="4603344" cy="342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l-GR" sz="2400" b="1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ε</a:t>
            </a:r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7F588953-04E4-30AA-7CFC-DA26AEA2F7ED}"/>
              </a:ext>
            </a:extLst>
          </p:cNvPr>
          <p:cNvSpPr/>
          <p:nvPr/>
        </p:nvSpPr>
        <p:spPr>
          <a:xfrm>
            <a:off x="5749378" y="4177786"/>
            <a:ext cx="1539367" cy="1673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1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Decay</a:t>
            </a:r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8854A8C1-7E4E-59CB-E51D-F7FD449B9D3A}"/>
              </a:ext>
            </a:extLst>
          </p:cNvPr>
          <p:cNvSpPr/>
          <p:nvPr/>
        </p:nvSpPr>
        <p:spPr>
          <a:xfrm>
            <a:off x="5749378" y="4443165"/>
            <a:ext cx="1539367" cy="19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Langsame</a:t>
            </a:r>
            <a:r>
              <a:rPr lang="en-US" sz="85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85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schrittweise</a:t>
            </a:r>
            <a:r>
              <a:rPr lang="en-US" sz="85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85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Reduktion</a:t>
            </a:r>
            <a:endParaRPr lang="en-US" sz="850" dirty="0">
              <a:solidFill>
                <a:srgbClr val="94A3B8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!!11">
            <a:extLst>
              <a:ext uri="{FF2B5EF4-FFF2-40B4-BE49-F238E27FC236}">
                <a16:creationId xmlns:a16="http://schemas.microsoft.com/office/drawing/2014/main" id="{C9BFDF2B-F0B1-37DD-8D06-801B3112C732}"/>
              </a:ext>
            </a:extLst>
          </p:cNvPr>
          <p:cNvSpPr/>
          <p:nvPr/>
        </p:nvSpPr>
        <p:spPr>
          <a:xfrm>
            <a:off x="380138" y="1112834"/>
            <a:ext cx="8383724" cy="974425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31E1A0A1-B087-5D45-B453-6950FFE956C3}"/>
              </a:ext>
            </a:extLst>
          </p:cNvPr>
          <p:cNvSpPr/>
          <p:nvPr/>
        </p:nvSpPr>
        <p:spPr>
          <a:xfrm>
            <a:off x="380138" y="1225439"/>
            <a:ext cx="8383723" cy="36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GB" sz="2000" b="1" dirty="0" err="1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Algorithmus</a:t>
            </a:r>
            <a:r>
              <a:rPr lang="en-GB" sz="2000" b="1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Q-Learning (Off-Policy TD Learning)</a:t>
            </a:r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B702398D-09FA-991C-766C-B81608669720}"/>
              </a:ext>
            </a:extLst>
          </p:cNvPr>
          <p:cNvSpPr/>
          <p:nvPr/>
        </p:nvSpPr>
        <p:spPr>
          <a:xfrm>
            <a:off x="380139" y="1590685"/>
            <a:ext cx="83837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 pitchFamily="34" charset="-120"/>
              </a:rPr>
              <a:t>Bewährt für diskrete Action Spaces · Interpretierbar · Kein </a:t>
            </a:r>
            <a:r>
              <a:rPr lang="de-DE" sz="14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 pitchFamily="34" charset="-120"/>
              </a:rPr>
              <a:t>Neural</a:t>
            </a:r>
            <a:r>
              <a:rPr lang="de-DE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 pitchFamily="34" charset="-120"/>
              </a:rPr>
              <a:t> Network erforderlich</a:t>
            </a:r>
          </a:p>
        </p:txBody>
      </p:sp>
      <p:sp>
        <p:nvSpPr>
          <p:cNvPr id="44" name="!!11">
            <a:extLst>
              <a:ext uri="{FF2B5EF4-FFF2-40B4-BE49-F238E27FC236}">
                <a16:creationId xmlns:a16="http://schemas.microsoft.com/office/drawing/2014/main" id="{ED5BFF46-C423-7850-A649-C3C16EE46426}"/>
              </a:ext>
            </a:extLst>
          </p:cNvPr>
          <p:cNvSpPr/>
          <p:nvPr/>
        </p:nvSpPr>
        <p:spPr>
          <a:xfrm>
            <a:off x="2319826" y="3652432"/>
            <a:ext cx="1735979" cy="1216748"/>
          </a:xfrm>
          <a:prstGeom prst="roundRect">
            <a:avLst>
              <a:gd name="adj" fmla="val 8750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Text 10">
            <a:extLst>
              <a:ext uri="{FF2B5EF4-FFF2-40B4-BE49-F238E27FC236}">
                <a16:creationId xmlns:a16="http://schemas.microsoft.com/office/drawing/2014/main" id="{72C6A2B9-0343-66AF-4E24-7BA9B8CB346F}"/>
              </a:ext>
            </a:extLst>
          </p:cNvPr>
          <p:cNvSpPr/>
          <p:nvPr/>
        </p:nvSpPr>
        <p:spPr>
          <a:xfrm>
            <a:off x="2319826" y="3722719"/>
            <a:ext cx="1735979" cy="342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l-GR" sz="2400" b="1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γ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7" name="Text 12">
            <a:extLst>
              <a:ext uri="{FF2B5EF4-FFF2-40B4-BE49-F238E27FC236}">
                <a16:creationId xmlns:a16="http://schemas.microsoft.com/office/drawing/2014/main" id="{EA609EA1-BB05-07FD-53C7-883F03BB4757}"/>
              </a:ext>
            </a:extLst>
          </p:cNvPr>
          <p:cNvSpPr/>
          <p:nvPr/>
        </p:nvSpPr>
        <p:spPr>
          <a:xfrm>
            <a:off x="2319826" y="4177786"/>
            <a:ext cx="1735979" cy="1673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1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Discount Factor</a:t>
            </a:r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E705EB27-B13C-E57B-4CA2-23B3B039BEE6}"/>
              </a:ext>
            </a:extLst>
          </p:cNvPr>
          <p:cNvSpPr/>
          <p:nvPr/>
        </p:nvSpPr>
        <p:spPr>
          <a:xfrm>
            <a:off x="2319826" y="4443165"/>
            <a:ext cx="1735979" cy="19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Gewichtung</a:t>
            </a:r>
            <a:r>
              <a:rPr lang="en-US" sz="85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85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zukünftiger</a:t>
            </a:r>
            <a:r>
              <a:rPr lang="en-US" sz="85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Rewards</a:t>
            </a:r>
          </a:p>
        </p:txBody>
      </p:sp>
      <p:sp>
        <p:nvSpPr>
          <p:cNvPr id="58" name="Text 17">
            <a:extLst>
              <a:ext uri="{FF2B5EF4-FFF2-40B4-BE49-F238E27FC236}">
                <a16:creationId xmlns:a16="http://schemas.microsoft.com/office/drawing/2014/main" id="{851CC3BD-78CA-4C3A-6B19-CEFE034D15A4}"/>
              </a:ext>
            </a:extLst>
          </p:cNvPr>
          <p:cNvSpPr/>
          <p:nvPr/>
        </p:nvSpPr>
        <p:spPr>
          <a:xfrm>
            <a:off x="4217389" y="4177786"/>
            <a:ext cx="1539367" cy="1673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1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Initial</a:t>
            </a:r>
          </a:p>
        </p:txBody>
      </p:sp>
      <p:sp>
        <p:nvSpPr>
          <p:cNvPr id="59" name="Text 18">
            <a:extLst>
              <a:ext uri="{FF2B5EF4-FFF2-40B4-BE49-F238E27FC236}">
                <a16:creationId xmlns:a16="http://schemas.microsoft.com/office/drawing/2014/main" id="{A51134CE-4C7A-27DC-8259-D74EBDAD306D}"/>
              </a:ext>
            </a:extLst>
          </p:cNvPr>
          <p:cNvSpPr/>
          <p:nvPr/>
        </p:nvSpPr>
        <p:spPr>
          <a:xfrm>
            <a:off x="4217389" y="4443165"/>
            <a:ext cx="1539367" cy="19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Vollständige</a:t>
            </a:r>
            <a:r>
              <a:rPr lang="en-US" sz="85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Exploration </a:t>
            </a:r>
            <a:r>
              <a:rPr lang="en-US" sz="85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zu</a:t>
            </a:r>
            <a:r>
              <a:rPr lang="en-US" sz="85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85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Beginn</a:t>
            </a:r>
            <a:endParaRPr lang="en-US" sz="850" dirty="0">
              <a:solidFill>
                <a:srgbClr val="94A3B8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1" name="Text 17">
            <a:extLst>
              <a:ext uri="{FF2B5EF4-FFF2-40B4-BE49-F238E27FC236}">
                <a16:creationId xmlns:a16="http://schemas.microsoft.com/office/drawing/2014/main" id="{005A937C-2727-8039-7102-BCD7D09B3B81}"/>
              </a:ext>
            </a:extLst>
          </p:cNvPr>
          <p:cNvSpPr/>
          <p:nvPr/>
        </p:nvSpPr>
        <p:spPr>
          <a:xfrm>
            <a:off x="7215008" y="4177786"/>
            <a:ext cx="1539367" cy="1673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1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Final</a:t>
            </a:r>
          </a:p>
        </p:txBody>
      </p:sp>
      <p:sp>
        <p:nvSpPr>
          <p:cNvPr id="62" name="Text 18">
            <a:extLst>
              <a:ext uri="{FF2B5EF4-FFF2-40B4-BE49-F238E27FC236}">
                <a16:creationId xmlns:a16="http://schemas.microsoft.com/office/drawing/2014/main" id="{09D50986-EBDF-21A3-D6BE-D4ABA8E65B10}"/>
              </a:ext>
            </a:extLst>
          </p:cNvPr>
          <p:cNvSpPr/>
          <p:nvPr/>
        </p:nvSpPr>
        <p:spPr>
          <a:xfrm>
            <a:off x="7285703" y="4443165"/>
            <a:ext cx="1397978" cy="19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Residuale</a:t>
            </a:r>
            <a:r>
              <a:rPr lang="en-US" sz="85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Exploration am Ende</a:t>
            </a:r>
          </a:p>
        </p:txBody>
      </p:sp>
    </p:spTree>
    <p:extLst>
      <p:ext uri="{BB962C8B-B14F-4D97-AF65-F5344CB8AC3E}">
        <p14:creationId xmlns:p14="http://schemas.microsoft.com/office/powerpoint/2010/main" val="40374138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E2206-1E7C-01BC-258B-1EF0D47F3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" name="!!11">
                <a:extLst>
                  <a:ext uri="{FF2B5EF4-FFF2-40B4-BE49-F238E27FC236}">
                    <a16:creationId xmlns:a16="http://schemas.microsoft.com/office/drawing/2014/main" id="{CA3C5DD4-C15D-0684-C636-36B6C63E2302}"/>
                  </a:ext>
                </a:extLst>
              </p:cNvPr>
              <p:cNvSpPr/>
              <p:nvPr/>
            </p:nvSpPr>
            <p:spPr>
              <a:xfrm>
                <a:off x="864032" y="3160008"/>
                <a:ext cx="7415935" cy="911058"/>
              </a:xfrm>
              <a:prstGeom prst="roundRect">
                <a:avLst>
                  <a:gd name="adj" fmla="val 8750"/>
                </a:avLst>
              </a:prstGeom>
              <a:solidFill>
                <a:srgbClr val="F1F5F9"/>
              </a:solidFill>
              <a:ln w="12700">
                <a:solidFill>
                  <a:srgbClr val="0D9488">
                    <a:alpha val="40000"/>
                  </a:srgbClr>
                </a:solidFill>
                <a:prstDash val="solid"/>
              </a:ln>
              <a:effectLst>
                <a:outerShdw blurRad="101600" dist="25400" dir="2700000" algn="bl" rotWithShape="0">
                  <a:srgbClr val="000000">
                    <a:alpha val="14000"/>
                  </a:srgbClr>
                </a:outerShdw>
              </a:effectLst>
            </p:spPr>
            <p:txBody>
              <a:bodyPr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𝑁𝑒𝑢𝑒𝑟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𝑊𝑒𝑟𝑡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=0.890+0.01⋅</m:t>
                      </m:r>
                      <m:d>
                        <m:dPr>
                          <m:begChr m:val="["/>
                          <m:endChr m:val="]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1+0.99⋅</m:t>
                          </m:r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−0.890</m:t>
                          </m:r>
                        </m:e>
                      </m:d>
                    </m:oMath>
                  </m:oMathPara>
                </a14:m>
                <a:endParaRPr lang="de-DE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=0.890+0.01⋅</m:t>
                      </m:r>
                      <m:d>
                        <m:dPr>
                          <m:begChr m:val="["/>
                          <m:endChr m:val="]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0.110</m:t>
                          </m:r>
                        </m:e>
                      </m:d>
                    </m:oMath>
                  </m:oMathPara>
                </a14:m>
                <a:endParaRPr lang="de-DE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de-DE" b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de-DE" b="1">
                          <a:latin typeface="Cambria Math" panose="02040503050406030204" pitchFamily="18" charset="0"/>
                        </a:rPr>
                        <m:t>𝟖𝟗𝟏𝟏</m:t>
                      </m:r>
                    </m:oMath>
                  </m:oMathPara>
                </a14:m>
                <a:endParaRPr lang="de-DE" dirty="0"/>
              </a:p>
              <a:p>
                <a:pPr algn="ctr"/>
                <a:endParaRPr lang="de-DE" sz="1100" b="1" dirty="0">
                  <a:solidFill>
                    <a:srgbClr val="1E293B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8" name="!!11">
                <a:extLst>
                  <a:ext uri="{FF2B5EF4-FFF2-40B4-BE49-F238E27FC236}">
                    <a16:creationId xmlns:a16="http://schemas.microsoft.com/office/drawing/2014/main" id="{CA3C5DD4-C15D-0684-C636-36B6C63E23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032" y="3160008"/>
                <a:ext cx="7415935" cy="911058"/>
              </a:xfrm>
              <a:prstGeom prst="roundRect">
                <a:avLst>
                  <a:gd name="adj" fmla="val 875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0D9488">
                    <a:alpha val="40000"/>
                  </a:srgbClr>
                </a:solidFill>
                <a:prstDash val="solid"/>
              </a:ln>
              <a:effectLst>
                <a:outerShdw blurRad="101600" dist="25400" dir="2700000" algn="bl" rotWithShape="0">
                  <a:srgbClr val="000000">
                    <a:alpha val="14000"/>
                  </a:srgbClr>
                </a:outerShdw>
              </a:effectLst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hape 0">
            <a:extLst>
              <a:ext uri="{FF2B5EF4-FFF2-40B4-BE49-F238E27FC236}">
                <a16:creationId xmlns:a16="http://schemas.microsoft.com/office/drawing/2014/main" id="{A47DF033-E177-36DB-565D-FC9DC582B3E2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1AD0A3A5-1905-2279-4480-5E9E62EEA294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10CB61E-C390-4CDE-DB33-978928416A8C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Das Q-Learning-Update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9E807125-85EE-114B-F3C6-4FABC3A003CF}"/>
              </a:ext>
            </a:extLst>
          </p:cNvPr>
          <p:cNvSpPr/>
          <p:nvPr/>
        </p:nvSpPr>
        <p:spPr>
          <a:xfrm>
            <a:off x="6367670" y="54864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1C87B5CB-FDE1-4D92-AEBF-0F36A1936069}" type="slidenum">
              <a:rPr lang="en-US" sz="900" b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18</a:t>
            </a:fld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05DCCBAB-9AB8-C5C6-4031-D7DF7C52EA7F}"/>
              </a:ext>
            </a:extLst>
          </p:cNvPr>
          <p:cNvSpPr/>
          <p:nvPr/>
        </p:nvSpPr>
        <p:spPr>
          <a:xfrm>
            <a:off x="3412435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BHH · Machine Learning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1046A376-10AF-301F-20D6-CB76B2EC74F5}"/>
              </a:ext>
            </a:extLst>
          </p:cNvPr>
          <p:cNvSpPr/>
          <p:nvPr/>
        </p:nvSpPr>
        <p:spPr>
          <a:xfrm>
            <a:off x="457200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Methodik</a:t>
            </a: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&amp; Technik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!!11">
                <a:extLst>
                  <a:ext uri="{FF2B5EF4-FFF2-40B4-BE49-F238E27FC236}">
                    <a16:creationId xmlns:a16="http://schemas.microsoft.com/office/drawing/2014/main" id="{544AF231-9F2E-46D6-CC14-BACF4F238350}"/>
                  </a:ext>
                </a:extLst>
              </p:cNvPr>
              <p:cNvSpPr/>
              <p:nvPr/>
            </p:nvSpPr>
            <p:spPr>
              <a:xfrm>
                <a:off x="878088" y="1235975"/>
                <a:ext cx="2680452" cy="764468"/>
              </a:xfrm>
              <a:prstGeom prst="roundRect">
                <a:avLst>
                  <a:gd name="adj" fmla="val 8750"/>
                </a:avLst>
              </a:prstGeom>
              <a:solidFill>
                <a:srgbClr val="1E293B"/>
              </a:solidFill>
              <a:ln w="12700">
                <a:solidFill>
                  <a:srgbClr val="10B981">
                    <a:alpha val="60000"/>
                  </a:srgbClr>
                </a:solidFill>
                <a:prstDash val="solid"/>
              </a:ln>
              <a:effectLst>
                <a:outerShdw blurRad="152400" dist="38100" dir="2700000" algn="bl" rotWithShape="0">
                  <a:srgbClr val="000000">
                    <a:alpha val="18000"/>
                  </a:srgbClr>
                </a:outerShdw>
              </a:effectLst>
            </p:spPr>
            <p:txBody>
              <a:bodyPr/>
              <a:lstStyle/>
              <a:p>
                <a:pPr algn="ctr"/>
                <a:r>
                  <a:rPr lang="en-US" b="1" dirty="0">
                    <a:solidFill>
                      <a:srgbClr val="14B8A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Aktueller </a:t>
                </a:r>
                <a:r>
                  <a:rPr lang="en-US" b="1" dirty="0" err="1">
                    <a:solidFill>
                      <a:srgbClr val="14B8A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Zustand</a:t>
                </a:r>
                <a:r>
                  <a:rPr lang="en-US" b="1" dirty="0">
                    <a:solidFill>
                      <a:srgbClr val="14B8A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1" i="1">
                            <a:solidFill>
                              <a:srgbClr val="14B8A6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0" smtClean="0">
                            <a:solidFill>
                              <a:srgbClr val="14B8A6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(</m:t>
                        </m:r>
                        <m:r>
                          <a:rPr lang="de-DE" b="1">
                            <a:solidFill>
                              <a:srgbClr val="14B8A6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b="1">
                            <a:solidFill>
                              <a:srgbClr val="14B8A6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b="1" i="0" smtClean="0">
                        <a:solidFill>
                          <a:srgbClr val="14B8A6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</m:t>
                    </m:r>
                  </m:oMath>
                </a14:m>
                <a:endParaRPr lang="en-GB" b="1" dirty="0">
                  <a:solidFill>
                    <a:srgbClr val="14B8A6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:r>
                  <a:rPr lang="de-DE" sz="1400" b="1" dirty="0">
                    <a:solidFill>
                      <a:srgbClr val="FFFFFF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Courier New" pitchFamily="34" charset="-120"/>
                  </a:rPr>
                  <a:t>(20, 7, True)</a:t>
                </a:r>
              </a:p>
            </p:txBody>
          </p:sp>
        </mc:Choice>
        <mc:Fallback xmlns="">
          <p:sp>
            <p:nvSpPr>
              <p:cNvPr id="12" name="!!11">
                <a:extLst>
                  <a:ext uri="{FF2B5EF4-FFF2-40B4-BE49-F238E27FC236}">
                    <a16:creationId xmlns:a16="http://schemas.microsoft.com/office/drawing/2014/main" id="{544AF231-9F2E-46D6-CC14-BACF4F2383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088" y="1235975"/>
                <a:ext cx="2680452" cy="764468"/>
              </a:xfrm>
              <a:prstGeom prst="roundRect">
                <a:avLst>
                  <a:gd name="adj" fmla="val 875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10B981">
                    <a:alpha val="60000"/>
                  </a:srgbClr>
                </a:solidFill>
                <a:prstDash val="solid"/>
              </a:ln>
              <a:effectLst>
                <a:outerShdw blurRad="152400" dist="38100" dir="2700000" algn="bl" rotWithShape="0">
                  <a:srgbClr val="000000">
                    <a:alpha val="18000"/>
                  </a:srgbClr>
                </a:outerShdw>
              </a:effectLst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!!11">
                <a:extLst>
                  <a:ext uri="{FF2B5EF4-FFF2-40B4-BE49-F238E27FC236}">
                    <a16:creationId xmlns:a16="http://schemas.microsoft.com/office/drawing/2014/main" id="{9230336A-D9A0-3807-719B-155643470B56}"/>
                  </a:ext>
                </a:extLst>
              </p:cNvPr>
              <p:cNvSpPr/>
              <p:nvPr/>
            </p:nvSpPr>
            <p:spPr>
              <a:xfrm>
                <a:off x="878088" y="2104655"/>
                <a:ext cx="2680452" cy="764468"/>
              </a:xfrm>
              <a:prstGeom prst="roundRect">
                <a:avLst>
                  <a:gd name="adj" fmla="val 8750"/>
                </a:avLst>
              </a:prstGeom>
              <a:solidFill>
                <a:srgbClr val="1E293B"/>
              </a:solidFill>
              <a:ln w="12700">
                <a:solidFill>
                  <a:srgbClr val="10B981">
                    <a:alpha val="60000"/>
                  </a:srgbClr>
                </a:solidFill>
                <a:prstDash val="solid"/>
              </a:ln>
              <a:effectLst>
                <a:outerShdw blurRad="152400" dist="38100" dir="2700000" algn="bl" rotWithShape="0">
                  <a:srgbClr val="000000">
                    <a:alpha val="18000"/>
                  </a:srgbClr>
                </a:outerShdw>
              </a:effectLst>
            </p:spPr>
            <p:txBody>
              <a:bodyPr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0" smtClean="0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𝐆𝐞𝐰</m:t>
                      </m:r>
                      <m:r>
                        <a:rPr lang="en-GB" b="1" i="0" smtClean="0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ä</m:t>
                      </m:r>
                      <m:r>
                        <a:rPr lang="en-GB" b="1" i="0" smtClean="0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𝐡𝐥𝐭𝐞</m:t>
                      </m:r>
                      <m:r>
                        <a:rPr lang="en-GB" b="1" i="0" smtClean="0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  <m:r>
                        <a:rPr lang="en-GB" b="1" i="0" smtClean="0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𝐀𝐤𝐭𝐢𝐨𝐧</m:t>
                      </m:r>
                      <m:r>
                        <a:rPr lang="en-GB" b="1" i="0" smtClean="0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de-DE" b="1" i="1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(</m:t>
                          </m:r>
                          <m:r>
                            <a:rPr lang="de-DE" b="1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1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b="1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b="1" dirty="0">
                  <a:solidFill>
                    <a:srgbClr val="14B8A6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:r>
                  <a:rPr lang="de-DE" sz="1400" b="1" dirty="0">
                    <a:solidFill>
                      <a:srgbClr val="FFFFFF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Courier New" pitchFamily="34" charset="-120"/>
                  </a:rPr>
                  <a:t>Stand</a:t>
                </a:r>
              </a:p>
            </p:txBody>
          </p:sp>
        </mc:Choice>
        <mc:Fallback xmlns="">
          <p:sp>
            <p:nvSpPr>
              <p:cNvPr id="13" name="!!11">
                <a:extLst>
                  <a:ext uri="{FF2B5EF4-FFF2-40B4-BE49-F238E27FC236}">
                    <a16:creationId xmlns:a16="http://schemas.microsoft.com/office/drawing/2014/main" id="{9230336A-D9A0-3807-719B-155643470B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088" y="2104655"/>
                <a:ext cx="2680452" cy="764468"/>
              </a:xfrm>
              <a:prstGeom prst="roundRect">
                <a:avLst>
                  <a:gd name="adj" fmla="val 875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10B981">
                    <a:alpha val="60000"/>
                  </a:srgbClr>
                </a:solidFill>
                <a:prstDash val="solid"/>
              </a:ln>
              <a:effectLst>
                <a:outerShdw blurRad="152400" dist="38100" dir="2700000" algn="bl" rotWithShape="0">
                  <a:srgbClr val="000000">
                    <a:alpha val="18000"/>
                  </a:srgbClr>
                </a:outerShdw>
              </a:effectLst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Tabelle 14">
            <a:extLst>
              <a:ext uri="{FF2B5EF4-FFF2-40B4-BE49-F238E27FC236}">
                <a16:creationId xmlns:a16="http://schemas.microsoft.com/office/drawing/2014/main" id="{1BE3B96A-923E-1708-B0D6-F447CB1F7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709641"/>
              </p:ext>
            </p:extLst>
          </p:nvPr>
        </p:nvGraphicFramePr>
        <p:xfrm>
          <a:off x="4421388" y="1587065"/>
          <a:ext cx="3947046" cy="499110"/>
        </p:xfrm>
        <a:graphic>
          <a:graphicData uri="http://schemas.openxmlformats.org/drawingml/2006/table">
            <a:tbl>
              <a:tblPr/>
              <a:tblGrid>
                <a:gridCol w="1315682">
                  <a:extLst>
                    <a:ext uri="{9D8B030D-6E8A-4147-A177-3AD203B41FA5}">
                      <a16:colId xmlns:a16="http://schemas.microsoft.com/office/drawing/2014/main" val="2272829790"/>
                    </a:ext>
                  </a:extLst>
                </a:gridCol>
                <a:gridCol w="1315682">
                  <a:extLst>
                    <a:ext uri="{9D8B030D-6E8A-4147-A177-3AD203B41FA5}">
                      <a16:colId xmlns:a16="http://schemas.microsoft.com/office/drawing/2014/main" val="3360644678"/>
                    </a:ext>
                  </a:extLst>
                </a:gridCol>
                <a:gridCol w="1315682">
                  <a:extLst>
                    <a:ext uri="{9D8B030D-6E8A-4147-A177-3AD203B41FA5}">
                      <a16:colId xmlns:a16="http://schemas.microsoft.com/office/drawing/2014/main" val="139605961"/>
                    </a:ext>
                  </a:extLst>
                </a:gridCol>
              </a:tblGrid>
              <a:tr h="4694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400" dirty="0">
                          <a:solidFill>
                            <a:srgbClr val="14B8A6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Zustand (s)</a:t>
                      </a: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400" dirty="0">
                          <a:solidFill>
                            <a:srgbClr val="14B8A6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Q(Stand)</a:t>
                      </a: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400" dirty="0">
                          <a:solidFill>
                            <a:srgbClr val="14B8A6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Q(Hit)</a:t>
                      </a: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965866"/>
                  </a:ext>
                </a:extLst>
              </a:tr>
            </a:tbl>
          </a:graphicData>
        </a:graphic>
      </p:graphicFrame>
      <p:graphicFrame>
        <p:nvGraphicFramePr>
          <p:cNvPr id="16" name="Tabelle 15">
            <a:extLst>
              <a:ext uri="{FF2B5EF4-FFF2-40B4-BE49-F238E27FC236}">
                <a16:creationId xmlns:a16="http://schemas.microsoft.com/office/drawing/2014/main" id="{19F408E5-B744-7772-1466-86E16675F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176185"/>
              </p:ext>
            </p:extLst>
          </p:nvPr>
        </p:nvGraphicFramePr>
        <p:xfrm>
          <a:off x="4421826" y="2086175"/>
          <a:ext cx="3947046" cy="699318"/>
        </p:xfrm>
        <a:graphic>
          <a:graphicData uri="http://schemas.openxmlformats.org/drawingml/2006/table">
            <a:tbl>
              <a:tblPr/>
              <a:tblGrid>
                <a:gridCol w="1315682">
                  <a:extLst>
                    <a:ext uri="{9D8B030D-6E8A-4147-A177-3AD203B41FA5}">
                      <a16:colId xmlns:a16="http://schemas.microsoft.com/office/drawing/2014/main" val="793405982"/>
                    </a:ext>
                  </a:extLst>
                </a:gridCol>
                <a:gridCol w="1315682">
                  <a:extLst>
                    <a:ext uri="{9D8B030D-6E8A-4147-A177-3AD203B41FA5}">
                      <a16:colId xmlns:a16="http://schemas.microsoft.com/office/drawing/2014/main" val="1354970159"/>
                    </a:ext>
                  </a:extLst>
                </a:gridCol>
                <a:gridCol w="1315682">
                  <a:extLst>
                    <a:ext uri="{9D8B030D-6E8A-4147-A177-3AD203B41FA5}">
                      <a16:colId xmlns:a16="http://schemas.microsoft.com/office/drawing/2014/main" val="2235090893"/>
                    </a:ext>
                  </a:extLst>
                </a:gridCol>
              </a:tblGrid>
              <a:tr h="6993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(20, 7, True)</a:t>
                      </a: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  <a:r>
                        <a:rPr lang="de-DE" sz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.890</a:t>
                      </a: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-0.120</a:t>
                      </a: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004905"/>
                  </a:ext>
                </a:extLst>
              </a:tr>
            </a:tbl>
          </a:graphicData>
        </a:graphic>
      </p:graphicFrame>
      <p:sp>
        <p:nvSpPr>
          <p:cNvPr id="17" name="Text 16">
            <a:extLst>
              <a:ext uri="{FF2B5EF4-FFF2-40B4-BE49-F238E27FC236}">
                <a16:creationId xmlns:a16="http://schemas.microsoft.com/office/drawing/2014/main" id="{1F52A897-9D06-930E-96AA-C940367A13F2}"/>
              </a:ext>
            </a:extLst>
          </p:cNvPr>
          <p:cNvSpPr>
            <a:spLocks noGrp="1"/>
          </p:cNvSpPr>
          <p:nvPr/>
        </p:nvSpPr>
        <p:spPr>
          <a:xfrm>
            <a:off x="4407001" y="1239593"/>
            <a:ext cx="45720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en-GB" sz="14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Q- Table</a:t>
            </a:r>
            <a:endParaRPr sz="1400" b="1" dirty="0">
              <a:solidFill>
                <a:srgbClr val="1E293B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6AA45CC0-3C35-909F-0015-4A0A869F6BA8}"/>
              </a:ext>
            </a:extLst>
          </p:cNvPr>
          <p:cNvSpPr/>
          <p:nvPr/>
        </p:nvSpPr>
        <p:spPr>
          <a:xfrm>
            <a:off x="5727590" y="2127405"/>
            <a:ext cx="746760" cy="6168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!!11">
                <a:extLst>
                  <a:ext uri="{FF2B5EF4-FFF2-40B4-BE49-F238E27FC236}">
                    <a16:creationId xmlns:a16="http://schemas.microsoft.com/office/drawing/2014/main" id="{9AFFCC80-35C2-4577-DE94-D06A7BC75633}"/>
                  </a:ext>
                </a:extLst>
              </p:cNvPr>
              <p:cNvSpPr/>
              <p:nvPr/>
            </p:nvSpPr>
            <p:spPr>
              <a:xfrm>
                <a:off x="864033" y="4324822"/>
                <a:ext cx="7415935" cy="635798"/>
              </a:xfrm>
              <a:prstGeom prst="roundRect">
                <a:avLst>
                  <a:gd name="adj" fmla="val 8750"/>
                </a:avLst>
              </a:prstGeom>
              <a:solidFill>
                <a:srgbClr val="1E293B"/>
              </a:solidFill>
              <a:ln w="12700">
                <a:solidFill>
                  <a:srgbClr val="10B981">
                    <a:alpha val="60000"/>
                  </a:srgbClr>
                </a:solidFill>
                <a:prstDash val="solid"/>
              </a:ln>
              <a:effectLst>
                <a:outerShdw blurRad="152400" dist="38100" dir="2700000" algn="bl" rotWithShape="0">
                  <a:srgbClr val="000000">
                    <a:alpha val="18000"/>
                  </a:srgbClr>
                </a:outerShdw>
              </a:effectLst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𝐐</m:t>
                      </m:r>
                      <m:d>
                        <m:dPr>
                          <m:ctrlPr>
                            <a:rPr lang="de-DE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𝐬</m:t>
                              </m:r>
                            </m:e>
                            <m:sub>
                              <m:r>
                                <a:rPr lang="de-DE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𝐭</m:t>
                              </m:r>
                            </m:sub>
                          </m:sSub>
                          <m:r>
                            <a:rPr lang="de-DE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de-D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b>
                              <m:r>
                                <a:rPr lang="de-DE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𝐭</m:t>
                              </m:r>
                            </m:sub>
                          </m:sSub>
                        </m:e>
                      </m:d>
                      <m:r>
                        <a:rPr lang="de-DE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de-DE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𝐐</m:t>
                      </m:r>
                      <m:d>
                        <m:dPr>
                          <m:ctrlPr>
                            <a:rPr lang="de-DE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𝐬</m:t>
                              </m:r>
                            </m:e>
                            <m:sub>
                              <m:r>
                                <a:rPr lang="de-DE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𝐭</m:t>
                              </m:r>
                            </m:sub>
                          </m:sSub>
                          <m:r>
                            <a:rPr lang="de-DE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de-D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b>
                              <m:r>
                                <a:rPr lang="de-DE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𝐭</m:t>
                              </m:r>
                            </m:sub>
                          </m:sSub>
                        </m:e>
                      </m:d>
                      <m:r>
                        <a:rPr lang="de-DE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𝛂</m:t>
                      </m:r>
                      <m:r>
                        <a:rPr lang="de-DE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de-DE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</m:e>
                            <m:sub>
                              <m:r>
                                <a:rPr lang="de-DE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𝐭</m:t>
                              </m:r>
                              <m:r>
                                <a:rPr lang="de-DE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DE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de-DE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DE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𝛄</m:t>
                          </m:r>
                          <m:r>
                            <a:rPr lang="de-DE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func>
                            <m:funcPr>
                              <m:ctrlPr>
                                <a:rPr lang="de-D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de-DE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a:rPr lang="de-DE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𝐦𝐚𝐱</m:t>
                                  </m:r>
                                </m:e>
                                <m:lim>
                                  <m:r>
                                    <a:rPr lang="de-DE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  <m:r>
                                    <a:rPr lang="de-DE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de-DE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𝐐</m:t>
                              </m:r>
                              <m:d>
                                <m:dPr>
                                  <m:ctrlPr>
                                    <a:rPr lang="de-DE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b="1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𝐬</m:t>
                                      </m:r>
                                    </m:e>
                                    <m:sub>
                                      <m:r>
                                        <a:rPr lang="de-DE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𝐭</m:t>
                                      </m:r>
                                      <m:r>
                                        <a:rPr lang="de-DE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de-DE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de-DE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de-DE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  <m:r>
                                    <a:rPr lang="de-DE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</m:d>
                            </m:e>
                          </m:func>
                          <m:r>
                            <a:rPr lang="de-DE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𝐐</m:t>
                          </m:r>
                          <m:d>
                            <m:dPr>
                              <m:ctrlPr>
                                <a:rPr lang="de-D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𝐬</m:t>
                                  </m:r>
                                </m:e>
                                <m:sub>
                                  <m:r>
                                    <a:rPr lang="de-DE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𝐭</m:t>
                                  </m:r>
                                </m:sub>
                              </m:sSub>
                              <m:r>
                                <a:rPr lang="de-DE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de-DE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e>
                                <m:sub>
                                  <m:r>
                                    <a:rPr lang="de-DE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𝐭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de-DE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!!11">
                <a:extLst>
                  <a:ext uri="{FF2B5EF4-FFF2-40B4-BE49-F238E27FC236}">
                    <a16:creationId xmlns:a16="http://schemas.microsoft.com/office/drawing/2014/main" id="{9AFFCC80-35C2-4577-DE94-D06A7BC756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033" y="4324822"/>
                <a:ext cx="7415935" cy="635798"/>
              </a:xfrm>
              <a:prstGeom prst="roundRect">
                <a:avLst>
                  <a:gd name="adj" fmla="val 8750"/>
                </a:avLst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rgbClr val="10B981">
                    <a:alpha val="60000"/>
                  </a:srgbClr>
                </a:solidFill>
                <a:prstDash val="solid"/>
              </a:ln>
              <a:effectLst>
                <a:outerShdw blurRad="152400" dist="38100" dir="2700000" algn="bl" rotWithShape="0">
                  <a:srgbClr val="000000">
                    <a:alpha val="18000"/>
                  </a:srgbClr>
                </a:outerShdw>
              </a:effectLst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3847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uiExpand="1" build="allAtOnce" animBg="1"/>
      <p:bldP spid="18" grpId="0" animBg="1"/>
      <p:bldP spid="19" grpId="0" build="allAtOnce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8D61A-A1C2-2E85-D612-E6190E1FD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" name="!!11">
                <a:extLst>
                  <a:ext uri="{FF2B5EF4-FFF2-40B4-BE49-F238E27FC236}">
                    <a16:creationId xmlns:a16="http://schemas.microsoft.com/office/drawing/2014/main" id="{DD6C6E92-8010-29A0-8FE4-7D852FFE137C}"/>
                  </a:ext>
                </a:extLst>
              </p:cNvPr>
              <p:cNvSpPr/>
              <p:nvPr/>
            </p:nvSpPr>
            <p:spPr>
              <a:xfrm>
                <a:off x="864032" y="3160008"/>
                <a:ext cx="7415935" cy="911058"/>
              </a:xfrm>
              <a:prstGeom prst="roundRect">
                <a:avLst>
                  <a:gd name="adj" fmla="val 8750"/>
                </a:avLst>
              </a:prstGeom>
              <a:solidFill>
                <a:srgbClr val="F1F5F9"/>
              </a:solidFill>
              <a:ln w="12700">
                <a:solidFill>
                  <a:srgbClr val="0D9488">
                    <a:alpha val="40000"/>
                  </a:srgbClr>
                </a:solidFill>
                <a:prstDash val="solid"/>
              </a:ln>
              <a:effectLst>
                <a:outerShdw blurRad="101600" dist="25400" dir="2700000" algn="bl" rotWithShape="0">
                  <a:srgbClr val="000000">
                    <a:alpha val="14000"/>
                  </a:srgbClr>
                </a:outerShdw>
              </a:effectLst>
            </p:spPr>
            <p:txBody>
              <a:bodyPr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𝑁𝑒𝑢𝑒𝑟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𝑊𝑒𝑟𝑡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890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01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99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890</m:t>
                          </m:r>
                        </m:e>
                      </m:d>
                    </m:oMath>
                  </m:oMathPara>
                </a14:m>
                <a:endParaRPr lang="de-DE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890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01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110</m:t>
                          </m:r>
                        </m:e>
                      </m:d>
                    </m:oMath>
                  </m:oMathPara>
                </a14:m>
                <a:endParaRPr lang="de-DE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de-DE" b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de-DE" b="1">
                          <a:latin typeface="Cambria Math" panose="02040503050406030204" pitchFamily="18" charset="0"/>
                        </a:rPr>
                        <m:t>𝟖𝟗𝟏𝟏</m:t>
                      </m:r>
                    </m:oMath>
                  </m:oMathPara>
                </a14:m>
                <a:endParaRPr lang="de-DE" dirty="0"/>
              </a:p>
              <a:p>
                <a:pPr algn="ctr"/>
                <a:endParaRPr lang="de-DE" sz="1100" b="1" dirty="0">
                  <a:solidFill>
                    <a:srgbClr val="1E293B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8" name="!!11">
                <a:extLst>
                  <a:ext uri="{FF2B5EF4-FFF2-40B4-BE49-F238E27FC236}">
                    <a16:creationId xmlns:a16="http://schemas.microsoft.com/office/drawing/2014/main" id="{DD6C6E92-8010-29A0-8FE4-7D852FFE13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032" y="3160008"/>
                <a:ext cx="7415935" cy="911058"/>
              </a:xfrm>
              <a:prstGeom prst="roundRect">
                <a:avLst>
                  <a:gd name="adj" fmla="val 875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0D9488">
                    <a:alpha val="40000"/>
                  </a:srgbClr>
                </a:solidFill>
                <a:prstDash val="solid"/>
              </a:ln>
              <a:effectLst>
                <a:outerShdw blurRad="101600" dist="25400" dir="2700000" algn="bl" rotWithShape="0">
                  <a:srgbClr val="000000">
                    <a:alpha val="14000"/>
                  </a:srgbClr>
                </a:outerShdw>
              </a:effectLst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hape 0">
            <a:extLst>
              <a:ext uri="{FF2B5EF4-FFF2-40B4-BE49-F238E27FC236}">
                <a16:creationId xmlns:a16="http://schemas.microsoft.com/office/drawing/2014/main" id="{0D518B4C-F4E0-A494-37DD-0B286F4CCB7B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71C74C28-21A4-D39B-17C5-72479B26B5CE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329092F-ABD5-55D5-C542-182A0F125CC4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Das Q-Learning-Update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936E695-C42F-82C4-6B54-5836E58DF13C}"/>
              </a:ext>
            </a:extLst>
          </p:cNvPr>
          <p:cNvSpPr/>
          <p:nvPr/>
        </p:nvSpPr>
        <p:spPr>
          <a:xfrm>
            <a:off x="6367670" y="54864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1C87B5CB-FDE1-4D92-AEBF-0F36A1936069}" type="slidenum">
              <a:rPr lang="en-US" sz="900" b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19</a:t>
            </a:fld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DA70E644-0BE0-60B8-03B5-D5AFFF8E1716}"/>
              </a:ext>
            </a:extLst>
          </p:cNvPr>
          <p:cNvSpPr/>
          <p:nvPr/>
        </p:nvSpPr>
        <p:spPr>
          <a:xfrm>
            <a:off x="3412435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BHH · Machine Learning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A5AE4010-50B3-2CC9-C497-D3479533E459}"/>
              </a:ext>
            </a:extLst>
          </p:cNvPr>
          <p:cNvSpPr/>
          <p:nvPr/>
        </p:nvSpPr>
        <p:spPr>
          <a:xfrm>
            <a:off x="457200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Methodik</a:t>
            </a: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&amp; Technik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!!11">
                <a:extLst>
                  <a:ext uri="{FF2B5EF4-FFF2-40B4-BE49-F238E27FC236}">
                    <a16:creationId xmlns:a16="http://schemas.microsoft.com/office/drawing/2014/main" id="{BE03D4BD-6C40-4742-88C6-32768FBF2D1F}"/>
                  </a:ext>
                </a:extLst>
              </p:cNvPr>
              <p:cNvSpPr/>
              <p:nvPr/>
            </p:nvSpPr>
            <p:spPr>
              <a:xfrm>
                <a:off x="878088" y="1235975"/>
                <a:ext cx="2680452" cy="764468"/>
              </a:xfrm>
              <a:prstGeom prst="roundRect">
                <a:avLst>
                  <a:gd name="adj" fmla="val 8750"/>
                </a:avLst>
              </a:prstGeom>
              <a:solidFill>
                <a:srgbClr val="1E293B"/>
              </a:solidFill>
              <a:ln w="12700">
                <a:solidFill>
                  <a:srgbClr val="10B981">
                    <a:alpha val="60000"/>
                  </a:srgbClr>
                </a:solidFill>
                <a:prstDash val="solid"/>
              </a:ln>
              <a:effectLst>
                <a:outerShdw blurRad="152400" dist="38100" dir="2700000" algn="bl" rotWithShape="0">
                  <a:srgbClr val="000000">
                    <a:alpha val="18000"/>
                  </a:srgbClr>
                </a:outerShdw>
              </a:effectLst>
            </p:spPr>
            <p:txBody>
              <a:bodyPr/>
              <a:lstStyle/>
              <a:p>
                <a:pPr algn="ctr"/>
                <a:r>
                  <a:rPr lang="en-US" b="1" dirty="0">
                    <a:solidFill>
                      <a:srgbClr val="14B8A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Aktueller </a:t>
                </a:r>
                <a:r>
                  <a:rPr lang="en-US" b="1" dirty="0" err="1">
                    <a:solidFill>
                      <a:srgbClr val="14B8A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Zustand</a:t>
                </a:r>
                <a:r>
                  <a:rPr lang="en-US" b="1" dirty="0">
                    <a:solidFill>
                      <a:srgbClr val="14B8A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1" i="1">
                            <a:solidFill>
                              <a:srgbClr val="14B8A6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0" smtClean="0">
                            <a:solidFill>
                              <a:srgbClr val="14B8A6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(</m:t>
                        </m:r>
                        <m:r>
                          <a:rPr lang="de-DE" b="1">
                            <a:solidFill>
                              <a:srgbClr val="14B8A6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b="1">
                            <a:solidFill>
                              <a:srgbClr val="14B8A6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b="1" i="0" smtClean="0">
                        <a:solidFill>
                          <a:srgbClr val="14B8A6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</m:t>
                    </m:r>
                  </m:oMath>
                </a14:m>
                <a:endParaRPr lang="en-GB" b="1" dirty="0">
                  <a:solidFill>
                    <a:srgbClr val="14B8A6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:r>
                  <a:rPr lang="de-DE" sz="1400" b="1" dirty="0">
                    <a:solidFill>
                      <a:srgbClr val="FFFFFF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Courier New" pitchFamily="34" charset="-120"/>
                  </a:rPr>
                  <a:t>(20, 7, True)</a:t>
                </a:r>
              </a:p>
            </p:txBody>
          </p:sp>
        </mc:Choice>
        <mc:Fallback xmlns="">
          <p:sp>
            <p:nvSpPr>
              <p:cNvPr id="12" name="!!11">
                <a:extLst>
                  <a:ext uri="{FF2B5EF4-FFF2-40B4-BE49-F238E27FC236}">
                    <a16:creationId xmlns:a16="http://schemas.microsoft.com/office/drawing/2014/main" id="{BE03D4BD-6C40-4742-88C6-32768FBF2D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088" y="1235975"/>
                <a:ext cx="2680452" cy="764468"/>
              </a:xfrm>
              <a:prstGeom prst="roundRect">
                <a:avLst>
                  <a:gd name="adj" fmla="val 875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10B981">
                    <a:alpha val="60000"/>
                  </a:srgbClr>
                </a:solidFill>
                <a:prstDash val="solid"/>
              </a:ln>
              <a:effectLst>
                <a:outerShdw blurRad="152400" dist="38100" dir="2700000" algn="bl" rotWithShape="0">
                  <a:srgbClr val="000000">
                    <a:alpha val="18000"/>
                  </a:srgbClr>
                </a:outerShdw>
              </a:effectLst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!!11">
                <a:extLst>
                  <a:ext uri="{FF2B5EF4-FFF2-40B4-BE49-F238E27FC236}">
                    <a16:creationId xmlns:a16="http://schemas.microsoft.com/office/drawing/2014/main" id="{44C1B4D5-029D-1280-1E01-AE9BB825DAA2}"/>
                  </a:ext>
                </a:extLst>
              </p:cNvPr>
              <p:cNvSpPr/>
              <p:nvPr/>
            </p:nvSpPr>
            <p:spPr>
              <a:xfrm>
                <a:off x="878088" y="2104655"/>
                <a:ext cx="2680452" cy="764468"/>
              </a:xfrm>
              <a:prstGeom prst="roundRect">
                <a:avLst>
                  <a:gd name="adj" fmla="val 8750"/>
                </a:avLst>
              </a:prstGeom>
              <a:solidFill>
                <a:srgbClr val="1E293B"/>
              </a:solidFill>
              <a:ln w="12700">
                <a:solidFill>
                  <a:srgbClr val="10B981">
                    <a:alpha val="60000"/>
                  </a:srgbClr>
                </a:solidFill>
                <a:prstDash val="solid"/>
              </a:ln>
              <a:effectLst>
                <a:outerShdw blurRad="152400" dist="38100" dir="2700000" algn="bl" rotWithShape="0">
                  <a:srgbClr val="000000">
                    <a:alpha val="18000"/>
                  </a:srgbClr>
                </a:outerShdw>
              </a:effectLst>
            </p:spPr>
            <p:txBody>
              <a:bodyPr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0" smtClean="0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𝐆𝐞𝐰</m:t>
                      </m:r>
                      <m:r>
                        <a:rPr lang="en-GB" b="1" i="0" smtClean="0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ä</m:t>
                      </m:r>
                      <m:r>
                        <a:rPr lang="en-GB" b="1" i="0" smtClean="0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𝐡𝐥𝐭𝐞</m:t>
                      </m:r>
                      <m:r>
                        <a:rPr lang="en-GB" b="1" i="0" smtClean="0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  <m:r>
                        <a:rPr lang="en-GB" b="1" i="0" smtClean="0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𝐀𝐤𝐭𝐢𝐨𝐧</m:t>
                      </m:r>
                      <m:r>
                        <a:rPr lang="en-GB" b="1" i="0" smtClean="0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de-DE" b="1" i="1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(</m:t>
                          </m:r>
                          <m:r>
                            <a:rPr lang="de-DE" b="1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1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b="1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b="1" dirty="0">
                  <a:solidFill>
                    <a:srgbClr val="14B8A6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:r>
                  <a:rPr lang="de-DE" sz="1400" b="1" dirty="0">
                    <a:solidFill>
                      <a:srgbClr val="FFFFFF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Courier New" pitchFamily="34" charset="-120"/>
                  </a:rPr>
                  <a:t>Stand</a:t>
                </a:r>
              </a:p>
            </p:txBody>
          </p:sp>
        </mc:Choice>
        <mc:Fallback xmlns="">
          <p:sp>
            <p:nvSpPr>
              <p:cNvPr id="13" name="!!11">
                <a:extLst>
                  <a:ext uri="{FF2B5EF4-FFF2-40B4-BE49-F238E27FC236}">
                    <a16:creationId xmlns:a16="http://schemas.microsoft.com/office/drawing/2014/main" id="{44C1B4D5-029D-1280-1E01-AE9BB825DA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088" y="2104655"/>
                <a:ext cx="2680452" cy="764468"/>
              </a:xfrm>
              <a:prstGeom prst="roundRect">
                <a:avLst>
                  <a:gd name="adj" fmla="val 875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10B981">
                    <a:alpha val="60000"/>
                  </a:srgbClr>
                </a:solidFill>
                <a:prstDash val="solid"/>
              </a:ln>
              <a:effectLst>
                <a:outerShdw blurRad="152400" dist="38100" dir="2700000" algn="bl" rotWithShape="0">
                  <a:srgbClr val="000000">
                    <a:alpha val="18000"/>
                  </a:srgbClr>
                </a:outerShdw>
              </a:effectLst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Tabelle 14">
            <a:extLst>
              <a:ext uri="{FF2B5EF4-FFF2-40B4-BE49-F238E27FC236}">
                <a16:creationId xmlns:a16="http://schemas.microsoft.com/office/drawing/2014/main" id="{C22F326B-A39B-B787-1CD8-E63016C28BC2}"/>
              </a:ext>
            </a:extLst>
          </p:cNvPr>
          <p:cNvGraphicFramePr>
            <a:graphicFrameLocks noGrp="1"/>
          </p:cNvGraphicFramePr>
          <p:nvPr/>
        </p:nvGraphicFramePr>
        <p:xfrm>
          <a:off x="4421388" y="1587065"/>
          <a:ext cx="3947046" cy="499110"/>
        </p:xfrm>
        <a:graphic>
          <a:graphicData uri="http://schemas.openxmlformats.org/drawingml/2006/table">
            <a:tbl>
              <a:tblPr/>
              <a:tblGrid>
                <a:gridCol w="1315682">
                  <a:extLst>
                    <a:ext uri="{9D8B030D-6E8A-4147-A177-3AD203B41FA5}">
                      <a16:colId xmlns:a16="http://schemas.microsoft.com/office/drawing/2014/main" val="2272829790"/>
                    </a:ext>
                  </a:extLst>
                </a:gridCol>
                <a:gridCol w="1315682">
                  <a:extLst>
                    <a:ext uri="{9D8B030D-6E8A-4147-A177-3AD203B41FA5}">
                      <a16:colId xmlns:a16="http://schemas.microsoft.com/office/drawing/2014/main" val="3360644678"/>
                    </a:ext>
                  </a:extLst>
                </a:gridCol>
                <a:gridCol w="1315682">
                  <a:extLst>
                    <a:ext uri="{9D8B030D-6E8A-4147-A177-3AD203B41FA5}">
                      <a16:colId xmlns:a16="http://schemas.microsoft.com/office/drawing/2014/main" val="139605961"/>
                    </a:ext>
                  </a:extLst>
                </a:gridCol>
              </a:tblGrid>
              <a:tr h="4694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400" dirty="0">
                          <a:solidFill>
                            <a:srgbClr val="14B8A6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Zustand (s)</a:t>
                      </a: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400" dirty="0">
                          <a:solidFill>
                            <a:srgbClr val="14B8A6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Q(Stand)</a:t>
                      </a: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400" dirty="0">
                          <a:solidFill>
                            <a:srgbClr val="14B8A6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Q(Hit)</a:t>
                      </a: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965866"/>
                  </a:ext>
                </a:extLst>
              </a:tr>
            </a:tbl>
          </a:graphicData>
        </a:graphic>
      </p:graphicFrame>
      <p:graphicFrame>
        <p:nvGraphicFramePr>
          <p:cNvPr id="16" name="Tabelle 15">
            <a:extLst>
              <a:ext uri="{FF2B5EF4-FFF2-40B4-BE49-F238E27FC236}">
                <a16:creationId xmlns:a16="http://schemas.microsoft.com/office/drawing/2014/main" id="{D4606668-E75E-433B-9BA3-FE88080AF7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0560365"/>
              </p:ext>
            </p:extLst>
          </p:nvPr>
        </p:nvGraphicFramePr>
        <p:xfrm>
          <a:off x="4421826" y="2086175"/>
          <a:ext cx="3947046" cy="699318"/>
        </p:xfrm>
        <a:graphic>
          <a:graphicData uri="http://schemas.openxmlformats.org/drawingml/2006/table">
            <a:tbl>
              <a:tblPr/>
              <a:tblGrid>
                <a:gridCol w="1315682">
                  <a:extLst>
                    <a:ext uri="{9D8B030D-6E8A-4147-A177-3AD203B41FA5}">
                      <a16:colId xmlns:a16="http://schemas.microsoft.com/office/drawing/2014/main" val="793405982"/>
                    </a:ext>
                  </a:extLst>
                </a:gridCol>
                <a:gridCol w="1315682">
                  <a:extLst>
                    <a:ext uri="{9D8B030D-6E8A-4147-A177-3AD203B41FA5}">
                      <a16:colId xmlns:a16="http://schemas.microsoft.com/office/drawing/2014/main" val="1354970159"/>
                    </a:ext>
                  </a:extLst>
                </a:gridCol>
                <a:gridCol w="1315682">
                  <a:extLst>
                    <a:ext uri="{9D8B030D-6E8A-4147-A177-3AD203B41FA5}">
                      <a16:colId xmlns:a16="http://schemas.microsoft.com/office/drawing/2014/main" val="2235090893"/>
                    </a:ext>
                  </a:extLst>
                </a:gridCol>
              </a:tblGrid>
              <a:tr h="6993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(20, 7, True)</a:t>
                      </a: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  <a:r>
                        <a:rPr lang="de-DE" sz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.8911</a:t>
                      </a: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-0.120</a:t>
                      </a:r>
                    </a:p>
                  </a:txBody>
                  <a:tcPr marL="142875" marR="142875" marT="142875" marB="14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004905"/>
                  </a:ext>
                </a:extLst>
              </a:tr>
            </a:tbl>
          </a:graphicData>
        </a:graphic>
      </p:graphicFrame>
      <p:sp>
        <p:nvSpPr>
          <p:cNvPr id="17" name="Text 16">
            <a:extLst>
              <a:ext uri="{FF2B5EF4-FFF2-40B4-BE49-F238E27FC236}">
                <a16:creationId xmlns:a16="http://schemas.microsoft.com/office/drawing/2014/main" id="{98CB13B3-4B20-8732-A414-EDD96FA1DCEB}"/>
              </a:ext>
            </a:extLst>
          </p:cNvPr>
          <p:cNvSpPr>
            <a:spLocks noGrp="1"/>
          </p:cNvSpPr>
          <p:nvPr/>
        </p:nvSpPr>
        <p:spPr>
          <a:xfrm>
            <a:off x="4407001" y="1239593"/>
            <a:ext cx="45720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en-GB" sz="14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Q- Table</a:t>
            </a:r>
            <a:endParaRPr sz="1400" b="1" dirty="0">
              <a:solidFill>
                <a:srgbClr val="1E293B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!!11">
                <a:extLst>
                  <a:ext uri="{FF2B5EF4-FFF2-40B4-BE49-F238E27FC236}">
                    <a16:creationId xmlns:a16="http://schemas.microsoft.com/office/drawing/2014/main" id="{1F98B218-7F9E-F136-9EBC-FB65BB6C218B}"/>
                  </a:ext>
                </a:extLst>
              </p:cNvPr>
              <p:cNvSpPr/>
              <p:nvPr/>
            </p:nvSpPr>
            <p:spPr>
              <a:xfrm>
                <a:off x="864033" y="4324822"/>
                <a:ext cx="7415935" cy="635798"/>
              </a:xfrm>
              <a:prstGeom prst="roundRect">
                <a:avLst>
                  <a:gd name="adj" fmla="val 8750"/>
                </a:avLst>
              </a:prstGeom>
              <a:solidFill>
                <a:srgbClr val="1E293B"/>
              </a:solidFill>
              <a:ln w="12700">
                <a:solidFill>
                  <a:srgbClr val="10B981">
                    <a:alpha val="60000"/>
                  </a:srgbClr>
                </a:solidFill>
                <a:prstDash val="solid"/>
              </a:ln>
              <a:effectLst>
                <a:outerShdw blurRad="152400" dist="38100" dir="2700000" algn="bl" rotWithShape="0">
                  <a:srgbClr val="000000">
                    <a:alpha val="18000"/>
                  </a:srgbClr>
                </a:outerShdw>
              </a:effectLst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𝐐</m:t>
                      </m:r>
                      <m:d>
                        <m:dPr>
                          <m:ctrlPr>
                            <a:rPr lang="de-DE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𝐬</m:t>
                              </m:r>
                            </m:e>
                            <m:sub>
                              <m:r>
                                <a:rPr lang="de-DE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𝐭</m:t>
                              </m:r>
                            </m:sub>
                          </m:sSub>
                          <m:r>
                            <a:rPr lang="de-DE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de-D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b>
                              <m:r>
                                <a:rPr lang="de-DE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𝐭</m:t>
                              </m:r>
                            </m:sub>
                          </m:sSub>
                        </m:e>
                      </m:d>
                      <m:r>
                        <a:rPr lang="de-DE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de-DE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𝐐</m:t>
                      </m:r>
                      <m:d>
                        <m:dPr>
                          <m:ctrlPr>
                            <a:rPr lang="de-DE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𝐬</m:t>
                              </m:r>
                            </m:e>
                            <m:sub>
                              <m:r>
                                <a:rPr lang="de-DE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𝐭</m:t>
                              </m:r>
                            </m:sub>
                          </m:sSub>
                          <m:r>
                            <a:rPr lang="de-DE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de-D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b>
                              <m:r>
                                <a:rPr lang="de-DE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𝐭</m:t>
                              </m:r>
                            </m:sub>
                          </m:sSub>
                        </m:e>
                      </m:d>
                      <m:r>
                        <a:rPr lang="de-DE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𝛂</m:t>
                      </m:r>
                      <m:r>
                        <a:rPr lang="de-DE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de-DE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</m:e>
                            <m:sub>
                              <m:r>
                                <a:rPr lang="de-DE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𝐭</m:t>
                              </m:r>
                              <m:r>
                                <a:rPr lang="de-DE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DE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de-DE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DE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𝛄</m:t>
                          </m:r>
                          <m:r>
                            <a:rPr lang="de-DE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func>
                            <m:funcPr>
                              <m:ctrlPr>
                                <a:rPr lang="de-D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de-DE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a:rPr lang="de-DE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𝐦𝐚𝐱</m:t>
                                  </m:r>
                                </m:e>
                                <m:lim>
                                  <m:r>
                                    <a:rPr lang="de-DE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  <m:r>
                                    <a:rPr lang="de-DE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de-DE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𝐐</m:t>
                              </m:r>
                              <m:d>
                                <m:dPr>
                                  <m:ctrlPr>
                                    <a:rPr lang="de-DE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b="1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𝐬</m:t>
                                      </m:r>
                                    </m:e>
                                    <m:sub>
                                      <m:r>
                                        <a:rPr lang="de-DE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𝐭</m:t>
                                      </m:r>
                                      <m:r>
                                        <a:rPr lang="de-DE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de-DE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de-DE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de-DE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  <m:r>
                                    <a:rPr lang="de-DE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</m:d>
                            </m:e>
                          </m:func>
                          <m:r>
                            <a:rPr lang="de-DE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𝐐</m:t>
                          </m:r>
                          <m:d>
                            <m:dPr>
                              <m:ctrlPr>
                                <a:rPr lang="de-D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𝐬</m:t>
                                  </m:r>
                                </m:e>
                                <m:sub>
                                  <m:r>
                                    <a:rPr lang="de-DE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𝐭</m:t>
                                  </m:r>
                                </m:sub>
                              </m:sSub>
                              <m:r>
                                <a:rPr lang="de-DE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de-DE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e>
                                <m:sub>
                                  <m:r>
                                    <a:rPr lang="de-DE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𝐭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de-DE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!!11">
                <a:extLst>
                  <a:ext uri="{FF2B5EF4-FFF2-40B4-BE49-F238E27FC236}">
                    <a16:creationId xmlns:a16="http://schemas.microsoft.com/office/drawing/2014/main" id="{1F98B218-7F9E-F136-9EBC-FB65BB6C21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033" y="4324822"/>
                <a:ext cx="7415935" cy="635798"/>
              </a:xfrm>
              <a:prstGeom prst="roundRect">
                <a:avLst>
                  <a:gd name="adj" fmla="val 8750"/>
                </a:avLst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rgbClr val="10B981">
                    <a:alpha val="60000"/>
                  </a:srgbClr>
                </a:solidFill>
                <a:prstDash val="solid"/>
              </a:ln>
              <a:effectLst>
                <a:outerShdw blurRad="152400" dist="38100" dir="2700000" algn="bl" rotWithShape="0">
                  <a:srgbClr val="000000">
                    <a:alpha val="18000"/>
                  </a:srgbClr>
                </a:outerShdw>
              </a:effectLst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015E5495-49F5-AA69-FDAF-DEEF1B1EC2F7}"/>
              </a:ext>
            </a:extLst>
          </p:cNvPr>
          <p:cNvCxnSpPr>
            <a:cxnSpLocks/>
          </p:cNvCxnSpPr>
          <p:nvPr/>
        </p:nvCxnSpPr>
        <p:spPr>
          <a:xfrm flipV="1">
            <a:off x="4876800" y="2571750"/>
            <a:ext cx="1074420" cy="120777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3788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F6EB6-CDFA-D56E-A331-5507B25AE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8F13DA1D-C34E-3AE9-1D57-CBECC09A9D4B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138CB569-E1D9-DBA8-4A37-B1798FF4D465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6240DAC-B425-D9F3-56BB-4FD68168CBA6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Preis der Transparenz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A06EB835-E692-B076-E740-DD203016ECAF}"/>
              </a:ext>
            </a:extLst>
          </p:cNvPr>
          <p:cNvSpPr/>
          <p:nvPr/>
        </p:nvSpPr>
        <p:spPr>
          <a:xfrm>
            <a:off x="6367670" y="54864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1C87B5CB-FDE1-4D92-AEBF-0F36A1936069}" type="slidenum">
              <a:rPr lang="en-US" sz="900" b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20</a:t>
            </a:fld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747FA96B-E256-1014-35F9-52C8F195D412}"/>
              </a:ext>
            </a:extLst>
          </p:cNvPr>
          <p:cNvSpPr/>
          <p:nvPr/>
        </p:nvSpPr>
        <p:spPr>
          <a:xfrm>
            <a:off x="3412435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BHH · Machine Learning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64767774-DA11-67EB-9FC8-980AAF0822DE}"/>
              </a:ext>
            </a:extLst>
          </p:cNvPr>
          <p:cNvSpPr/>
          <p:nvPr/>
        </p:nvSpPr>
        <p:spPr>
          <a:xfrm>
            <a:off x="457200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Methodik</a:t>
            </a: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&amp; Technik</a:t>
            </a:r>
          </a:p>
        </p:txBody>
      </p:sp>
      <p:sp>
        <p:nvSpPr>
          <p:cNvPr id="7" name="!!6">
            <a:extLst>
              <a:ext uri="{FF2B5EF4-FFF2-40B4-BE49-F238E27FC236}">
                <a16:creationId xmlns:a16="http://schemas.microsoft.com/office/drawing/2014/main" id="{E04853E5-F2A7-0CF9-DCBB-0733C9AE7BEF}"/>
              </a:ext>
            </a:extLst>
          </p:cNvPr>
          <p:cNvSpPr>
            <a:spLocks/>
          </p:cNvSpPr>
          <p:nvPr/>
        </p:nvSpPr>
        <p:spPr>
          <a:xfrm>
            <a:off x="365760" y="1181100"/>
            <a:ext cx="3931920" cy="217170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>
              <a:solidFill>
                <a:srgbClr val="1E293B"/>
              </a:solidFill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3BD1A09-7EC3-D5DB-833E-DA716BCDDE1C}"/>
              </a:ext>
            </a:extLst>
          </p:cNvPr>
          <p:cNvSpPr/>
          <p:nvPr/>
        </p:nvSpPr>
        <p:spPr>
          <a:xfrm>
            <a:off x="502920" y="13182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Vorteil</a:t>
            </a:r>
            <a:r>
              <a:rPr lang="en-US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Volle </a:t>
            </a:r>
            <a:r>
              <a:rPr lang="en-US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Nachvollziehbarkeit</a:t>
            </a:r>
            <a:endParaRPr lang="en-US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!!5">
            <a:extLst>
              <a:ext uri="{FF2B5EF4-FFF2-40B4-BE49-F238E27FC236}">
                <a16:creationId xmlns:a16="http://schemas.microsoft.com/office/drawing/2014/main" id="{253E6FE5-7EFE-763D-05F0-9E556B18467E}"/>
              </a:ext>
            </a:extLst>
          </p:cNvPr>
          <p:cNvSpPr/>
          <p:nvPr/>
        </p:nvSpPr>
        <p:spPr>
          <a:xfrm>
            <a:off x="4663440" y="1181100"/>
            <a:ext cx="4114800" cy="217170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EC943B9E-1968-8D67-BB95-0D351BF4D37F}"/>
              </a:ext>
            </a:extLst>
          </p:cNvPr>
          <p:cNvSpPr/>
          <p:nvPr/>
        </p:nvSpPr>
        <p:spPr>
          <a:xfrm>
            <a:off x="4800600" y="13182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Nachteil</a:t>
            </a:r>
            <a:r>
              <a:rPr lang="en-US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Fehlende</a:t>
            </a:r>
            <a:r>
              <a:rPr lang="en-US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Generalisierung</a:t>
            </a:r>
            <a:endParaRPr lang="en-US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hape 16">
            <a:extLst>
              <a:ext uri="{FF2B5EF4-FFF2-40B4-BE49-F238E27FC236}">
                <a16:creationId xmlns:a16="http://schemas.microsoft.com/office/drawing/2014/main" id="{56BC5B5D-5034-6B6B-2FD8-A7879D871EEC}"/>
              </a:ext>
            </a:extLst>
          </p:cNvPr>
          <p:cNvSpPr/>
          <p:nvPr/>
        </p:nvSpPr>
        <p:spPr>
          <a:xfrm>
            <a:off x="4800600" y="189433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noFill/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8">
            <a:extLst>
              <a:ext uri="{FF2B5EF4-FFF2-40B4-BE49-F238E27FC236}">
                <a16:creationId xmlns:a16="http://schemas.microsoft.com/office/drawing/2014/main" id="{F1777A48-BA08-60FE-882E-EFF5163FC451}"/>
              </a:ext>
            </a:extLst>
          </p:cNvPr>
          <p:cNvSpPr/>
          <p:nvPr/>
        </p:nvSpPr>
        <p:spPr>
          <a:xfrm>
            <a:off x="5257800" y="18806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1F5F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Kein </a:t>
            </a:r>
            <a:r>
              <a:rPr lang="en-US" sz="1400" dirty="0" err="1">
                <a:solidFill>
                  <a:srgbClr val="F1F5F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Wissenstransfer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Shape 19">
            <a:extLst>
              <a:ext uri="{FF2B5EF4-FFF2-40B4-BE49-F238E27FC236}">
                <a16:creationId xmlns:a16="http://schemas.microsoft.com/office/drawing/2014/main" id="{A3F9B571-BF85-78ED-C1A1-0F2857FDEC05}"/>
              </a:ext>
            </a:extLst>
          </p:cNvPr>
          <p:cNvSpPr/>
          <p:nvPr/>
        </p:nvSpPr>
        <p:spPr>
          <a:xfrm>
            <a:off x="4800600" y="232105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noFill/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21">
            <a:extLst>
              <a:ext uri="{FF2B5EF4-FFF2-40B4-BE49-F238E27FC236}">
                <a16:creationId xmlns:a16="http://schemas.microsoft.com/office/drawing/2014/main" id="{196299CB-C33A-677A-25DB-61E2E10FC446}"/>
              </a:ext>
            </a:extLst>
          </p:cNvPr>
          <p:cNvSpPr/>
          <p:nvPr/>
        </p:nvSpPr>
        <p:spPr>
          <a:xfrm>
            <a:off x="5257800" y="228447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rgbClr val="F1F5F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Kaltstart</a:t>
            </a:r>
            <a:r>
              <a:rPr lang="en-US" sz="1400" dirty="0">
                <a:solidFill>
                  <a:srgbClr val="F1F5F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-Problem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C764CD69-675E-DDE7-7D66-18EF2F135471}"/>
              </a:ext>
            </a:extLst>
          </p:cNvPr>
          <p:cNvSpPr/>
          <p:nvPr/>
        </p:nvSpPr>
        <p:spPr>
          <a:xfrm>
            <a:off x="502920" y="199339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noFill/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C78FBDC5-6CDC-2CCC-D875-CE8E14662FD0}"/>
              </a:ext>
            </a:extLst>
          </p:cNvPr>
          <p:cNvSpPr/>
          <p:nvPr/>
        </p:nvSpPr>
        <p:spPr>
          <a:xfrm>
            <a:off x="502920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+</a:t>
            </a: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B8CD3933-CE8B-CC25-9ED1-BA06A95AC1A0}"/>
              </a:ext>
            </a:extLst>
          </p:cNvPr>
          <p:cNvSpPr/>
          <p:nvPr/>
        </p:nvSpPr>
        <p:spPr>
          <a:xfrm>
            <a:off x="960120" y="19796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Direkte</a:t>
            </a:r>
            <a:r>
              <a:rPr lang="en-US" sz="1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Prüfbarkeit</a:t>
            </a:r>
            <a:endParaRPr lang="en-US" sz="1400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A37A1220-E2B0-5813-3672-225CF29EA247}"/>
              </a:ext>
            </a:extLst>
          </p:cNvPr>
          <p:cNvSpPr/>
          <p:nvPr/>
        </p:nvSpPr>
        <p:spPr>
          <a:xfrm>
            <a:off x="502920" y="259537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noFill/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231C768-D483-1E77-ACA6-B179AF0D46B9}"/>
              </a:ext>
            </a:extLst>
          </p:cNvPr>
          <p:cNvSpPr/>
          <p:nvPr/>
        </p:nvSpPr>
        <p:spPr>
          <a:xfrm>
            <a:off x="502920" y="25953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9D75A3CF-F197-9093-5DEC-45F1C3D84DF6}"/>
              </a:ext>
            </a:extLst>
          </p:cNvPr>
          <p:cNvSpPr/>
          <p:nvPr/>
        </p:nvSpPr>
        <p:spPr>
          <a:xfrm>
            <a:off x="960120" y="256794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White-Box-</a:t>
            </a:r>
            <a:r>
              <a:rPr lang="en-US" sz="140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Kombination</a:t>
            </a:r>
            <a:endParaRPr lang="en-US" sz="1400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Shape 19">
            <a:extLst>
              <a:ext uri="{FF2B5EF4-FFF2-40B4-BE49-F238E27FC236}">
                <a16:creationId xmlns:a16="http://schemas.microsoft.com/office/drawing/2014/main" id="{A8950B51-FBA5-E534-EC48-0E4D7353D139}"/>
              </a:ext>
            </a:extLst>
          </p:cNvPr>
          <p:cNvSpPr/>
          <p:nvPr/>
        </p:nvSpPr>
        <p:spPr>
          <a:xfrm>
            <a:off x="4800600" y="274015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noFill/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D56F3074-45B1-0509-8047-E83FFA079059}"/>
              </a:ext>
            </a:extLst>
          </p:cNvPr>
          <p:cNvSpPr/>
          <p:nvPr/>
        </p:nvSpPr>
        <p:spPr>
          <a:xfrm>
            <a:off x="5257800" y="270063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1F5F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Explosion </a:t>
            </a:r>
            <a:r>
              <a:rPr lang="en-US" sz="1400" dirty="0" err="1">
                <a:solidFill>
                  <a:srgbClr val="F1F5F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beim</a:t>
            </a:r>
            <a:r>
              <a:rPr lang="en-US" sz="1400" dirty="0">
                <a:solidFill>
                  <a:srgbClr val="F1F5F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solidFill>
                  <a:srgbClr val="F1F5F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Kartenzählen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Text 20">
            <a:extLst>
              <a:ext uri="{FF2B5EF4-FFF2-40B4-BE49-F238E27FC236}">
                <a16:creationId xmlns:a16="http://schemas.microsoft.com/office/drawing/2014/main" id="{38E6627F-1EFE-8806-0ED5-574CB9A23D5A}"/>
              </a:ext>
            </a:extLst>
          </p:cNvPr>
          <p:cNvSpPr/>
          <p:nvPr/>
        </p:nvSpPr>
        <p:spPr>
          <a:xfrm>
            <a:off x="4800600" y="18333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_</a:t>
            </a:r>
            <a:endParaRPr lang="en-US" sz="1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DC5CBA5C-E732-02D2-A678-DF3AC26CC566}"/>
              </a:ext>
            </a:extLst>
          </p:cNvPr>
          <p:cNvSpPr/>
          <p:nvPr/>
        </p:nvSpPr>
        <p:spPr>
          <a:xfrm>
            <a:off x="4800600" y="2260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_</a:t>
            </a:r>
            <a:endParaRPr lang="en-US" sz="1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Text 20">
            <a:extLst>
              <a:ext uri="{FF2B5EF4-FFF2-40B4-BE49-F238E27FC236}">
                <a16:creationId xmlns:a16="http://schemas.microsoft.com/office/drawing/2014/main" id="{E1F1DBD9-0020-33B1-AFD1-D6A4498410AC}"/>
              </a:ext>
            </a:extLst>
          </p:cNvPr>
          <p:cNvSpPr/>
          <p:nvPr/>
        </p:nvSpPr>
        <p:spPr>
          <a:xfrm>
            <a:off x="4800600" y="2679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_</a:t>
            </a:r>
            <a:endParaRPr lang="en-US" sz="1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!!11">
                <a:extLst>
                  <a:ext uri="{FF2B5EF4-FFF2-40B4-BE49-F238E27FC236}">
                    <a16:creationId xmlns:a16="http://schemas.microsoft.com/office/drawing/2014/main" id="{DB2D2B9E-448D-870C-B2E3-9FF2EB70DC75}"/>
                  </a:ext>
                </a:extLst>
              </p:cNvPr>
              <p:cNvSpPr/>
              <p:nvPr/>
            </p:nvSpPr>
            <p:spPr>
              <a:xfrm>
                <a:off x="1402081" y="3769608"/>
                <a:ext cx="6339839" cy="703332"/>
              </a:xfrm>
              <a:prstGeom prst="roundRect">
                <a:avLst>
                  <a:gd name="adj" fmla="val 8750"/>
                </a:avLst>
              </a:prstGeom>
              <a:solidFill>
                <a:srgbClr val="F1F5F9"/>
              </a:solidFill>
              <a:ln w="12700">
                <a:solidFill>
                  <a:srgbClr val="0D9488">
                    <a:alpha val="40000"/>
                  </a:srgbClr>
                </a:solidFill>
                <a:prstDash val="solid"/>
              </a:ln>
              <a:effectLst>
                <a:outerShdw blurRad="101600" dist="25400" dir="2700000" algn="bl" rotWithShape="0">
                  <a:srgbClr val="000000">
                    <a:alpha val="14000"/>
                  </a:srgbClr>
                </a:outerShdw>
              </a:effectLst>
            </p:spPr>
            <p:txBody>
              <a:bodyPr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600" b="1" i="1" smtClean="0">
                          <a:latin typeface="Cambria Math" panose="02040503050406030204" pitchFamily="18" charset="0"/>
                        </a:rPr>
                        <m:t>𝑻𝒆𝒄𝒉𝒏𝒊𝒔𝒄𝒉𝒆</m:t>
                      </m:r>
                      <m:r>
                        <a:rPr lang="de-D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600" b="1" i="1" smtClean="0">
                          <a:latin typeface="Cambria Math" panose="02040503050406030204" pitchFamily="18" charset="0"/>
                        </a:rPr>
                        <m:t>𝑰𝒎𝒑𝒍𝒆𝒎𝒆𝒏𝒕𝒊𝒆𝒓𝒖𝒏𝒈</m:t>
                      </m:r>
                      <m:r>
                        <a:rPr lang="de-D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600" b="1" i="1" smtClean="0">
                          <a:latin typeface="Cambria Math" panose="02040503050406030204" pitchFamily="18" charset="0"/>
                        </a:rPr>
                        <m:t>𝒃𝒆𝒊</m:t>
                      </m:r>
                      <m:r>
                        <a:rPr lang="de-D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600" b="1" i="1" smtClean="0">
                          <a:latin typeface="Cambria Math" panose="02040503050406030204" pitchFamily="18" charset="0"/>
                        </a:rPr>
                        <m:t>𝑮𝒍𝒆𝒊𝒄𝒉𝒔𝒕𝒂𝒏𝒅</m:t>
                      </m:r>
                      <m:r>
                        <a:rPr lang="de-DE" sz="1600" b="1" i="1" smtClean="0">
                          <a:latin typeface="Cambria Math" panose="02040503050406030204" pitchFamily="18" charset="0"/>
                        </a:rPr>
                        <m:t>: </m:t>
                      </m:r>
                    </m:oMath>
                  </m:oMathPara>
                </a14:m>
                <a:endParaRPr lang="en-GB" sz="1600" b="1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i="1" smtClean="0">
                          <a:latin typeface="Cambria Math" panose="02040503050406030204" pitchFamily="18" charset="0"/>
                        </a:rPr>
                        <m:t>𝑊𝑒𝑛𝑛</m:t>
                      </m:r>
                      <m:r>
                        <a:rPr lang="de-DE" sz="12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200" i="1" smtClean="0">
                          <a:latin typeface="Cambria Math" panose="02040503050406030204" pitchFamily="18" charset="0"/>
                        </a:rPr>
                        <m:t>𝑆𝑡𝑎𝑛𝑑</m:t>
                      </m:r>
                      <m:r>
                        <a:rPr lang="de-DE" sz="12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200" i="1" smtClean="0">
                          <a:latin typeface="Cambria Math" panose="02040503050406030204" pitchFamily="18" charset="0"/>
                        </a:rPr>
                        <m:t>𝑢𝑛𝑑</m:t>
                      </m:r>
                      <m:r>
                        <a:rPr lang="de-DE" sz="12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200" i="1" smtClean="0">
                          <a:latin typeface="Cambria Math" panose="02040503050406030204" pitchFamily="18" charset="0"/>
                        </a:rPr>
                        <m:t>𝐻𝑖𝑡</m:t>
                      </m:r>
                      <m:r>
                        <a:rPr lang="de-DE" sz="12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200" i="1" smtClean="0">
                          <a:latin typeface="Cambria Math" panose="02040503050406030204" pitchFamily="18" charset="0"/>
                        </a:rPr>
                        <m:t>𝑑𝑒𝑛</m:t>
                      </m:r>
                      <m:r>
                        <a:rPr lang="de-DE" sz="12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200" i="1" smtClean="0">
                          <a:latin typeface="Cambria Math" panose="02040503050406030204" pitchFamily="18" charset="0"/>
                        </a:rPr>
                        <m:t>𝑒𝑥𝑎𝑘𝑡</m:t>
                      </m:r>
                      <m:r>
                        <a:rPr lang="de-DE" sz="12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200" i="1" smtClean="0">
                          <a:latin typeface="Cambria Math" panose="02040503050406030204" pitchFamily="18" charset="0"/>
                        </a:rPr>
                        <m:t>𝑔𝑙𝑒𝑖𝑐h𝑒𝑛</m:t>
                      </m:r>
                      <m:r>
                        <a:rPr lang="de-DE" sz="12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20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de-DE" sz="12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sz="1200" i="1" smtClean="0">
                          <a:latin typeface="Cambria Math" panose="02040503050406030204" pitchFamily="18" charset="0"/>
                        </a:rPr>
                        <m:t>𝑊𝑒𝑟𝑡</m:t>
                      </m:r>
                      <m:r>
                        <a:rPr lang="de-DE" sz="12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200" i="1" smtClean="0">
                          <a:latin typeface="Cambria Math" panose="02040503050406030204" pitchFamily="18" charset="0"/>
                        </a:rPr>
                        <m:t>𝑎𝑢𝑓𝑤𝑒𝑖𝑠𝑒𝑛</m:t>
                      </m:r>
                      <m:r>
                        <a:rPr lang="de-DE" sz="120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de-D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2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de-DE" sz="1200" i="1"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de-DE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de-DE" sz="1200" i="1"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de-DE" sz="1200" i="1">
                              <a:latin typeface="Cambria Math" panose="02040503050406030204" pitchFamily="18" charset="0"/>
                            </a:rPr>
                            <m:t>𝑏𝑒𝑖𝑚</m:t>
                          </m:r>
                          <m:r>
                            <a:rPr lang="de-DE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1200" i="1">
                              <a:latin typeface="Cambria Math" panose="02040503050406030204" pitchFamily="18" charset="0"/>
                            </a:rPr>
                            <m:t>𝑆𝑡𝑎𝑟𝑡𝑤𝑒𝑟𝑡</m:t>
                          </m:r>
                          <m:r>
                            <a:rPr lang="de-DE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de-DE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1200" i="1">
                                  <a:latin typeface="Cambria Math" panose="02040503050406030204" pitchFamily="18" charset="0"/>
                                </a:rPr>
                                <m:t>0,0</m:t>
                              </m:r>
                            </m:e>
                          </m:d>
                        </m:e>
                      </m:d>
                      <m:r>
                        <a:rPr lang="de-DE" sz="1200" i="1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GB" sz="12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ä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h𝑙𝑡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𝑑𝑖𝑒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𝑎𝑟𝑔𝑚𝑎𝑥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𝐹𝑢𝑛𝑘𝑡𝑖𝑜𝑛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𝑡𝑒𝑐h𝑛𝑖𝑠𝑐h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𝑏𝑒𝑑𝑖𝑛𝑔𝑡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𝑠𝑡𝑎𝑛𝑑𝑎𝑟𝑑𝑚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äß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𝑖𝑔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𝑖𝑚𝑚𝑒𝑟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𝑆𝑡𝑎𝑛𝑑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de-DE" sz="900" b="1" i="1" dirty="0">
                  <a:solidFill>
                    <a:srgbClr val="1E293B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6" name="!!11">
                <a:extLst>
                  <a:ext uri="{FF2B5EF4-FFF2-40B4-BE49-F238E27FC236}">
                    <a16:creationId xmlns:a16="http://schemas.microsoft.com/office/drawing/2014/main" id="{DB2D2B9E-448D-870C-B2E3-9FF2EB70DC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081" y="3769608"/>
                <a:ext cx="6339839" cy="703332"/>
              </a:xfrm>
              <a:prstGeom prst="roundRect">
                <a:avLst>
                  <a:gd name="adj" fmla="val 875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0D9488">
                    <a:alpha val="40000"/>
                  </a:srgbClr>
                </a:solidFill>
                <a:prstDash val="solid"/>
              </a:ln>
              <a:effectLst>
                <a:outerShdw blurRad="101600" dist="25400" dir="2700000" algn="bl" rotWithShape="0">
                  <a:srgbClr val="000000">
                    <a:alpha val="14000"/>
                  </a:srgbClr>
                </a:outerShdw>
              </a:effectLst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6766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7C7F4-E109-BB02-4AD8-699BEBD85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26355BE-B347-CC44-1E15-62429B28A68D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183831AB-F516-ADB3-2FEC-23231FBF56C6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BF69FD5-27F1-6424-5DE6-EE9AA5E52DF1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Hyperparameter-Auswahl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52A4514-8358-0F8A-9E3A-0E2BDBA3CDA0}"/>
              </a:ext>
            </a:extLst>
          </p:cNvPr>
          <p:cNvSpPr/>
          <p:nvPr/>
        </p:nvSpPr>
        <p:spPr>
          <a:xfrm>
            <a:off x="6367670" y="54864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1C87B5CB-FDE1-4D92-AEBF-0F36A1936069}" type="slidenum">
              <a:rPr lang="en-US" sz="900" b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21</a:t>
            </a:fld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CE6F3845-F5F3-BFCB-ADA3-87F38ED483B2}"/>
              </a:ext>
            </a:extLst>
          </p:cNvPr>
          <p:cNvSpPr/>
          <p:nvPr/>
        </p:nvSpPr>
        <p:spPr>
          <a:xfrm>
            <a:off x="3412435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BHH · Machine Learning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8FD232F6-9E54-73D0-696F-43AC6A393249}"/>
              </a:ext>
            </a:extLst>
          </p:cNvPr>
          <p:cNvSpPr/>
          <p:nvPr/>
        </p:nvSpPr>
        <p:spPr>
          <a:xfrm>
            <a:off x="457200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Methodik</a:t>
            </a: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&amp; Technik</a:t>
            </a:r>
          </a:p>
        </p:txBody>
      </p:sp>
      <p:graphicFrame>
        <p:nvGraphicFramePr>
          <p:cNvPr id="33" name="Tabelle 32">
            <a:extLst>
              <a:ext uri="{FF2B5EF4-FFF2-40B4-BE49-F238E27FC236}">
                <a16:creationId xmlns:a16="http://schemas.microsoft.com/office/drawing/2014/main" id="{47699ABA-27EC-848F-3D9F-CB534D441B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039395"/>
              </p:ext>
            </p:extLst>
          </p:nvPr>
        </p:nvGraphicFramePr>
        <p:xfrm>
          <a:off x="3093720" y="1284608"/>
          <a:ext cx="5818419" cy="3262310"/>
        </p:xfrm>
        <a:graphic>
          <a:graphicData uri="http://schemas.openxmlformats.org/drawingml/2006/table">
            <a:tbl>
              <a:tblPr/>
              <a:tblGrid>
                <a:gridCol w="1629593">
                  <a:extLst>
                    <a:ext uri="{9D8B030D-6E8A-4147-A177-3AD203B41FA5}">
                      <a16:colId xmlns:a16="http://schemas.microsoft.com/office/drawing/2014/main" val="4049940722"/>
                    </a:ext>
                  </a:extLst>
                </a:gridCol>
                <a:gridCol w="2094413">
                  <a:extLst>
                    <a:ext uri="{9D8B030D-6E8A-4147-A177-3AD203B41FA5}">
                      <a16:colId xmlns:a16="http://schemas.microsoft.com/office/drawing/2014/main" val="2498501315"/>
                    </a:ext>
                  </a:extLst>
                </a:gridCol>
                <a:gridCol w="2094413">
                  <a:extLst>
                    <a:ext uri="{9D8B030D-6E8A-4147-A177-3AD203B41FA5}">
                      <a16:colId xmlns:a16="http://schemas.microsoft.com/office/drawing/2014/main" val="1422367532"/>
                    </a:ext>
                  </a:extLst>
                </a:gridCol>
              </a:tblGrid>
              <a:tr h="3806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 dirty="0">
                          <a:solidFill>
                            <a:srgbClr val="0D9488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Parameter</a:t>
                      </a:r>
                      <a:endParaRPr lang="de-DE" sz="1400" dirty="0">
                        <a:solidFill>
                          <a:srgbClr val="0D9488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101947" marR="101947" marT="67965" marB="67965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 dirty="0">
                          <a:solidFill>
                            <a:srgbClr val="0D9488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Wert</a:t>
                      </a:r>
                      <a:endParaRPr lang="de-DE" sz="1400" dirty="0">
                        <a:solidFill>
                          <a:srgbClr val="0D9488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101947" marR="101947" marT="67965" marB="67965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 dirty="0">
                          <a:solidFill>
                            <a:srgbClr val="0D9488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Begründung</a:t>
                      </a:r>
                      <a:endParaRPr lang="de-DE" sz="1400" dirty="0">
                        <a:solidFill>
                          <a:srgbClr val="0D9488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101947" marR="101947" marT="67965" marB="67965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555723"/>
                  </a:ext>
                </a:extLst>
              </a:tr>
              <a:tr h="3806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Learning Rate 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α</a:t>
                      </a:r>
                      <a:endParaRPr lang="de-DE" sz="12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101947" marR="101947" marT="67965" marB="67965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b="1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0.01</a:t>
                      </a:r>
                      <a:endParaRPr lang="de-DE" sz="12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101947" marR="101947" marT="67965" marB="67965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Stabilität &amp; Speed</a:t>
                      </a:r>
                    </a:p>
                  </a:txBody>
                  <a:tcPr marL="101947" marR="101947" marT="67965" marB="67965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935688"/>
                  </a:ext>
                </a:extLst>
              </a:tr>
              <a:tr h="625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Discount </a:t>
                      </a:r>
                      <a:r>
                        <a:rPr lang="de-DE" sz="1200" dirty="0" err="1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Factor</a:t>
                      </a:r>
                      <a:r>
                        <a:rPr lang="de-DE" sz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γ</a:t>
                      </a:r>
                      <a:endParaRPr lang="de-DE" sz="12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101947" marR="101947" marT="67965" marB="67965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b="1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0.99</a:t>
                      </a:r>
                      <a:endParaRPr lang="de-DE" sz="12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101947" marR="101947" marT="67965" marB="67965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Lange Foresight</a:t>
                      </a:r>
                    </a:p>
                  </a:txBody>
                  <a:tcPr marL="101947" marR="101947" marT="67965" marB="67965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624776"/>
                  </a:ext>
                </a:extLst>
              </a:tr>
              <a:tr h="625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Initial 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ε</a:t>
                      </a:r>
                      <a:endParaRPr lang="de-DE" sz="12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101947" marR="101947" marT="67965" marB="67965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b="1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1.0</a:t>
                      </a:r>
                      <a:endParaRPr lang="de-DE" sz="12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101947" marR="101947" marT="67965" marB="67965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Vollständige Exploration zu Beginn</a:t>
                      </a:r>
                    </a:p>
                  </a:txBody>
                  <a:tcPr marL="101947" marR="101947" marT="67965" marB="67965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89276"/>
                  </a:ext>
                </a:extLst>
              </a:tr>
              <a:tr h="625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ε</a:t>
                      </a:r>
                      <a:r>
                        <a:rPr lang="de-DE" sz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Decay</a:t>
                      </a:r>
                    </a:p>
                  </a:txBody>
                  <a:tcPr marL="101947" marR="101947" marT="67965" marB="67965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b="1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0.90</a:t>
                      </a:r>
                      <a:endParaRPr lang="de-DE" sz="12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101947" marR="101947" marT="67965" marB="67965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Langsame, schrittweise Reduktion</a:t>
                      </a:r>
                    </a:p>
                  </a:txBody>
                  <a:tcPr marL="101947" marR="101947" marT="67965" marB="67965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903926"/>
                  </a:ext>
                </a:extLst>
              </a:tr>
              <a:tr h="625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Final 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ε</a:t>
                      </a:r>
                      <a:endParaRPr lang="de-DE" sz="12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101947" marR="101947" marT="67965" marB="67965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b="1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0.10</a:t>
                      </a:r>
                      <a:endParaRPr lang="de-DE" sz="120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101947" marR="101947" marT="67965" marB="67965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Residuale Exploration am Ende</a:t>
                      </a:r>
                    </a:p>
                  </a:txBody>
                  <a:tcPr marL="101947" marR="101947" marT="67965" marB="67965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4060569"/>
                  </a:ext>
                </a:extLst>
              </a:tr>
            </a:tbl>
          </a:graphicData>
        </a:graphic>
      </p:graphicFrame>
      <p:sp>
        <p:nvSpPr>
          <p:cNvPr id="46" name="Shape 30">
            <a:extLst>
              <a:ext uri="{FF2B5EF4-FFF2-40B4-BE49-F238E27FC236}">
                <a16:creationId xmlns:a16="http://schemas.microsoft.com/office/drawing/2014/main" id="{3A9968B4-FE09-839C-DE2D-C519502731D3}"/>
              </a:ext>
            </a:extLst>
          </p:cNvPr>
          <p:cNvSpPr/>
          <p:nvPr/>
        </p:nvSpPr>
        <p:spPr>
          <a:xfrm>
            <a:off x="166097" y="1078230"/>
            <a:ext cx="2750458" cy="3611880"/>
          </a:xfrm>
          <a:prstGeom prst="roundRect">
            <a:avLst>
              <a:gd name="adj" fmla="val 3544"/>
            </a:avLst>
          </a:prstGeom>
          <a:solidFill>
            <a:srgbClr val="1E293B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7" name="Text 31">
            <a:extLst>
              <a:ext uri="{FF2B5EF4-FFF2-40B4-BE49-F238E27FC236}">
                <a16:creationId xmlns:a16="http://schemas.microsoft.com/office/drawing/2014/main" id="{8FFB3A49-C6E9-D307-8349-B1BD523EB63D}"/>
              </a:ext>
            </a:extLst>
          </p:cNvPr>
          <p:cNvSpPr/>
          <p:nvPr/>
        </p:nvSpPr>
        <p:spPr>
          <a:xfrm>
            <a:off x="166097" y="1215390"/>
            <a:ext cx="2750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Optimierungsprozess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A027AC6C-AFF2-3A1F-2B44-689765F6AE56}"/>
              </a:ext>
            </a:extLst>
          </p:cNvPr>
          <p:cNvGrpSpPr/>
          <p:nvPr/>
        </p:nvGrpSpPr>
        <p:grpSpPr>
          <a:xfrm>
            <a:off x="457200" y="1672590"/>
            <a:ext cx="548640" cy="548640"/>
            <a:chOff x="6900244" y="1649730"/>
            <a:chExt cx="548640" cy="548640"/>
          </a:xfrm>
        </p:grpSpPr>
        <p:sp>
          <p:nvSpPr>
            <p:cNvPr id="49" name="Shape 32">
              <a:extLst>
                <a:ext uri="{FF2B5EF4-FFF2-40B4-BE49-F238E27FC236}">
                  <a16:creationId xmlns:a16="http://schemas.microsoft.com/office/drawing/2014/main" id="{FF7FDCD8-7A3A-78FF-59BE-CAFEFA7B2C65}"/>
                </a:ext>
              </a:extLst>
            </p:cNvPr>
            <p:cNvSpPr/>
            <p:nvPr/>
          </p:nvSpPr>
          <p:spPr>
            <a:xfrm>
              <a:off x="6900244" y="1649730"/>
              <a:ext cx="548640" cy="548640"/>
            </a:xfrm>
            <a:prstGeom prst="ellipse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de-DE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50" name="Text 33">
              <a:extLst>
                <a:ext uri="{FF2B5EF4-FFF2-40B4-BE49-F238E27FC236}">
                  <a16:creationId xmlns:a16="http://schemas.microsoft.com/office/drawing/2014/main" id="{14C4EBE7-4AF2-74CE-994D-BEAB57025E49}"/>
                </a:ext>
              </a:extLst>
            </p:cNvPr>
            <p:cNvSpPr/>
            <p:nvPr/>
          </p:nvSpPr>
          <p:spPr>
            <a:xfrm>
              <a:off x="6900244" y="164973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16</a:t>
              </a:r>
              <a:endParaRPr lang="en-US" sz="16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51" name="Text 34">
            <a:extLst>
              <a:ext uri="{FF2B5EF4-FFF2-40B4-BE49-F238E27FC236}">
                <a16:creationId xmlns:a16="http://schemas.microsoft.com/office/drawing/2014/main" id="{D124078A-A831-E4A7-E8F0-C54B94532650}"/>
              </a:ext>
            </a:extLst>
          </p:cNvPr>
          <p:cNvSpPr/>
          <p:nvPr/>
        </p:nvSpPr>
        <p:spPr>
          <a:xfrm>
            <a:off x="1124712" y="1709166"/>
            <a:ext cx="14557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Konfigurationen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2" name="Text 35">
            <a:extLst>
              <a:ext uri="{FF2B5EF4-FFF2-40B4-BE49-F238E27FC236}">
                <a16:creationId xmlns:a16="http://schemas.microsoft.com/office/drawing/2014/main" id="{8A3E5277-A517-C067-00CE-9CB643B3B0A0}"/>
              </a:ext>
            </a:extLst>
          </p:cNvPr>
          <p:cNvSpPr/>
          <p:nvPr/>
        </p:nvSpPr>
        <p:spPr>
          <a:xfrm>
            <a:off x="1124712" y="1974342"/>
            <a:ext cx="14557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Stage 1: Breite Suche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3" name="Shape 36">
            <a:extLst>
              <a:ext uri="{FF2B5EF4-FFF2-40B4-BE49-F238E27FC236}">
                <a16:creationId xmlns:a16="http://schemas.microsoft.com/office/drawing/2014/main" id="{07480E61-74E0-A8C1-EF3F-D87BA31D1E92}"/>
              </a:ext>
            </a:extLst>
          </p:cNvPr>
          <p:cNvSpPr/>
          <p:nvPr/>
        </p:nvSpPr>
        <p:spPr>
          <a:xfrm>
            <a:off x="731520" y="2266950"/>
            <a:ext cx="0" cy="36576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2657C3F6-BE41-6114-5E64-AABCDCB086F4}"/>
              </a:ext>
            </a:extLst>
          </p:cNvPr>
          <p:cNvGrpSpPr/>
          <p:nvPr/>
        </p:nvGrpSpPr>
        <p:grpSpPr>
          <a:xfrm>
            <a:off x="457200" y="2660142"/>
            <a:ext cx="548640" cy="548640"/>
            <a:chOff x="6900244" y="2637282"/>
            <a:chExt cx="548640" cy="548640"/>
          </a:xfrm>
        </p:grpSpPr>
        <p:sp>
          <p:nvSpPr>
            <p:cNvPr id="55" name="Shape 37">
              <a:extLst>
                <a:ext uri="{FF2B5EF4-FFF2-40B4-BE49-F238E27FC236}">
                  <a16:creationId xmlns:a16="http://schemas.microsoft.com/office/drawing/2014/main" id="{B6A5932F-5780-04A1-64B3-A5E9194AFAB6}"/>
                </a:ext>
              </a:extLst>
            </p:cNvPr>
            <p:cNvSpPr/>
            <p:nvPr/>
          </p:nvSpPr>
          <p:spPr>
            <a:xfrm>
              <a:off x="6900244" y="2637282"/>
              <a:ext cx="548640" cy="548640"/>
            </a:xfrm>
            <a:prstGeom prst="ellipse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de-DE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56" name="Text 38">
              <a:extLst>
                <a:ext uri="{FF2B5EF4-FFF2-40B4-BE49-F238E27FC236}">
                  <a16:creationId xmlns:a16="http://schemas.microsoft.com/office/drawing/2014/main" id="{94E15E3C-AF9D-3977-5526-C4D5DC0AD583}"/>
                </a:ext>
              </a:extLst>
            </p:cNvPr>
            <p:cNvSpPr/>
            <p:nvPr/>
          </p:nvSpPr>
          <p:spPr>
            <a:xfrm>
              <a:off x="6900244" y="2637282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8</a:t>
              </a:r>
              <a:endParaRPr lang="en-US" sz="16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57" name="Text 39">
            <a:extLst>
              <a:ext uri="{FF2B5EF4-FFF2-40B4-BE49-F238E27FC236}">
                <a16:creationId xmlns:a16="http://schemas.microsoft.com/office/drawing/2014/main" id="{E4FB34C2-61DB-7FB0-7EEA-0F54A4DCEE35}"/>
              </a:ext>
            </a:extLst>
          </p:cNvPr>
          <p:cNvSpPr/>
          <p:nvPr/>
        </p:nvSpPr>
        <p:spPr>
          <a:xfrm>
            <a:off x="1124712" y="2696718"/>
            <a:ext cx="14557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Konfigurationen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8" name="Text 40">
            <a:extLst>
              <a:ext uri="{FF2B5EF4-FFF2-40B4-BE49-F238E27FC236}">
                <a16:creationId xmlns:a16="http://schemas.microsoft.com/office/drawing/2014/main" id="{C1689BA1-A718-D9F2-9DC8-7EB5FADEBFA4}"/>
              </a:ext>
            </a:extLst>
          </p:cNvPr>
          <p:cNvSpPr/>
          <p:nvPr/>
        </p:nvSpPr>
        <p:spPr>
          <a:xfrm>
            <a:off x="1124712" y="2961894"/>
            <a:ext cx="14557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Stage 2: Eingrenzung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9" name="Shape 41">
            <a:extLst>
              <a:ext uri="{FF2B5EF4-FFF2-40B4-BE49-F238E27FC236}">
                <a16:creationId xmlns:a16="http://schemas.microsoft.com/office/drawing/2014/main" id="{FD9152B9-B8AF-F9E6-9F8C-35788FB713D6}"/>
              </a:ext>
            </a:extLst>
          </p:cNvPr>
          <p:cNvSpPr/>
          <p:nvPr/>
        </p:nvSpPr>
        <p:spPr>
          <a:xfrm>
            <a:off x="731520" y="3254502"/>
            <a:ext cx="0" cy="36576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1389D43E-0A2A-EEBF-C3F3-C7B1B086135C}"/>
              </a:ext>
            </a:extLst>
          </p:cNvPr>
          <p:cNvGrpSpPr/>
          <p:nvPr/>
        </p:nvGrpSpPr>
        <p:grpSpPr>
          <a:xfrm>
            <a:off x="457200" y="3647694"/>
            <a:ext cx="548640" cy="548640"/>
            <a:chOff x="6900244" y="3624834"/>
            <a:chExt cx="548640" cy="548640"/>
          </a:xfrm>
        </p:grpSpPr>
        <p:sp>
          <p:nvSpPr>
            <p:cNvPr id="61" name="Shape 42">
              <a:extLst>
                <a:ext uri="{FF2B5EF4-FFF2-40B4-BE49-F238E27FC236}">
                  <a16:creationId xmlns:a16="http://schemas.microsoft.com/office/drawing/2014/main" id="{83EB4588-1C57-3ED9-75D8-628438F9FAE0}"/>
                </a:ext>
              </a:extLst>
            </p:cNvPr>
            <p:cNvSpPr/>
            <p:nvPr/>
          </p:nvSpPr>
          <p:spPr>
            <a:xfrm>
              <a:off x="6900244" y="3624834"/>
              <a:ext cx="548640" cy="548640"/>
            </a:xfrm>
            <a:prstGeom prst="ellipse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de-DE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62" name="Text 43">
              <a:extLst>
                <a:ext uri="{FF2B5EF4-FFF2-40B4-BE49-F238E27FC236}">
                  <a16:creationId xmlns:a16="http://schemas.microsoft.com/office/drawing/2014/main" id="{520B5061-C1F2-7DBE-0732-0CE3B1AC7F60}"/>
                </a:ext>
              </a:extLst>
            </p:cNvPr>
            <p:cNvSpPr/>
            <p:nvPr/>
          </p:nvSpPr>
          <p:spPr>
            <a:xfrm>
              <a:off x="6900244" y="3624834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4</a:t>
              </a:r>
              <a:endParaRPr lang="en-US" sz="16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63" name="Text 44">
            <a:extLst>
              <a:ext uri="{FF2B5EF4-FFF2-40B4-BE49-F238E27FC236}">
                <a16:creationId xmlns:a16="http://schemas.microsoft.com/office/drawing/2014/main" id="{8D3A5129-BF54-E65F-4163-70AA1F92330B}"/>
              </a:ext>
            </a:extLst>
          </p:cNvPr>
          <p:cNvSpPr/>
          <p:nvPr/>
        </p:nvSpPr>
        <p:spPr>
          <a:xfrm>
            <a:off x="1124712" y="3684270"/>
            <a:ext cx="14557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Konfigurationen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4" name="Text 45">
            <a:extLst>
              <a:ext uri="{FF2B5EF4-FFF2-40B4-BE49-F238E27FC236}">
                <a16:creationId xmlns:a16="http://schemas.microsoft.com/office/drawing/2014/main" id="{9FA61D5D-6C09-7839-A06C-78DD1385DB49}"/>
              </a:ext>
            </a:extLst>
          </p:cNvPr>
          <p:cNvSpPr/>
          <p:nvPr/>
        </p:nvSpPr>
        <p:spPr>
          <a:xfrm>
            <a:off x="1124712" y="3949446"/>
            <a:ext cx="14557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Stage 3: Finale Tests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6" name="Text 32">
            <a:extLst>
              <a:ext uri="{FF2B5EF4-FFF2-40B4-BE49-F238E27FC236}">
                <a16:creationId xmlns:a16="http://schemas.microsoft.com/office/drawing/2014/main" id="{211074A5-E5F8-6FD8-4676-53609BA680F4}"/>
              </a:ext>
            </a:extLst>
          </p:cNvPr>
          <p:cNvSpPr/>
          <p:nvPr/>
        </p:nvSpPr>
        <p:spPr>
          <a:xfrm>
            <a:off x="25908" y="53964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32348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 animBg="1"/>
      <p:bldP spid="53" grpId="0" animBg="1"/>
      <p:bldP spid="57" grpId="0" animBg="1"/>
      <p:bldP spid="58" grpId="0" animBg="1"/>
      <p:bldP spid="59" grpId="0" animBg="1"/>
      <p:bldP spid="63" grpId="0" animBg="1"/>
      <p:bldP spid="6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4C2F6-EEFF-B114-E3E4-95F6351C5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7A566CF1-44E8-F9BD-F66F-B68EC95B035B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4F5541DB-FD7A-2A6A-A712-BBD32A124B63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ADF825D-3A00-2E4B-94B3-56DB95B33981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600 Millionen Trainingsrunden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A85C2FF-7772-D7E6-5DF4-E0A1EED43C41}"/>
              </a:ext>
            </a:extLst>
          </p:cNvPr>
          <p:cNvSpPr/>
          <p:nvPr/>
        </p:nvSpPr>
        <p:spPr>
          <a:xfrm>
            <a:off x="6367670" y="54864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1C87B5CB-FDE1-4D92-AEBF-0F36A1936069}" type="slidenum">
              <a:rPr lang="en-US" sz="900" b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22</a:t>
            </a:fld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50E30040-40C7-0BF8-B851-4EE12A692FD8}"/>
              </a:ext>
            </a:extLst>
          </p:cNvPr>
          <p:cNvSpPr/>
          <p:nvPr/>
        </p:nvSpPr>
        <p:spPr>
          <a:xfrm>
            <a:off x="3412435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BHH · Machine Learning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5184EF68-F850-0B62-B712-52E1B1CE3D99}"/>
              </a:ext>
            </a:extLst>
          </p:cNvPr>
          <p:cNvSpPr/>
          <p:nvPr/>
        </p:nvSpPr>
        <p:spPr>
          <a:xfrm>
            <a:off x="457200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Methodik</a:t>
            </a: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&amp; Technik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!!11">
                <a:extLst>
                  <a:ext uri="{FF2B5EF4-FFF2-40B4-BE49-F238E27FC236}">
                    <a16:creationId xmlns:a16="http://schemas.microsoft.com/office/drawing/2014/main" id="{8696935D-DC51-F512-8F81-E84BF78A268B}"/>
                  </a:ext>
                </a:extLst>
              </p:cNvPr>
              <p:cNvSpPr/>
              <p:nvPr/>
            </p:nvSpPr>
            <p:spPr>
              <a:xfrm>
                <a:off x="457200" y="1221656"/>
                <a:ext cx="3914775" cy="730510"/>
              </a:xfrm>
              <a:prstGeom prst="roundRect">
                <a:avLst>
                  <a:gd name="adj" fmla="val 8750"/>
                </a:avLst>
              </a:prstGeom>
              <a:solidFill>
                <a:srgbClr val="1E293B"/>
              </a:solidFill>
              <a:ln w="12700">
                <a:solidFill>
                  <a:srgbClr val="64748B">
                    <a:alpha val="60000"/>
                  </a:srgbClr>
                </a:solidFill>
                <a:prstDash val="solid"/>
              </a:ln>
              <a:effectLst>
                <a:outerShdw blurRad="152400" dist="38100" dir="2700000" algn="bl" rotWithShape="0">
                  <a:srgbClr val="000000">
                    <a:alpha val="18000"/>
                  </a:srgbClr>
                </a:outerShdw>
              </a:effectLst>
            </p:spPr>
            <p:txBody>
              <a:bodyPr/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de-DE" b="1" smtClean="0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Gesamtbudget</m:t>
                    </m:r>
                    <m:r>
                      <a:rPr lang="de-DE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m:rPr>
                        <m:nor/>
                      </m:rPr>
                      <a:rPr lang="de-DE" b="1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e-DE" b="1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Agententypen</m:t>
                    </m:r>
                    <m:r>
                      <a:rPr lang="de-DE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de-DE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m:rPr>
                        <m:nor/>
                      </m:rPr>
                      <a:rPr lang="de-DE" b="1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e-DE" b="1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Seeds</m:t>
                    </m:r>
                    <m:r>
                      <a:rPr lang="de-DE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de-DE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𝟏𝟎𝟎</m:t>
                    </m:r>
                    <m:r>
                      <m:rPr>
                        <m:nor/>
                      </m:rPr>
                      <a:rPr lang="de-DE" b="1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e-DE" b="1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Mio</m:t>
                    </m:r>
                    <m:r>
                      <m:rPr>
                        <m:nor/>
                      </m:rPr>
                      <a:rPr lang="de-DE" b="1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. </m:t>
                    </m:r>
                    <m:r>
                      <m:rPr>
                        <m:nor/>
                      </m:rPr>
                      <a:rPr lang="de-DE" b="1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Episo</m:t>
                    </m:r>
                  </m:oMath>
                </a14:m>
                <a:r>
                  <a:rPr lang="de-DE" b="1" dirty="0">
                    <a:solidFill>
                      <a:schemeClr val="bg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den</a:t>
                </a:r>
              </a:p>
            </p:txBody>
          </p:sp>
        </mc:Choice>
        <mc:Fallback xmlns="">
          <p:sp>
            <p:nvSpPr>
              <p:cNvPr id="2" name="!!11">
                <a:extLst>
                  <a:ext uri="{FF2B5EF4-FFF2-40B4-BE49-F238E27FC236}">
                    <a16:creationId xmlns:a16="http://schemas.microsoft.com/office/drawing/2014/main" id="{8696935D-DC51-F512-8F81-E84BF78A26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21656"/>
                <a:ext cx="3914775" cy="730510"/>
              </a:xfrm>
              <a:prstGeom prst="roundRect">
                <a:avLst>
                  <a:gd name="adj" fmla="val 875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64748B">
                    <a:alpha val="60000"/>
                  </a:srgbClr>
                </a:solidFill>
                <a:prstDash val="solid"/>
              </a:ln>
              <a:effectLst>
                <a:outerShdw blurRad="152400" dist="38100" dir="2700000" algn="bl" rotWithShape="0">
                  <a:srgbClr val="000000">
                    <a:alpha val="18000"/>
                  </a:srgbClr>
                </a:outerShdw>
              </a:effectLst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!!11">
            <a:extLst>
              <a:ext uri="{FF2B5EF4-FFF2-40B4-BE49-F238E27FC236}">
                <a16:creationId xmlns:a16="http://schemas.microsoft.com/office/drawing/2014/main" id="{FD02EBB6-8EB2-A824-D8B2-F20F7137C782}"/>
              </a:ext>
            </a:extLst>
          </p:cNvPr>
          <p:cNvSpPr/>
          <p:nvPr/>
        </p:nvSpPr>
        <p:spPr>
          <a:xfrm>
            <a:off x="457200" y="2161932"/>
            <a:ext cx="1711285" cy="477543"/>
          </a:xfrm>
          <a:prstGeom prst="roundRect">
            <a:avLst>
              <a:gd name="adj" fmla="val 8750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en-GB" sz="1200" b="1" dirty="0" err="1">
                <a:latin typeface="Cambria" panose="02040503050406030204" pitchFamily="18" charset="0"/>
                <a:ea typeface="Cambria" panose="02040503050406030204" pitchFamily="18" charset="0"/>
              </a:rPr>
              <a:t>Verwendete</a:t>
            </a:r>
            <a:r>
              <a:rPr lang="en-GB" sz="1200" b="1" dirty="0">
                <a:latin typeface="Cambria" panose="02040503050406030204" pitchFamily="18" charset="0"/>
                <a:ea typeface="Cambria" panose="02040503050406030204" pitchFamily="18" charset="0"/>
              </a:rPr>
              <a:t> Seeds:</a:t>
            </a:r>
          </a:p>
          <a:p>
            <a:pPr algn="ctr"/>
            <a:r>
              <a:rPr lang="en-GB" sz="1200" dirty="0">
                <a:latin typeface="Cambria" panose="02040503050406030204" pitchFamily="18" charset="0"/>
                <a:ea typeface="Cambria" panose="02040503050406030204" pitchFamily="18" charset="0"/>
              </a:rPr>
              <a:t>1, 42, 123</a:t>
            </a:r>
            <a:endParaRPr lang="de-DE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!!11">
            <a:extLst>
              <a:ext uri="{FF2B5EF4-FFF2-40B4-BE49-F238E27FC236}">
                <a16:creationId xmlns:a16="http://schemas.microsoft.com/office/drawing/2014/main" id="{72C8BFF6-577D-CDE0-48C0-23520959A4B8}"/>
              </a:ext>
            </a:extLst>
          </p:cNvPr>
          <p:cNvSpPr/>
          <p:nvPr/>
        </p:nvSpPr>
        <p:spPr>
          <a:xfrm>
            <a:off x="2660690" y="2170211"/>
            <a:ext cx="1711285" cy="477543"/>
          </a:xfrm>
          <a:prstGeom prst="roundRect">
            <a:avLst>
              <a:gd name="adj" fmla="val 8750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en-GB" sz="1200" b="1" dirty="0" err="1">
                <a:latin typeface="Cambria" panose="02040503050406030204" pitchFamily="18" charset="0"/>
                <a:ea typeface="Cambria" panose="02040503050406030204" pitchFamily="18" charset="0"/>
              </a:rPr>
              <a:t>Daten</a:t>
            </a:r>
            <a:r>
              <a:rPr lang="en-GB" sz="1200" b="1" dirty="0">
                <a:latin typeface="Cambria" panose="02040503050406030204" pitchFamily="18" charset="0"/>
                <a:ea typeface="Cambria" panose="02040503050406030204" pitchFamily="18" charset="0"/>
              </a:rPr>
              <a:t>-Checkpoints</a:t>
            </a:r>
            <a:endParaRPr lang="en-GB" sz="11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GB" sz="1200" dirty="0">
                <a:latin typeface="Cambria" panose="02040503050406030204" pitchFamily="18" charset="0"/>
                <a:ea typeface="Cambria" panose="02040503050406030204" pitchFamily="18" charset="0"/>
              </a:rPr>
              <a:t>60</a:t>
            </a:r>
            <a:endParaRPr lang="de-DE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!!11">
            <a:extLst>
              <a:ext uri="{FF2B5EF4-FFF2-40B4-BE49-F238E27FC236}">
                <a16:creationId xmlns:a16="http://schemas.microsoft.com/office/drawing/2014/main" id="{72C4CD5D-F2AC-836E-551F-DE32AF6225A2}"/>
              </a:ext>
            </a:extLst>
          </p:cNvPr>
          <p:cNvSpPr/>
          <p:nvPr/>
        </p:nvSpPr>
        <p:spPr>
          <a:xfrm>
            <a:off x="1558944" y="2902927"/>
            <a:ext cx="1711285" cy="477543"/>
          </a:xfrm>
          <a:prstGeom prst="roundRect">
            <a:avLst>
              <a:gd name="adj" fmla="val 8750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en-GB" sz="1200" b="1" dirty="0">
                <a:latin typeface="Cambria" panose="02040503050406030204" pitchFamily="18" charset="0"/>
                <a:ea typeface="Cambria" panose="02040503050406030204" pitchFamily="18" charset="0"/>
              </a:rPr>
              <a:t>Finale Modelle</a:t>
            </a:r>
          </a:p>
          <a:p>
            <a:pPr algn="ctr"/>
            <a:r>
              <a:rPr lang="en-GB" sz="1200" dirty="0">
                <a:latin typeface="Cambria" panose="02040503050406030204" pitchFamily="18" charset="0"/>
                <a:ea typeface="Cambria" panose="02040503050406030204" pitchFamily="18" charset="0"/>
              </a:rPr>
              <a:t>6</a:t>
            </a:r>
            <a:r>
              <a:rPr lang="en-GB" sz="11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de-DE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88D1CA4-6F20-A27C-D91F-5FDD396403D8}"/>
              </a:ext>
            </a:extLst>
          </p:cNvPr>
          <p:cNvSpPr txBox="1"/>
          <p:nvPr/>
        </p:nvSpPr>
        <p:spPr>
          <a:xfrm>
            <a:off x="4972645" y="1444907"/>
            <a:ext cx="487925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7200" b="1" i="0" dirty="0">
                <a:solidFill>
                  <a:srgbClr val="14B8A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600 Mio.</a:t>
            </a:r>
          </a:p>
          <a:p>
            <a:pPr>
              <a:buNone/>
            </a:pPr>
            <a:r>
              <a:rPr lang="de-DE" sz="1200" b="1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Gesamtes simuliertes Trainingsvolumen</a:t>
            </a:r>
            <a:endParaRPr lang="de-DE" sz="1200" b="1" i="0" dirty="0">
              <a:solidFill>
                <a:srgbClr val="14B8A6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None/>
            </a:pPr>
            <a:br>
              <a:rPr lang="de-DE" dirty="0">
                <a:solidFill>
                  <a:srgbClr val="14B8A6"/>
                </a:solidFill>
              </a:rPr>
            </a:br>
            <a:endParaRPr lang="de-DE" dirty="0">
              <a:solidFill>
                <a:srgbClr val="14B8A6"/>
              </a:solidFill>
            </a:endParaRPr>
          </a:p>
        </p:txBody>
      </p:sp>
      <p:sp>
        <p:nvSpPr>
          <p:cNvPr id="16" name="!!11">
            <a:extLst>
              <a:ext uri="{FF2B5EF4-FFF2-40B4-BE49-F238E27FC236}">
                <a16:creationId xmlns:a16="http://schemas.microsoft.com/office/drawing/2014/main" id="{D3E380B6-1F21-7439-8A91-B1D3D1A09AE7}"/>
              </a:ext>
            </a:extLst>
          </p:cNvPr>
          <p:cNvSpPr/>
          <p:nvPr/>
        </p:nvSpPr>
        <p:spPr>
          <a:xfrm>
            <a:off x="969935" y="4097557"/>
            <a:ext cx="6804079" cy="477543"/>
          </a:xfrm>
          <a:prstGeom prst="roundRect">
            <a:avLst>
              <a:gd name="adj" fmla="val 8750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pPr algn="ctr">
              <a:buNone/>
            </a:pPr>
            <a:r>
              <a:rPr lang="de-DE" sz="1200" b="1" dirty="0">
                <a:latin typeface="Cambria" panose="02040503050406030204" pitchFamily="18" charset="0"/>
                <a:ea typeface="Cambria" panose="02040503050406030204" pitchFamily="18" charset="0"/>
              </a:rPr>
              <a:t>Wissenschaftlicher Vergleich:</a:t>
            </a:r>
            <a:r>
              <a:rPr lang="de-DE" sz="1200" dirty="0">
                <a:latin typeface="Cambria" panose="02040503050406030204" pitchFamily="18" charset="0"/>
                <a:ea typeface="Cambria" panose="02040503050406030204" pitchFamily="18" charset="0"/>
              </a:rPr>
              <a:t> Identische Hyperparameter &amp; gleiches Trainingsbudget für Baseline und </a:t>
            </a:r>
            <a:r>
              <a:rPr lang="de-DE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Counting</a:t>
            </a:r>
            <a:r>
              <a:rPr lang="de-DE" sz="1200" dirty="0">
                <a:latin typeface="Cambria" panose="02040503050406030204" pitchFamily="18" charset="0"/>
                <a:ea typeface="Cambria" panose="02040503050406030204" pitchFamily="18" charset="0"/>
              </a:rPr>
              <a:t>. Einziger Unterschied: Die </a:t>
            </a:r>
            <a:r>
              <a:rPr lang="de-DE" sz="1200" b="1" dirty="0">
                <a:latin typeface="Cambria" panose="02040503050406030204" pitchFamily="18" charset="0"/>
                <a:ea typeface="Cambria" panose="02040503050406030204" pitchFamily="18" charset="0"/>
              </a:rPr>
              <a:t>Zustandsrepräsentation</a:t>
            </a:r>
            <a:r>
              <a:rPr lang="de-DE" sz="12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de-DE" sz="1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!!11">
            <a:extLst>
              <a:ext uri="{FF2B5EF4-FFF2-40B4-BE49-F238E27FC236}">
                <a16:creationId xmlns:a16="http://schemas.microsoft.com/office/drawing/2014/main" id="{EF9E980B-AE1B-53CB-BE90-E5E59864CB1D}"/>
              </a:ext>
            </a:extLst>
          </p:cNvPr>
          <p:cNvSpPr/>
          <p:nvPr/>
        </p:nvSpPr>
        <p:spPr>
          <a:xfrm>
            <a:off x="4972644" y="2887803"/>
            <a:ext cx="3714155" cy="388797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r>
              <a:rPr lang="de-DE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 pitchFamily="34" charset="-120"/>
              </a:rPr>
              <a:t>Gesamtlaufzeit: 13 h 01 min 47 s</a:t>
            </a:r>
          </a:p>
          <a:p>
            <a:pPr algn="ctr"/>
            <a:endParaRPr lang="de-DE" sz="14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Courier New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21003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DB4DF-BFD5-429D-29BA-FD20E0DA1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33C033D7-D1D8-6914-EF4B-6A807C764D70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5C2FD08D-BFF5-DFC1-946F-1C804070F03C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EF7B931-9B9C-EC20-0827-D2E9032C89E0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18 Millionen Testepisoden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903E4777-A3C7-698E-FC26-B94D740CEF1B}"/>
              </a:ext>
            </a:extLst>
          </p:cNvPr>
          <p:cNvSpPr/>
          <p:nvPr/>
        </p:nvSpPr>
        <p:spPr>
          <a:xfrm>
            <a:off x="6367670" y="54864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1C87B5CB-FDE1-4D92-AEBF-0F36A1936069}" type="slidenum">
              <a:rPr lang="en-US" sz="900" b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23</a:t>
            </a:fld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73CBD018-4C92-F0FE-1B3F-6F2040DBDC00}"/>
              </a:ext>
            </a:extLst>
          </p:cNvPr>
          <p:cNvSpPr/>
          <p:nvPr/>
        </p:nvSpPr>
        <p:spPr>
          <a:xfrm>
            <a:off x="3412435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BHH · Machine Learning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C02A8C75-90C8-02E2-5C94-E8642263CF93}"/>
              </a:ext>
            </a:extLst>
          </p:cNvPr>
          <p:cNvSpPr/>
          <p:nvPr/>
        </p:nvSpPr>
        <p:spPr>
          <a:xfrm>
            <a:off x="457200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Methodik</a:t>
            </a: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&amp; Technik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!!11">
                <a:extLst>
                  <a:ext uri="{FF2B5EF4-FFF2-40B4-BE49-F238E27FC236}">
                    <a16:creationId xmlns:a16="http://schemas.microsoft.com/office/drawing/2014/main" id="{3F231C18-D362-E0E7-5811-2E920F654761}"/>
                  </a:ext>
                </a:extLst>
              </p:cNvPr>
              <p:cNvSpPr/>
              <p:nvPr/>
            </p:nvSpPr>
            <p:spPr>
              <a:xfrm>
                <a:off x="364435" y="1221655"/>
                <a:ext cx="8415130" cy="486241"/>
              </a:xfrm>
              <a:prstGeom prst="roundRect">
                <a:avLst>
                  <a:gd name="adj" fmla="val 8750"/>
                </a:avLst>
              </a:prstGeom>
              <a:solidFill>
                <a:srgbClr val="1E293B"/>
              </a:solidFill>
              <a:ln w="12700">
                <a:solidFill>
                  <a:srgbClr val="64748B">
                    <a:alpha val="60000"/>
                  </a:srgbClr>
                </a:solidFill>
                <a:prstDash val="solid"/>
              </a:ln>
              <a:effectLst>
                <a:outerShdw blurRad="152400" dist="38100" dir="2700000" algn="bl" rotWithShape="0">
                  <a:srgbClr val="000000">
                    <a:alpha val="18000"/>
                  </a:srgbClr>
                </a:outerShdw>
              </a:effectLst>
            </p:spPr>
            <p:txBody>
              <a:bodyPr/>
              <a:lstStyle/>
              <a:p>
                <a:pPr algn="ctr"/>
                <a:r>
                  <a:rPr lang="en-GB" sz="1600" b="1" dirty="0">
                    <a:solidFill>
                      <a:schemeClr val="bg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Gesamt-Evaluation = 6 </a:t>
                </a:r>
                <a:r>
                  <a:rPr lang="en-GB" sz="1600" b="1" dirty="0" err="1">
                    <a:solidFill>
                      <a:schemeClr val="bg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trainierte</a:t>
                </a:r>
                <a:r>
                  <a:rPr lang="en-GB" sz="1600" b="1" dirty="0">
                    <a:solidFill>
                      <a:schemeClr val="bg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Modelle </a:t>
                </a:r>
                <a14:m>
                  <m:oMath xmlns:m="http://schemas.openxmlformats.org/officeDocument/2006/math">
                    <m:r>
                      <a:rPr lang="de-DE" sz="16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GB" sz="1600" b="1" dirty="0">
                    <a:solidFill>
                      <a:schemeClr val="bg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 3 </a:t>
                </a:r>
                <a:r>
                  <a:rPr lang="en-GB" sz="1600" b="1" dirty="0" err="1">
                    <a:solidFill>
                      <a:schemeClr val="bg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Evaluationsseeds</a:t>
                </a:r>
                <a:r>
                  <a:rPr lang="en-GB" sz="1600" b="1" dirty="0">
                    <a:solidFill>
                      <a:schemeClr val="bg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DE" sz="16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de-DE" sz="1600" b="1" dirty="0">
                    <a:solidFill>
                      <a:schemeClr val="bg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1 Mio. Episoden</a:t>
                </a:r>
              </a:p>
            </p:txBody>
          </p:sp>
        </mc:Choice>
        <mc:Fallback xmlns="">
          <p:sp>
            <p:nvSpPr>
              <p:cNvPr id="2" name="!!11">
                <a:extLst>
                  <a:ext uri="{FF2B5EF4-FFF2-40B4-BE49-F238E27FC236}">
                    <a16:creationId xmlns:a16="http://schemas.microsoft.com/office/drawing/2014/main" id="{3F231C18-D362-E0E7-5811-2E920F6547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435" y="1221655"/>
                <a:ext cx="8415130" cy="486241"/>
              </a:xfrm>
              <a:prstGeom prst="roundRect">
                <a:avLst>
                  <a:gd name="adj" fmla="val 875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64748B">
                    <a:alpha val="60000"/>
                  </a:srgbClr>
                </a:solidFill>
                <a:prstDash val="solid"/>
              </a:ln>
              <a:effectLst>
                <a:outerShdw blurRad="152400" dist="38100" dir="2700000" algn="bl" rotWithShape="0">
                  <a:srgbClr val="000000">
                    <a:alpha val="18000"/>
                  </a:srgbClr>
                </a:outerShdw>
              </a:effectLst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CD139375-7526-A151-2606-24A70694EC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545683"/>
              </p:ext>
            </p:extLst>
          </p:nvPr>
        </p:nvGraphicFramePr>
        <p:xfrm>
          <a:off x="457201" y="2137665"/>
          <a:ext cx="465079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199">
                  <a:extLst>
                    <a:ext uri="{9D8B030D-6E8A-4147-A177-3AD203B41FA5}">
                      <a16:colId xmlns:a16="http://schemas.microsoft.com/office/drawing/2014/main" val="3821162616"/>
                    </a:ext>
                  </a:extLst>
                </a:gridCol>
                <a:gridCol w="1106551">
                  <a:extLst>
                    <a:ext uri="{9D8B030D-6E8A-4147-A177-3AD203B41FA5}">
                      <a16:colId xmlns:a16="http://schemas.microsoft.com/office/drawing/2014/main" val="3337836971"/>
                    </a:ext>
                  </a:extLst>
                </a:gridCol>
                <a:gridCol w="1066864">
                  <a:extLst>
                    <a:ext uri="{9D8B030D-6E8A-4147-A177-3AD203B41FA5}">
                      <a16:colId xmlns:a16="http://schemas.microsoft.com/office/drawing/2014/main" val="3846599544"/>
                    </a:ext>
                  </a:extLst>
                </a:gridCol>
                <a:gridCol w="1143185">
                  <a:extLst>
                    <a:ext uri="{9D8B030D-6E8A-4147-A177-3AD203B41FA5}">
                      <a16:colId xmlns:a16="http://schemas.microsoft.com/office/drawing/2014/main" val="40550169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sz="14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rgbClr val="0D9488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Seed 1234 </a:t>
                      </a:r>
                      <a:endParaRPr lang="de-DE" sz="1400" b="1" dirty="0">
                        <a:solidFill>
                          <a:srgbClr val="0D9488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rgbClr val="0D9488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Seed 4321</a:t>
                      </a:r>
                      <a:endParaRPr lang="de-DE" sz="1400" b="1" dirty="0">
                        <a:solidFill>
                          <a:srgbClr val="0D9488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rgbClr val="0D9488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Seed 9876</a:t>
                      </a:r>
                      <a:endParaRPr lang="de-DE" sz="1400" b="1" dirty="0">
                        <a:solidFill>
                          <a:srgbClr val="0D9488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618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rgbClr val="0D9488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Baseline 1</a:t>
                      </a:r>
                      <a:endParaRPr lang="de-DE" sz="1400" b="1" dirty="0">
                        <a:solidFill>
                          <a:srgbClr val="0D9488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rgbClr val="334155"/>
                    </a:solidFill>
                  </a:tcPr>
                </a:tc>
                <a:tc rowSpan="6" gridSpan="3"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Jeweils 1 Mio.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 rowSpan="6" h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F172A"/>
                    </a:solidFill>
                  </a:tcPr>
                </a:tc>
                <a:tc rowSpan="6" h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499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rgbClr val="0D9488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Baseline-42</a:t>
                      </a:r>
                      <a:endParaRPr lang="de-DE" sz="1400" b="1" dirty="0">
                        <a:solidFill>
                          <a:srgbClr val="0D9488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rgbClr val="334155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F172A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F172A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4496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rgbClr val="0D9488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Baseline-123</a:t>
                      </a:r>
                      <a:endParaRPr lang="de-DE" sz="1400" b="1" dirty="0">
                        <a:solidFill>
                          <a:srgbClr val="0D9488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rgbClr val="334155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F172A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F172A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799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rgbClr val="0D9488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Counting-1</a:t>
                      </a:r>
                      <a:endParaRPr lang="de-DE" sz="1400" b="1" dirty="0">
                        <a:solidFill>
                          <a:srgbClr val="0D9488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rgbClr val="334155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F172A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F172A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2639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rgbClr val="0D9488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Counting-42</a:t>
                      </a:r>
                      <a:endParaRPr lang="de-DE" sz="1400" b="1" dirty="0">
                        <a:solidFill>
                          <a:srgbClr val="0D9488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rgbClr val="334155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F172A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F172A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9636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rgbClr val="0D9488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Counting-123</a:t>
                      </a:r>
                      <a:endParaRPr lang="de-DE" sz="1400" b="1" dirty="0">
                        <a:solidFill>
                          <a:srgbClr val="0D9488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rgbClr val="334155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F172A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F172A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920431"/>
                  </a:ext>
                </a:extLst>
              </a:tr>
            </a:tbl>
          </a:graphicData>
        </a:graphic>
      </p:graphicFrame>
      <p:sp>
        <p:nvSpPr>
          <p:cNvPr id="8" name="Textfeld 7">
            <a:extLst>
              <a:ext uri="{FF2B5EF4-FFF2-40B4-BE49-F238E27FC236}">
                <a16:creationId xmlns:a16="http://schemas.microsoft.com/office/drawing/2014/main" id="{02701795-F220-73B2-1204-28FED6AFA59B}"/>
              </a:ext>
            </a:extLst>
          </p:cNvPr>
          <p:cNvSpPr txBox="1"/>
          <p:nvPr/>
        </p:nvSpPr>
        <p:spPr>
          <a:xfrm>
            <a:off x="5531445" y="2571750"/>
            <a:ext cx="4879257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7200" b="1" i="0" dirty="0">
                <a:solidFill>
                  <a:srgbClr val="14B8A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18 Mio.</a:t>
            </a:r>
          </a:p>
          <a:p>
            <a:pPr>
              <a:buNone/>
            </a:pPr>
            <a:r>
              <a:rPr lang="de-DE" sz="1200" b="1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Reine Test- und Evaluationsbasis</a:t>
            </a:r>
            <a:br>
              <a:rPr lang="de-DE" dirty="0">
                <a:solidFill>
                  <a:srgbClr val="14B8A6"/>
                </a:solidFill>
              </a:rPr>
            </a:br>
            <a:endParaRPr lang="de-DE" dirty="0">
              <a:solidFill>
                <a:srgbClr val="14B8A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5084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2D6008-8AA1-F217-BEAB-31A7AD321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F71ED2D-6C31-7BF8-E4BD-A31513D8EA9C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1DA7A0E-20F8-727A-9A37-07C6C40DADC3}"/>
              </a:ext>
            </a:extLst>
          </p:cNvPr>
          <p:cNvGrpSpPr/>
          <p:nvPr/>
        </p:nvGrpSpPr>
        <p:grpSpPr>
          <a:xfrm>
            <a:off x="6217920" y="-1097280"/>
            <a:ext cx="5029200" cy="5029200"/>
            <a:chOff x="6217920" y="-1097280"/>
            <a:chExt cx="5029200" cy="5029200"/>
          </a:xfrm>
        </p:grpSpPr>
        <p:sp>
          <p:nvSpPr>
            <p:cNvPr id="3" name="Shape 1">
              <a:extLst>
                <a:ext uri="{FF2B5EF4-FFF2-40B4-BE49-F238E27FC236}">
                  <a16:creationId xmlns:a16="http://schemas.microsoft.com/office/drawing/2014/main" id="{FFE00045-01C6-2297-636C-B91FE06AD918}"/>
                </a:ext>
              </a:extLst>
            </p:cNvPr>
            <p:cNvSpPr/>
            <p:nvPr/>
          </p:nvSpPr>
          <p:spPr>
            <a:xfrm>
              <a:off x="6217920" y="-1097280"/>
              <a:ext cx="5029200" cy="5029200"/>
            </a:xfrm>
            <a:prstGeom prst="ellipse">
              <a:avLst/>
            </a:prstGeom>
            <a:solidFill>
              <a:srgbClr val="14B8A6">
                <a:alpha val="12000"/>
              </a:srgbClr>
            </a:solidFill>
            <a:ln w="12700">
              <a:solidFill>
                <a:srgbClr val="0D9488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de-DE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37574AFB-D5C9-0E9A-5467-0404B1D4F43E}"/>
                </a:ext>
              </a:extLst>
            </p:cNvPr>
            <p:cNvSpPr/>
            <p:nvPr/>
          </p:nvSpPr>
          <p:spPr>
            <a:xfrm>
              <a:off x="6766560" y="-548640"/>
              <a:ext cx="3474720" cy="3474720"/>
            </a:xfrm>
            <a:prstGeom prst="ellipse">
              <a:avLst/>
            </a:prstGeom>
            <a:solidFill>
              <a:srgbClr val="14B8A6">
                <a:alpha val="18000"/>
              </a:srgbClr>
            </a:solidFill>
            <a:ln w="12700">
              <a:solidFill>
                <a:srgbClr val="0D9488">
                  <a:alpha val="40000"/>
                </a:srgbClr>
              </a:solidFill>
              <a:prstDash val="solid"/>
            </a:ln>
          </p:spPr>
          <p:txBody>
            <a:bodyPr/>
            <a:lstStyle/>
            <a:p>
              <a:endParaRPr lang="de-DE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7" name="Text 5">
            <a:extLst>
              <a:ext uri="{FF2B5EF4-FFF2-40B4-BE49-F238E27FC236}">
                <a16:creationId xmlns:a16="http://schemas.microsoft.com/office/drawing/2014/main" id="{21E57FEB-DEE3-4FD0-928B-6F2690480D2A}"/>
              </a:ext>
            </a:extLst>
          </p:cNvPr>
          <p:cNvSpPr/>
          <p:nvPr/>
        </p:nvSpPr>
        <p:spPr>
          <a:xfrm>
            <a:off x="548640" y="157276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6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Ergebnisse</a:t>
            </a:r>
            <a:endParaRPr lang="en-US" sz="46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Cambria" pitchFamily="34" charset="-120"/>
            </a:endParaRPr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&amp; </a:t>
            </a:r>
            <a:r>
              <a:rPr lang="en-US" sz="46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Fazit</a:t>
            </a:r>
            <a:endParaRPr lang="en-US" sz="46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Cambria" pitchFamily="34" charset="-120"/>
            </a:endParaRPr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94DEF9D7-1C9D-ACFA-FF36-F4637E26ABAA}"/>
              </a:ext>
            </a:extLst>
          </p:cNvPr>
          <p:cNvGrpSpPr/>
          <p:nvPr/>
        </p:nvGrpSpPr>
        <p:grpSpPr>
          <a:xfrm>
            <a:off x="548640" y="2535174"/>
            <a:ext cx="5486400" cy="1146811"/>
            <a:chOff x="548640" y="2535174"/>
            <a:chExt cx="5486400" cy="1146811"/>
          </a:xfrm>
        </p:grpSpPr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1A58F20D-8F32-898D-3C3E-9EE1B46F969D}"/>
                </a:ext>
              </a:extLst>
            </p:cNvPr>
            <p:cNvSpPr/>
            <p:nvPr/>
          </p:nvSpPr>
          <p:spPr>
            <a:xfrm>
              <a:off x="548640" y="2535174"/>
              <a:ext cx="3240000" cy="36576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de-DE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34B56B22-7621-132F-197F-4C0D47A22D91}"/>
                </a:ext>
              </a:extLst>
            </p:cNvPr>
            <p:cNvSpPr/>
            <p:nvPr/>
          </p:nvSpPr>
          <p:spPr>
            <a:xfrm>
              <a:off x="548640" y="2747773"/>
              <a:ext cx="5486400" cy="93421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de-DE" sz="1600" dirty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libri" pitchFamily="34" charset="-120"/>
                </a:rPr>
                <a:t>Lernverlauf und Performance</a:t>
              </a:r>
            </a:p>
            <a:p>
              <a:pPr marL="0" indent="0" algn="l">
                <a:buNone/>
              </a:pPr>
              <a:endParaRPr lang="de-DE" sz="16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endParaRPr>
            </a:p>
            <a:p>
              <a:pPr marL="0" indent="0" algn="l">
                <a:buNone/>
              </a:pPr>
              <a:r>
                <a:rPr lang="de-DE" sz="1600" dirty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libri" pitchFamily="34" charset="-120"/>
                </a:rPr>
                <a:t>Analyse des Agentenverhaltens</a:t>
              </a:r>
            </a:p>
            <a:p>
              <a:pPr marL="0" indent="0" algn="l">
                <a:buNone/>
              </a:pPr>
              <a:endParaRPr lang="de-DE" sz="16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endParaRPr>
            </a:p>
            <a:p>
              <a:pPr marL="0" indent="0" algn="l">
                <a:buNone/>
              </a:pPr>
              <a:r>
                <a:rPr lang="de-DE" sz="1600" dirty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libri" pitchFamily="34" charset="-120"/>
                </a:rPr>
                <a:t>Fazit und nächste Schritte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1898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0F55C-D536-8E39-E9F5-B89918350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816B4103-2660-00F0-3804-F4855DC2E848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226178B5-2705-0DC2-8BFA-D8772089FC57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C897750-8A12-0337-DC0B-A58462D921C0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Training: Performance und Zustandsraum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9B6B67B-820F-6E89-BD6C-9AB8B6F90398}"/>
              </a:ext>
            </a:extLst>
          </p:cNvPr>
          <p:cNvSpPr/>
          <p:nvPr/>
        </p:nvSpPr>
        <p:spPr>
          <a:xfrm>
            <a:off x="6367670" y="54864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1C87B5CB-FDE1-4D92-AEBF-0F36A1936069}" type="slidenum">
              <a:rPr lang="en-US" sz="900" b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25</a:t>
            </a:fld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5A5EC323-4838-50B7-0D7A-86973CA85035}"/>
              </a:ext>
            </a:extLst>
          </p:cNvPr>
          <p:cNvSpPr/>
          <p:nvPr/>
        </p:nvSpPr>
        <p:spPr>
          <a:xfrm>
            <a:off x="3412435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BHH · Machine Learning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B51F4D82-D1AB-E736-D538-E973F0B527DB}"/>
              </a:ext>
            </a:extLst>
          </p:cNvPr>
          <p:cNvSpPr/>
          <p:nvPr/>
        </p:nvSpPr>
        <p:spPr>
          <a:xfrm>
            <a:off x="457200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Ergebnisse</a:t>
            </a: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&amp; </a:t>
            </a: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Fazit</a:t>
            </a:r>
            <a:endParaRPr lang="en-US" sz="9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Cambria" pitchFamily="34" charset="-120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F93691E-C972-4B27-447D-ED2B5BF8F0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393"/>
          <a:stretch>
            <a:fillRect/>
          </a:stretch>
        </p:blipFill>
        <p:spPr>
          <a:xfrm>
            <a:off x="686570" y="1368873"/>
            <a:ext cx="4030210" cy="3031906"/>
          </a:xfrm>
          <a:prstGeom prst="rect">
            <a:avLst/>
          </a:prstGeom>
        </p:spPr>
      </p:pic>
      <p:sp>
        <p:nvSpPr>
          <p:cNvPr id="15" name="!!11">
            <a:extLst>
              <a:ext uri="{FF2B5EF4-FFF2-40B4-BE49-F238E27FC236}">
                <a16:creationId xmlns:a16="http://schemas.microsoft.com/office/drawing/2014/main" id="{44B02A02-E1AA-280B-F004-BAB84BC6ECF0}"/>
              </a:ext>
            </a:extLst>
          </p:cNvPr>
          <p:cNvSpPr/>
          <p:nvPr/>
        </p:nvSpPr>
        <p:spPr>
          <a:xfrm>
            <a:off x="5189221" y="1586272"/>
            <a:ext cx="3268210" cy="1216748"/>
          </a:xfrm>
          <a:prstGeom prst="roundRect">
            <a:avLst>
              <a:gd name="adj" fmla="val 8750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DB07465B-0D62-095D-34FF-93A116E2F83A}"/>
              </a:ext>
            </a:extLst>
          </p:cNvPr>
          <p:cNvSpPr/>
          <p:nvPr/>
        </p:nvSpPr>
        <p:spPr>
          <a:xfrm>
            <a:off x="5189220" y="1813632"/>
            <a:ext cx="3268209" cy="2350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Baseline Q-</a:t>
            </a:r>
            <a:r>
              <a:rPr lang="en-US" b="1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Tabelle</a:t>
            </a:r>
            <a:endParaRPr lang="en-US" b="1" dirty="0">
              <a:solidFill>
                <a:srgbClr val="1E293B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940AF5E9-3149-B4C2-CA60-74F82BFAF214}"/>
              </a:ext>
            </a:extLst>
          </p:cNvPr>
          <p:cNvSpPr/>
          <p:nvPr/>
        </p:nvSpPr>
        <p:spPr>
          <a:xfrm>
            <a:off x="5944925" y="2177832"/>
            <a:ext cx="1735979" cy="19772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280 States </a:t>
            </a:r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E85273C9-460B-225D-A840-D778A015A1F4}"/>
              </a:ext>
            </a:extLst>
          </p:cNvPr>
          <p:cNvSpPr/>
          <p:nvPr/>
        </p:nvSpPr>
        <p:spPr>
          <a:xfrm>
            <a:off x="5944925" y="2382237"/>
            <a:ext cx="1735979" cy="19772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Konstant</a:t>
            </a:r>
          </a:p>
        </p:txBody>
      </p:sp>
      <p:sp>
        <p:nvSpPr>
          <p:cNvPr id="49" name="Text 29">
            <a:extLst>
              <a:ext uri="{FF2B5EF4-FFF2-40B4-BE49-F238E27FC236}">
                <a16:creationId xmlns:a16="http://schemas.microsoft.com/office/drawing/2014/main" id="{3F4A6E7C-ABEB-CF50-D0FB-C2469ADE6CE7}"/>
              </a:ext>
            </a:extLst>
          </p:cNvPr>
          <p:cNvSpPr/>
          <p:nvPr/>
        </p:nvSpPr>
        <p:spPr>
          <a:xfrm>
            <a:off x="502920" y="5384479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Spieler-Vorteil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0" name="Shape 34">
            <a:extLst>
              <a:ext uri="{FF2B5EF4-FFF2-40B4-BE49-F238E27FC236}">
                <a16:creationId xmlns:a16="http://schemas.microsoft.com/office/drawing/2014/main" id="{75ECAD8A-A87C-041E-8FDF-109C64FD45DC}"/>
              </a:ext>
            </a:extLst>
          </p:cNvPr>
          <p:cNvSpPr/>
          <p:nvPr/>
        </p:nvSpPr>
        <p:spPr>
          <a:xfrm>
            <a:off x="5120640" y="5283895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1" name="Shape 35">
            <a:extLst>
              <a:ext uri="{FF2B5EF4-FFF2-40B4-BE49-F238E27FC236}">
                <a16:creationId xmlns:a16="http://schemas.microsoft.com/office/drawing/2014/main" id="{694923CE-DCCA-37F9-D751-E58E38FCC536}"/>
              </a:ext>
            </a:extLst>
          </p:cNvPr>
          <p:cNvSpPr/>
          <p:nvPr/>
        </p:nvSpPr>
        <p:spPr>
          <a:xfrm>
            <a:off x="5120640" y="5283895"/>
            <a:ext cx="3003804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2" name="Text 36">
            <a:extLst>
              <a:ext uri="{FF2B5EF4-FFF2-40B4-BE49-F238E27FC236}">
                <a16:creationId xmlns:a16="http://schemas.microsoft.com/office/drawing/2014/main" id="{4AE60977-2C7D-5105-743B-935102F1B750}"/>
              </a:ext>
            </a:extLst>
          </p:cNvPr>
          <p:cNvSpPr/>
          <p:nvPr/>
        </p:nvSpPr>
        <p:spPr>
          <a:xfrm>
            <a:off x="5120640" y="5558215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Aggressive Hits · Mathematisch korrekt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3" name="Shape 37">
            <a:extLst>
              <a:ext uri="{FF2B5EF4-FFF2-40B4-BE49-F238E27FC236}">
                <a16:creationId xmlns:a16="http://schemas.microsoft.com/office/drawing/2014/main" id="{64A99DB1-F175-C5E3-4DB8-31155BEEE8AE}"/>
              </a:ext>
            </a:extLst>
          </p:cNvPr>
          <p:cNvSpPr/>
          <p:nvPr/>
        </p:nvSpPr>
        <p:spPr>
          <a:xfrm>
            <a:off x="365760" y="5283895"/>
            <a:ext cx="841248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 w="12700">
            <a:solidFill>
              <a:srgbClr val="CFA122"/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4" name="Text 38">
            <a:extLst>
              <a:ext uri="{FF2B5EF4-FFF2-40B4-BE49-F238E27FC236}">
                <a16:creationId xmlns:a16="http://schemas.microsoft.com/office/drawing/2014/main" id="{42D76E65-3798-D281-86DC-6283C05B82FD}"/>
              </a:ext>
            </a:extLst>
          </p:cNvPr>
          <p:cNvSpPr/>
          <p:nvPr/>
        </p:nvSpPr>
        <p:spPr>
          <a:xfrm>
            <a:off x="594360" y="5366191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1150" b="1" dirty="0">
                <a:solidFill>
                  <a:srgbClr val="F59E0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⚠️ Mehr Zustände, kaum mehr </a:t>
            </a:r>
            <a:r>
              <a:rPr lang="de-DE" sz="1150" b="1" dirty="0" err="1">
                <a:solidFill>
                  <a:srgbClr val="F59E0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Reward</a:t>
            </a:r>
            <a:r>
              <a:rPr lang="de-DE" sz="1150" b="1" dirty="0">
                <a:solidFill>
                  <a:srgbClr val="F59E0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en-US" sz="1150" b="1" dirty="0">
              <a:solidFill>
                <a:srgbClr val="F59E0B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" name="Text 39">
            <a:extLst>
              <a:ext uri="{FF2B5EF4-FFF2-40B4-BE49-F238E27FC236}">
                <a16:creationId xmlns:a16="http://schemas.microsoft.com/office/drawing/2014/main" id="{744E6947-B4A6-6194-329B-B88252157314}"/>
              </a:ext>
            </a:extLst>
          </p:cNvPr>
          <p:cNvSpPr/>
          <p:nvPr/>
        </p:nvSpPr>
        <p:spPr>
          <a:xfrm>
            <a:off x="594360" y="5622223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Der </a:t>
            </a:r>
            <a:r>
              <a:rPr lang="de-DE" sz="100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Counting</a:t>
            </a: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-Agent erreicht über Zeit ein ähnliches </a:t>
            </a:r>
            <a:r>
              <a:rPr lang="de-DE" sz="100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Reward</a:t>
            </a: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-Niveau wie die Baseline. Dafür benötigt er eine 406-mal größere Q-Tabelle, die selbst nach 100 Millionen Episoden noch wächst.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!!11">
            <a:extLst>
              <a:ext uri="{FF2B5EF4-FFF2-40B4-BE49-F238E27FC236}">
                <a16:creationId xmlns:a16="http://schemas.microsoft.com/office/drawing/2014/main" id="{83A5D275-40EB-4E5B-9558-4B0F6F8666AF}"/>
              </a:ext>
            </a:extLst>
          </p:cNvPr>
          <p:cNvSpPr/>
          <p:nvPr/>
        </p:nvSpPr>
        <p:spPr>
          <a:xfrm>
            <a:off x="5189221" y="2927417"/>
            <a:ext cx="3268210" cy="1216748"/>
          </a:xfrm>
          <a:prstGeom prst="roundRect">
            <a:avLst>
              <a:gd name="adj" fmla="val 8750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59C41886-0112-8E2E-9AFE-4344628B2D3D}"/>
              </a:ext>
            </a:extLst>
          </p:cNvPr>
          <p:cNvSpPr/>
          <p:nvPr/>
        </p:nvSpPr>
        <p:spPr>
          <a:xfrm>
            <a:off x="5189220" y="3120663"/>
            <a:ext cx="3268209" cy="2350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Counting Q-</a:t>
            </a:r>
            <a:r>
              <a:rPr lang="en-US" b="1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Tabelle</a:t>
            </a:r>
            <a:endParaRPr lang="en-US" b="1" dirty="0">
              <a:solidFill>
                <a:srgbClr val="1E293B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3B67DE1B-C7F1-CE1A-7EAB-34A3476B2A5E}"/>
              </a:ext>
            </a:extLst>
          </p:cNvPr>
          <p:cNvSpPr/>
          <p:nvPr/>
        </p:nvSpPr>
        <p:spPr>
          <a:xfrm>
            <a:off x="5098617" y="3484863"/>
            <a:ext cx="898388" cy="19772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104.104</a:t>
            </a:r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CD07BD51-4BCE-A395-D3AB-FE970653FBFF}"/>
              </a:ext>
            </a:extLst>
          </p:cNvPr>
          <p:cNvSpPr/>
          <p:nvPr/>
        </p:nvSpPr>
        <p:spPr>
          <a:xfrm>
            <a:off x="5993712" y="3895016"/>
            <a:ext cx="1735979" cy="19772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000" dirty="0" err="1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Wächst</a:t>
            </a:r>
            <a:r>
              <a:rPr lang="en-US" sz="10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000" dirty="0" err="1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weiter</a:t>
            </a:r>
            <a:endParaRPr lang="en-US" sz="1000" dirty="0">
              <a:solidFill>
                <a:srgbClr val="64748B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C5CB257E-D3A8-FA0F-0208-26E2555612A9}"/>
              </a:ext>
            </a:extLst>
          </p:cNvPr>
          <p:cNvSpPr/>
          <p:nvPr/>
        </p:nvSpPr>
        <p:spPr>
          <a:xfrm>
            <a:off x="6367072" y="3484863"/>
            <a:ext cx="898388" cy="19772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113.760</a:t>
            </a:r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74F0DD10-54E3-1543-4DFF-01E0E92CA0B0}"/>
              </a:ext>
            </a:extLst>
          </p:cNvPr>
          <p:cNvSpPr/>
          <p:nvPr/>
        </p:nvSpPr>
        <p:spPr>
          <a:xfrm>
            <a:off x="5098617" y="3689414"/>
            <a:ext cx="898388" cy="19772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10 Mio.</a:t>
            </a:r>
          </a:p>
        </p:txBody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EFBE403F-8EC6-8576-0793-31FD777DA233}"/>
              </a:ext>
            </a:extLst>
          </p:cNvPr>
          <p:cNvSpPr/>
          <p:nvPr/>
        </p:nvSpPr>
        <p:spPr>
          <a:xfrm>
            <a:off x="6367072" y="3689414"/>
            <a:ext cx="898388" cy="19772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100 Mio.</a:t>
            </a:r>
          </a:p>
        </p:txBody>
      </p: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97D57532-0963-E455-0C01-7A2120E7CA57}"/>
              </a:ext>
            </a:extLst>
          </p:cNvPr>
          <p:cNvCxnSpPr>
            <a:cxnSpLocks/>
          </p:cNvCxnSpPr>
          <p:nvPr/>
        </p:nvCxnSpPr>
        <p:spPr>
          <a:xfrm>
            <a:off x="5858851" y="3579003"/>
            <a:ext cx="632647" cy="0"/>
          </a:xfrm>
          <a:prstGeom prst="straightConnector1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cxnSp>
      <p:sp>
        <p:nvSpPr>
          <p:cNvPr id="39" name="Text 13">
            <a:extLst>
              <a:ext uri="{FF2B5EF4-FFF2-40B4-BE49-F238E27FC236}">
                <a16:creationId xmlns:a16="http://schemas.microsoft.com/office/drawing/2014/main" id="{029216F3-E771-BBFE-3711-F08CC5B905B2}"/>
              </a:ext>
            </a:extLst>
          </p:cNvPr>
          <p:cNvSpPr/>
          <p:nvPr/>
        </p:nvSpPr>
        <p:spPr>
          <a:xfrm>
            <a:off x="7649462" y="3491832"/>
            <a:ext cx="898388" cy="19772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000">
                <a:solidFill>
                  <a:srgbClr val="64748B"/>
                </a:solidFill>
                <a:latin typeface="Cambria"/>
                <a:ea typeface="Cambria"/>
              </a:rPr>
              <a:t>131.880</a:t>
            </a:r>
            <a:endParaRPr lang="en-US" sz="1000" dirty="0">
              <a:solidFill>
                <a:srgbClr val="64748B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5F64893E-5414-0296-36ED-EEC80BA99603}"/>
              </a:ext>
            </a:extLst>
          </p:cNvPr>
          <p:cNvSpPr/>
          <p:nvPr/>
        </p:nvSpPr>
        <p:spPr>
          <a:xfrm>
            <a:off x="7649462" y="3696383"/>
            <a:ext cx="898388" cy="19772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000">
                <a:solidFill>
                  <a:srgbClr val="64748B"/>
                </a:solidFill>
                <a:latin typeface="Cambria"/>
                <a:ea typeface="Cambria"/>
              </a:rPr>
              <a:t>X Mio.</a:t>
            </a:r>
          </a:p>
        </p:txBody>
      </p: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0CBFDA3B-43D8-F587-575B-E041B0AE0DBA}"/>
              </a:ext>
            </a:extLst>
          </p:cNvPr>
          <p:cNvCxnSpPr>
            <a:cxnSpLocks/>
          </p:cNvCxnSpPr>
          <p:nvPr/>
        </p:nvCxnSpPr>
        <p:spPr>
          <a:xfrm>
            <a:off x="7141240" y="3579002"/>
            <a:ext cx="632647" cy="0"/>
          </a:xfrm>
          <a:prstGeom prst="straightConnector1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3040321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32320-47DF-93B3-4E5D-E2A777557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812C3FEC-0825-7B99-33CC-A7FA31F4B423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D836A881-C975-6CF7-7C4A-BA6CB24D9209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E359D7C-C028-23B0-429F-C9829F590F62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Training: Performance und Zustandsraum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0962D6A-6496-2F4C-83F2-0309260586DD}"/>
              </a:ext>
            </a:extLst>
          </p:cNvPr>
          <p:cNvSpPr/>
          <p:nvPr/>
        </p:nvSpPr>
        <p:spPr>
          <a:xfrm>
            <a:off x="6367670" y="54864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1C87B5CB-FDE1-4D92-AEBF-0F36A1936069}" type="slidenum">
              <a:rPr lang="en-US" sz="900" b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26</a:t>
            </a:fld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392462B2-164C-989A-4CC9-77E73CE24580}"/>
              </a:ext>
            </a:extLst>
          </p:cNvPr>
          <p:cNvSpPr/>
          <p:nvPr/>
        </p:nvSpPr>
        <p:spPr>
          <a:xfrm>
            <a:off x="3412435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BHH · Machine Learning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D9616AA6-43AC-697E-5F26-06D34565C881}"/>
              </a:ext>
            </a:extLst>
          </p:cNvPr>
          <p:cNvSpPr/>
          <p:nvPr/>
        </p:nvSpPr>
        <p:spPr>
          <a:xfrm>
            <a:off x="457200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Ergebnisse</a:t>
            </a: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&amp; </a:t>
            </a: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Fazit</a:t>
            </a:r>
            <a:endParaRPr lang="en-US" sz="9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Cambria" pitchFamily="34" charset="-120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E96AF32-E08B-5749-A90A-D05DD4556D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393"/>
          <a:stretch>
            <a:fillRect/>
          </a:stretch>
        </p:blipFill>
        <p:spPr>
          <a:xfrm>
            <a:off x="686570" y="1115568"/>
            <a:ext cx="4030210" cy="3031906"/>
          </a:xfrm>
          <a:prstGeom prst="rect">
            <a:avLst/>
          </a:prstGeom>
        </p:spPr>
      </p:pic>
      <p:sp>
        <p:nvSpPr>
          <p:cNvPr id="7" name="!!11">
            <a:extLst>
              <a:ext uri="{FF2B5EF4-FFF2-40B4-BE49-F238E27FC236}">
                <a16:creationId xmlns:a16="http://schemas.microsoft.com/office/drawing/2014/main" id="{50C3A5EE-F877-1B5B-7674-36566AB372A5}"/>
              </a:ext>
            </a:extLst>
          </p:cNvPr>
          <p:cNvSpPr/>
          <p:nvPr/>
        </p:nvSpPr>
        <p:spPr>
          <a:xfrm>
            <a:off x="5189221" y="2669545"/>
            <a:ext cx="3268210" cy="1216748"/>
          </a:xfrm>
          <a:prstGeom prst="roundRect">
            <a:avLst>
              <a:gd name="adj" fmla="val 8750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!!11">
            <a:extLst>
              <a:ext uri="{FF2B5EF4-FFF2-40B4-BE49-F238E27FC236}">
                <a16:creationId xmlns:a16="http://schemas.microsoft.com/office/drawing/2014/main" id="{72BAF6D6-BFFB-481E-D3FF-4934BE54FE2F}"/>
              </a:ext>
            </a:extLst>
          </p:cNvPr>
          <p:cNvSpPr/>
          <p:nvPr/>
        </p:nvSpPr>
        <p:spPr>
          <a:xfrm>
            <a:off x="5189221" y="1332967"/>
            <a:ext cx="3268210" cy="1216748"/>
          </a:xfrm>
          <a:prstGeom prst="roundRect">
            <a:avLst>
              <a:gd name="adj" fmla="val 8750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4C1878D2-AA72-0432-FD2B-4025AECF8ED9}"/>
              </a:ext>
            </a:extLst>
          </p:cNvPr>
          <p:cNvSpPr/>
          <p:nvPr/>
        </p:nvSpPr>
        <p:spPr>
          <a:xfrm>
            <a:off x="5189220" y="1560327"/>
            <a:ext cx="3268209" cy="2350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Baseline Q-</a:t>
            </a:r>
            <a:r>
              <a:rPr lang="en-US" b="1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Tabelle</a:t>
            </a:r>
            <a:endParaRPr lang="en-US" b="1" dirty="0">
              <a:solidFill>
                <a:srgbClr val="1E293B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E32AE80A-2EE5-4ECD-CE5F-4B115A51EA61}"/>
              </a:ext>
            </a:extLst>
          </p:cNvPr>
          <p:cNvSpPr/>
          <p:nvPr/>
        </p:nvSpPr>
        <p:spPr>
          <a:xfrm>
            <a:off x="5944925" y="1924527"/>
            <a:ext cx="1735979" cy="19772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280 States </a:t>
            </a:r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3E008D88-8B9B-3828-B3F4-FAA116463A01}"/>
              </a:ext>
            </a:extLst>
          </p:cNvPr>
          <p:cNvSpPr/>
          <p:nvPr/>
        </p:nvSpPr>
        <p:spPr>
          <a:xfrm>
            <a:off x="5944925" y="2128932"/>
            <a:ext cx="1735979" cy="19772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Konstant</a:t>
            </a:r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8761E46C-22A7-2F55-E50D-4F39E67F0E28}"/>
              </a:ext>
            </a:extLst>
          </p:cNvPr>
          <p:cNvSpPr/>
          <p:nvPr/>
        </p:nvSpPr>
        <p:spPr>
          <a:xfrm>
            <a:off x="5189220" y="2862791"/>
            <a:ext cx="3268209" cy="2350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Counting Q-</a:t>
            </a:r>
            <a:r>
              <a:rPr lang="en-US" b="1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Tabelle</a:t>
            </a:r>
            <a:endParaRPr lang="en-US" b="1" dirty="0">
              <a:solidFill>
                <a:srgbClr val="1E293B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D19F56FC-240E-A8BA-4DDD-BA9C63EE1543}"/>
              </a:ext>
            </a:extLst>
          </p:cNvPr>
          <p:cNvSpPr/>
          <p:nvPr/>
        </p:nvSpPr>
        <p:spPr>
          <a:xfrm>
            <a:off x="5098617" y="3226991"/>
            <a:ext cx="898388" cy="19772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104.104</a:t>
            </a:r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D876A7CC-07A3-6ED8-2046-990F72235C66}"/>
              </a:ext>
            </a:extLst>
          </p:cNvPr>
          <p:cNvSpPr/>
          <p:nvPr/>
        </p:nvSpPr>
        <p:spPr>
          <a:xfrm>
            <a:off x="5993712" y="3637144"/>
            <a:ext cx="1735979" cy="19772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000" dirty="0" err="1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Wächst</a:t>
            </a:r>
            <a:r>
              <a:rPr lang="en-US" sz="10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000" dirty="0" err="1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weiter</a:t>
            </a:r>
            <a:endParaRPr lang="en-US" sz="1000" dirty="0">
              <a:solidFill>
                <a:srgbClr val="64748B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85AB3C41-954E-E173-2B40-A4FC2E0FA87F}"/>
              </a:ext>
            </a:extLst>
          </p:cNvPr>
          <p:cNvSpPr/>
          <p:nvPr/>
        </p:nvSpPr>
        <p:spPr>
          <a:xfrm>
            <a:off x="6367072" y="3226991"/>
            <a:ext cx="898388" cy="19772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113.760</a:t>
            </a:r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54F51A8C-528F-E4C7-FF2A-6FE104A7AEA3}"/>
              </a:ext>
            </a:extLst>
          </p:cNvPr>
          <p:cNvSpPr/>
          <p:nvPr/>
        </p:nvSpPr>
        <p:spPr>
          <a:xfrm>
            <a:off x="5098617" y="3431542"/>
            <a:ext cx="898388" cy="19772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10 Mio.</a:t>
            </a:r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37708C21-6C54-9BDF-E8DF-4C1F82FCF694}"/>
              </a:ext>
            </a:extLst>
          </p:cNvPr>
          <p:cNvSpPr/>
          <p:nvPr/>
        </p:nvSpPr>
        <p:spPr>
          <a:xfrm>
            <a:off x="6367072" y="3431542"/>
            <a:ext cx="898388" cy="19772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100 Mio.</a:t>
            </a: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F83EC3E3-A36C-0358-283B-DCBCAAC45DDF}"/>
              </a:ext>
            </a:extLst>
          </p:cNvPr>
          <p:cNvCxnSpPr>
            <a:cxnSpLocks/>
          </p:cNvCxnSpPr>
          <p:nvPr/>
        </p:nvCxnSpPr>
        <p:spPr>
          <a:xfrm>
            <a:off x="5858851" y="3321131"/>
            <a:ext cx="632647" cy="0"/>
          </a:xfrm>
          <a:prstGeom prst="straightConnector1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cxnSp>
      <p:sp>
        <p:nvSpPr>
          <p:cNvPr id="42" name="Text 29">
            <a:extLst>
              <a:ext uri="{FF2B5EF4-FFF2-40B4-BE49-F238E27FC236}">
                <a16:creationId xmlns:a16="http://schemas.microsoft.com/office/drawing/2014/main" id="{998CD5AE-D1CC-64E5-8E91-DAFCDFDC3328}"/>
              </a:ext>
            </a:extLst>
          </p:cNvPr>
          <p:cNvSpPr/>
          <p:nvPr/>
        </p:nvSpPr>
        <p:spPr>
          <a:xfrm>
            <a:off x="502920" y="430823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Spieler-Vorteil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Shape 34">
            <a:extLst>
              <a:ext uri="{FF2B5EF4-FFF2-40B4-BE49-F238E27FC236}">
                <a16:creationId xmlns:a16="http://schemas.microsoft.com/office/drawing/2014/main" id="{C9D562E8-50BA-FEB8-BE83-9A8CBD0B0145}"/>
              </a:ext>
            </a:extLst>
          </p:cNvPr>
          <p:cNvSpPr/>
          <p:nvPr/>
        </p:nvSpPr>
        <p:spPr>
          <a:xfrm>
            <a:off x="5120640" y="4207650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Shape 35">
            <a:extLst>
              <a:ext uri="{FF2B5EF4-FFF2-40B4-BE49-F238E27FC236}">
                <a16:creationId xmlns:a16="http://schemas.microsoft.com/office/drawing/2014/main" id="{8252407C-C05F-DD5B-2B31-830E4BB0787F}"/>
              </a:ext>
            </a:extLst>
          </p:cNvPr>
          <p:cNvSpPr/>
          <p:nvPr/>
        </p:nvSpPr>
        <p:spPr>
          <a:xfrm>
            <a:off x="5120640" y="4207650"/>
            <a:ext cx="3003804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Text 36">
            <a:extLst>
              <a:ext uri="{FF2B5EF4-FFF2-40B4-BE49-F238E27FC236}">
                <a16:creationId xmlns:a16="http://schemas.microsoft.com/office/drawing/2014/main" id="{579E8477-FD6A-EEDF-37CB-5F1BBE449086}"/>
              </a:ext>
            </a:extLst>
          </p:cNvPr>
          <p:cNvSpPr/>
          <p:nvPr/>
        </p:nvSpPr>
        <p:spPr>
          <a:xfrm>
            <a:off x="5120640" y="448197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Aggressive Hits · Mathematisch korrekt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Shape 37">
            <a:extLst>
              <a:ext uri="{FF2B5EF4-FFF2-40B4-BE49-F238E27FC236}">
                <a16:creationId xmlns:a16="http://schemas.microsoft.com/office/drawing/2014/main" id="{1B43AEB9-304E-27B5-F954-A381527A6D0C}"/>
              </a:ext>
            </a:extLst>
          </p:cNvPr>
          <p:cNvSpPr/>
          <p:nvPr/>
        </p:nvSpPr>
        <p:spPr>
          <a:xfrm>
            <a:off x="365760" y="4207650"/>
            <a:ext cx="841248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 w="12700">
            <a:solidFill>
              <a:srgbClr val="CFA122"/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7" name="Text 38">
            <a:extLst>
              <a:ext uri="{FF2B5EF4-FFF2-40B4-BE49-F238E27FC236}">
                <a16:creationId xmlns:a16="http://schemas.microsoft.com/office/drawing/2014/main" id="{10FA6AB2-21EF-10CD-A382-DFD102CF379B}"/>
              </a:ext>
            </a:extLst>
          </p:cNvPr>
          <p:cNvSpPr/>
          <p:nvPr/>
        </p:nvSpPr>
        <p:spPr>
          <a:xfrm>
            <a:off x="594360" y="428994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1150" b="1" dirty="0">
                <a:solidFill>
                  <a:srgbClr val="F59E0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⚠️ Mehr Zustände, kaum mehr </a:t>
            </a:r>
            <a:r>
              <a:rPr lang="de-DE" sz="1150" b="1" dirty="0" err="1">
                <a:solidFill>
                  <a:srgbClr val="F59E0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Reward</a:t>
            </a:r>
            <a:r>
              <a:rPr lang="de-DE" sz="1150" b="1" dirty="0">
                <a:solidFill>
                  <a:srgbClr val="F59E0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en-US" sz="1150" b="1" dirty="0">
              <a:solidFill>
                <a:srgbClr val="F59E0B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DBC42594-455D-83DC-1AEC-A919B4A8966A}"/>
              </a:ext>
            </a:extLst>
          </p:cNvPr>
          <p:cNvSpPr/>
          <p:nvPr/>
        </p:nvSpPr>
        <p:spPr>
          <a:xfrm>
            <a:off x="594360" y="454597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Der </a:t>
            </a:r>
            <a:r>
              <a:rPr lang="de-DE" sz="100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Counting</a:t>
            </a: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-Agent erreicht über Zeit ein ähnliches </a:t>
            </a:r>
            <a:r>
              <a:rPr lang="de-DE" sz="100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Reward</a:t>
            </a: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-Niveau wie die Baseline. Dafür benötigt er eine 406-mal größere Q-Tabelle, die selbst nach 100 Millionen Episoden noch wächst.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ext 13">
            <a:extLst>
              <a:ext uri="{FF2B5EF4-FFF2-40B4-BE49-F238E27FC236}">
                <a16:creationId xmlns:a16="http://schemas.microsoft.com/office/drawing/2014/main" id="{BC233D44-F359-4D45-1D32-3FECD1D2DA80}"/>
              </a:ext>
            </a:extLst>
          </p:cNvPr>
          <p:cNvSpPr/>
          <p:nvPr/>
        </p:nvSpPr>
        <p:spPr>
          <a:xfrm>
            <a:off x="7649462" y="3233960"/>
            <a:ext cx="898388" cy="19772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000">
                <a:solidFill>
                  <a:srgbClr val="64748B"/>
                </a:solidFill>
                <a:latin typeface="Cambria"/>
                <a:ea typeface="Cambria"/>
              </a:rPr>
              <a:t>131.880</a:t>
            </a:r>
            <a:endParaRPr lang="en-US" sz="1000" dirty="0">
              <a:solidFill>
                <a:srgbClr val="64748B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13">
            <a:extLst>
              <a:ext uri="{FF2B5EF4-FFF2-40B4-BE49-F238E27FC236}">
                <a16:creationId xmlns:a16="http://schemas.microsoft.com/office/drawing/2014/main" id="{5849ADF1-76EF-0B07-7851-5D110BB5CF58}"/>
              </a:ext>
            </a:extLst>
          </p:cNvPr>
          <p:cNvSpPr/>
          <p:nvPr/>
        </p:nvSpPr>
        <p:spPr>
          <a:xfrm>
            <a:off x="7649462" y="3438511"/>
            <a:ext cx="898388" cy="19772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000">
                <a:solidFill>
                  <a:srgbClr val="64748B"/>
                </a:solidFill>
                <a:latin typeface="Cambria"/>
                <a:ea typeface="Cambria"/>
              </a:rPr>
              <a:t>X Mio.</a:t>
            </a: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7F865E1B-1294-C30B-98A3-57D73EAF8EF8}"/>
              </a:ext>
            </a:extLst>
          </p:cNvPr>
          <p:cNvCxnSpPr>
            <a:cxnSpLocks/>
          </p:cNvCxnSpPr>
          <p:nvPr/>
        </p:nvCxnSpPr>
        <p:spPr>
          <a:xfrm>
            <a:off x="7141240" y="3321130"/>
            <a:ext cx="632647" cy="0"/>
          </a:xfrm>
          <a:prstGeom prst="straightConnector1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3406009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FF4FF-8DAC-4D7E-C74D-A783E6FB9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C69C8D77-99CE-DC30-5D5B-A6E3BB0E2B58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EC0FC35A-4C46-4F27-AB94-4C1507343911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F1D8FFC-D7E9-115E-3A67-BC612316B805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de-DE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Finale Performance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70DFDE0-D7F0-7CF0-7AC0-E8C23A00AB39}"/>
              </a:ext>
            </a:extLst>
          </p:cNvPr>
          <p:cNvSpPr/>
          <p:nvPr/>
        </p:nvSpPr>
        <p:spPr>
          <a:xfrm>
            <a:off x="6367670" y="54864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1C87B5CB-FDE1-4D92-AEBF-0F36A1936069}" type="slidenum">
              <a:rPr lang="en-US" sz="900" b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27</a:t>
            </a:fld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25BCEA8F-0FE2-D7E3-8401-CB4E62D92A44}"/>
              </a:ext>
            </a:extLst>
          </p:cNvPr>
          <p:cNvSpPr/>
          <p:nvPr/>
        </p:nvSpPr>
        <p:spPr>
          <a:xfrm>
            <a:off x="3412435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BHH · Machine Learning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C9F119E0-D08F-6ADB-7AB0-E758E5F45A1E}"/>
              </a:ext>
            </a:extLst>
          </p:cNvPr>
          <p:cNvSpPr/>
          <p:nvPr/>
        </p:nvSpPr>
        <p:spPr>
          <a:xfrm>
            <a:off x="457200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Ergebnisse</a:t>
            </a: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&amp; </a:t>
            </a: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Fazit</a:t>
            </a:r>
            <a:endParaRPr lang="en-US" sz="9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Cambria" pitchFamily="34" charset="-120"/>
            </a:endParaRPr>
          </a:p>
        </p:txBody>
      </p:sp>
      <p:sp>
        <p:nvSpPr>
          <p:cNvPr id="2" name="Text 29">
            <a:extLst>
              <a:ext uri="{FF2B5EF4-FFF2-40B4-BE49-F238E27FC236}">
                <a16:creationId xmlns:a16="http://schemas.microsoft.com/office/drawing/2014/main" id="{E6068A79-D144-4BBC-52CF-CEF113A7AAA3}"/>
              </a:ext>
            </a:extLst>
          </p:cNvPr>
          <p:cNvSpPr/>
          <p:nvPr/>
        </p:nvSpPr>
        <p:spPr>
          <a:xfrm>
            <a:off x="502920" y="5332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Spieler-Vorteil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Shape 37">
            <a:extLst>
              <a:ext uri="{FF2B5EF4-FFF2-40B4-BE49-F238E27FC236}">
                <a16:creationId xmlns:a16="http://schemas.microsoft.com/office/drawing/2014/main" id="{F6BB92EA-1D13-9DD2-0E26-2C8CCD9AF6B0}"/>
              </a:ext>
            </a:extLst>
          </p:cNvPr>
          <p:cNvSpPr/>
          <p:nvPr/>
        </p:nvSpPr>
        <p:spPr>
          <a:xfrm>
            <a:off x="365760" y="5231416"/>
            <a:ext cx="841248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38">
            <a:extLst>
              <a:ext uri="{FF2B5EF4-FFF2-40B4-BE49-F238E27FC236}">
                <a16:creationId xmlns:a16="http://schemas.microsoft.com/office/drawing/2014/main" id="{51ADD736-BE64-8957-A184-D75F9A89745A}"/>
              </a:ext>
            </a:extLst>
          </p:cNvPr>
          <p:cNvSpPr/>
          <p:nvPr/>
        </p:nvSpPr>
        <p:spPr>
          <a:xfrm>
            <a:off x="594360" y="5313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✅ </a:t>
            </a:r>
            <a:r>
              <a:rPr lang="de-DE" sz="1100" b="1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Leichter Vorteil bei enormer Komplexität</a:t>
            </a:r>
            <a:r>
              <a:rPr lang="en-US" sz="1100" b="1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39">
            <a:extLst>
              <a:ext uri="{FF2B5EF4-FFF2-40B4-BE49-F238E27FC236}">
                <a16:creationId xmlns:a16="http://schemas.microsoft.com/office/drawing/2014/main" id="{89D93106-6552-EFF4-8731-CC665D66F636}"/>
              </a:ext>
            </a:extLst>
          </p:cNvPr>
          <p:cNvSpPr/>
          <p:nvPr/>
        </p:nvSpPr>
        <p:spPr>
          <a:xfrm>
            <a:off x="594360" y="556974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Der </a:t>
            </a:r>
            <a:r>
              <a:rPr lang="de-DE" sz="100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Counting</a:t>
            </a: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-Agent erzielt minimal besseren </a:t>
            </a:r>
            <a:r>
              <a:rPr lang="de-DE" sz="100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Reward</a:t>
            </a: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und </a:t>
            </a:r>
            <a:r>
              <a:rPr lang="de-DE" sz="100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Win</a:t>
            </a: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Rate. Dafür benötigt er jedoch eine ~ 406-mal größere Q-Tabelle.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D5670497-3425-D78E-0ABE-AB91327639E6}"/>
              </a:ext>
            </a:extLst>
          </p:cNvPr>
          <p:cNvSpPr/>
          <p:nvPr/>
        </p:nvSpPr>
        <p:spPr>
          <a:xfrm>
            <a:off x="594360" y="1665256"/>
            <a:ext cx="77724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519A5175-6AD1-E2EF-E81F-4F4825914938}"/>
              </a:ext>
            </a:extLst>
          </p:cNvPr>
          <p:cNvSpPr/>
          <p:nvPr/>
        </p:nvSpPr>
        <p:spPr>
          <a:xfrm>
            <a:off x="704088" y="1665256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METRIC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37AF9EBC-2047-6B1F-B437-6F341674F549}"/>
              </a:ext>
            </a:extLst>
          </p:cNvPr>
          <p:cNvSpPr/>
          <p:nvPr/>
        </p:nvSpPr>
        <p:spPr>
          <a:xfrm>
            <a:off x="3172968" y="1665256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D948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BASELINE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79F0837E-091C-5AD1-F5E3-CD8909B27133}"/>
              </a:ext>
            </a:extLst>
          </p:cNvPr>
          <p:cNvSpPr/>
          <p:nvPr/>
        </p:nvSpPr>
        <p:spPr>
          <a:xfrm>
            <a:off x="5001768" y="1665256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59E0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COUNTING AGENT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E9E4A577-9074-E6F2-5159-A33591B399DC}"/>
              </a:ext>
            </a:extLst>
          </p:cNvPr>
          <p:cNvSpPr/>
          <p:nvPr/>
        </p:nvSpPr>
        <p:spPr>
          <a:xfrm>
            <a:off x="6830568" y="1665256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0B98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DIFF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F1CDFC2B-2A06-424A-C440-30727C91D35B}"/>
              </a:ext>
            </a:extLst>
          </p:cNvPr>
          <p:cNvSpPr/>
          <p:nvPr/>
        </p:nvSpPr>
        <p:spPr>
          <a:xfrm>
            <a:off x="594360" y="2067592"/>
            <a:ext cx="77724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61F11EAF-F602-8D49-EB42-A80AE183EA3A}"/>
              </a:ext>
            </a:extLst>
          </p:cNvPr>
          <p:cNvSpPr/>
          <p:nvPr/>
        </p:nvSpPr>
        <p:spPr>
          <a:xfrm>
            <a:off x="704088" y="2067592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Avg Reward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4425A9CD-270E-B10A-C8CF-1FB2C8A398AC}"/>
              </a:ext>
            </a:extLst>
          </p:cNvPr>
          <p:cNvSpPr/>
          <p:nvPr/>
        </p:nvSpPr>
        <p:spPr>
          <a:xfrm>
            <a:off x="3172968" y="2067592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−0,051562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F801D48E-75AD-81A8-4FC6-A1290C08830D}"/>
              </a:ext>
            </a:extLst>
          </p:cNvPr>
          <p:cNvSpPr/>
          <p:nvPr/>
        </p:nvSpPr>
        <p:spPr>
          <a:xfrm>
            <a:off x="5001768" y="2067592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−0,049767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62D0CF29-5414-E88F-7535-7F2826303CFD}"/>
              </a:ext>
            </a:extLst>
          </p:cNvPr>
          <p:cNvSpPr/>
          <p:nvPr/>
        </p:nvSpPr>
        <p:spPr>
          <a:xfrm>
            <a:off x="6830568" y="2067592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+0,001794 ✅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B3084995-826D-E659-312E-1FBE1FEFE57A}"/>
              </a:ext>
            </a:extLst>
          </p:cNvPr>
          <p:cNvSpPr/>
          <p:nvPr/>
        </p:nvSpPr>
        <p:spPr>
          <a:xfrm>
            <a:off x="594360" y="2506504"/>
            <a:ext cx="777240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6BB6ADE3-A24A-52F7-E617-56CEE2B07877}"/>
              </a:ext>
            </a:extLst>
          </p:cNvPr>
          <p:cNvSpPr/>
          <p:nvPr/>
        </p:nvSpPr>
        <p:spPr>
          <a:xfrm>
            <a:off x="704088" y="2506504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Win Rate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642FCED7-21E9-7B8B-420C-F758FB5C842F}"/>
              </a:ext>
            </a:extLst>
          </p:cNvPr>
          <p:cNvSpPr/>
          <p:nvPr/>
        </p:nvSpPr>
        <p:spPr>
          <a:xfrm>
            <a:off x="3172968" y="2506504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42.75%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D623AEF2-0032-CBA6-849D-43C8499BF7AB}"/>
              </a:ext>
            </a:extLst>
          </p:cNvPr>
          <p:cNvSpPr/>
          <p:nvPr/>
        </p:nvSpPr>
        <p:spPr>
          <a:xfrm>
            <a:off x="5001768" y="2506504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42.83%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6E7C2F71-6EF3-6563-7DA1-C0F053C1385F}"/>
              </a:ext>
            </a:extLst>
          </p:cNvPr>
          <p:cNvSpPr/>
          <p:nvPr/>
        </p:nvSpPr>
        <p:spPr>
          <a:xfrm>
            <a:off x="6830568" y="2506504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+0,087 Pp.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Shape 18">
            <a:extLst>
              <a:ext uri="{FF2B5EF4-FFF2-40B4-BE49-F238E27FC236}">
                <a16:creationId xmlns:a16="http://schemas.microsoft.com/office/drawing/2014/main" id="{BD976C1A-C93F-E111-4C24-FAF3B4C8499F}"/>
              </a:ext>
            </a:extLst>
          </p:cNvPr>
          <p:cNvSpPr/>
          <p:nvPr/>
        </p:nvSpPr>
        <p:spPr>
          <a:xfrm>
            <a:off x="594360" y="2945416"/>
            <a:ext cx="77724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Text 19">
            <a:extLst>
              <a:ext uri="{FF2B5EF4-FFF2-40B4-BE49-F238E27FC236}">
                <a16:creationId xmlns:a16="http://schemas.microsoft.com/office/drawing/2014/main" id="{FD8345E3-9337-FCE7-78DD-73AE633DC0B7}"/>
              </a:ext>
            </a:extLst>
          </p:cNvPr>
          <p:cNvSpPr/>
          <p:nvPr/>
        </p:nvSpPr>
        <p:spPr>
          <a:xfrm>
            <a:off x="704088" y="2945416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Loss Rate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Text 20">
            <a:extLst>
              <a:ext uri="{FF2B5EF4-FFF2-40B4-BE49-F238E27FC236}">
                <a16:creationId xmlns:a16="http://schemas.microsoft.com/office/drawing/2014/main" id="{0CA1AE20-3404-D74D-8EE8-06F5C325F217}"/>
              </a:ext>
            </a:extLst>
          </p:cNvPr>
          <p:cNvSpPr/>
          <p:nvPr/>
        </p:nvSpPr>
        <p:spPr>
          <a:xfrm>
            <a:off x="3172968" y="2945416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47.90%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Text 21">
            <a:extLst>
              <a:ext uri="{FF2B5EF4-FFF2-40B4-BE49-F238E27FC236}">
                <a16:creationId xmlns:a16="http://schemas.microsoft.com/office/drawing/2014/main" id="{B8B5A0B9-5683-9AC6-9642-432B97493C49}"/>
              </a:ext>
            </a:extLst>
          </p:cNvPr>
          <p:cNvSpPr/>
          <p:nvPr/>
        </p:nvSpPr>
        <p:spPr>
          <a:xfrm>
            <a:off x="5001768" y="2945416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47.80%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Text 22">
            <a:extLst>
              <a:ext uri="{FF2B5EF4-FFF2-40B4-BE49-F238E27FC236}">
                <a16:creationId xmlns:a16="http://schemas.microsoft.com/office/drawing/2014/main" id="{7AA725D1-B2E2-6D76-5EEE-E35146BE036F}"/>
              </a:ext>
            </a:extLst>
          </p:cNvPr>
          <p:cNvSpPr/>
          <p:nvPr/>
        </p:nvSpPr>
        <p:spPr>
          <a:xfrm>
            <a:off x="6830568" y="2945416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−0.1 Pp.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Shape 23">
            <a:extLst>
              <a:ext uri="{FF2B5EF4-FFF2-40B4-BE49-F238E27FC236}">
                <a16:creationId xmlns:a16="http://schemas.microsoft.com/office/drawing/2014/main" id="{7E98FD11-2A1A-E911-DFD9-F5D97D03D293}"/>
              </a:ext>
            </a:extLst>
          </p:cNvPr>
          <p:cNvSpPr/>
          <p:nvPr/>
        </p:nvSpPr>
        <p:spPr>
          <a:xfrm>
            <a:off x="594360" y="3384328"/>
            <a:ext cx="777240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DA83B0B3-B961-B13D-7272-6C6D204A5567}"/>
              </a:ext>
            </a:extLst>
          </p:cNvPr>
          <p:cNvSpPr/>
          <p:nvPr/>
        </p:nvSpPr>
        <p:spPr>
          <a:xfrm>
            <a:off x="704088" y="3384328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Push Rate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7" name="Text 25">
            <a:extLst>
              <a:ext uri="{FF2B5EF4-FFF2-40B4-BE49-F238E27FC236}">
                <a16:creationId xmlns:a16="http://schemas.microsoft.com/office/drawing/2014/main" id="{B1FAA552-1B94-9457-6012-BD5412BC7BF4}"/>
              </a:ext>
            </a:extLst>
          </p:cNvPr>
          <p:cNvSpPr/>
          <p:nvPr/>
        </p:nvSpPr>
        <p:spPr>
          <a:xfrm>
            <a:off x="3172968" y="338432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9.35%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Text 26">
            <a:extLst>
              <a:ext uri="{FF2B5EF4-FFF2-40B4-BE49-F238E27FC236}">
                <a16:creationId xmlns:a16="http://schemas.microsoft.com/office/drawing/2014/main" id="{ACE19892-9BF0-5BFD-6D26-2A3D6A1B7D01}"/>
              </a:ext>
            </a:extLst>
          </p:cNvPr>
          <p:cNvSpPr/>
          <p:nvPr/>
        </p:nvSpPr>
        <p:spPr>
          <a:xfrm>
            <a:off x="5001768" y="338432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9.35%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39C2C4C4-307B-D21D-CDA6-82C6AAE611D0}"/>
              </a:ext>
            </a:extLst>
          </p:cNvPr>
          <p:cNvSpPr/>
          <p:nvPr/>
        </p:nvSpPr>
        <p:spPr>
          <a:xfrm>
            <a:off x="6830568" y="3384328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~0 Pp.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0" name="Shape 28">
            <a:extLst>
              <a:ext uri="{FF2B5EF4-FFF2-40B4-BE49-F238E27FC236}">
                <a16:creationId xmlns:a16="http://schemas.microsoft.com/office/drawing/2014/main" id="{95BE4277-8509-3999-584F-51884B5A511F}"/>
              </a:ext>
            </a:extLst>
          </p:cNvPr>
          <p:cNvSpPr/>
          <p:nvPr/>
        </p:nvSpPr>
        <p:spPr>
          <a:xfrm>
            <a:off x="594360" y="3823240"/>
            <a:ext cx="77724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Text 29">
            <a:extLst>
              <a:ext uri="{FF2B5EF4-FFF2-40B4-BE49-F238E27FC236}">
                <a16:creationId xmlns:a16="http://schemas.microsoft.com/office/drawing/2014/main" id="{31B559B5-FC6D-99EB-7E7C-3DE32B3BBC28}"/>
              </a:ext>
            </a:extLst>
          </p:cNvPr>
          <p:cNvSpPr/>
          <p:nvPr/>
        </p:nvSpPr>
        <p:spPr>
          <a:xfrm>
            <a:off x="704088" y="3823240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Q-States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2" name="Text 30">
            <a:extLst>
              <a:ext uri="{FF2B5EF4-FFF2-40B4-BE49-F238E27FC236}">
                <a16:creationId xmlns:a16="http://schemas.microsoft.com/office/drawing/2014/main" id="{EFF3D789-9C7B-498B-84E3-A5FEDBA20973}"/>
              </a:ext>
            </a:extLst>
          </p:cNvPr>
          <p:cNvSpPr/>
          <p:nvPr/>
        </p:nvSpPr>
        <p:spPr>
          <a:xfrm>
            <a:off x="3172968" y="382324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280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Text 31">
            <a:extLst>
              <a:ext uri="{FF2B5EF4-FFF2-40B4-BE49-F238E27FC236}">
                <a16:creationId xmlns:a16="http://schemas.microsoft.com/office/drawing/2014/main" id="{B24F1971-100E-B9F3-B38E-3115FD57AEDF}"/>
              </a:ext>
            </a:extLst>
          </p:cNvPr>
          <p:cNvSpPr/>
          <p:nvPr/>
        </p:nvSpPr>
        <p:spPr>
          <a:xfrm>
            <a:off x="5001768" y="382324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113,760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Text 32">
            <a:extLst>
              <a:ext uri="{FF2B5EF4-FFF2-40B4-BE49-F238E27FC236}">
                <a16:creationId xmlns:a16="http://schemas.microsoft.com/office/drawing/2014/main" id="{05C282D8-5EFE-4F68-E2B5-1E1AE253DADE}"/>
              </a:ext>
            </a:extLst>
          </p:cNvPr>
          <p:cNvSpPr/>
          <p:nvPr/>
        </p:nvSpPr>
        <p:spPr>
          <a:xfrm>
            <a:off x="6830568" y="3823240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~ 406× larger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7" name="Text 29">
            <a:extLst>
              <a:ext uri="{FF2B5EF4-FFF2-40B4-BE49-F238E27FC236}">
                <a16:creationId xmlns:a16="http://schemas.microsoft.com/office/drawing/2014/main" id="{88F114D7-5397-B1B2-AB7C-EDD7A902F5A5}"/>
              </a:ext>
            </a:extLst>
          </p:cNvPr>
          <p:cNvSpPr/>
          <p:nvPr/>
        </p:nvSpPr>
        <p:spPr>
          <a:xfrm>
            <a:off x="502920" y="5325409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Spieler-Vorteil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8" name="Shape 34">
            <a:extLst>
              <a:ext uri="{FF2B5EF4-FFF2-40B4-BE49-F238E27FC236}">
                <a16:creationId xmlns:a16="http://schemas.microsoft.com/office/drawing/2014/main" id="{48B9ECB3-19B2-D9C5-1E00-F3B81655A557}"/>
              </a:ext>
            </a:extLst>
          </p:cNvPr>
          <p:cNvSpPr/>
          <p:nvPr/>
        </p:nvSpPr>
        <p:spPr>
          <a:xfrm>
            <a:off x="5120640" y="5224825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9" name="Shape 35">
            <a:extLst>
              <a:ext uri="{FF2B5EF4-FFF2-40B4-BE49-F238E27FC236}">
                <a16:creationId xmlns:a16="http://schemas.microsoft.com/office/drawing/2014/main" id="{9F823F2A-05E7-46A5-9546-F1D387830421}"/>
              </a:ext>
            </a:extLst>
          </p:cNvPr>
          <p:cNvSpPr/>
          <p:nvPr/>
        </p:nvSpPr>
        <p:spPr>
          <a:xfrm>
            <a:off x="5120640" y="5224825"/>
            <a:ext cx="3003804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0" name="Text 36">
            <a:extLst>
              <a:ext uri="{FF2B5EF4-FFF2-40B4-BE49-F238E27FC236}">
                <a16:creationId xmlns:a16="http://schemas.microsoft.com/office/drawing/2014/main" id="{EF341DE6-20DC-B2DD-89F4-174AB2059DE9}"/>
              </a:ext>
            </a:extLst>
          </p:cNvPr>
          <p:cNvSpPr/>
          <p:nvPr/>
        </p:nvSpPr>
        <p:spPr>
          <a:xfrm>
            <a:off x="5120640" y="5499145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Aggressive Hits · Mathematisch korrekt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1" name="Shape 37">
            <a:extLst>
              <a:ext uri="{FF2B5EF4-FFF2-40B4-BE49-F238E27FC236}">
                <a16:creationId xmlns:a16="http://schemas.microsoft.com/office/drawing/2014/main" id="{069AEFAA-B3EF-E10A-F27C-9BB34DCE0C0A}"/>
              </a:ext>
            </a:extLst>
          </p:cNvPr>
          <p:cNvSpPr/>
          <p:nvPr/>
        </p:nvSpPr>
        <p:spPr>
          <a:xfrm>
            <a:off x="365760" y="5224825"/>
            <a:ext cx="841248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 w="12700">
            <a:solidFill>
              <a:srgbClr val="CFA122"/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2" name="Text 38">
            <a:extLst>
              <a:ext uri="{FF2B5EF4-FFF2-40B4-BE49-F238E27FC236}">
                <a16:creationId xmlns:a16="http://schemas.microsoft.com/office/drawing/2014/main" id="{98DE7B21-C084-2431-6372-8FD0D28B4241}"/>
              </a:ext>
            </a:extLst>
          </p:cNvPr>
          <p:cNvSpPr/>
          <p:nvPr/>
        </p:nvSpPr>
        <p:spPr>
          <a:xfrm>
            <a:off x="594360" y="5307121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1150" b="1" dirty="0">
                <a:solidFill>
                  <a:srgbClr val="F59E0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⚠️ Mehr Zustände, kaum mehr </a:t>
            </a:r>
            <a:r>
              <a:rPr lang="de-DE" sz="1150" b="1" dirty="0" err="1">
                <a:solidFill>
                  <a:srgbClr val="F59E0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Reward</a:t>
            </a:r>
            <a:r>
              <a:rPr lang="de-DE" sz="1150" b="1" dirty="0">
                <a:solidFill>
                  <a:srgbClr val="F59E0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en-US" sz="1150" b="1" dirty="0">
              <a:solidFill>
                <a:srgbClr val="F59E0B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3" name="Text 39">
            <a:extLst>
              <a:ext uri="{FF2B5EF4-FFF2-40B4-BE49-F238E27FC236}">
                <a16:creationId xmlns:a16="http://schemas.microsoft.com/office/drawing/2014/main" id="{60A5FCDF-F07D-3E0D-B887-8AE404F4D4B9}"/>
              </a:ext>
            </a:extLst>
          </p:cNvPr>
          <p:cNvSpPr/>
          <p:nvPr/>
        </p:nvSpPr>
        <p:spPr>
          <a:xfrm>
            <a:off x="594360" y="5563153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Der </a:t>
            </a:r>
            <a:r>
              <a:rPr lang="de-DE" sz="100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Counting</a:t>
            </a: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-Agent erreicht über Zeit ein ähnliches </a:t>
            </a:r>
            <a:r>
              <a:rPr lang="de-DE" sz="100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Reward</a:t>
            </a: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-Niveau wie die Baseline. Dafür benötigt er eine 406-mal größere Q-Tabelle, die selbst nach 100 Millionen Episoden noch wächst.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234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180FE-D375-471A-989A-932D3A340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AB2C1EC-EA9E-A942-0DC9-9B75E894C21C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B2CAAC4F-C408-5A0E-00A9-8D827C2D914D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24E753F-E05A-173E-225D-030FC21A40FD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de-DE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Finale Performance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3B6C9C6-C2FE-E8FA-4110-880B6C96CAE8}"/>
              </a:ext>
            </a:extLst>
          </p:cNvPr>
          <p:cNvSpPr/>
          <p:nvPr/>
        </p:nvSpPr>
        <p:spPr>
          <a:xfrm>
            <a:off x="6367670" y="54864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1C87B5CB-FDE1-4D92-AEBF-0F36A1936069}" type="slidenum">
              <a:rPr lang="en-US" sz="900" b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28</a:t>
            </a:fld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C50221E8-48F0-A700-318F-4DAC86763579}"/>
              </a:ext>
            </a:extLst>
          </p:cNvPr>
          <p:cNvSpPr/>
          <p:nvPr/>
        </p:nvSpPr>
        <p:spPr>
          <a:xfrm>
            <a:off x="3412435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BHH · Machine Learning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2BFBBBE0-87CF-AC17-A840-855261136EDC}"/>
              </a:ext>
            </a:extLst>
          </p:cNvPr>
          <p:cNvSpPr/>
          <p:nvPr/>
        </p:nvSpPr>
        <p:spPr>
          <a:xfrm>
            <a:off x="457200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Ergebnisse</a:t>
            </a: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&amp; </a:t>
            </a: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Fazit</a:t>
            </a:r>
            <a:endParaRPr lang="en-US" sz="9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Cambria" pitchFamily="34" charset="-120"/>
            </a:endParaRPr>
          </a:p>
        </p:txBody>
      </p:sp>
      <p:sp>
        <p:nvSpPr>
          <p:cNvPr id="15" name="Text 29">
            <a:extLst>
              <a:ext uri="{FF2B5EF4-FFF2-40B4-BE49-F238E27FC236}">
                <a16:creationId xmlns:a16="http://schemas.microsoft.com/office/drawing/2014/main" id="{45EFE608-A287-FD3E-E914-A98E3EF64078}"/>
              </a:ext>
            </a:extLst>
          </p:cNvPr>
          <p:cNvSpPr/>
          <p:nvPr/>
        </p:nvSpPr>
        <p:spPr>
          <a:xfrm>
            <a:off x="502920" y="435618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Spieler-Vorteil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36">
            <a:extLst>
              <a:ext uri="{FF2B5EF4-FFF2-40B4-BE49-F238E27FC236}">
                <a16:creationId xmlns:a16="http://schemas.microsoft.com/office/drawing/2014/main" id="{FAD29E6E-E1BD-720F-2E1B-ED4A4FBD2CD1}"/>
              </a:ext>
            </a:extLst>
          </p:cNvPr>
          <p:cNvSpPr/>
          <p:nvPr/>
        </p:nvSpPr>
        <p:spPr>
          <a:xfrm>
            <a:off x="5120640" y="452991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Aggressive Hits · Mathematisch korrekt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Shape 37">
            <a:extLst>
              <a:ext uri="{FF2B5EF4-FFF2-40B4-BE49-F238E27FC236}">
                <a16:creationId xmlns:a16="http://schemas.microsoft.com/office/drawing/2014/main" id="{B6AF5E5C-00D3-1662-CAC2-D142FEA257FB}"/>
              </a:ext>
            </a:extLst>
          </p:cNvPr>
          <p:cNvSpPr/>
          <p:nvPr/>
        </p:nvSpPr>
        <p:spPr>
          <a:xfrm>
            <a:off x="365760" y="4255598"/>
            <a:ext cx="841248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38">
            <a:extLst>
              <a:ext uri="{FF2B5EF4-FFF2-40B4-BE49-F238E27FC236}">
                <a16:creationId xmlns:a16="http://schemas.microsoft.com/office/drawing/2014/main" id="{8108723E-4F6E-2023-0886-5D0A756079CB}"/>
              </a:ext>
            </a:extLst>
          </p:cNvPr>
          <p:cNvSpPr/>
          <p:nvPr/>
        </p:nvSpPr>
        <p:spPr>
          <a:xfrm>
            <a:off x="594360" y="433789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✅ </a:t>
            </a:r>
            <a:r>
              <a:rPr lang="de-DE" sz="1100" b="1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Leichter Vorteil bei enormer Komplexität</a:t>
            </a:r>
            <a:r>
              <a:rPr lang="en-US" sz="1100" b="1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39">
            <a:extLst>
              <a:ext uri="{FF2B5EF4-FFF2-40B4-BE49-F238E27FC236}">
                <a16:creationId xmlns:a16="http://schemas.microsoft.com/office/drawing/2014/main" id="{A1D8F7B4-84EC-E407-F7C0-DD49B474F910}"/>
              </a:ext>
            </a:extLst>
          </p:cNvPr>
          <p:cNvSpPr/>
          <p:nvPr/>
        </p:nvSpPr>
        <p:spPr>
          <a:xfrm>
            <a:off x="594360" y="459392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Der </a:t>
            </a:r>
            <a:r>
              <a:rPr lang="de-DE" sz="100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Counting</a:t>
            </a: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-Agent erzielt minimal besseren </a:t>
            </a:r>
            <a:r>
              <a:rPr lang="de-DE" sz="100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Reward</a:t>
            </a: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und </a:t>
            </a:r>
            <a:r>
              <a:rPr lang="de-DE" sz="100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Win</a:t>
            </a: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Rate. Dafür benötigt er jedoch eine ~ 406-mal größere Q-Tabelle.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2" name="Shape 3">
            <a:extLst>
              <a:ext uri="{FF2B5EF4-FFF2-40B4-BE49-F238E27FC236}">
                <a16:creationId xmlns:a16="http://schemas.microsoft.com/office/drawing/2014/main" id="{26121FF1-EA93-E153-6247-923E6C48D043}"/>
              </a:ext>
            </a:extLst>
          </p:cNvPr>
          <p:cNvSpPr/>
          <p:nvPr/>
        </p:nvSpPr>
        <p:spPr>
          <a:xfrm>
            <a:off x="594360" y="1347806"/>
            <a:ext cx="77724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3" name="Text 4">
            <a:extLst>
              <a:ext uri="{FF2B5EF4-FFF2-40B4-BE49-F238E27FC236}">
                <a16:creationId xmlns:a16="http://schemas.microsoft.com/office/drawing/2014/main" id="{9BB03B9C-C4BC-B3C4-7AD7-4F8074850349}"/>
              </a:ext>
            </a:extLst>
          </p:cNvPr>
          <p:cNvSpPr/>
          <p:nvPr/>
        </p:nvSpPr>
        <p:spPr>
          <a:xfrm>
            <a:off x="704088" y="1347806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METRIC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4" name="Text 5">
            <a:extLst>
              <a:ext uri="{FF2B5EF4-FFF2-40B4-BE49-F238E27FC236}">
                <a16:creationId xmlns:a16="http://schemas.microsoft.com/office/drawing/2014/main" id="{2059F8A3-53D9-13EF-C138-A8F349789D4C}"/>
              </a:ext>
            </a:extLst>
          </p:cNvPr>
          <p:cNvSpPr/>
          <p:nvPr/>
        </p:nvSpPr>
        <p:spPr>
          <a:xfrm>
            <a:off x="3172968" y="1347806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D948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BASELINE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5" name="Text 6">
            <a:extLst>
              <a:ext uri="{FF2B5EF4-FFF2-40B4-BE49-F238E27FC236}">
                <a16:creationId xmlns:a16="http://schemas.microsoft.com/office/drawing/2014/main" id="{21F6D99E-9F30-AE6B-915B-5804F2E45DFB}"/>
              </a:ext>
            </a:extLst>
          </p:cNvPr>
          <p:cNvSpPr/>
          <p:nvPr/>
        </p:nvSpPr>
        <p:spPr>
          <a:xfrm>
            <a:off x="5001768" y="1347806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59E0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COUNTING AGENT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6" name="Text 7">
            <a:extLst>
              <a:ext uri="{FF2B5EF4-FFF2-40B4-BE49-F238E27FC236}">
                <a16:creationId xmlns:a16="http://schemas.microsoft.com/office/drawing/2014/main" id="{7733999D-545A-3C9F-8BD8-A2DAD6AECADA}"/>
              </a:ext>
            </a:extLst>
          </p:cNvPr>
          <p:cNvSpPr/>
          <p:nvPr/>
        </p:nvSpPr>
        <p:spPr>
          <a:xfrm>
            <a:off x="6830568" y="1347806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0B98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DIFF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Shape 8">
            <a:extLst>
              <a:ext uri="{FF2B5EF4-FFF2-40B4-BE49-F238E27FC236}">
                <a16:creationId xmlns:a16="http://schemas.microsoft.com/office/drawing/2014/main" id="{10B6E0FD-CA8B-F0AC-BFC5-B7073203B272}"/>
              </a:ext>
            </a:extLst>
          </p:cNvPr>
          <p:cNvSpPr/>
          <p:nvPr/>
        </p:nvSpPr>
        <p:spPr>
          <a:xfrm>
            <a:off x="594360" y="1750142"/>
            <a:ext cx="77724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8" name="Text 9">
            <a:extLst>
              <a:ext uri="{FF2B5EF4-FFF2-40B4-BE49-F238E27FC236}">
                <a16:creationId xmlns:a16="http://schemas.microsoft.com/office/drawing/2014/main" id="{AD45B590-E76B-2941-EF8B-3EAC97975208}"/>
              </a:ext>
            </a:extLst>
          </p:cNvPr>
          <p:cNvSpPr/>
          <p:nvPr/>
        </p:nvSpPr>
        <p:spPr>
          <a:xfrm>
            <a:off x="704088" y="1750142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Avg Reward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9" name="Text 10">
            <a:extLst>
              <a:ext uri="{FF2B5EF4-FFF2-40B4-BE49-F238E27FC236}">
                <a16:creationId xmlns:a16="http://schemas.microsoft.com/office/drawing/2014/main" id="{C2025645-9EB9-B682-4EE2-B893E0C34C5F}"/>
              </a:ext>
            </a:extLst>
          </p:cNvPr>
          <p:cNvSpPr/>
          <p:nvPr/>
        </p:nvSpPr>
        <p:spPr>
          <a:xfrm>
            <a:off x="3172968" y="1750142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−0,051562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0" name="Text 11">
            <a:extLst>
              <a:ext uri="{FF2B5EF4-FFF2-40B4-BE49-F238E27FC236}">
                <a16:creationId xmlns:a16="http://schemas.microsoft.com/office/drawing/2014/main" id="{4AD0A6FC-0519-C188-6AEC-98F047CBA0CE}"/>
              </a:ext>
            </a:extLst>
          </p:cNvPr>
          <p:cNvSpPr/>
          <p:nvPr/>
        </p:nvSpPr>
        <p:spPr>
          <a:xfrm>
            <a:off x="5001768" y="1750142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−0,049767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1" name="Text 12">
            <a:extLst>
              <a:ext uri="{FF2B5EF4-FFF2-40B4-BE49-F238E27FC236}">
                <a16:creationId xmlns:a16="http://schemas.microsoft.com/office/drawing/2014/main" id="{21BF5769-275B-FC43-53D2-084963EA95D7}"/>
              </a:ext>
            </a:extLst>
          </p:cNvPr>
          <p:cNvSpPr/>
          <p:nvPr/>
        </p:nvSpPr>
        <p:spPr>
          <a:xfrm>
            <a:off x="6830568" y="1750142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+0,001794 ✅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2" name="Shape 13">
            <a:extLst>
              <a:ext uri="{FF2B5EF4-FFF2-40B4-BE49-F238E27FC236}">
                <a16:creationId xmlns:a16="http://schemas.microsoft.com/office/drawing/2014/main" id="{9BE48C5D-29DB-0BB7-521D-B3B7679A79E0}"/>
              </a:ext>
            </a:extLst>
          </p:cNvPr>
          <p:cNvSpPr/>
          <p:nvPr/>
        </p:nvSpPr>
        <p:spPr>
          <a:xfrm>
            <a:off x="594360" y="2189054"/>
            <a:ext cx="777240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3" name="Text 14">
            <a:extLst>
              <a:ext uri="{FF2B5EF4-FFF2-40B4-BE49-F238E27FC236}">
                <a16:creationId xmlns:a16="http://schemas.microsoft.com/office/drawing/2014/main" id="{D201DA48-8B65-4DF5-5A46-2D0BB1584A14}"/>
              </a:ext>
            </a:extLst>
          </p:cNvPr>
          <p:cNvSpPr/>
          <p:nvPr/>
        </p:nvSpPr>
        <p:spPr>
          <a:xfrm>
            <a:off x="704088" y="2189054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Win Rate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" name="Text 15">
            <a:extLst>
              <a:ext uri="{FF2B5EF4-FFF2-40B4-BE49-F238E27FC236}">
                <a16:creationId xmlns:a16="http://schemas.microsoft.com/office/drawing/2014/main" id="{30C15EEB-3C32-063D-B3FC-30B1A08146C9}"/>
              </a:ext>
            </a:extLst>
          </p:cNvPr>
          <p:cNvSpPr/>
          <p:nvPr/>
        </p:nvSpPr>
        <p:spPr>
          <a:xfrm>
            <a:off x="3172968" y="2189054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42.75%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5" name="Text 16">
            <a:extLst>
              <a:ext uri="{FF2B5EF4-FFF2-40B4-BE49-F238E27FC236}">
                <a16:creationId xmlns:a16="http://schemas.microsoft.com/office/drawing/2014/main" id="{8B18225B-5F56-414F-A13F-902BF0CB52FE}"/>
              </a:ext>
            </a:extLst>
          </p:cNvPr>
          <p:cNvSpPr/>
          <p:nvPr/>
        </p:nvSpPr>
        <p:spPr>
          <a:xfrm>
            <a:off x="5001768" y="2189054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42.83%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6" name="Text 17">
            <a:extLst>
              <a:ext uri="{FF2B5EF4-FFF2-40B4-BE49-F238E27FC236}">
                <a16:creationId xmlns:a16="http://schemas.microsoft.com/office/drawing/2014/main" id="{90CA1243-139F-292B-8250-20AA942EA0FC}"/>
              </a:ext>
            </a:extLst>
          </p:cNvPr>
          <p:cNvSpPr/>
          <p:nvPr/>
        </p:nvSpPr>
        <p:spPr>
          <a:xfrm>
            <a:off x="6830568" y="2189054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+0.09%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7" name="Shape 18">
            <a:extLst>
              <a:ext uri="{FF2B5EF4-FFF2-40B4-BE49-F238E27FC236}">
                <a16:creationId xmlns:a16="http://schemas.microsoft.com/office/drawing/2014/main" id="{FC1D9078-F446-09C1-8BC0-86FA624C2A7D}"/>
              </a:ext>
            </a:extLst>
          </p:cNvPr>
          <p:cNvSpPr/>
          <p:nvPr/>
        </p:nvSpPr>
        <p:spPr>
          <a:xfrm>
            <a:off x="594360" y="2627966"/>
            <a:ext cx="77724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8" name="Text 19">
            <a:extLst>
              <a:ext uri="{FF2B5EF4-FFF2-40B4-BE49-F238E27FC236}">
                <a16:creationId xmlns:a16="http://schemas.microsoft.com/office/drawing/2014/main" id="{72B523E0-AF73-3EF5-95D9-7F8D00FA315D}"/>
              </a:ext>
            </a:extLst>
          </p:cNvPr>
          <p:cNvSpPr/>
          <p:nvPr/>
        </p:nvSpPr>
        <p:spPr>
          <a:xfrm>
            <a:off x="704088" y="2627966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Loss Rate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9" name="Text 20">
            <a:extLst>
              <a:ext uri="{FF2B5EF4-FFF2-40B4-BE49-F238E27FC236}">
                <a16:creationId xmlns:a16="http://schemas.microsoft.com/office/drawing/2014/main" id="{D3894B82-63F4-D121-9744-C8D8F5EC0784}"/>
              </a:ext>
            </a:extLst>
          </p:cNvPr>
          <p:cNvSpPr/>
          <p:nvPr/>
        </p:nvSpPr>
        <p:spPr>
          <a:xfrm>
            <a:off x="3172968" y="2627966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47.90%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0" name="Text 21">
            <a:extLst>
              <a:ext uri="{FF2B5EF4-FFF2-40B4-BE49-F238E27FC236}">
                <a16:creationId xmlns:a16="http://schemas.microsoft.com/office/drawing/2014/main" id="{3CE231E7-3A8F-2486-F71D-7919B978A731}"/>
              </a:ext>
            </a:extLst>
          </p:cNvPr>
          <p:cNvSpPr/>
          <p:nvPr/>
        </p:nvSpPr>
        <p:spPr>
          <a:xfrm>
            <a:off x="5001768" y="2627966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47.80%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1" name="Text 22">
            <a:extLst>
              <a:ext uri="{FF2B5EF4-FFF2-40B4-BE49-F238E27FC236}">
                <a16:creationId xmlns:a16="http://schemas.microsoft.com/office/drawing/2014/main" id="{A8275EFF-F4F5-5DCC-F58A-288DBE938F21}"/>
              </a:ext>
            </a:extLst>
          </p:cNvPr>
          <p:cNvSpPr/>
          <p:nvPr/>
        </p:nvSpPr>
        <p:spPr>
          <a:xfrm>
            <a:off x="6830568" y="2627966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−0.1%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2" name="Shape 23">
            <a:extLst>
              <a:ext uri="{FF2B5EF4-FFF2-40B4-BE49-F238E27FC236}">
                <a16:creationId xmlns:a16="http://schemas.microsoft.com/office/drawing/2014/main" id="{A8D160A0-B4DA-0C61-F390-F3DE1E5D0B78}"/>
              </a:ext>
            </a:extLst>
          </p:cNvPr>
          <p:cNvSpPr/>
          <p:nvPr/>
        </p:nvSpPr>
        <p:spPr>
          <a:xfrm>
            <a:off x="594360" y="3066878"/>
            <a:ext cx="777240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3" name="Text 24">
            <a:extLst>
              <a:ext uri="{FF2B5EF4-FFF2-40B4-BE49-F238E27FC236}">
                <a16:creationId xmlns:a16="http://schemas.microsoft.com/office/drawing/2014/main" id="{B12754B2-C6C4-5AA6-C5CE-1E3D01C46A47}"/>
              </a:ext>
            </a:extLst>
          </p:cNvPr>
          <p:cNvSpPr/>
          <p:nvPr/>
        </p:nvSpPr>
        <p:spPr>
          <a:xfrm>
            <a:off x="704088" y="3066878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Push Rate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4" name="Text 25">
            <a:extLst>
              <a:ext uri="{FF2B5EF4-FFF2-40B4-BE49-F238E27FC236}">
                <a16:creationId xmlns:a16="http://schemas.microsoft.com/office/drawing/2014/main" id="{6460B27B-DB01-BA3B-35B2-F0A6E1F45EC1}"/>
              </a:ext>
            </a:extLst>
          </p:cNvPr>
          <p:cNvSpPr/>
          <p:nvPr/>
        </p:nvSpPr>
        <p:spPr>
          <a:xfrm>
            <a:off x="3172968" y="306687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9.35%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Text 26">
            <a:extLst>
              <a:ext uri="{FF2B5EF4-FFF2-40B4-BE49-F238E27FC236}">
                <a16:creationId xmlns:a16="http://schemas.microsoft.com/office/drawing/2014/main" id="{20E32A33-ED9E-79D7-3359-D65B6F2426E3}"/>
              </a:ext>
            </a:extLst>
          </p:cNvPr>
          <p:cNvSpPr/>
          <p:nvPr/>
        </p:nvSpPr>
        <p:spPr>
          <a:xfrm>
            <a:off x="5001768" y="306687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9.35%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6" name="Text 27">
            <a:extLst>
              <a:ext uri="{FF2B5EF4-FFF2-40B4-BE49-F238E27FC236}">
                <a16:creationId xmlns:a16="http://schemas.microsoft.com/office/drawing/2014/main" id="{C8727153-1686-17D7-7E43-BC760279367E}"/>
              </a:ext>
            </a:extLst>
          </p:cNvPr>
          <p:cNvSpPr/>
          <p:nvPr/>
        </p:nvSpPr>
        <p:spPr>
          <a:xfrm>
            <a:off x="6830568" y="3066878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~0%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7" name="Shape 28">
            <a:extLst>
              <a:ext uri="{FF2B5EF4-FFF2-40B4-BE49-F238E27FC236}">
                <a16:creationId xmlns:a16="http://schemas.microsoft.com/office/drawing/2014/main" id="{1CC03027-ABB6-D161-D446-28DB0650080C}"/>
              </a:ext>
            </a:extLst>
          </p:cNvPr>
          <p:cNvSpPr/>
          <p:nvPr/>
        </p:nvSpPr>
        <p:spPr>
          <a:xfrm>
            <a:off x="594360" y="3505790"/>
            <a:ext cx="77724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8" name="Text 29">
            <a:extLst>
              <a:ext uri="{FF2B5EF4-FFF2-40B4-BE49-F238E27FC236}">
                <a16:creationId xmlns:a16="http://schemas.microsoft.com/office/drawing/2014/main" id="{3D139EE7-B5A3-A194-8F7B-6B3F22CB4796}"/>
              </a:ext>
            </a:extLst>
          </p:cNvPr>
          <p:cNvSpPr/>
          <p:nvPr/>
        </p:nvSpPr>
        <p:spPr>
          <a:xfrm>
            <a:off x="704088" y="3505790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Q-States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9" name="Text 30">
            <a:extLst>
              <a:ext uri="{FF2B5EF4-FFF2-40B4-BE49-F238E27FC236}">
                <a16:creationId xmlns:a16="http://schemas.microsoft.com/office/drawing/2014/main" id="{29A1539D-E527-B93E-37C2-E2B010EC3A44}"/>
              </a:ext>
            </a:extLst>
          </p:cNvPr>
          <p:cNvSpPr/>
          <p:nvPr/>
        </p:nvSpPr>
        <p:spPr>
          <a:xfrm>
            <a:off x="3172968" y="350579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280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0" name="Text 31">
            <a:extLst>
              <a:ext uri="{FF2B5EF4-FFF2-40B4-BE49-F238E27FC236}">
                <a16:creationId xmlns:a16="http://schemas.microsoft.com/office/drawing/2014/main" id="{1FB188D0-CD79-478D-09BF-B3389718FFF7}"/>
              </a:ext>
            </a:extLst>
          </p:cNvPr>
          <p:cNvSpPr/>
          <p:nvPr/>
        </p:nvSpPr>
        <p:spPr>
          <a:xfrm>
            <a:off x="5001768" y="350579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113,760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1" name="Text 32">
            <a:extLst>
              <a:ext uri="{FF2B5EF4-FFF2-40B4-BE49-F238E27FC236}">
                <a16:creationId xmlns:a16="http://schemas.microsoft.com/office/drawing/2014/main" id="{C449B4ED-94B3-2374-D7FE-B7392CF18651}"/>
              </a:ext>
            </a:extLst>
          </p:cNvPr>
          <p:cNvSpPr/>
          <p:nvPr/>
        </p:nvSpPr>
        <p:spPr>
          <a:xfrm>
            <a:off x="6830568" y="3505790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~ 406× larger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7630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FFB8B-F707-F9D5-2277-FA489F16C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E69EDDD8-E668-CF7F-1138-52C7744B4F90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4B6E711A-90B7-DA02-A417-F5330D5F7E64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5C23894-C9C0-5927-F03A-797C901FA89A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de-DE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Positiver Trend, aber statistisch nicht abgesichert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4A11339-EF15-98FF-463B-1285E5B9DC26}"/>
              </a:ext>
            </a:extLst>
          </p:cNvPr>
          <p:cNvSpPr/>
          <p:nvPr/>
        </p:nvSpPr>
        <p:spPr>
          <a:xfrm>
            <a:off x="6367670" y="54864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1C87B5CB-FDE1-4D92-AEBF-0F36A1936069}" type="slidenum">
              <a:rPr lang="en-US" sz="900" b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29</a:t>
            </a:fld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E688F175-7B2A-BF4C-6645-CA800414FA4F}"/>
              </a:ext>
            </a:extLst>
          </p:cNvPr>
          <p:cNvSpPr/>
          <p:nvPr/>
        </p:nvSpPr>
        <p:spPr>
          <a:xfrm>
            <a:off x="3412435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BHH · Machine Learning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86712CB8-8259-4566-350E-847D0AFAD51A}"/>
              </a:ext>
            </a:extLst>
          </p:cNvPr>
          <p:cNvSpPr/>
          <p:nvPr/>
        </p:nvSpPr>
        <p:spPr>
          <a:xfrm>
            <a:off x="457200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Ergebnisse</a:t>
            </a: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&amp; </a:t>
            </a: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Fazit</a:t>
            </a:r>
            <a:endParaRPr lang="en-US" sz="9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Cambria" pitchFamily="34" charset="-120"/>
            </a:endParaRP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DE5B07F1-2710-E291-12EF-CF4ED1B44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" y="1517398"/>
            <a:ext cx="7219950" cy="3009412"/>
          </a:xfrm>
          <a:prstGeom prst="rect">
            <a:avLst/>
          </a:prstGeom>
        </p:spPr>
      </p:pic>
      <p:sp>
        <p:nvSpPr>
          <p:cNvPr id="22" name="Text 29">
            <a:extLst>
              <a:ext uri="{FF2B5EF4-FFF2-40B4-BE49-F238E27FC236}">
                <a16:creationId xmlns:a16="http://schemas.microsoft.com/office/drawing/2014/main" id="{D6F08B62-28AC-C4B0-BAA1-8E51BB524C2E}"/>
              </a:ext>
            </a:extLst>
          </p:cNvPr>
          <p:cNvSpPr/>
          <p:nvPr/>
        </p:nvSpPr>
        <p:spPr>
          <a:xfrm>
            <a:off x="502920" y="532589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Spieler-Vorteil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Shape 37">
            <a:extLst>
              <a:ext uri="{FF2B5EF4-FFF2-40B4-BE49-F238E27FC236}">
                <a16:creationId xmlns:a16="http://schemas.microsoft.com/office/drawing/2014/main" id="{2FC715BE-F8DE-8FE2-6736-BF99BE9FFEAD}"/>
              </a:ext>
            </a:extLst>
          </p:cNvPr>
          <p:cNvSpPr/>
          <p:nvPr/>
        </p:nvSpPr>
        <p:spPr>
          <a:xfrm>
            <a:off x="365760" y="5225310"/>
            <a:ext cx="841248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 w="12700">
            <a:solidFill>
              <a:srgbClr val="CFA122"/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38">
            <a:extLst>
              <a:ext uri="{FF2B5EF4-FFF2-40B4-BE49-F238E27FC236}">
                <a16:creationId xmlns:a16="http://schemas.microsoft.com/office/drawing/2014/main" id="{D59891A0-4B7B-855B-80B3-0A76456C5C3E}"/>
              </a:ext>
            </a:extLst>
          </p:cNvPr>
          <p:cNvSpPr/>
          <p:nvPr/>
        </p:nvSpPr>
        <p:spPr>
          <a:xfrm>
            <a:off x="594360" y="530760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1150" b="1" dirty="0">
                <a:solidFill>
                  <a:srgbClr val="F59E0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⚠️ Positive Tendenz, aber kein robuster Nachweis</a:t>
            </a:r>
          </a:p>
        </p:txBody>
      </p:sp>
      <p:sp>
        <p:nvSpPr>
          <p:cNvPr id="25" name="Text 39">
            <a:extLst>
              <a:ext uri="{FF2B5EF4-FFF2-40B4-BE49-F238E27FC236}">
                <a16:creationId xmlns:a16="http://schemas.microsoft.com/office/drawing/2014/main" id="{9123D6EC-1314-A5EF-489F-B91D2875D17F}"/>
              </a:ext>
            </a:extLst>
          </p:cNvPr>
          <p:cNvSpPr/>
          <p:nvPr/>
        </p:nvSpPr>
        <p:spPr>
          <a:xfrm>
            <a:off x="594360" y="556363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Der </a:t>
            </a:r>
            <a:r>
              <a:rPr lang="de-DE" sz="100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Counting</a:t>
            </a: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-Agent erzielt bei allen drei </a:t>
            </a:r>
            <a:r>
              <a:rPr lang="de-DE" sz="100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Trainingsseed</a:t>
            </a: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-Paaren einen höheren </a:t>
            </a:r>
            <a:r>
              <a:rPr lang="de-DE" sz="100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Reward</a:t>
            </a: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Die mittlere Verbesserung beträgt jedoch nur +0,001794. Mit lediglich drei unabhängigen Trainingsläufen ist der Unterschied nicht statistisch abgesichert (p = 0,153; 95%-CI der Differenz enthält null).</a:t>
            </a:r>
          </a:p>
        </p:txBody>
      </p:sp>
      <p:sp>
        <p:nvSpPr>
          <p:cNvPr id="33" name="Shape 37">
            <a:extLst>
              <a:ext uri="{FF2B5EF4-FFF2-40B4-BE49-F238E27FC236}">
                <a16:creationId xmlns:a16="http://schemas.microsoft.com/office/drawing/2014/main" id="{0E332654-3E48-27E2-9C11-CAF90F274704}"/>
              </a:ext>
            </a:extLst>
          </p:cNvPr>
          <p:cNvSpPr/>
          <p:nvPr/>
        </p:nvSpPr>
        <p:spPr>
          <a:xfrm>
            <a:off x="365760" y="5225310"/>
            <a:ext cx="841248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Text 38">
            <a:extLst>
              <a:ext uri="{FF2B5EF4-FFF2-40B4-BE49-F238E27FC236}">
                <a16:creationId xmlns:a16="http://schemas.microsoft.com/office/drawing/2014/main" id="{AE4BB9CE-BF4A-A8AE-D2E3-0589DA04F4BE}"/>
              </a:ext>
            </a:extLst>
          </p:cNvPr>
          <p:cNvSpPr/>
          <p:nvPr/>
        </p:nvSpPr>
        <p:spPr>
          <a:xfrm>
            <a:off x="594360" y="530760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✅ </a:t>
            </a:r>
            <a:r>
              <a:rPr lang="de-DE" sz="1100" b="1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Leichter Vorteil bei enormer Komplexität</a:t>
            </a:r>
            <a:r>
              <a:rPr lang="en-US" sz="1100" b="1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Text 39">
            <a:extLst>
              <a:ext uri="{FF2B5EF4-FFF2-40B4-BE49-F238E27FC236}">
                <a16:creationId xmlns:a16="http://schemas.microsoft.com/office/drawing/2014/main" id="{EF294CFD-B625-2A2B-0161-6190ECCD1282}"/>
              </a:ext>
            </a:extLst>
          </p:cNvPr>
          <p:cNvSpPr/>
          <p:nvPr/>
        </p:nvSpPr>
        <p:spPr>
          <a:xfrm>
            <a:off x="594360" y="556363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Der </a:t>
            </a:r>
            <a:r>
              <a:rPr lang="de-DE" sz="100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Counting</a:t>
            </a: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-Agent erzielt minimal besseren </a:t>
            </a:r>
            <a:r>
              <a:rPr lang="de-DE" sz="100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Reward</a:t>
            </a: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und </a:t>
            </a:r>
            <a:r>
              <a:rPr lang="de-DE" sz="100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Win</a:t>
            </a: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Rate. Dafür benötigt er jedoch eine ~ 406-mal größere Q-Tabelle.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831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E1710-2462-343A-F09A-58BD801ED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9DEEB5DB-A394-34AC-D46D-EFD3001F860C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40E0335A-E387-E950-DFFC-04766D46D8BA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AA2B31C-B0BF-F01E-D0D3-470619257E9B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de-DE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Positiver Trend, aber statistisch nicht abgesichert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1CCCFDE-E29B-674E-9CF2-1B8A3467BCF5}"/>
              </a:ext>
            </a:extLst>
          </p:cNvPr>
          <p:cNvSpPr/>
          <p:nvPr/>
        </p:nvSpPr>
        <p:spPr>
          <a:xfrm>
            <a:off x="6367670" y="54864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1C87B5CB-FDE1-4D92-AEBF-0F36A1936069}" type="slidenum">
              <a:rPr lang="en-US" sz="900" b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30</a:t>
            </a:fld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71B8D459-2299-3511-676F-1B9A0659C540}"/>
              </a:ext>
            </a:extLst>
          </p:cNvPr>
          <p:cNvSpPr/>
          <p:nvPr/>
        </p:nvSpPr>
        <p:spPr>
          <a:xfrm>
            <a:off x="3412435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BHH · Machine Learning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E8013639-B318-6619-0FCF-52FE29ED3B13}"/>
              </a:ext>
            </a:extLst>
          </p:cNvPr>
          <p:cNvSpPr/>
          <p:nvPr/>
        </p:nvSpPr>
        <p:spPr>
          <a:xfrm>
            <a:off x="457200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Ergebnisse</a:t>
            </a: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&amp; </a:t>
            </a: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Fazit</a:t>
            </a:r>
            <a:endParaRPr lang="en-US" sz="9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Cambria" pitchFamily="34" charset="-120"/>
            </a:endParaRPr>
          </a:p>
        </p:txBody>
      </p:sp>
      <p:sp>
        <p:nvSpPr>
          <p:cNvPr id="26" name="Text 29">
            <a:extLst>
              <a:ext uri="{FF2B5EF4-FFF2-40B4-BE49-F238E27FC236}">
                <a16:creationId xmlns:a16="http://schemas.microsoft.com/office/drawing/2014/main" id="{17AB23E4-1EBE-2F3F-94D0-351C488528CE}"/>
              </a:ext>
            </a:extLst>
          </p:cNvPr>
          <p:cNvSpPr/>
          <p:nvPr/>
        </p:nvSpPr>
        <p:spPr>
          <a:xfrm>
            <a:off x="502920" y="4324175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Spieler-Vorteil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Shape 37">
            <a:extLst>
              <a:ext uri="{FF2B5EF4-FFF2-40B4-BE49-F238E27FC236}">
                <a16:creationId xmlns:a16="http://schemas.microsoft.com/office/drawing/2014/main" id="{4FD864DA-6D74-97E5-7AFC-BF45521CBD0C}"/>
              </a:ext>
            </a:extLst>
          </p:cNvPr>
          <p:cNvSpPr/>
          <p:nvPr/>
        </p:nvSpPr>
        <p:spPr>
          <a:xfrm>
            <a:off x="365760" y="4223591"/>
            <a:ext cx="841248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 w="12700">
            <a:solidFill>
              <a:srgbClr val="CFA122"/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Text 38">
            <a:extLst>
              <a:ext uri="{FF2B5EF4-FFF2-40B4-BE49-F238E27FC236}">
                <a16:creationId xmlns:a16="http://schemas.microsoft.com/office/drawing/2014/main" id="{79716A33-2522-BD7B-6E5A-0B576D682756}"/>
              </a:ext>
            </a:extLst>
          </p:cNvPr>
          <p:cNvSpPr/>
          <p:nvPr/>
        </p:nvSpPr>
        <p:spPr>
          <a:xfrm>
            <a:off x="594360" y="4305887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1150" b="1" dirty="0">
                <a:solidFill>
                  <a:srgbClr val="F59E0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⚠️ Positive Tendenz, aber kein robuster Nachweis</a:t>
            </a:r>
          </a:p>
        </p:txBody>
      </p:sp>
      <p:sp>
        <p:nvSpPr>
          <p:cNvPr id="32" name="Text 39">
            <a:extLst>
              <a:ext uri="{FF2B5EF4-FFF2-40B4-BE49-F238E27FC236}">
                <a16:creationId xmlns:a16="http://schemas.microsoft.com/office/drawing/2014/main" id="{C41B3B6B-F823-2E81-4B41-F8DC6523FE6C}"/>
              </a:ext>
            </a:extLst>
          </p:cNvPr>
          <p:cNvSpPr/>
          <p:nvPr/>
        </p:nvSpPr>
        <p:spPr>
          <a:xfrm>
            <a:off x="594360" y="4561919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Der </a:t>
            </a:r>
            <a:r>
              <a:rPr lang="de-DE" sz="100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Counting</a:t>
            </a: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-Agent erzielt bei allen drei </a:t>
            </a:r>
            <a:r>
              <a:rPr lang="de-DE" sz="100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Trainingsseed</a:t>
            </a: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-Paaren einen höheren </a:t>
            </a:r>
            <a:r>
              <a:rPr lang="de-DE" sz="100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Reward</a:t>
            </a: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Die mittlere Verbesserung beträgt jedoch nur +0,001794. Mit lediglich drei unabhängigen Trainingsläufen ist der Unterschied nicht statistisch abgesichert (p = 0,153; 95%-CI der Differenz enthält null).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83B887FC-FBEB-4CB0-90EE-90B2D62DF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" y="1058731"/>
            <a:ext cx="7219950" cy="300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8881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07AD0-5C95-385E-61E1-250D83662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C5C2BAF1-1184-A687-F56B-2E911E8D88C7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ACA4A13B-441C-DBC0-41EC-0FA909D22B15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B1CF81D-ABC1-3092-68F8-C5A8460C09BD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de-DE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Verhalten nach True Count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681320D-C416-32A2-7E6C-FEAFBBA77688}"/>
              </a:ext>
            </a:extLst>
          </p:cNvPr>
          <p:cNvSpPr/>
          <p:nvPr/>
        </p:nvSpPr>
        <p:spPr>
          <a:xfrm>
            <a:off x="6367670" y="54864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1C87B5CB-FDE1-4D92-AEBF-0F36A1936069}" type="slidenum">
              <a:rPr lang="en-US" sz="900" b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31</a:t>
            </a:fld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C41275E8-55E2-AFDD-AE74-4C7A64F31B70}"/>
              </a:ext>
            </a:extLst>
          </p:cNvPr>
          <p:cNvSpPr/>
          <p:nvPr/>
        </p:nvSpPr>
        <p:spPr>
          <a:xfrm>
            <a:off x="3412435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BHH · Machine Learning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292A9F72-15C3-74B4-BD97-73D1F9F831C0}"/>
              </a:ext>
            </a:extLst>
          </p:cNvPr>
          <p:cNvSpPr/>
          <p:nvPr/>
        </p:nvSpPr>
        <p:spPr>
          <a:xfrm>
            <a:off x="457200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Ergebnisse</a:t>
            </a: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&amp; </a:t>
            </a: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Fazit</a:t>
            </a:r>
            <a:endParaRPr lang="en-US" sz="9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Cambria" pitchFamily="34" charset="-120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03D35B6-9B87-B343-FFD0-EB225DD4EA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874"/>
          <a:stretch>
            <a:fillRect/>
          </a:stretch>
        </p:blipFill>
        <p:spPr>
          <a:xfrm>
            <a:off x="4999930" y="1572270"/>
            <a:ext cx="3425368" cy="2700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ECC452CF-3D2B-0613-472F-96747BBFBE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8907"/>
          <a:stretch>
            <a:fillRect/>
          </a:stretch>
        </p:blipFill>
        <p:spPr>
          <a:xfrm>
            <a:off x="718701" y="1572270"/>
            <a:ext cx="3562528" cy="2700000"/>
          </a:xfrm>
          <a:prstGeom prst="rect">
            <a:avLst/>
          </a:prstGeom>
        </p:spPr>
      </p:pic>
      <p:sp>
        <p:nvSpPr>
          <p:cNvPr id="8" name="Text 29">
            <a:extLst>
              <a:ext uri="{FF2B5EF4-FFF2-40B4-BE49-F238E27FC236}">
                <a16:creationId xmlns:a16="http://schemas.microsoft.com/office/drawing/2014/main" id="{A46FC026-ED3D-9EB9-09A9-4DBC2C52F495}"/>
              </a:ext>
            </a:extLst>
          </p:cNvPr>
          <p:cNvSpPr/>
          <p:nvPr/>
        </p:nvSpPr>
        <p:spPr>
          <a:xfrm>
            <a:off x="502920" y="5318207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Spieler-Vorteil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Shape 34">
            <a:extLst>
              <a:ext uri="{FF2B5EF4-FFF2-40B4-BE49-F238E27FC236}">
                <a16:creationId xmlns:a16="http://schemas.microsoft.com/office/drawing/2014/main" id="{9D3598EA-88FC-FD83-F84E-EAB472560762}"/>
              </a:ext>
            </a:extLst>
          </p:cNvPr>
          <p:cNvSpPr/>
          <p:nvPr/>
        </p:nvSpPr>
        <p:spPr>
          <a:xfrm>
            <a:off x="5120640" y="5217623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Shape 35">
            <a:extLst>
              <a:ext uri="{FF2B5EF4-FFF2-40B4-BE49-F238E27FC236}">
                <a16:creationId xmlns:a16="http://schemas.microsoft.com/office/drawing/2014/main" id="{E1EBF4AB-54C0-C724-09FA-9814C5AF18FF}"/>
              </a:ext>
            </a:extLst>
          </p:cNvPr>
          <p:cNvSpPr/>
          <p:nvPr/>
        </p:nvSpPr>
        <p:spPr>
          <a:xfrm>
            <a:off x="5120640" y="5217623"/>
            <a:ext cx="3003804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36">
            <a:extLst>
              <a:ext uri="{FF2B5EF4-FFF2-40B4-BE49-F238E27FC236}">
                <a16:creationId xmlns:a16="http://schemas.microsoft.com/office/drawing/2014/main" id="{6C3B51CC-1D6D-D6C1-E37D-449888455F74}"/>
              </a:ext>
            </a:extLst>
          </p:cNvPr>
          <p:cNvSpPr/>
          <p:nvPr/>
        </p:nvSpPr>
        <p:spPr>
          <a:xfrm>
            <a:off x="5120640" y="5491943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Aggressive Hits · Mathematisch korrekt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Shape 37">
            <a:extLst>
              <a:ext uri="{FF2B5EF4-FFF2-40B4-BE49-F238E27FC236}">
                <a16:creationId xmlns:a16="http://schemas.microsoft.com/office/drawing/2014/main" id="{749C58EC-D88C-7925-A916-3506D39B99DF}"/>
              </a:ext>
            </a:extLst>
          </p:cNvPr>
          <p:cNvSpPr/>
          <p:nvPr/>
        </p:nvSpPr>
        <p:spPr>
          <a:xfrm>
            <a:off x="365760" y="5217623"/>
            <a:ext cx="841248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38">
            <a:extLst>
              <a:ext uri="{FF2B5EF4-FFF2-40B4-BE49-F238E27FC236}">
                <a16:creationId xmlns:a16="http://schemas.microsoft.com/office/drawing/2014/main" id="{9ABCC685-0D4A-E964-97E8-E601A08C9BA8}"/>
              </a:ext>
            </a:extLst>
          </p:cNvPr>
          <p:cNvSpPr/>
          <p:nvPr/>
        </p:nvSpPr>
        <p:spPr>
          <a:xfrm>
            <a:off x="594360" y="529991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100" b="1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✅ Die Zählinformation beeinflusst die Entscheidungen: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39">
            <a:extLst>
              <a:ext uri="{FF2B5EF4-FFF2-40B4-BE49-F238E27FC236}">
                <a16:creationId xmlns:a16="http://schemas.microsoft.com/office/drawing/2014/main" id="{8742F202-FC00-3779-94C6-E4D03C0090B8}"/>
              </a:ext>
            </a:extLst>
          </p:cNvPr>
          <p:cNvSpPr/>
          <p:nvPr/>
        </p:nvSpPr>
        <p:spPr>
          <a:xfrm>
            <a:off x="594360" y="5555951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Bei negativem True Count zieht der </a:t>
            </a:r>
            <a:r>
              <a:rPr lang="de-DE" sz="100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Counting</a:t>
            </a: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-Agent häufiger, bei positivem Count steht er häufiger.</a:t>
            </a:r>
          </a:p>
          <a:p>
            <a:pPr marL="0" indent="0">
              <a:buNone/>
            </a:pP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 einem True Count von −2 verbessert diese Anpassung den </a:t>
            </a:r>
            <a:r>
              <a:rPr lang="de-DE" sz="100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Reward</a:t>
            </a: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gegenüber der Baseline.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29">
            <a:extLst>
              <a:ext uri="{FF2B5EF4-FFF2-40B4-BE49-F238E27FC236}">
                <a16:creationId xmlns:a16="http://schemas.microsoft.com/office/drawing/2014/main" id="{634E8951-F4F9-51E7-B2ED-9959199B3532}"/>
              </a:ext>
            </a:extLst>
          </p:cNvPr>
          <p:cNvSpPr/>
          <p:nvPr/>
        </p:nvSpPr>
        <p:spPr>
          <a:xfrm>
            <a:off x="502920" y="5313841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Spieler-Vorteil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Shape 34">
            <a:extLst>
              <a:ext uri="{FF2B5EF4-FFF2-40B4-BE49-F238E27FC236}">
                <a16:creationId xmlns:a16="http://schemas.microsoft.com/office/drawing/2014/main" id="{FAB4A7EA-EE0D-CFDF-79A7-2CACAAF064E2}"/>
              </a:ext>
            </a:extLst>
          </p:cNvPr>
          <p:cNvSpPr/>
          <p:nvPr/>
        </p:nvSpPr>
        <p:spPr>
          <a:xfrm>
            <a:off x="5120640" y="5213257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35">
            <a:extLst>
              <a:ext uri="{FF2B5EF4-FFF2-40B4-BE49-F238E27FC236}">
                <a16:creationId xmlns:a16="http://schemas.microsoft.com/office/drawing/2014/main" id="{D060E603-FAF0-2960-5510-52E6A85079CD}"/>
              </a:ext>
            </a:extLst>
          </p:cNvPr>
          <p:cNvSpPr/>
          <p:nvPr/>
        </p:nvSpPr>
        <p:spPr>
          <a:xfrm>
            <a:off x="5120640" y="5213257"/>
            <a:ext cx="3003804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36">
            <a:extLst>
              <a:ext uri="{FF2B5EF4-FFF2-40B4-BE49-F238E27FC236}">
                <a16:creationId xmlns:a16="http://schemas.microsoft.com/office/drawing/2014/main" id="{BF8ABFBC-5CCE-FB0A-0C90-FED7D09B70C3}"/>
              </a:ext>
            </a:extLst>
          </p:cNvPr>
          <p:cNvSpPr/>
          <p:nvPr/>
        </p:nvSpPr>
        <p:spPr>
          <a:xfrm>
            <a:off x="5120640" y="5487577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Aggressive Hits · Mathematisch korrekt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Shape 37">
            <a:extLst>
              <a:ext uri="{FF2B5EF4-FFF2-40B4-BE49-F238E27FC236}">
                <a16:creationId xmlns:a16="http://schemas.microsoft.com/office/drawing/2014/main" id="{7083F45D-5B96-41C3-E790-F42AE9D9087E}"/>
              </a:ext>
            </a:extLst>
          </p:cNvPr>
          <p:cNvSpPr/>
          <p:nvPr/>
        </p:nvSpPr>
        <p:spPr>
          <a:xfrm>
            <a:off x="365760" y="5213257"/>
            <a:ext cx="841248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 w="12700">
            <a:solidFill>
              <a:srgbClr val="CFA122"/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38">
            <a:extLst>
              <a:ext uri="{FF2B5EF4-FFF2-40B4-BE49-F238E27FC236}">
                <a16:creationId xmlns:a16="http://schemas.microsoft.com/office/drawing/2014/main" id="{2F601D11-D6A0-D953-A032-8187339CEAD5}"/>
              </a:ext>
            </a:extLst>
          </p:cNvPr>
          <p:cNvSpPr/>
          <p:nvPr/>
        </p:nvSpPr>
        <p:spPr>
          <a:xfrm>
            <a:off x="594360" y="5295553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1150" b="1" dirty="0">
                <a:solidFill>
                  <a:srgbClr val="F59E0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⚠️ Positiver Effekt, aber nicht statistisch abgesichert:</a:t>
            </a:r>
          </a:p>
        </p:txBody>
      </p:sp>
      <p:sp>
        <p:nvSpPr>
          <p:cNvPr id="24" name="Text 39">
            <a:extLst>
              <a:ext uri="{FF2B5EF4-FFF2-40B4-BE49-F238E27FC236}">
                <a16:creationId xmlns:a16="http://schemas.microsoft.com/office/drawing/2014/main" id="{C017651D-376D-CA8F-4F3A-2CFE1699BED0}"/>
              </a:ext>
            </a:extLst>
          </p:cNvPr>
          <p:cNvSpPr/>
          <p:nvPr/>
        </p:nvSpPr>
        <p:spPr>
          <a:xfrm>
            <a:off x="594360" y="5551585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Counting</a:t>
            </a: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liegt im Mittel vorn, doch bei nur drei unabhängigen </a:t>
            </a:r>
            <a:r>
              <a:rPr lang="de-DE" sz="100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Trainingsseeds</a:t>
            </a: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ist der Unterschied nicht signifikant (p = 0,153).</a:t>
            </a:r>
          </a:p>
          <a:p>
            <a:pPr marL="0" indent="0">
              <a:buNone/>
            </a:pP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Das Konfidenzintervall der Differenz schließt null ein.</a:t>
            </a:r>
          </a:p>
        </p:txBody>
      </p:sp>
    </p:spTree>
    <p:extLst>
      <p:ext uri="{BB962C8B-B14F-4D97-AF65-F5344CB8AC3E}">
        <p14:creationId xmlns:p14="http://schemas.microsoft.com/office/powerpoint/2010/main" val="29449349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962ED-A702-8201-060B-FCD3B1F7D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F90EB473-7AC1-A1D5-A90F-DF875577EB30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59B2FBD8-F0BE-92FB-E497-523A1041F177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5590DA2-C876-5BEB-0FE2-DAD66A1C1C4A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de-DE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Verhalten nach True Count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284339F-CCFB-E998-0C69-36835187340C}"/>
              </a:ext>
            </a:extLst>
          </p:cNvPr>
          <p:cNvSpPr/>
          <p:nvPr/>
        </p:nvSpPr>
        <p:spPr>
          <a:xfrm>
            <a:off x="6367670" y="54864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1C87B5CB-FDE1-4D92-AEBF-0F36A1936069}" type="slidenum">
              <a:rPr lang="en-US" sz="900" b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32</a:t>
            </a:fld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BE3764F2-5DCB-B204-D572-B439CE90CBCE}"/>
              </a:ext>
            </a:extLst>
          </p:cNvPr>
          <p:cNvSpPr/>
          <p:nvPr/>
        </p:nvSpPr>
        <p:spPr>
          <a:xfrm>
            <a:off x="3412435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BHH · Machine Learning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D3B81FF1-893E-AD47-BAFA-B18F1E04C909}"/>
              </a:ext>
            </a:extLst>
          </p:cNvPr>
          <p:cNvSpPr/>
          <p:nvPr/>
        </p:nvSpPr>
        <p:spPr>
          <a:xfrm>
            <a:off x="457200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Ergebnisse</a:t>
            </a: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&amp; </a:t>
            </a: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Fazit</a:t>
            </a:r>
            <a:endParaRPr lang="en-US" sz="9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Cambria" pitchFamily="34" charset="-120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812D7D6-C7DE-BA08-110E-007D2858B6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874"/>
          <a:stretch>
            <a:fillRect/>
          </a:stretch>
        </p:blipFill>
        <p:spPr>
          <a:xfrm>
            <a:off x="4999930" y="1188720"/>
            <a:ext cx="3425368" cy="2700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A7E5888-82D2-38B2-7378-F6BF9AD31A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8907"/>
          <a:stretch>
            <a:fillRect/>
          </a:stretch>
        </p:blipFill>
        <p:spPr>
          <a:xfrm>
            <a:off x="718701" y="1188720"/>
            <a:ext cx="3562528" cy="2700000"/>
          </a:xfrm>
          <a:prstGeom prst="rect">
            <a:avLst/>
          </a:prstGeom>
        </p:spPr>
      </p:pic>
      <p:sp>
        <p:nvSpPr>
          <p:cNvPr id="8" name="Text 29">
            <a:extLst>
              <a:ext uri="{FF2B5EF4-FFF2-40B4-BE49-F238E27FC236}">
                <a16:creationId xmlns:a16="http://schemas.microsoft.com/office/drawing/2014/main" id="{4C8EAED1-9790-8193-39FA-87EEDDF25C25}"/>
              </a:ext>
            </a:extLst>
          </p:cNvPr>
          <p:cNvSpPr/>
          <p:nvPr/>
        </p:nvSpPr>
        <p:spPr>
          <a:xfrm>
            <a:off x="502920" y="4281887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Spieler-Vorteil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Shape 34">
            <a:extLst>
              <a:ext uri="{FF2B5EF4-FFF2-40B4-BE49-F238E27FC236}">
                <a16:creationId xmlns:a16="http://schemas.microsoft.com/office/drawing/2014/main" id="{51AF5A39-4E22-D9A1-31AA-2F9B970AF3EE}"/>
              </a:ext>
            </a:extLst>
          </p:cNvPr>
          <p:cNvSpPr/>
          <p:nvPr/>
        </p:nvSpPr>
        <p:spPr>
          <a:xfrm>
            <a:off x="5120640" y="4181303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Shape 35">
            <a:extLst>
              <a:ext uri="{FF2B5EF4-FFF2-40B4-BE49-F238E27FC236}">
                <a16:creationId xmlns:a16="http://schemas.microsoft.com/office/drawing/2014/main" id="{256170C8-B8D6-1D34-E8F2-105B159A4687}"/>
              </a:ext>
            </a:extLst>
          </p:cNvPr>
          <p:cNvSpPr/>
          <p:nvPr/>
        </p:nvSpPr>
        <p:spPr>
          <a:xfrm>
            <a:off x="5120640" y="4181303"/>
            <a:ext cx="3003804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36">
            <a:extLst>
              <a:ext uri="{FF2B5EF4-FFF2-40B4-BE49-F238E27FC236}">
                <a16:creationId xmlns:a16="http://schemas.microsoft.com/office/drawing/2014/main" id="{8ED2090C-67F9-D89F-21A0-B6EC469543BF}"/>
              </a:ext>
            </a:extLst>
          </p:cNvPr>
          <p:cNvSpPr/>
          <p:nvPr/>
        </p:nvSpPr>
        <p:spPr>
          <a:xfrm>
            <a:off x="5120640" y="4455623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Aggressive Hits · Mathematisch korrekt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Shape 37">
            <a:extLst>
              <a:ext uri="{FF2B5EF4-FFF2-40B4-BE49-F238E27FC236}">
                <a16:creationId xmlns:a16="http://schemas.microsoft.com/office/drawing/2014/main" id="{238751C3-83CB-C409-7650-3DAF5962CE4D}"/>
              </a:ext>
            </a:extLst>
          </p:cNvPr>
          <p:cNvSpPr/>
          <p:nvPr/>
        </p:nvSpPr>
        <p:spPr>
          <a:xfrm>
            <a:off x="365760" y="4181303"/>
            <a:ext cx="841248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38">
            <a:extLst>
              <a:ext uri="{FF2B5EF4-FFF2-40B4-BE49-F238E27FC236}">
                <a16:creationId xmlns:a16="http://schemas.microsoft.com/office/drawing/2014/main" id="{D9FF7BBB-3886-130F-40B0-B28B2811868F}"/>
              </a:ext>
            </a:extLst>
          </p:cNvPr>
          <p:cNvSpPr/>
          <p:nvPr/>
        </p:nvSpPr>
        <p:spPr>
          <a:xfrm>
            <a:off x="594360" y="426359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100" b="1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✅ Die Zählinformation beeinflusst die Entscheidungen: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39">
            <a:extLst>
              <a:ext uri="{FF2B5EF4-FFF2-40B4-BE49-F238E27FC236}">
                <a16:creationId xmlns:a16="http://schemas.microsoft.com/office/drawing/2014/main" id="{41B1D4D4-32EA-E424-4B4E-D987C9F74D93}"/>
              </a:ext>
            </a:extLst>
          </p:cNvPr>
          <p:cNvSpPr/>
          <p:nvPr/>
        </p:nvSpPr>
        <p:spPr>
          <a:xfrm>
            <a:off x="594360" y="4519631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Bei negativem True Count zieht der </a:t>
            </a:r>
            <a:r>
              <a:rPr lang="de-DE" sz="100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Counting</a:t>
            </a: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-Agent häufiger, bei positivem Count steht er häufiger.</a:t>
            </a:r>
          </a:p>
          <a:p>
            <a:pPr marL="0" indent="0">
              <a:buNone/>
            </a:pP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 einem True Count von −2 verbessert diese Anpassung den </a:t>
            </a:r>
            <a:r>
              <a:rPr lang="de-DE" sz="100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Reward</a:t>
            </a: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gegenüber der Baseline.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146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A9EF2-19DC-A8C4-3710-2EACC3E97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153B3BF9-8FEE-6CE3-38AF-8C4B5E5A9436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7CDE1C14-0B49-C377-39C8-944078CF5EC7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A943172-667F-5F44-2733-2549B1EA304B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l-PL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Policy bei TC −3/+3</a:t>
            </a:r>
            <a:endParaRPr lang="de-DE" sz="26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B079D52-2854-3108-4F4A-CF6CA780CBB2}"/>
              </a:ext>
            </a:extLst>
          </p:cNvPr>
          <p:cNvSpPr/>
          <p:nvPr/>
        </p:nvSpPr>
        <p:spPr>
          <a:xfrm>
            <a:off x="6367670" y="54864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1C87B5CB-FDE1-4D92-AEBF-0F36A1936069}" type="slidenum">
              <a:rPr lang="en-US" sz="900" b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33</a:t>
            </a:fld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E020E1DE-31BF-AAEC-8616-0F9EF6BA28C6}"/>
              </a:ext>
            </a:extLst>
          </p:cNvPr>
          <p:cNvSpPr/>
          <p:nvPr/>
        </p:nvSpPr>
        <p:spPr>
          <a:xfrm>
            <a:off x="3412435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BHH · Machine Learning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4FA9BD66-E1FB-E40B-07C3-6708EDAA92AE}"/>
              </a:ext>
            </a:extLst>
          </p:cNvPr>
          <p:cNvSpPr/>
          <p:nvPr/>
        </p:nvSpPr>
        <p:spPr>
          <a:xfrm>
            <a:off x="457200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Ergebnisse</a:t>
            </a: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&amp; </a:t>
            </a: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Fazit</a:t>
            </a:r>
            <a:endParaRPr lang="en-US" sz="9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Cambria" pitchFamily="34" charset="-120"/>
            </a:endParaRPr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1C0B94D7-1D33-3A04-5F12-6DB408866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6000" y="1604821"/>
            <a:ext cx="3600000" cy="2699618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2711F21A-5B1E-462B-BBAA-A0EBD378B1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" y="1604821"/>
            <a:ext cx="3600000" cy="2699619"/>
          </a:xfrm>
          <a:prstGeom prst="rect">
            <a:avLst/>
          </a:prstGeom>
        </p:spPr>
      </p:pic>
      <p:sp>
        <p:nvSpPr>
          <p:cNvPr id="30" name="Text 29">
            <a:extLst>
              <a:ext uri="{FF2B5EF4-FFF2-40B4-BE49-F238E27FC236}">
                <a16:creationId xmlns:a16="http://schemas.microsoft.com/office/drawing/2014/main" id="{68509C05-DB81-742D-0057-44A9A0242038}"/>
              </a:ext>
            </a:extLst>
          </p:cNvPr>
          <p:cNvSpPr/>
          <p:nvPr/>
        </p:nvSpPr>
        <p:spPr>
          <a:xfrm>
            <a:off x="502920" y="5318207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Spieler-Vorteil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Shape 34">
            <a:extLst>
              <a:ext uri="{FF2B5EF4-FFF2-40B4-BE49-F238E27FC236}">
                <a16:creationId xmlns:a16="http://schemas.microsoft.com/office/drawing/2014/main" id="{BD92C8CD-E7F7-2760-789E-6E46A9B50253}"/>
              </a:ext>
            </a:extLst>
          </p:cNvPr>
          <p:cNvSpPr/>
          <p:nvPr/>
        </p:nvSpPr>
        <p:spPr>
          <a:xfrm>
            <a:off x="5120640" y="5217623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Shape 35">
            <a:extLst>
              <a:ext uri="{FF2B5EF4-FFF2-40B4-BE49-F238E27FC236}">
                <a16:creationId xmlns:a16="http://schemas.microsoft.com/office/drawing/2014/main" id="{228158C2-2802-D42B-EF14-BB074F0A6082}"/>
              </a:ext>
            </a:extLst>
          </p:cNvPr>
          <p:cNvSpPr/>
          <p:nvPr/>
        </p:nvSpPr>
        <p:spPr>
          <a:xfrm>
            <a:off x="5120640" y="5217623"/>
            <a:ext cx="3003804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Text 36">
            <a:extLst>
              <a:ext uri="{FF2B5EF4-FFF2-40B4-BE49-F238E27FC236}">
                <a16:creationId xmlns:a16="http://schemas.microsoft.com/office/drawing/2014/main" id="{4A1DF03B-7863-1D32-9559-FB2B22D13AD2}"/>
              </a:ext>
            </a:extLst>
          </p:cNvPr>
          <p:cNvSpPr/>
          <p:nvPr/>
        </p:nvSpPr>
        <p:spPr>
          <a:xfrm>
            <a:off x="5120640" y="5491943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Aggressive Hits · Mathematisch korrekt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Shape 37">
            <a:extLst>
              <a:ext uri="{FF2B5EF4-FFF2-40B4-BE49-F238E27FC236}">
                <a16:creationId xmlns:a16="http://schemas.microsoft.com/office/drawing/2014/main" id="{7B4039FD-919D-BC8C-DE9E-02238EBD359C}"/>
              </a:ext>
            </a:extLst>
          </p:cNvPr>
          <p:cNvSpPr/>
          <p:nvPr/>
        </p:nvSpPr>
        <p:spPr>
          <a:xfrm>
            <a:off x="365760" y="5217623"/>
            <a:ext cx="841248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Text 38">
            <a:extLst>
              <a:ext uri="{FF2B5EF4-FFF2-40B4-BE49-F238E27FC236}">
                <a16:creationId xmlns:a16="http://schemas.microsoft.com/office/drawing/2014/main" id="{02264841-CCA2-B7AD-7805-9F8301C7FB05}"/>
              </a:ext>
            </a:extLst>
          </p:cNvPr>
          <p:cNvSpPr/>
          <p:nvPr/>
        </p:nvSpPr>
        <p:spPr>
          <a:xfrm>
            <a:off x="594360" y="529991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✅ Policy </a:t>
            </a:r>
            <a:r>
              <a:rPr lang="en-US" sz="1100" b="1" dirty="0" err="1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ist</a:t>
            </a:r>
            <a:r>
              <a:rPr lang="en-US" sz="1100" b="1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count-</a:t>
            </a:r>
            <a:r>
              <a:rPr lang="en-US" sz="1100" b="1" dirty="0" err="1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abhängig</a:t>
            </a:r>
            <a:r>
              <a:rPr lang="en-US" sz="1100" b="1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6" name="Text 39">
            <a:extLst>
              <a:ext uri="{FF2B5EF4-FFF2-40B4-BE49-F238E27FC236}">
                <a16:creationId xmlns:a16="http://schemas.microsoft.com/office/drawing/2014/main" id="{D2091134-DF14-134C-EFBB-9DDDDBA07766}"/>
              </a:ext>
            </a:extLst>
          </p:cNvPr>
          <p:cNvSpPr/>
          <p:nvPr/>
        </p:nvSpPr>
        <p:spPr>
          <a:xfrm>
            <a:off x="594360" y="5555951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Bei negativem Count zieht der Agent in niedrigen und mittleren Händen häufiger. Bei positivem Count steht er häufiger gegen niedrige Dealer-Karten.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3CC9211E-D6AA-8ABE-DA12-0C25587BEF95}"/>
              </a:ext>
            </a:extLst>
          </p:cNvPr>
          <p:cNvSpPr/>
          <p:nvPr/>
        </p:nvSpPr>
        <p:spPr>
          <a:xfrm>
            <a:off x="502920" y="531917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Spieler-Vorteil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Shape 34">
            <a:extLst>
              <a:ext uri="{FF2B5EF4-FFF2-40B4-BE49-F238E27FC236}">
                <a16:creationId xmlns:a16="http://schemas.microsoft.com/office/drawing/2014/main" id="{0056BC6E-5273-B316-22B0-5C34D7E641D8}"/>
              </a:ext>
            </a:extLst>
          </p:cNvPr>
          <p:cNvSpPr/>
          <p:nvPr/>
        </p:nvSpPr>
        <p:spPr>
          <a:xfrm>
            <a:off x="5120640" y="5218594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Shape 35">
            <a:extLst>
              <a:ext uri="{FF2B5EF4-FFF2-40B4-BE49-F238E27FC236}">
                <a16:creationId xmlns:a16="http://schemas.microsoft.com/office/drawing/2014/main" id="{DB9B0C82-FA6D-2E83-AEB3-D449F86C3EE3}"/>
              </a:ext>
            </a:extLst>
          </p:cNvPr>
          <p:cNvSpPr/>
          <p:nvPr/>
        </p:nvSpPr>
        <p:spPr>
          <a:xfrm>
            <a:off x="5120640" y="5218594"/>
            <a:ext cx="3003804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CB2D5442-A0A9-8A83-1F1D-7A8BC22B3974}"/>
              </a:ext>
            </a:extLst>
          </p:cNvPr>
          <p:cNvSpPr/>
          <p:nvPr/>
        </p:nvSpPr>
        <p:spPr>
          <a:xfrm>
            <a:off x="5120640" y="549291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Aggressive Hits · Mathematisch korrekt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Shape 37">
            <a:extLst>
              <a:ext uri="{FF2B5EF4-FFF2-40B4-BE49-F238E27FC236}">
                <a16:creationId xmlns:a16="http://schemas.microsoft.com/office/drawing/2014/main" id="{0DB80A31-C9BD-77E6-D969-6D4734A89A42}"/>
              </a:ext>
            </a:extLst>
          </p:cNvPr>
          <p:cNvSpPr/>
          <p:nvPr/>
        </p:nvSpPr>
        <p:spPr>
          <a:xfrm>
            <a:off x="365760" y="5218594"/>
            <a:ext cx="841248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2" name="Text 38">
            <a:extLst>
              <a:ext uri="{FF2B5EF4-FFF2-40B4-BE49-F238E27FC236}">
                <a16:creationId xmlns:a16="http://schemas.microsoft.com/office/drawing/2014/main" id="{57D0D11F-CFF0-001D-917C-1960F4869D80}"/>
              </a:ext>
            </a:extLst>
          </p:cNvPr>
          <p:cNvSpPr/>
          <p:nvPr/>
        </p:nvSpPr>
        <p:spPr>
          <a:xfrm>
            <a:off x="594360" y="530089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100" b="1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✅ Die Zählinformation beeinflusst die Entscheidungen: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Text 39">
            <a:extLst>
              <a:ext uri="{FF2B5EF4-FFF2-40B4-BE49-F238E27FC236}">
                <a16:creationId xmlns:a16="http://schemas.microsoft.com/office/drawing/2014/main" id="{1BD18D12-C632-ED36-91E0-07E0FA9A7D6D}"/>
              </a:ext>
            </a:extLst>
          </p:cNvPr>
          <p:cNvSpPr/>
          <p:nvPr/>
        </p:nvSpPr>
        <p:spPr>
          <a:xfrm>
            <a:off x="594360" y="555692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Bei negativem True Count zieht der </a:t>
            </a:r>
            <a:r>
              <a:rPr lang="de-DE" sz="100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Counting</a:t>
            </a: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-Agent häufiger, bei positivem Count steht er häufiger.</a:t>
            </a:r>
          </a:p>
          <a:p>
            <a:pPr marL="0" indent="0">
              <a:buNone/>
            </a:pP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 einem True Count von −2 verbessert diese Anpassung den </a:t>
            </a:r>
            <a:r>
              <a:rPr lang="de-DE" sz="100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Reward</a:t>
            </a: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gegenüber der Baseline.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470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8DE76-CC67-5756-32D0-45B107DDE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016DEF68-3012-B2F9-20A8-5F9CB962C01C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1A706AE-8C92-5A92-7AC7-1AF44E6F6648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09E5E30-FDA8-B223-3086-8A7CAF90339F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l-PL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Policy bei TC −3/+</a:t>
            </a:r>
            <a:r>
              <a:rPr lang="de-DE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9FEBD3A-4630-6FEB-EEF7-AF9C1D83997D}"/>
              </a:ext>
            </a:extLst>
          </p:cNvPr>
          <p:cNvSpPr/>
          <p:nvPr/>
        </p:nvSpPr>
        <p:spPr>
          <a:xfrm>
            <a:off x="6367670" y="54864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1C87B5CB-FDE1-4D92-AEBF-0F36A1936069}" type="slidenum">
              <a:rPr lang="en-US" sz="900" b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34</a:t>
            </a:fld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34073371-E95A-482D-1B24-ECD46A3B6FC9}"/>
              </a:ext>
            </a:extLst>
          </p:cNvPr>
          <p:cNvSpPr/>
          <p:nvPr/>
        </p:nvSpPr>
        <p:spPr>
          <a:xfrm>
            <a:off x="3412435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BHH · Machine Learning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FC98401C-5208-55B8-3737-D3CAAC3A37C2}"/>
              </a:ext>
            </a:extLst>
          </p:cNvPr>
          <p:cNvSpPr/>
          <p:nvPr/>
        </p:nvSpPr>
        <p:spPr>
          <a:xfrm>
            <a:off x="457200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Ergebnisse</a:t>
            </a: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&amp; </a:t>
            </a: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Fazit</a:t>
            </a:r>
            <a:endParaRPr lang="en-US" sz="9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Cambria" pitchFamily="34" charset="-120"/>
            </a:endParaRPr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3E0765A0-1549-CBF1-33A6-53080B69D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6000" y="1262480"/>
            <a:ext cx="3600000" cy="2699618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5CF6A570-C513-7856-7ADE-A686E506C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" y="1262480"/>
            <a:ext cx="3600000" cy="2699619"/>
          </a:xfrm>
          <a:prstGeom prst="rect">
            <a:avLst/>
          </a:prstGeom>
        </p:spPr>
      </p:pic>
      <p:sp>
        <p:nvSpPr>
          <p:cNvPr id="2" name="Text 29">
            <a:extLst>
              <a:ext uri="{FF2B5EF4-FFF2-40B4-BE49-F238E27FC236}">
                <a16:creationId xmlns:a16="http://schemas.microsoft.com/office/drawing/2014/main" id="{888F4A49-3D86-1779-481F-401602CECB43}"/>
              </a:ext>
            </a:extLst>
          </p:cNvPr>
          <p:cNvSpPr/>
          <p:nvPr/>
        </p:nvSpPr>
        <p:spPr>
          <a:xfrm>
            <a:off x="502920" y="4335227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Spieler-Vorteil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hape 34">
            <a:extLst>
              <a:ext uri="{FF2B5EF4-FFF2-40B4-BE49-F238E27FC236}">
                <a16:creationId xmlns:a16="http://schemas.microsoft.com/office/drawing/2014/main" id="{1A822AD0-D0C2-B7C4-1AD5-B62DFD62C764}"/>
              </a:ext>
            </a:extLst>
          </p:cNvPr>
          <p:cNvSpPr/>
          <p:nvPr/>
        </p:nvSpPr>
        <p:spPr>
          <a:xfrm>
            <a:off x="5120640" y="4234643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Shape 35">
            <a:extLst>
              <a:ext uri="{FF2B5EF4-FFF2-40B4-BE49-F238E27FC236}">
                <a16:creationId xmlns:a16="http://schemas.microsoft.com/office/drawing/2014/main" id="{F914B49A-9947-95CE-D70C-30D3DF061F7B}"/>
              </a:ext>
            </a:extLst>
          </p:cNvPr>
          <p:cNvSpPr/>
          <p:nvPr/>
        </p:nvSpPr>
        <p:spPr>
          <a:xfrm>
            <a:off x="5120640" y="4234643"/>
            <a:ext cx="3003804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36">
            <a:extLst>
              <a:ext uri="{FF2B5EF4-FFF2-40B4-BE49-F238E27FC236}">
                <a16:creationId xmlns:a16="http://schemas.microsoft.com/office/drawing/2014/main" id="{3AB0F66A-DE93-C794-CBC0-8E7C4E2A35EB}"/>
              </a:ext>
            </a:extLst>
          </p:cNvPr>
          <p:cNvSpPr/>
          <p:nvPr/>
        </p:nvSpPr>
        <p:spPr>
          <a:xfrm>
            <a:off x="5120640" y="4508963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Aggressive Hits · Mathematisch korrekt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Shape 37">
            <a:extLst>
              <a:ext uri="{FF2B5EF4-FFF2-40B4-BE49-F238E27FC236}">
                <a16:creationId xmlns:a16="http://schemas.microsoft.com/office/drawing/2014/main" id="{055646FF-AB9B-6CB2-C417-C459E1EFFF33}"/>
              </a:ext>
            </a:extLst>
          </p:cNvPr>
          <p:cNvSpPr/>
          <p:nvPr/>
        </p:nvSpPr>
        <p:spPr>
          <a:xfrm>
            <a:off x="365760" y="4234643"/>
            <a:ext cx="841248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38">
            <a:extLst>
              <a:ext uri="{FF2B5EF4-FFF2-40B4-BE49-F238E27FC236}">
                <a16:creationId xmlns:a16="http://schemas.microsoft.com/office/drawing/2014/main" id="{1E54B62C-E769-4367-D1BC-07AC3C73C017}"/>
              </a:ext>
            </a:extLst>
          </p:cNvPr>
          <p:cNvSpPr/>
          <p:nvPr/>
        </p:nvSpPr>
        <p:spPr>
          <a:xfrm>
            <a:off x="594360" y="431693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✅ Policy </a:t>
            </a:r>
            <a:r>
              <a:rPr lang="en-US" sz="1100" b="1" dirty="0" err="1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ist</a:t>
            </a:r>
            <a:r>
              <a:rPr lang="en-US" sz="1100" b="1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count-</a:t>
            </a:r>
            <a:r>
              <a:rPr lang="en-US" sz="1100" b="1" dirty="0" err="1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abhängig</a:t>
            </a:r>
            <a:r>
              <a:rPr lang="en-US" sz="1100" b="1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39">
            <a:extLst>
              <a:ext uri="{FF2B5EF4-FFF2-40B4-BE49-F238E27FC236}">
                <a16:creationId xmlns:a16="http://schemas.microsoft.com/office/drawing/2014/main" id="{D2CEE3A5-3634-8823-5EA9-4E48A64AAE08}"/>
              </a:ext>
            </a:extLst>
          </p:cNvPr>
          <p:cNvSpPr/>
          <p:nvPr/>
        </p:nvSpPr>
        <p:spPr>
          <a:xfrm>
            <a:off x="594360" y="4572971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Bei negativem Count zieht der Agent in niedrigen und mittleren Händen häufiger. Bei positivem Count steht er häufiger gegen niedrige Dealer-Karten.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3193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5F44E-DF03-80A0-6E26-E9EBD64DC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1887C767-F20D-939C-375D-265DCFDAF5BA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6F7BFBF3-55C5-1A9A-5C68-E1A6A4450579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2AE8E40-1F45-A0AB-5F2E-02FB6514098B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l-PL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Key Takeaways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172D9DA-BD1B-BC47-F1BD-8BEB34566023}"/>
              </a:ext>
            </a:extLst>
          </p:cNvPr>
          <p:cNvSpPr/>
          <p:nvPr/>
        </p:nvSpPr>
        <p:spPr>
          <a:xfrm>
            <a:off x="6367670" y="54864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1C87B5CB-FDE1-4D92-AEBF-0F36A1936069}" type="slidenum">
              <a:rPr lang="en-US" sz="900" b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35</a:t>
            </a:fld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7949A70C-8EA8-01A0-9C0D-87CFEAAC9161}"/>
              </a:ext>
            </a:extLst>
          </p:cNvPr>
          <p:cNvSpPr/>
          <p:nvPr/>
        </p:nvSpPr>
        <p:spPr>
          <a:xfrm>
            <a:off x="3412435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BHH · Machine Learning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46178143-3411-AA02-27AC-861FF5BCF259}"/>
              </a:ext>
            </a:extLst>
          </p:cNvPr>
          <p:cNvSpPr/>
          <p:nvPr/>
        </p:nvSpPr>
        <p:spPr>
          <a:xfrm>
            <a:off x="457200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Ergebnisse</a:t>
            </a: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&amp; </a:t>
            </a: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Fazit</a:t>
            </a:r>
            <a:endParaRPr lang="en-US" sz="9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Cambria" pitchFamily="34" charset="-120"/>
            </a:endParaRPr>
          </a:p>
        </p:txBody>
      </p:sp>
      <p:sp>
        <p:nvSpPr>
          <p:cNvPr id="7" name="!!1">
            <a:extLst>
              <a:ext uri="{FF2B5EF4-FFF2-40B4-BE49-F238E27FC236}">
                <a16:creationId xmlns:a16="http://schemas.microsoft.com/office/drawing/2014/main" id="{35997F2E-524C-C043-BF2A-D809313B2B4D}"/>
              </a:ext>
            </a:extLst>
          </p:cNvPr>
          <p:cNvSpPr/>
          <p:nvPr/>
        </p:nvSpPr>
        <p:spPr>
          <a:xfrm>
            <a:off x="365760" y="1051560"/>
            <a:ext cx="2606040" cy="2194560"/>
          </a:xfrm>
          <a:prstGeom prst="roundRect">
            <a:avLst>
              <a:gd name="adj" fmla="val 5833"/>
            </a:avLst>
          </a:prstGeom>
          <a:solidFill>
            <a:srgbClr val="1E293B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5A66EAD5-DED9-5906-45AF-945DB897FC95}"/>
              </a:ext>
            </a:extLst>
          </p:cNvPr>
          <p:cNvSpPr/>
          <p:nvPr/>
        </p:nvSpPr>
        <p:spPr>
          <a:xfrm>
            <a:off x="493776" y="1508760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Q-Learning funktioniert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5DB6BC1D-5A4A-BA49-4F05-2DBAF809CDCD}"/>
              </a:ext>
            </a:extLst>
          </p:cNvPr>
          <p:cNvSpPr/>
          <p:nvPr/>
        </p:nvSpPr>
        <p:spPr>
          <a:xfrm>
            <a:off x="493776" y="2125980"/>
            <a:ext cx="23500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Lernt</a:t>
            </a:r>
            <a:r>
              <a:rPr lang="en-US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00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eine</a:t>
            </a:r>
            <a:r>
              <a:rPr lang="en-US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plausible Hit/Stand-Policy.</a:t>
            </a:r>
          </a:p>
          <a:p>
            <a:pPr marL="0" indent="0" algn="ctr">
              <a:buNone/>
            </a:pPr>
            <a:endParaRPr lang="en-US" sz="1000" dirty="0">
              <a:solidFill>
                <a:srgbClr val="94A3B8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ECEFED9D-FDB9-1DE6-F2A2-8FCE9C8A7013}"/>
              </a:ext>
            </a:extLst>
          </p:cNvPr>
          <p:cNvSpPr/>
          <p:nvPr/>
        </p:nvSpPr>
        <p:spPr>
          <a:xfrm>
            <a:off x="3200400" y="1051560"/>
            <a:ext cx="2606040" cy="2194560"/>
          </a:xfrm>
          <a:prstGeom prst="roundRect">
            <a:avLst>
              <a:gd name="adj" fmla="val 5833"/>
            </a:avLst>
          </a:prstGeom>
          <a:solidFill>
            <a:srgbClr val="1E293B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5860FC39-3C17-4742-AC82-DD0B2B24916D}"/>
              </a:ext>
            </a:extLst>
          </p:cNvPr>
          <p:cNvSpPr/>
          <p:nvPr/>
        </p:nvSpPr>
        <p:spPr>
          <a:xfrm>
            <a:off x="3328416" y="1508760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Count-Information </a:t>
            </a:r>
            <a:r>
              <a:rPr lang="en-US" b="1" dirty="0" err="1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wird</a:t>
            </a:r>
            <a:r>
              <a:rPr lang="en-US" b="1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genutzt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7663A199-E5B2-4BEE-ECE7-07D867AEEB97}"/>
              </a:ext>
            </a:extLst>
          </p:cNvPr>
          <p:cNvSpPr/>
          <p:nvPr/>
        </p:nvSpPr>
        <p:spPr>
          <a:xfrm>
            <a:off x="3328416" y="2125980"/>
            <a:ext cx="23500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Die Policy verändert sich systematisch mit dem True Count.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!!2">
            <a:extLst>
              <a:ext uri="{FF2B5EF4-FFF2-40B4-BE49-F238E27FC236}">
                <a16:creationId xmlns:a16="http://schemas.microsoft.com/office/drawing/2014/main" id="{3EF4C854-6BEF-A532-B462-705EF3DD601B}"/>
              </a:ext>
            </a:extLst>
          </p:cNvPr>
          <p:cNvSpPr/>
          <p:nvPr/>
        </p:nvSpPr>
        <p:spPr>
          <a:xfrm>
            <a:off x="6035040" y="1051560"/>
            <a:ext cx="2606040" cy="2194560"/>
          </a:xfrm>
          <a:prstGeom prst="roundRect">
            <a:avLst>
              <a:gd name="adj" fmla="val 5833"/>
            </a:avLst>
          </a:prstGeom>
          <a:solidFill>
            <a:srgbClr val="1E293B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405DE285-B57E-4AA1-B633-0D3AB7AAD493}"/>
              </a:ext>
            </a:extLst>
          </p:cNvPr>
          <p:cNvSpPr/>
          <p:nvPr/>
        </p:nvSpPr>
        <p:spPr>
          <a:xfrm>
            <a:off x="6163056" y="1508760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b="1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Hoher Preis für kleinen Vorteil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6F24C4BE-22A1-49C7-3FDA-C432BB449D71}"/>
              </a:ext>
            </a:extLst>
          </p:cNvPr>
          <p:cNvSpPr/>
          <p:nvPr/>
        </p:nvSpPr>
        <p:spPr>
          <a:xfrm>
            <a:off x="6163056" y="2125980"/>
            <a:ext cx="23500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+0,001794 </a:t>
            </a:r>
            <a:r>
              <a:rPr lang="de-DE" sz="1000" dirty="0" err="1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Reward</a:t>
            </a: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bei 406-mal mehr Zuständen.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A5ADA5F5-F703-CE33-B328-B6E28969FCE0}"/>
              </a:ext>
            </a:extLst>
          </p:cNvPr>
          <p:cNvSpPr/>
          <p:nvPr/>
        </p:nvSpPr>
        <p:spPr>
          <a:xfrm>
            <a:off x="365760" y="340156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Metriken im Überblick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!!3">
            <a:extLst>
              <a:ext uri="{FF2B5EF4-FFF2-40B4-BE49-F238E27FC236}">
                <a16:creationId xmlns:a16="http://schemas.microsoft.com/office/drawing/2014/main" id="{5979733E-2DBF-1358-0717-47471636F093}"/>
              </a:ext>
            </a:extLst>
          </p:cNvPr>
          <p:cNvSpPr/>
          <p:nvPr/>
        </p:nvSpPr>
        <p:spPr>
          <a:xfrm>
            <a:off x="365760" y="384048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2F19FEAD-4A4E-2EEA-AAD8-A4905584BE1E}"/>
              </a:ext>
            </a:extLst>
          </p:cNvPr>
          <p:cNvSpPr/>
          <p:nvPr/>
        </p:nvSpPr>
        <p:spPr>
          <a:xfrm>
            <a:off x="493776" y="3913632"/>
            <a:ext cx="2350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BASELINE</a:t>
            </a:r>
            <a:endParaRPr lang="en-US" sz="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5804A07B-855D-4E76-F5DE-B27849DE403A}"/>
              </a:ext>
            </a:extLst>
          </p:cNvPr>
          <p:cNvSpPr/>
          <p:nvPr/>
        </p:nvSpPr>
        <p:spPr>
          <a:xfrm>
            <a:off x="493776" y="4133088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−0,051562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02852180-B816-BB08-AAD5-AF581FFCCB73}"/>
              </a:ext>
            </a:extLst>
          </p:cNvPr>
          <p:cNvSpPr/>
          <p:nvPr/>
        </p:nvSpPr>
        <p:spPr>
          <a:xfrm>
            <a:off x="493776" y="4480560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280 States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Shape 21">
            <a:extLst>
              <a:ext uri="{FF2B5EF4-FFF2-40B4-BE49-F238E27FC236}">
                <a16:creationId xmlns:a16="http://schemas.microsoft.com/office/drawing/2014/main" id="{8AAB34C5-2B71-8291-0A45-826180CC9591}"/>
              </a:ext>
            </a:extLst>
          </p:cNvPr>
          <p:cNvSpPr/>
          <p:nvPr/>
        </p:nvSpPr>
        <p:spPr>
          <a:xfrm>
            <a:off x="3200400" y="384048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F59E0B">
                <a:alpha val="4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Text 22">
            <a:extLst>
              <a:ext uri="{FF2B5EF4-FFF2-40B4-BE49-F238E27FC236}">
                <a16:creationId xmlns:a16="http://schemas.microsoft.com/office/drawing/2014/main" id="{AE324D32-354D-4C41-C54F-0DADCDAAB99A}"/>
              </a:ext>
            </a:extLst>
          </p:cNvPr>
          <p:cNvSpPr/>
          <p:nvPr/>
        </p:nvSpPr>
        <p:spPr>
          <a:xfrm>
            <a:off x="3328416" y="3913632"/>
            <a:ext cx="2350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9E0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COUNTING</a:t>
            </a:r>
            <a:endParaRPr lang="en-US" sz="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F400F5B5-3FF0-1F29-3694-4ECB951EB893}"/>
              </a:ext>
            </a:extLst>
          </p:cNvPr>
          <p:cNvSpPr/>
          <p:nvPr/>
        </p:nvSpPr>
        <p:spPr>
          <a:xfrm>
            <a:off x="3328416" y="4133088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−0,049767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6FEFA764-A5B0-F539-B0F9-9FF49CA2F3FE}"/>
              </a:ext>
            </a:extLst>
          </p:cNvPr>
          <p:cNvSpPr/>
          <p:nvPr/>
        </p:nvSpPr>
        <p:spPr>
          <a:xfrm>
            <a:off x="3328416" y="4480560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113k States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" name="!!4">
            <a:extLst>
              <a:ext uri="{FF2B5EF4-FFF2-40B4-BE49-F238E27FC236}">
                <a16:creationId xmlns:a16="http://schemas.microsoft.com/office/drawing/2014/main" id="{590028FD-C7DF-3D99-439D-ED4E5BAAB0CE}"/>
              </a:ext>
            </a:extLst>
          </p:cNvPr>
          <p:cNvSpPr/>
          <p:nvPr/>
        </p:nvSpPr>
        <p:spPr>
          <a:xfrm>
            <a:off x="6035040" y="384048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10B981">
                <a:alpha val="4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" name="Text 26">
            <a:extLst>
              <a:ext uri="{FF2B5EF4-FFF2-40B4-BE49-F238E27FC236}">
                <a16:creationId xmlns:a16="http://schemas.microsoft.com/office/drawing/2014/main" id="{74527B6E-DC95-9BE2-5581-0193102FC951}"/>
              </a:ext>
            </a:extLst>
          </p:cNvPr>
          <p:cNvSpPr/>
          <p:nvPr/>
        </p:nvSpPr>
        <p:spPr>
          <a:xfrm>
            <a:off x="6163056" y="3913632"/>
            <a:ext cx="2350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0B98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WIN RATE</a:t>
            </a:r>
            <a:endParaRPr lang="en-US" sz="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0" name="Text 27">
            <a:extLst>
              <a:ext uri="{FF2B5EF4-FFF2-40B4-BE49-F238E27FC236}">
                <a16:creationId xmlns:a16="http://schemas.microsoft.com/office/drawing/2014/main" id="{B95B2B21-CFFD-10D2-ECF5-138DE52B19E0}"/>
              </a:ext>
            </a:extLst>
          </p:cNvPr>
          <p:cNvSpPr/>
          <p:nvPr/>
        </p:nvSpPr>
        <p:spPr>
          <a:xfrm>
            <a:off x="6163056" y="4133088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+0,087 Pp.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1" name="Text 28">
            <a:extLst>
              <a:ext uri="{FF2B5EF4-FFF2-40B4-BE49-F238E27FC236}">
                <a16:creationId xmlns:a16="http://schemas.microsoft.com/office/drawing/2014/main" id="{F411EB08-7370-5E1B-B8B8-67B21FF02C9A}"/>
              </a:ext>
            </a:extLst>
          </p:cNvPr>
          <p:cNvSpPr/>
          <p:nvPr/>
        </p:nvSpPr>
        <p:spPr>
          <a:xfrm>
            <a:off x="6163056" y="4480560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42,746 % → 42,833 %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2" name="Text 29">
            <a:extLst>
              <a:ext uri="{FF2B5EF4-FFF2-40B4-BE49-F238E27FC236}">
                <a16:creationId xmlns:a16="http://schemas.microsoft.com/office/drawing/2014/main" id="{5C3035D7-1492-FE38-2AC4-E6656C6D0C4C}"/>
              </a:ext>
            </a:extLst>
          </p:cNvPr>
          <p:cNvSpPr/>
          <p:nvPr/>
        </p:nvSpPr>
        <p:spPr>
          <a:xfrm>
            <a:off x="502920" y="5329637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Spieler-Vorteil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3" name="Shape 34">
            <a:extLst>
              <a:ext uri="{FF2B5EF4-FFF2-40B4-BE49-F238E27FC236}">
                <a16:creationId xmlns:a16="http://schemas.microsoft.com/office/drawing/2014/main" id="{C173B177-346E-53CC-1EEA-4A210F9168AF}"/>
              </a:ext>
            </a:extLst>
          </p:cNvPr>
          <p:cNvSpPr/>
          <p:nvPr/>
        </p:nvSpPr>
        <p:spPr>
          <a:xfrm>
            <a:off x="5120640" y="5229053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4" name="Shape 35">
            <a:extLst>
              <a:ext uri="{FF2B5EF4-FFF2-40B4-BE49-F238E27FC236}">
                <a16:creationId xmlns:a16="http://schemas.microsoft.com/office/drawing/2014/main" id="{B0DF7E52-B14A-2332-BF3C-6FC6FA37CCC8}"/>
              </a:ext>
            </a:extLst>
          </p:cNvPr>
          <p:cNvSpPr/>
          <p:nvPr/>
        </p:nvSpPr>
        <p:spPr>
          <a:xfrm>
            <a:off x="5120640" y="5229053"/>
            <a:ext cx="3003804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" name="Text 36">
            <a:extLst>
              <a:ext uri="{FF2B5EF4-FFF2-40B4-BE49-F238E27FC236}">
                <a16:creationId xmlns:a16="http://schemas.microsoft.com/office/drawing/2014/main" id="{FC4A68D1-27EC-E1B7-000C-5DDD0EE945F7}"/>
              </a:ext>
            </a:extLst>
          </p:cNvPr>
          <p:cNvSpPr/>
          <p:nvPr/>
        </p:nvSpPr>
        <p:spPr>
          <a:xfrm>
            <a:off x="5120640" y="5503373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Aggressive Hits · Mathematisch korrekt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" name="Shape 37">
            <a:extLst>
              <a:ext uri="{FF2B5EF4-FFF2-40B4-BE49-F238E27FC236}">
                <a16:creationId xmlns:a16="http://schemas.microsoft.com/office/drawing/2014/main" id="{066D7E75-BCB9-C917-7244-2940790F41EE}"/>
              </a:ext>
            </a:extLst>
          </p:cNvPr>
          <p:cNvSpPr/>
          <p:nvPr/>
        </p:nvSpPr>
        <p:spPr>
          <a:xfrm>
            <a:off x="365760" y="5229053"/>
            <a:ext cx="841248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7" name="Text 38">
            <a:extLst>
              <a:ext uri="{FF2B5EF4-FFF2-40B4-BE49-F238E27FC236}">
                <a16:creationId xmlns:a16="http://schemas.microsoft.com/office/drawing/2014/main" id="{2E29C1E4-8881-17DD-3BAE-3823B6B48212}"/>
              </a:ext>
            </a:extLst>
          </p:cNvPr>
          <p:cNvSpPr/>
          <p:nvPr/>
        </p:nvSpPr>
        <p:spPr>
          <a:xfrm>
            <a:off x="594360" y="531134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✅ Policy </a:t>
            </a:r>
            <a:r>
              <a:rPr lang="en-US" sz="1100" b="1" dirty="0" err="1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ist</a:t>
            </a:r>
            <a:r>
              <a:rPr lang="en-US" sz="1100" b="1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count-</a:t>
            </a:r>
            <a:r>
              <a:rPr lang="en-US" sz="1100" b="1" dirty="0" err="1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abhängig</a:t>
            </a:r>
            <a:r>
              <a:rPr lang="en-US" sz="1100" b="1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8" name="Text 39">
            <a:extLst>
              <a:ext uri="{FF2B5EF4-FFF2-40B4-BE49-F238E27FC236}">
                <a16:creationId xmlns:a16="http://schemas.microsoft.com/office/drawing/2014/main" id="{6B8E81BB-11E4-8440-0F66-081346A60B00}"/>
              </a:ext>
            </a:extLst>
          </p:cNvPr>
          <p:cNvSpPr/>
          <p:nvPr/>
        </p:nvSpPr>
        <p:spPr>
          <a:xfrm>
            <a:off x="594360" y="5567381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Bei negativem Count zieht der Agent in niedrigen und mittleren Händen häufiger. Bei positivem Count steht er häufiger gegen niedrige Dealer-Karten.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767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18D3E-82F2-AB6C-1EE0-6DF09C6A6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4E8438DA-728D-1086-7C60-A7D6FEE95011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E5D2E54E-7567-24E8-F164-70955FB32B33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DFB63C6-F676-9741-0872-C4DCD46ABBC7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l-PL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Antworten auf</a:t>
            </a:r>
            <a:r>
              <a:rPr lang="de-DE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Forschungsfragen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092549B-6224-D5A0-0432-0F88142BEF4D}"/>
              </a:ext>
            </a:extLst>
          </p:cNvPr>
          <p:cNvSpPr/>
          <p:nvPr/>
        </p:nvSpPr>
        <p:spPr>
          <a:xfrm>
            <a:off x="6367670" y="54864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1C87B5CB-FDE1-4D92-AEBF-0F36A1936069}" type="slidenum">
              <a:rPr lang="en-US" sz="900" b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36</a:t>
            </a:fld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B2C90E87-F915-027B-0565-5B24CE159CBD}"/>
              </a:ext>
            </a:extLst>
          </p:cNvPr>
          <p:cNvSpPr/>
          <p:nvPr/>
        </p:nvSpPr>
        <p:spPr>
          <a:xfrm>
            <a:off x="3412435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BHH · Machine Learning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B1789A7C-1DA7-1FAC-46B4-07DB4264D1CB}"/>
              </a:ext>
            </a:extLst>
          </p:cNvPr>
          <p:cNvSpPr/>
          <p:nvPr/>
        </p:nvSpPr>
        <p:spPr>
          <a:xfrm>
            <a:off x="457200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Ergebnisse</a:t>
            </a: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&amp; </a:t>
            </a: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Fazit</a:t>
            </a:r>
            <a:endParaRPr lang="en-US" sz="9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Cambria" pitchFamily="34" charset="-120"/>
            </a:endParaRPr>
          </a:p>
        </p:txBody>
      </p:sp>
      <p:sp>
        <p:nvSpPr>
          <p:cNvPr id="2" name="Shape 4">
            <a:extLst>
              <a:ext uri="{FF2B5EF4-FFF2-40B4-BE49-F238E27FC236}">
                <a16:creationId xmlns:a16="http://schemas.microsoft.com/office/drawing/2014/main" id="{6E7CD6C8-E54E-3243-0A4E-B233AA133211}"/>
              </a:ext>
            </a:extLst>
          </p:cNvPr>
          <p:cNvSpPr/>
          <p:nvPr/>
        </p:nvSpPr>
        <p:spPr>
          <a:xfrm>
            <a:off x="365760" y="1298448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D797C7A3-419B-E314-D6FA-F4E6252FF7CF}"/>
              </a:ext>
            </a:extLst>
          </p:cNvPr>
          <p:cNvSpPr/>
          <p:nvPr/>
        </p:nvSpPr>
        <p:spPr>
          <a:xfrm>
            <a:off x="502920" y="1389888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A9E83E1B-4469-6E49-3996-CE612F75F983}"/>
              </a:ext>
            </a:extLst>
          </p:cNvPr>
          <p:cNvSpPr/>
          <p:nvPr/>
        </p:nvSpPr>
        <p:spPr>
          <a:xfrm>
            <a:off x="502920" y="1389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FQ 1 ✅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B2213EB9-7119-D30F-86B0-10DFBB0BE625}"/>
              </a:ext>
            </a:extLst>
          </p:cNvPr>
          <p:cNvSpPr/>
          <p:nvPr/>
        </p:nvSpPr>
        <p:spPr>
          <a:xfrm>
            <a:off x="1536192" y="13898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Kann Q-Learning Kartenzählung nutzen?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7CA57782-FD02-6CA2-BC73-FA468A4E78FB}"/>
              </a:ext>
            </a:extLst>
          </p:cNvPr>
          <p:cNvSpPr/>
          <p:nvPr/>
        </p:nvSpPr>
        <p:spPr>
          <a:xfrm>
            <a:off x="1536192" y="17099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Ja — der Counting Agent nutzt True-Count-Information aktiv, benötigt aber deutlich mehr Trainingszeit.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1E0027F7-5887-AE29-535B-25FB172FF4AB}"/>
              </a:ext>
            </a:extLst>
          </p:cNvPr>
          <p:cNvSpPr/>
          <p:nvPr/>
        </p:nvSpPr>
        <p:spPr>
          <a:xfrm>
            <a:off x="365760" y="2414016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CFA122"/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3F7D3E18-85D3-35B7-9704-0067BD8C84ED}"/>
              </a:ext>
            </a:extLst>
          </p:cNvPr>
          <p:cNvSpPr/>
          <p:nvPr/>
        </p:nvSpPr>
        <p:spPr>
          <a:xfrm>
            <a:off x="502920" y="2505456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B196F1B5-1D7B-8330-63EB-A458721B75F9}"/>
              </a:ext>
            </a:extLst>
          </p:cNvPr>
          <p:cNvSpPr/>
          <p:nvPr/>
        </p:nvSpPr>
        <p:spPr>
          <a:xfrm>
            <a:off x="502920" y="2505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FQ 2 ✅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10414D6C-59FC-5B0A-CC35-57D0AC82715C}"/>
              </a:ext>
            </a:extLst>
          </p:cNvPr>
          <p:cNvSpPr/>
          <p:nvPr/>
        </p:nvSpPr>
        <p:spPr>
          <a:xfrm>
            <a:off x="1536192" y="25054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Bessere Performance mit erweiterten Features?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540618BC-AEC9-C53B-DD67-95E3A52E1A3F}"/>
              </a:ext>
            </a:extLst>
          </p:cNvPr>
          <p:cNvSpPr/>
          <p:nvPr/>
        </p:nvSpPr>
        <p:spPr>
          <a:xfrm>
            <a:off x="1536192" y="2825496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Bedingt — True-Count-Bucket Analyse belegt klare Unterschiede, aber Gesamtdifferenz bleibt marginal bei Q-Learning.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E8AD8795-DFB4-1888-1318-1B9613709C3E}"/>
              </a:ext>
            </a:extLst>
          </p:cNvPr>
          <p:cNvSpPr/>
          <p:nvPr/>
        </p:nvSpPr>
        <p:spPr>
          <a:xfrm>
            <a:off x="365760" y="3529584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E011D393-C86A-2C08-27CE-41F1EA68B88D}"/>
              </a:ext>
            </a:extLst>
          </p:cNvPr>
          <p:cNvSpPr/>
          <p:nvPr/>
        </p:nvSpPr>
        <p:spPr>
          <a:xfrm>
            <a:off x="502920" y="3621024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275C4748-8AD3-7467-A016-7ABB5D5291FB}"/>
              </a:ext>
            </a:extLst>
          </p:cNvPr>
          <p:cNvSpPr/>
          <p:nvPr/>
        </p:nvSpPr>
        <p:spPr>
          <a:xfrm>
            <a:off x="502920" y="36210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FQ 3 ✅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E577EDA3-E609-752F-531C-F90620A59528}"/>
              </a:ext>
            </a:extLst>
          </p:cNvPr>
          <p:cNvSpPr/>
          <p:nvPr/>
        </p:nvSpPr>
        <p:spPr>
          <a:xfrm>
            <a:off x="1536192" y="362102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Wie viele Episoden bis Konvergenz?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B8ADA770-92CA-A150-1E71-81FA82817B01}"/>
              </a:ext>
            </a:extLst>
          </p:cNvPr>
          <p:cNvSpPr/>
          <p:nvPr/>
        </p:nvSpPr>
        <p:spPr>
          <a:xfrm>
            <a:off x="1536192" y="3941064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Kein vollständiger Konvergenznachweis: 100 Mio. Episoden sind ein belastbarer Zwischenstand, aber kein Endpunkt.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B8F38202-DE34-A94E-BA9F-D359189E6377}"/>
              </a:ext>
            </a:extLst>
          </p:cNvPr>
          <p:cNvSpPr/>
          <p:nvPr/>
        </p:nvSpPr>
        <p:spPr>
          <a:xfrm>
            <a:off x="365760" y="5295900"/>
            <a:ext cx="8229600" cy="65836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644E6CE6-5965-5E34-0CB5-CD70B849FF92}"/>
              </a:ext>
            </a:extLst>
          </p:cNvPr>
          <p:cNvSpPr/>
          <p:nvPr/>
        </p:nvSpPr>
        <p:spPr>
          <a:xfrm>
            <a:off x="594360" y="529590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Final Result @100M: Baseline &lt; Counting ≈ −0.050 avg reward · 42.8% Win Rate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713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19A27-8598-64C5-5734-3157D81BC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CC286311-65C9-5B9D-5151-80B94BDCC50B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08E5677B-6A44-E8D0-6484-9F9CAACFD958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090B62C-DAC9-F9F3-30C1-75BB97FE2F61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l-PL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Antworten auf</a:t>
            </a:r>
            <a:r>
              <a:rPr lang="de-DE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Forschungsfragen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E6009FA-2957-DA4E-BD83-C20CFAA031D5}"/>
              </a:ext>
            </a:extLst>
          </p:cNvPr>
          <p:cNvSpPr/>
          <p:nvPr/>
        </p:nvSpPr>
        <p:spPr>
          <a:xfrm>
            <a:off x="6367670" y="54864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1C87B5CB-FDE1-4D92-AEBF-0F36A1936069}" type="slidenum">
              <a:rPr lang="en-US" sz="900" b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37</a:t>
            </a:fld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6607798E-8193-561A-163B-AD967A7B8F82}"/>
              </a:ext>
            </a:extLst>
          </p:cNvPr>
          <p:cNvSpPr/>
          <p:nvPr/>
        </p:nvSpPr>
        <p:spPr>
          <a:xfrm>
            <a:off x="3412435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BHH · Machine Learning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198CE656-6C55-B541-D290-321CCE16DD78}"/>
              </a:ext>
            </a:extLst>
          </p:cNvPr>
          <p:cNvSpPr/>
          <p:nvPr/>
        </p:nvSpPr>
        <p:spPr>
          <a:xfrm>
            <a:off x="457200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Ergebnisse</a:t>
            </a: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&amp; </a:t>
            </a: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Fazit</a:t>
            </a:r>
            <a:endParaRPr lang="en-US" sz="9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Cambria" pitchFamily="34" charset="-120"/>
            </a:endParaRPr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B87C3EF6-C331-55AD-1443-3FCE9DABFC25}"/>
              </a:ext>
            </a:extLst>
          </p:cNvPr>
          <p:cNvSpPr/>
          <p:nvPr/>
        </p:nvSpPr>
        <p:spPr>
          <a:xfrm>
            <a:off x="365760" y="1184148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4CB1E8B4-FC07-8E36-ABFE-F6A6C602F61B}"/>
              </a:ext>
            </a:extLst>
          </p:cNvPr>
          <p:cNvSpPr/>
          <p:nvPr/>
        </p:nvSpPr>
        <p:spPr>
          <a:xfrm>
            <a:off x="502920" y="1275588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64CAE91A-C240-2A88-72E0-A9E7B2C9A157}"/>
              </a:ext>
            </a:extLst>
          </p:cNvPr>
          <p:cNvSpPr/>
          <p:nvPr/>
        </p:nvSpPr>
        <p:spPr>
          <a:xfrm>
            <a:off x="502920" y="12755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FQ 1 ✅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FFC3B36A-6C2C-3D03-C816-4829BC7EE0A9}"/>
              </a:ext>
            </a:extLst>
          </p:cNvPr>
          <p:cNvSpPr/>
          <p:nvPr/>
        </p:nvSpPr>
        <p:spPr>
          <a:xfrm>
            <a:off x="1536192" y="12755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Kann Q-Learning Kartenzählung nutzen?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40DF6846-AA13-FAF9-892B-8C369B2C07E7}"/>
              </a:ext>
            </a:extLst>
          </p:cNvPr>
          <p:cNvSpPr/>
          <p:nvPr/>
        </p:nvSpPr>
        <p:spPr>
          <a:xfrm>
            <a:off x="1536192" y="15956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Ja — der Counting Agent nutzt True-Count-Information aktiv, benötigt aber deutlich mehr Trainingszeit.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2E15F851-0C6D-029E-FDC8-BC2C107FB5F1}"/>
              </a:ext>
            </a:extLst>
          </p:cNvPr>
          <p:cNvSpPr/>
          <p:nvPr/>
        </p:nvSpPr>
        <p:spPr>
          <a:xfrm>
            <a:off x="365760" y="2252091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CFA122"/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CCDB67CB-5470-5B10-7F60-0A9198F45D96}"/>
              </a:ext>
            </a:extLst>
          </p:cNvPr>
          <p:cNvSpPr/>
          <p:nvPr/>
        </p:nvSpPr>
        <p:spPr>
          <a:xfrm>
            <a:off x="502920" y="2343531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238C36D3-4F67-8EA3-5ED9-DF5E4A1F3CC9}"/>
              </a:ext>
            </a:extLst>
          </p:cNvPr>
          <p:cNvSpPr/>
          <p:nvPr/>
        </p:nvSpPr>
        <p:spPr>
          <a:xfrm>
            <a:off x="502920" y="2343531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FQ 2 ✅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A0431AF1-5D09-68BD-78DF-5D0B86DD4A0F}"/>
              </a:ext>
            </a:extLst>
          </p:cNvPr>
          <p:cNvSpPr/>
          <p:nvPr/>
        </p:nvSpPr>
        <p:spPr>
          <a:xfrm>
            <a:off x="1536192" y="2343531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Bessere Performance mit erweiterten Features?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364380B4-3E77-710B-F3A3-CCA9A618B485}"/>
              </a:ext>
            </a:extLst>
          </p:cNvPr>
          <p:cNvSpPr/>
          <p:nvPr/>
        </p:nvSpPr>
        <p:spPr>
          <a:xfrm>
            <a:off x="1536192" y="2663571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Bedingt — True-Count-Bucket Analyse belegt klare Unterschiede, aber Gesamtdifferenz bleibt marginal bei Q-Learning.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DFC20F41-B7FA-EF58-AC88-5B91FEF88BB7}"/>
              </a:ext>
            </a:extLst>
          </p:cNvPr>
          <p:cNvSpPr/>
          <p:nvPr/>
        </p:nvSpPr>
        <p:spPr>
          <a:xfrm>
            <a:off x="365760" y="3339084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6" name="Shape 15">
            <a:extLst>
              <a:ext uri="{FF2B5EF4-FFF2-40B4-BE49-F238E27FC236}">
                <a16:creationId xmlns:a16="http://schemas.microsoft.com/office/drawing/2014/main" id="{5551612E-B891-2195-841B-E8966B24C7F4}"/>
              </a:ext>
            </a:extLst>
          </p:cNvPr>
          <p:cNvSpPr/>
          <p:nvPr/>
        </p:nvSpPr>
        <p:spPr>
          <a:xfrm>
            <a:off x="502920" y="3430524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C8FE5E73-8F17-77D6-236A-859B8CC94894}"/>
              </a:ext>
            </a:extLst>
          </p:cNvPr>
          <p:cNvSpPr/>
          <p:nvPr/>
        </p:nvSpPr>
        <p:spPr>
          <a:xfrm>
            <a:off x="502920" y="34305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FQ 3 ✅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F8E284F2-29BE-C235-792A-89E3BB234C03}"/>
              </a:ext>
            </a:extLst>
          </p:cNvPr>
          <p:cNvSpPr/>
          <p:nvPr/>
        </p:nvSpPr>
        <p:spPr>
          <a:xfrm>
            <a:off x="1536192" y="343052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Wie viele Episoden bis Konvergenz?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24154316-9ECF-6C65-BEB6-DDABDFD37D35}"/>
              </a:ext>
            </a:extLst>
          </p:cNvPr>
          <p:cNvSpPr/>
          <p:nvPr/>
        </p:nvSpPr>
        <p:spPr>
          <a:xfrm>
            <a:off x="1536192" y="3750564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1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Kein vollständiger Konvergenznachweis: 100 Mio. Episoden sind ein belastbarer Zwischenstand, aber kein Endpunkt.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0" name="Shape 19">
            <a:extLst>
              <a:ext uri="{FF2B5EF4-FFF2-40B4-BE49-F238E27FC236}">
                <a16:creationId xmlns:a16="http://schemas.microsoft.com/office/drawing/2014/main" id="{29CA557A-3007-E282-E0D4-53D4A4472D4F}"/>
              </a:ext>
            </a:extLst>
          </p:cNvPr>
          <p:cNvSpPr/>
          <p:nvPr/>
        </p:nvSpPr>
        <p:spPr>
          <a:xfrm>
            <a:off x="365760" y="4400550"/>
            <a:ext cx="8229600" cy="65836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Text 20">
            <a:extLst>
              <a:ext uri="{FF2B5EF4-FFF2-40B4-BE49-F238E27FC236}">
                <a16:creationId xmlns:a16="http://schemas.microsoft.com/office/drawing/2014/main" id="{05ED81EA-B219-C210-1C29-286D0EB87B30}"/>
              </a:ext>
            </a:extLst>
          </p:cNvPr>
          <p:cNvSpPr/>
          <p:nvPr/>
        </p:nvSpPr>
        <p:spPr>
          <a:xfrm>
            <a:off x="594360" y="440055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Final Result @100M: Baseline &lt; Counting ≈ −0.050 avg reward · 42.8% Win Rate 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16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8F584-C7EF-483D-F19C-98FC2259C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9385613A-2F62-6472-1699-2374D324AB37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A50A1C1D-58CE-F375-2209-C88E7E2DB864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896414D-9C10-2D3C-8AAB-9C68F18AD49A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l-PL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Nächste Schritt</a:t>
            </a:r>
            <a:r>
              <a:rPr lang="de-DE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FC2E809-E139-EAD1-240D-265CE48EBC1B}"/>
              </a:ext>
            </a:extLst>
          </p:cNvPr>
          <p:cNvSpPr/>
          <p:nvPr/>
        </p:nvSpPr>
        <p:spPr>
          <a:xfrm>
            <a:off x="6367670" y="54864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1C87B5CB-FDE1-4D92-AEBF-0F36A1936069}" type="slidenum">
              <a:rPr lang="en-US" sz="900" b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38</a:t>
            </a:fld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45393009-419B-71FE-3496-F3D91656334F}"/>
              </a:ext>
            </a:extLst>
          </p:cNvPr>
          <p:cNvSpPr/>
          <p:nvPr/>
        </p:nvSpPr>
        <p:spPr>
          <a:xfrm>
            <a:off x="3412435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BHH · Machine Learning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E04F2010-8270-2625-8511-6F07A5DF7FF2}"/>
              </a:ext>
            </a:extLst>
          </p:cNvPr>
          <p:cNvSpPr/>
          <p:nvPr/>
        </p:nvSpPr>
        <p:spPr>
          <a:xfrm>
            <a:off x="457200" y="60960"/>
            <a:ext cx="2319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Ergebnisse</a:t>
            </a: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&amp; </a:t>
            </a:r>
            <a:r>
              <a:rPr lang="en-US" sz="9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Fazit</a:t>
            </a:r>
            <a:endParaRPr lang="en-US" sz="9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Cambria" pitchFamily="34" charset="-120"/>
            </a:endParaRPr>
          </a:p>
        </p:txBody>
      </p:sp>
      <p:sp>
        <p:nvSpPr>
          <p:cNvPr id="2" name="!!1">
            <a:extLst>
              <a:ext uri="{FF2B5EF4-FFF2-40B4-BE49-F238E27FC236}">
                <a16:creationId xmlns:a16="http://schemas.microsoft.com/office/drawing/2014/main" id="{8BB3DF97-32AD-4D0C-77E2-C5FC5583A2BA}"/>
              </a:ext>
            </a:extLst>
          </p:cNvPr>
          <p:cNvSpPr/>
          <p:nvPr/>
        </p:nvSpPr>
        <p:spPr>
          <a:xfrm>
            <a:off x="365760" y="1097280"/>
            <a:ext cx="3977640" cy="1572768"/>
          </a:xfrm>
          <a:prstGeom prst="roundRect">
            <a:avLst>
              <a:gd name="adj" fmla="val 8140"/>
            </a:avLst>
          </a:prstGeom>
          <a:solidFill>
            <a:srgbClr val="1E293B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250C93E-A531-7C1E-09F9-F272DE940D72}"/>
              </a:ext>
            </a:extLst>
          </p:cNvPr>
          <p:cNvSpPr/>
          <p:nvPr/>
        </p:nvSpPr>
        <p:spPr>
          <a:xfrm>
            <a:off x="530352" y="1261872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DDD3AB5-A40F-92AC-24B8-AD932303747D}"/>
              </a:ext>
            </a:extLst>
          </p:cNvPr>
          <p:cNvSpPr/>
          <p:nvPr/>
        </p:nvSpPr>
        <p:spPr>
          <a:xfrm>
            <a:off x="530352" y="12618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01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7CBEC99-0A2A-83E9-B735-3F4D1380ADED}"/>
              </a:ext>
            </a:extLst>
          </p:cNvPr>
          <p:cNvSpPr/>
          <p:nvPr/>
        </p:nvSpPr>
        <p:spPr>
          <a:xfrm>
            <a:off x="3291840" y="1325880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2EEEA80D-A3A9-6C79-D23C-EC5B81CDB653}"/>
              </a:ext>
            </a:extLst>
          </p:cNvPr>
          <p:cNvSpPr/>
          <p:nvPr/>
        </p:nvSpPr>
        <p:spPr>
          <a:xfrm>
            <a:off x="3291840" y="1325880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kern="0" spc="100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HOCH</a:t>
            </a:r>
            <a:endParaRPr lang="en-US" sz="7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D2A14BC8-6F0C-423A-1AF1-B68D1B45CF1A}"/>
              </a:ext>
            </a:extLst>
          </p:cNvPr>
          <p:cNvSpPr/>
          <p:nvPr/>
        </p:nvSpPr>
        <p:spPr>
          <a:xfrm>
            <a:off x="1243584" y="1280160"/>
            <a:ext cx="28346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Ablation &amp; 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State Redesign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DC36DDD4-18D6-C88E-6406-E3BAC21A7572}"/>
              </a:ext>
            </a:extLst>
          </p:cNvPr>
          <p:cNvSpPr/>
          <p:nvPr/>
        </p:nvSpPr>
        <p:spPr>
          <a:xfrm>
            <a:off x="530352" y="199339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95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Running Count, True Count und verbleibende Decks einzeln untersuchen. Redundante Merkmale entfernen und den Zustandsraum deutlich verkleinern.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!!2">
            <a:extLst>
              <a:ext uri="{FF2B5EF4-FFF2-40B4-BE49-F238E27FC236}">
                <a16:creationId xmlns:a16="http://schemas.microsoft.com/office/drawing/2014/main" id="{683C5E44-30DF-170A-45B6-B020A0BBD793}"/>
              </a:ext>
            </a:extLst>
          </p:cNvPr>
          <p:cNvSpPr/>
          <p:nvPr/>
        </p:nvSpPr>
        <p:spPr>
          <a:xfrm>
            <a:off x="4663440" y="1097280"/>
            <a:ext cx="3977640" cy="1572768"/>
          </a:xfrm>
          <a:prstGeom prst="roundRect">
            <a:avLst>
              <a:gd name="adj" fmla="val 8140"/>
            </a:avLst>
          </a:prstGeom>
          <a:solidFill>
            <a:srgbClr val="1E293B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E15F0E1C-78A2-2D88-5327-E35067EBB143}"/>
              </a:ext>
            </a:extLst>
          </p:cNvPr>
          <p:cNvSpPr/>
          <p:nvPr/>
        </p:nvSpPr>
        <p:spPr>
          <a:xfrm>
            <a:off x="4828032" y="1261872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E74BB42F-FCAC-BCFA-A80D-D7A00CF337C9}"/>
              </a:ext>
            </a:extLst>
          </p:cNvPr>
          <p:cNvSpPr/>
          <p:nvPr/>
        </p:nvSpPr>
        <p:spPr>
          <a:xfrm>
            <a:off x="4828032" y="12618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02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C31A43D8-F11A-9E83-1368-90B9FF75F6B7}"/>
              </a:ext>
            </a:extLst>
          </p:cNvPr>
          <p:cNvSpPr/>
          <p:nvPr/>
        </p:nvSpPr>
        <p:spPr>
          <a:xfrm>
            <a:off x="7589520" y="1325880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EE869791-4586-C3EC-9FDF-CF51E46DDA9B}"/>
              </a:ext>
            </a:extLst>
          </p:cNvPr>
          <p:cNvSpPr/>
          <p:nvPr/>
        </p:nvSpPr>
        <p:spPr>
          <a:xfrm>
            <a:off x="7589520" y="1325880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kern="0" spc="100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HOCH</a:t>
            </a: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E8DC9EA8-9024-DF2E-3880-845F5A1AF32B}"/>
              </a:ext>
            </a:extLst>
          </p:cNvPr>
          <p:cNvSpPr/>
          <p:nvPr/>
        </p:nvSpPr>
        <p:spPr>
          <a:xfrm>
            <a:off x="5541264" y="12801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b="1" dirty="0">
                <a:solidFill>
                  <a:srgbClr val="0D948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Mehr </a:t>
            </a:r>
            <a:r>
              <a:rPr lang="en-US" sz="1500" b="1" dirty="0" err="1">
                <a:solidFill>
                  <a:srgbClr val="0D948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Trainingsseeds</a:t>
            </a:r>
            <a:endParaRPr lang="en-US" sz="1500" b="1" dirty="0">
              <a:solidFill>
                <a:srgbClr val="0D9488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0449DA25-7736-6593-733B-ECB7665698AC}"/>
              </a:ext>
            </a:extLst>
          </p:cNvPr>
          <p:cNvSpPr/>
          <p:nvPr/>
        </p:nvSpPr>
        <p:spPr>
          <a:xfrm>
            <a:off x="4828032" y="199339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95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Mindestens zehn unabhängige Trainingsläufe durchführen. Damit Leistung, Streuung und statistische Signifikanz belastbarer bewerten.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!!3">
            <a:extLst>
              <a:ext uri="{FF2B5EF4-FFF2-40B4-BE49-F238E27FC236}">
                <a16:creationId xmlns:a16="http://schemas.microsoft.com/office/drawing/2014/main" id="{4D9EB034-D79E-68DD-B9F3-638D8C7D6C14}"/>
              </a:ext>
            </a:extLst>
          </p:cNvPr>
          <p:cNvSpPr/>
          <p:nvPr/>
        </p:nvSpPr>
        <p:spPr>
          <a:xfrm>
            <a:off x="365760" y="2926080"/>
            <a:ext cx="3977640" cy="1572768"/>
          </a:xfrm>
          <a:prstGeom prst="roundRect">
            <a:avLst>
              <a:gd name="adj" fmla="val 8140"/>
            </a:avLst>
          </a:prstGeom>
          <a:solidFill>
            <a:srgbClr val="1E293B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1CE52F32-656C-B9A3-0AA0-49E9B03E857A}"/>
              </a:ext>
            </a:extLst>
          </p:cNvPr>
          <p:cNvSpPr/>
          <p:nvPr/>
        </p:nvSpPr>
        <p:spPr>
          <a:xfrm>
            <a:off x="530352" y="3090672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0F885A61-0582-BFCC-A862-51C73F97EC0F}"/>
              </a:ext>
            </a:extLst>
          </p:cNvPr>
          <p:cNvSpPr/>
          <p:nvPr/>
        </p:nvSpPr>
        <p:spPr>
          <a:xfrm>
            <a:off x="530352" y="30906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03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D22D1050-8FD6-6ED4-4CB1-EE0D8841B5D0}"/>
              </a:ext>
            </a:extLst>
          </p:cNvPr>
          <p:cNvSpPr/>
          <p:nvPr/>
        </p:nvSpPr>
        <p:spPr>
          <a:xfrm>
            <a:off x="3291840" y="3154680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716BDFA-11F6-91A9-2EDE-3909EE067B9A}"/>
              </a:ext>
            </a:extLst>
          </p:cNvPr>
          <p:cNvSpPr/>
          <p:nvPr/>
        </p:nvSpPr>
        <p:spPr>
          <a:xfrm>
            <a:off x="3291840" y="3154680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MITTEL</a:t>
            </a:r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C9ECC20C-AD9A-43D4-5B23-60A9C008C42F}"/>
              </a:ext>
            </a:extLst>
          </p:cNvPr>
          <p:cNvSpPr/>
          <p:nvPr/>
        </p:nvSpPr>
        <p:spPr>
          <a:xfrm>
            <a:off x="1243584" y="310896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b="1" dirty="0" err="1">
                <a:solidFill>
                  <a:srgbClr val="0D948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Realistischere</a:t>
            </a:r>
            <a:endParaRPr lang="en-US" sz="1500" b="1" dirty="0">
              <a:solidFill>
                <a:srgbClr val="0D9488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500" b="1" dirty="0" err="1">
                <a:solidFill>
                  <a:srgbClr val="0D948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Spielregeln</a:t>
            </a:r>
            <a:endParaRPr lang="en-US" sz="1500" b="1" dirty="0">
              <a:solidFill>
                <a:srgbClr val="0D9488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41606240-E890-8485-B063-39B4ABB40B84}"/>
              </a:ext>
            </a:extLst>
          </p:cNvPr>
          <p:cNvSpPr/>
          <p:nvPr/>
        </p:nvSpPr>
        <p:spPr>
          <a:xfrm>
            <a:off x="530352" y="382219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95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Natural-Payout, Double Down und variable Einsätze ergänzen. Erst dadurch lässt sich der praktische Nutzen des Kartenzählens realistisch untersuchen.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!!4">
            <a:extLst>
              <a:ext uri="{FF2B5EF4-FFF2-40B4-BE49-F238E27FC236}">
                <a16:creationId xmlns:a16="http://schemas.microsoft.com/office/drawing/2014/main" id="{4D249EFA-3910-172F-088A-2B44B52C7BA4}"/>
              </a:ext>
            </a:extLst>
          </p:cNvPr>
          <p:cNvSpPr/>
          <p:nvPr/>
        </p:nvSpPr>
        <p:spPr>
          <a:xfrm>
            <a:off x="4663440" y="2926080"/>
            <a:ext cx="3977640" cy="1572768"/>
          </a:xfrm>
          <a:prstGeom prst="roundRect">
            <a:avLst>
              <a:gd name="adj" fmla="val 8140"/>
            </a:avLst>
          </a:prstGeom>
          <a:solidFill>
            <a:srgbClr val="1E293B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00484B77-7BE2-B39D-27DC-F5DFB844D027}"/>
              </a:ext>
            </a:extLst>
          </p:cNvPr>
          <p:cNvSpPr/>
          <p:nvPr/>
        </p:nvSpPr>
        <p:spPr>
          <a:xfrm>
            <a:off x="4828032" y="3090672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2C5D2983-A6EE-572A-18D6-47BBA072514A}"/>
              </a:ext>
            </a:extLst>
          </p:cNvPr>
          <p:cNvSpPr/>
          <p:nvPr/>
        </p:nvSpPr>
        <p:spPr>
          <a:xfrm>
            <a:off x="4828032" y="30906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04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Shape 27">
            <a:extLst>
              <a:ext uri="{FF2B5EF4-FFF2-40B4-BE49-F238E27FC236}">
                <a16:creationId xmlns:a16="http://schemas.microsoft.com/office/drawing/2014/main" id="{FA2B82CF-9A12-AA64-5336-CA1F3F506BF0}"/>
              </a:ext>
            </a:extLst>
          </p:cNvPr>
          <p:cNvSpPr/>
          <p:nvPr/>
        </p:nvSpPr>
        <p:spPr>
          <a:xfrm>
            <a:off x="7589520" y="3154680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70777769-224B-0058-2766-46E8F4A16A4C}"/>
              </a:ext>
            </a:extLst>
          </p:cNvPr>
          <p:cNvSpPr/>
          <p:nvPr/>
        </p:nvSpPr>
        <p:spPr>
          <a:xfrm>
            <a:off x="7589520" y="3154680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VISION</a:t>
            </a:r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49B2FAEB-01AE-6FDE-F8D7-DD4F6987E909}"/>
              </a:ext>
            </a:extLst>
          </p:cNvPr>
          <p:cNvSpPr/>
          <p:nvPr/>
        </p:nvSpPr>
        <p:spPr>
          <a:xfrm>
            <a:off x="5541264" y="3108960"/>
            <a:ext cx="2048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b="1" dirty="0">
                <a:solidFill>
                  <a:srgbClr val="0D948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DQN / PPO</a:t>
            </a:r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636903BD-0396-AE63-72BF-A3851B8E7715}"/>
              </a:ext>
            </a:extLst>
          </p:cNvPr>
          <p:cNvSpPr/>
          <p:nvPr/>
        </p:nvSpPr>
        <p:spPr>
          <a:xfrm>
            <a:off x="4828032" y="382219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95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DQN oder PPO mit der kompakten Zustandsrepräsentation testen. So kann Wissen zwischen ähnlichen Zuständen generalisiert werden.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774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3747</Words>
  <Application>Microsoft Office PowerPoint</Application>
  <PresentationFormat>Bildschirmpräsentation (16:9)</PresentationFormat>
  <Paragraphs>760</Paragraphs>
  <Slides>38</Slides>
  <Notes>30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38</vt:i4>
      </vt:variant>
    </vt:vector>
  </HeadingPairs>
  <TitlesOfParts>
    <vt:vector size="45" baseType="lpstr">
      <vt:lpstr>Arial</vt:lpstr>
      <vt:lpstr>Calibri</vt:lpstr>
      <vt:lpstr>Calibri Light</vt:lpstr>
      <vt:lpstr>Cambria</vt:lpstr>
      <vt:lpstr>Cambria Math</vt:lpstr>
      <vt:lpstr>Inter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Reinforcement Learning für Blackjack-Agenten</dc:title>
  <dc:subject>PptxGenJS Presentation</dc:subject>
  <dc:creator>Arvid, Linus &amp; Tom</dc:creator>
  <cp:lastModifiedBy>Tom Markmann</cp:lastModifiedBy>
  <cp:revision>137</cp:revision>
  <dcterms:created xsi:type="dcterms:W3CDTF">2026-06-10T08:25:46Z</dcterms:created>
  <dcterms:modified xsi:type="dcterms:W3CDTF">2026-06-14T19:01:54Z</dcterms:modified>
</cp:coreProperties>
</file>