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16" r:id="rId3"/>
    <p:sldId id="289" r:id="rId4"/>
    <p:sldId id="321" r:id="rId5"/>
    <p:sldId id="315" r:id="rId6"/>
    <p:sldId id="317" r:id="rId7"/>
    <p:sldId id="343" r:id="rId8"/>
    <p:sldId id="344" r:id="rId9"/>
    <p:sldId id="345" r:id="rId10"/>
    <p:sldId id="320" r:id="rId11"/>
    <p:sldId id="318" r:id="rId12"/>
    <p:sldId id="291" r:id="rId13"/>
    <p:sldId id="322" r:id="rId14"/>
    <p:sldId id="332" r:id="rId15"/>
    <p:sldId id="323" r:id="rId16"/>
    <p:sldId id="333" r:id="rId17"/>
    <p:sldId id="334" r:id="rId18"/>
    <p:sldId id="335" r:id="rId19"/>
    <p:sldId id="336" r:id="rId20"/>
    <p:sldId id="290" r:id="rId21"/>
    <p:sldId id="327" r:id="rId22"/>
    <p:sldId id="328" r:id="rId23"/>
    <p:sldId id="337" r:id="rId24"/>
    <p:sldId id="338" r:id="rId25"/>
    <p:sldId id="339" r:id="rId26"/>
    <p:sldId id="340" r:id="rId27"/>
    <p:sldId id="341" r:id="rId28"/>
    <p:sldId id="342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43"/>
            <p14:sldId id="344"/>
            <p14:sldId id="345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32"/>
            <p14:sldId id="323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28"/>
            <p14:sldId id="337"/>
            <p14:sldId id="338"/>
            <p14:sldId id="339"/>
            <p14:sldId id="340"/>
            <p14:sldId id="341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F172A"/>
    <a:srgbClr val="0D9488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87131" autoAdjust="0"/>
  </p:normalViewPr>
  <p:slideViewPr>
    <p:cSldViewPr snapToGrid="0" snapToObjects="1">
      <p:cViewPr varScale="1">
        <p:scale>
          <a:sx n="130" d="100"/>
          <a:sy n="130" d="100"/>
        </p:scale>
        <p:origin x="1032" y="120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MDP benötigt Zustände, Aktionen, Übergänge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Agent kennt keine zukünftigen Karten und lernt ausschließlich aus simulierten Runden.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 Episode entspricht genau einer Runde. Der finale Ausgang wird über das Q-Update auf vorherige Entscheidungen zurückgeführt. Der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bildet kein Einsatzmanagement ab.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E5D-0944-9BAA-E16C-0695063C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BE60F0-F35A-515C-D947-3F9D0292D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E1B9E0-FD06-E835-A31E-D4F8C5CDA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17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6563-FE82-184B-FB4D-D60F934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5D4BCF-AFBD-A3C3-B6A7-0EEA75DAA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DCE50B-2F96-112A-1246-BC645A36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629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D982-EE76-C358-6F49-53AD6E97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2CE88B-7451-164F-EC38-21BBBACF9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88324D-E737-B869-F6D3-5EBE49519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03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Running Count verdichtet die sichtbare Kartenhistorie. Der True Count setzt diese Summe ins Verhältnis zum verbleibenden Schlitten. Beide Werte sind Näherungen und kein vollständiger Zustand.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Umgebung isoliert Hit-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-Stand-Entscheidungen. Sie ist für den Modellvergleich geeignet, aber keine vollständige Casino-Simulation.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14/06/2026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14.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BC1F80FF-3725-952B-E428-DF90F70C4498}"/>
              </a:ext>
            </a:extLst>
          </p:cNvPr>
          <p:cNvSpPr/>
          <p:nvPr/>
        </p:nvSpPr>
        <p:spPr>
          <a:xfrm>
            <a:off x="347884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8461E58F-013C-E576-1277-4AE74CAF7635}"/>
              </a:ext>
            </a:extLst>
          </p:cNvPr>
          <p:cNvSpPr/>
          <p:nvPr/>
        </p:nvSpPr>
        <p:spPr>
          <a:xfrm>
            <a:off x="358023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D014C59-BDF7-148B-E12E-C58E1C7A4D3E}"/>
              </a:ext>
            </a:extLst>
          </p:cNvPr>
          <p:cNvSpPr/>
          <p:nvPr/>
        </p:nvSpPr>
        <p:spPr>
          <a:xfrm>
            <a:off x="368163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EC771D54-83E8-4302-0B25-2DC76BE358DF}"/>
              </a:ext>
            </a:extLst>
          </p:cNvPr>
          <p:cNvSpPr/>
          <p:nvPr/>
        </p:nvSpPr>
        <p:spPr>
          <a:xfrm>
            <a:off x="522786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59DAA8AB-0154-5A44-6B16-B72BF5B973FE}"/>
              </a:ext>
            </a:extLst>
          </p:cNvPr>
          <p:cNvSpPr/>
          <p:nvPr/>
        </p:nvSpPr>
        <p:spPr>
          <a:xfrm>
            <a:off x="532925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19148E79-3871-D145-A4CA-AEE5C2F56187}"/>
              </a:ext>
            </a:extLst>
          </p:cNvPr>
          <p:cNvSpPr/>
          <p:nvPr/>
        </p:nvSpPr>
        <p:spPr>
          <a:xfrm>
            <a:off x="543065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423B72DD-6AB0-2FE3-FF08-0A3AE4A4CDB5}"/>
              </a:ext>
            </a:extLst>
          </p:cNvPr>
          <p:cNvSpPr/>
          <p:nvPr/>
        </p:nvSpPr>
        <p:spPr>
          <a:xfrm>
            <a:off x="697688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12106302-C5DF-FFD0-EC65-A559C567245A}"/>
              </a:ext>
            </a:extLst>
          </p:cNvPr>
          <p:cNvSpPr/>
          <p:nvPr/>
        </p:nvSpPr>
        <p:spPr>
          <a:xfrm>
            <a:off x="707827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5B244C63-9A32-850D-876A-F6E181253885}"/>
              </a:ext>
            </a:extLst>
          </p:cNvPr>
          <p:cNvSpPr/>
          <p:nvPr/>
        </p:nvSpPr>
        <p:spPr>
          <a:xfrm>
            <a:off x="717967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918DBDAF-ABB4-713C-086B-4634E81C69DD}"/>
              </a:ext>
            </a:extLst>
          </p:cNvPr>
          <p:cNvSpPr/>
          <p:nvPr/>
        </p:nvSpPr>
        <p:spPr>
          <a:xfrm>
            <a:off x="347884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17205B19-4FEE-9863-2488-8CB0BB017D58}"/>
              </a:ext>
            </a:extLst>
          </p:cNvPr>
          <p:cNvSpPr/>
          <p:nvPr/>
        </p:nvSpPr>
        <p:spPr>
          <a:xfrm>
            <a:off x="358023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B7A6119D-4393-22AB-FB87-5866B2E8EBF6}"/>
              </a:ext>
            </a:extLst>
          </p:cNvPr>
          <p:cNvSpPr/>
          <p:nvPr/>
        </p:nvSpPr>
        <p:spPr>
          <a:xfrm>
            <a:off x="368163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896AF2C7-33EC-DB0B-93AC-FF5F67B86F22}"/>
              </a:ext>
            </a:extLst>
          </p:cNvPr>
          <p:cNvSpPr/>
          <p:nvPr/>
        </p:nvSpPr>
        <p:spPr>
          <a:xfrm>
            <a:off x="522786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80AD2445-4626-418B-0A96-6E4ED63FCAF0}"/>
              </a:ext>
            </a:extLst>
          </p:cNvPr>
          <p:cNvSpPr/>
          <p:nvPr/>
        </p:nvSpPr>
        <p:spPr>
          <a:xfrm>
            <a:off x="532925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14F8E9DC-EED6-14CA-7B04-CE933FBAFBBB}"/>
              </a:ext>
            </a:extLst>
          </p:cNvPr>
          <p:cNvSpPr/>
          <p:nvPr/>
        </p:nvSpPr>
        <p:spPr>
          <a:xfrm>
            <a:off x="543065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D32E050-D259-2429-144B-462152037101}"/>
              </a:ext>
            </a:extLst>
          </p:cNvPr>
          <p:cNvSpPr/>
          <p:nvPr/>
        </p:nvSpPr>
        <p:spPr>
          <a:xfrm>
            <a:off x="697688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85C16DAC-F59E-932B-B6D0-D48E651B9D86}"/>
              </a:ext>
            </a:extLst>
          </p:cNvPr>
          <p:cNvSpPr/>
          <p:nvPr/>
        </p:nvSpPr>
        <p:spPr>
          <a:xfrm>
            <a:off x="707827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A66D1219-CD1D-7473-4026-F097C8696F64}"/>
              </a:ext>
            </a:extLst>
          </p:cNvPr>
          <p:cNvSpPr/>
          <p:nvPr/>
        </p:nvSpPr>
        <p:spPr>
          <a:xfrm>
            <a:off x="717967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0AFB1731-CEC8-9654-CB19-C1E23816EC61}"/>
              </a:ext>
            </a:extLst>
          </p:cNvPr>
          <p:cNvSpPr/>
          <p:nvPr/>
        </p:nvSpPr>
        <p:spPr>
          <a:xfrm>
            <a:off x="358290" y="124265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!!8">
            <a:extLst>
              <a:ext uri="{FF2B5EF4-FFF2-40B4-BE49-F238E27FC236}">
                <a16:creationId xmlns:a16="http://schemas.microsoft.com/office/drawing/2014/main" id="{0E4E16F1-9DBA-E9A2-DE62-46CBACE6E4C9}"/>
              </a:ext>
            </a:extLst>
          </p:cNvPr>
          <p:cNvSpPr/>
          <p:nvPr/>
        </p:nvSpPr>
        <p:spPr>
          <a:xfrm>
            <a:off x="358290" y="308921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9B7A1464-3E67-30CF-01A3-31B36874296F}"/>
              </a:ext>
            </a:extLst>
          </p:cNvPr>
          <p:cNvSpPr/>
          <p:nvPr/>
        </p:nvSpPr>
        <p:spPr>
          <a:xfrm>
            <a:off x="358290" y="138505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Shoe /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Schlitten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8C24E9AD-3D42-E665-296A-0CBDFA3D14E3}"/>
              </a:ext>
            </a:extLst>
          </p:cNvPr>
          <p:cNvSpPr/>
          <p:nvPr/>
        </p:nvSpPr>
        <p:spPr>
          <a:xfrm>
            <a:off x="358290" y="3264869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Shuffle</a:t>
            </a:r>
          </a:p>
        </p:txBody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03601C7A-CDF0-7551-3E07-0BB0363779D0}"/>
              </a:ext>
            </a:extLst>
          </p:cNvPr>
          <p:cNvSpPr/>
          <p:nvPr/>
        </p:nvSpPr>
        <p:spPr>
          <a:xfrm>
            <a:off x="498786" y="1764790"/>
            <a:ext cx="2325048" cy="82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 Decks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312 Karten</a:t>
            </a: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2559E92-6997-5493-8846-A715827BC655}"/>
              </a:ext>
            </a:extLst>
          </p:cNvPr>
          <p:cNvSpPr/>
          <p:nvPr/>
        </p:nvSpPr>
        <p:spPr>
          <a:xfrm>
            <a:off x="498786" y="3641696"/>
            <a:ext cx="2325048" cy="80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75 % Penetration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 234 Karten</a:t>
            </a: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78B9F-8757-B1B2-0465-AB32B74D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20E742F-7D84-ADEE-EA3A-1B4E0DA0277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EF7C46F-1E1E-B487-B853-0FF3B3B87B2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4E5C6-5C62-9191-F679-58EBFB85EFA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4F4FC3-DB53-F9E1-5FA0-D211B1DA7F8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00C7E85-C1D9-30E9-1AA4-45B72F482D0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9CE8DAE-9F2B-6B55-037D-35F08C49EE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28621656-9471-2083-7398-648CD58B767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EDD38266-C40D-A782-7591-A3B5E3F82665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64DC014-6780-080D-6A0A-F8EFF08CEBA4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FCED62E5-2EF5-4970-C84F-6FD64A08B74A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C4D8FB55-0633-004C-0992-04943E49B408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27F217FF-5947-FB55-B332-DBD23BA955B0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E4DB637-500A-5F26-8C21-D4A6EF7AEB31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BE23CA3C-A24D-44A2-E3A7-FDF3EE26F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92E0916E-831B-BE73-34D1-9FD049CE4B21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53ADE2F7-253F-4AB1-40A7-F16678178986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C4E648DF-63CC-9CB5-99A6-C34C1C213B09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0259750B-AD52-1DBD-C2E4-49236D4DBA10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F7125C2-4A3E-3375-5543-8770FF681192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7411DC85-F37C-E1B6-C56C-0F9917CBC231}"/>
              </a:ext>
            </a:extLst>
          </p:cNvPr>
          <p:cNvSpPr/>
          <p:nvPr/>
        </p:nvSpPr>
        <p:spPr>
          <a:xfrm>
            <a:off x="2667615" y="2808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8D188C16-29DD-79DC-87B9-CCA0959DFCF0}"/>
              </a:ext>
            </a:extLst>
          </p:cNvPr>
          <p:cNvSpPr/>
          <p:nvPr/>
        </p:nvSpPr>
        <p:spPr>
          <a:xfrm>
            <a:off x="2769010" y="2920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1F263E0-4D76-4899-E473-4BFD1754805C}"/>
              </a:ext>
            </a:extLst>
          </p:cNvPr>
          <p:cNvSpPr/>
          <p:nvPr/>
        </p:nvSpPr>
        <p:spPr>
          <a:xfrm>
            <a:off x="2874094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054ECCF5-4CD8-B61D-E6C1-847149CA1D15}"/>
              </a:ext>
            </a:extLst>
          </p:cNvPr>
          <p:cNvSpPr/>
          <p:nvPr/>
        </p:nvSpPr>
        <p:spPr>
          <a:xfrm>
            <a:off x="2975489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E6D0A88A-D9D2-4DFA-A96E-42B2046039A2}"/>
              </a:ext>
            </a:extLst>
          </p:cNvPr>
          <p:cNvSpPr/>
          <p:nvPr/>
        </p:nvSpPr>
        <p:spPr>
          <a:xfrm>
            <a:off x="3076884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50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15E7-500B-69FE-7BF2-D2D06F5E0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5A3335C-3545-E7B2-80B2-6F60B0A649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DD7BC73-9638-4CC5-C692-6EC15CADEC9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C5F514-0B2E-97F2-0EB2-60CED7A896AC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1FC0578-9E34-6DB9-6A83-B48B9D78623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B081B29-C474-C80F-91DB-FE063ED96EE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94E8250-00C1-BD38-EFE8-5D57A205D9A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45379A23-A6CB-688C-7E35-871C90F9C8A0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9925D029-2714-8010-FB58-4039E7525EE3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FBB125B8-5277-03E4-1816-FD1B9484E20C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2E914A5B-7FFE-0729-8392-4BC4943DA113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BD06E9E9-19D8-E810-4678-238218D442F0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8C04DBC8-EED7-9E70-E45F-02917975A38A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3BC1F3B-F3E3-DC9D-E48F-A82284DF9008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CB528946-E6DA-EB70-EF35-87659A420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4F64C70B-128A-D5A4-55F7-B63249ABEECB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4E0E6159-65DA-37B4-A827-11B2D0B87889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336195F5-DCEB-7BE5-4EF0-4649623D02F3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C63E3C73-7003-1373-5F13-83ED5A2B926C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C251FD94-71D3-167F-5B6B-16B5BCDF357B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43D2F3FC-BCDE-2FC3-F726-87C69E82A4B8}"/>
              </a:ext>
            </a:extLst>
          </p:cNvPr>
          <p:cNvSpPr/>
          <p:nvPr/>
        </p:nvSpPr>
        <p:spPr>
          <a:xfrm>
            <a:off x="3969660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70E9EE9-D00C-2C1D-66F9-D027FB972BA1}"/>
              </a:ext>
            </a:extLst>
          </p:cNvPr>
          <p:cNvSpPr/>
          <p:nvPr/>
        </p:nvSpPr>
        <p:spPr>
          <a:xfrm>
            <a:off x="5021254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7C428E69-12AF-2F94-DCC6-FEB91E8CD7D9}"/>
              </a:ext>
            </a:extLst>
          </p:cNvPr>
          <p:cNvSpPr/>
          <p:nvPr/>
        </p:nvSpPr>
        <p:spPr>
          <a:xfrm>
            <a:off x="6072849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F2A7931-7ECA-AAE9-D52E-40F057238F69}"/>
              </a:ext>
            </a:extLst>
          </p:cNvPr>
          <p:cNvSpPr/>
          <p:nvPr/>
        </p:nvSpPr>
        <p:spPr>
          <a:xfrm>
            <a:off x="4495457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DFA2E415-0522-7ED4-3168-63FFFC093549}"/>
              </a:ext>
            </a:extLst>
          </p:cNvPr>
          <p:cNvSpPr/>
          <p:nvPr/>
        </p:nvSpPr>
        <p:spPr>
          <a:xfrm>
            <a:off x="5547051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45882EFF-DBD6-A225-49DE-5BC679F2CF54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912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B57E-A961-232E-8848-57C1EF6A9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10B5C4F-1E43-D9B0-52D6-49E243BC4E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19307F-0BDB-C84C-04BC-0DB10C86786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CAD464-2B81-D6C1-2EA3-F7A704496948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3E4BBAE-0809-CCFB-FE9B-D6B11C82E35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91E864B-691A-F21D-5F74-7FA916A8B3A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C598618-732E-31FA-1D88-B89785D476D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05C9D2C4-354D-DD2B-DC70-F7EAFEEAD64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A5AC7D4F-D6BD-12F8-6169-11686A445D3C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25FDD969-7174-8128-736C-569E85364982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33C8E2A0-905E-E0A8-2C8A-B1996D7BAF08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6D3A83B6-38D5-0F20-D209-3DD77ED8980B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52043FDC-FB25-AE90-935A-14AB7574408C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FB1165BD-9878-C99C-C781-D78B9A2E4C17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31ECC121-EDC2-3494-0FB4-71200B8E7918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06D600E1-2728-98DB-63B1-CEA54FEEA4A7}"/>
              </a:ext>
            </a:extLst>
          </p:cNvPr>
          <p:cNvSpPr/>
          <p:nvPr/>
        </p:nvSpPr>
        <p:spPr>
          <a:xfrm>
            <a:off x="3968734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008464FB-7151-BF89-3D78-12DD0651A31E}"/>
              </a:ext>
            </a:extLst>
          </p:cNvPr>
          <p:cNvSpPr/>
          <p:nvPr/>
        </p:nvSpPr>
        <p:spPr>
          <a:xfrm>
            <a:off x="5029003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D3F2172C-3092-5F60-E56F-4BA295F08B9A}"/>
              </a:ext>
            </a:extLst>
          </p:cNvPr>
          <p:cNvSpPr/>
          <p:nvPr/>
        </p:nvSpPr>
        <p:spPr>
          <a:xfrm>
            <a:off x="6087947" y="3090372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A3E76453-0293-AC19-8C3E-9CFB1A616267}"/>
              </a:ext>
            </a:extLst>
          </p:cNvPr>
          <p:cNvSpPr/>
          <p:nvPr/>
        </p:nvSpPr>
        <p:spPr>
          <a:xfrm>
            <a:off x="4492517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C5F713F-E97A-DBE0-5783-309E756D7A5F}"/>
              </a:ext>
            </a:extLst>
          </p:cNvPr>
          <p:cNvSpPr/>
          <p:nvPr/>
        </p:nvSpPr>
        <p:spPr>
          <a:xfrm>
            <a:off x="5552491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C1453BC1-F4EE-F2C8-D1D0-4DB6FD5460DB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2600278-D2B0-211B-4EFD-1FAD3C8A6391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578FF880-C8ED-DB9E-518D-E3081C4A0600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906C416-0F1F-5B73-A029-209745EE09E8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12CCF2DA-1662-2FB0-447A-9935BF8E1DBF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672B06EA-C70F-D7B0-712F-53CB017BA06A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10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Niedrige</a:t>
            </a:r>
            <a:r>
              <a:rPr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 bis 6 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erhöhen</a:t>
            </a: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den 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ount</a:t>
            </a:r>
            <a:endParaRPr sz="100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Vom Running zum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Summe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aller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sichtbaren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Hi-Lo-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Werte</a:t>
            </a:r>
            <a:endParaRPr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 / verbleibende Decks</a:t>
            </a:r>
          </a:p>
        </p:txBody>
      </p:sp>
      <p:sp>
        <p:nvSpPr>
          <p:cNvPr id="36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6035040" y="109964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6035040" y="119108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−1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6035040" y="181287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Hohe Karten</a:t>
            </a: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6144768" y="2105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10, Bildkarten und Asse senken den Count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Baseline: 280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346465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113,680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2" name="!!11">
            <a:extLst>
              <a:ext uri="{FF2B5EF4-FFF2-40B4-BE49-F238E27FC236}">
                <a16:creationId xmlns:a16="http://schemas.microsoft.com/office/drawing/2014/main" id="{C9672C62-6316-9771-F1D8-F54A20BB2587}"/>
              </a:ext>
            </a:extLst>
          </p:cNvPr>
          <p:cNvSpPr/>
          <p:nvPr/>
        </p:nvSpPr>
        <p:spPr>
          <a:xfrm>
            <a:off x="380139" y="2328543"/>
            <a:ext cx="8383724" cy="1088951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1D101-425F-90D8-52EC-03049EEB7A4E}"/>
              </a:ext>
            </a:extLst>
          </p:cNvPr>
          <p:cNvSpPr/>
          <p:nvPr/>
        </p:nvSpPr>
        <p:spPr>
          <a:xfrm>
            <a:off x="380139" y="2444615"/>
            <a:ext cx="8383724" cy="386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Bellman Update-</a:t>
            </a:r>
            <a:r>
              <a:rPr lang="en-US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Gleichung</a:t>
            </a:r>
            <a:endParaRPr lang="en-US" sz="2000" b="1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DBD9949-C6D0-ECD6-AE10-C7EF96539D04}"/>
              </a:ext>
            </a:extLst>
          </p:cNvPr>
          <p:cNvSpPr/>
          <p:nvPr/>
        </p:nvSpPr>
        <p:spPr>
          <a:xfrm>
            <a:off x="380139" y="2801894"/>
            <a:ext cx="8383724" cy="61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←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+ α · [ r + γ · max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s',a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') −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]</a:t>
            </a:r>
            <a:endParaRPr lang="en-US" sz="1400" spc="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!!11">
            <a:extLst>
              <a:ext uri="{FF2B5EF4-FFF2-40B4-BE49-F238E27FC236}">
                <a16:creationId xmlns:a16="http://schemas.microsoft.com/office/drawing/2014/main" id="{76C1680F-89A5-C71F-FFA4-EEA1548D80EA}"/>
              </a:ext>
            </a:extLst>
          </p:cNvPr>
          <p:cNvSpPr/>
          <p:nvPr/>
        </p:nvSpPr>
        <p:spPr>
          <a:xfrm>
            <a:off x="380138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5F80E762-E91E-94E4-0650-D2E26A49C89B}"/>
              </a:ext>
            </a:extLst>
          </p:cNvPr>
          <p:cNvSpPr/>
          <p:nvPr/>
        </p:nvSpPr>
        <p:spPr>
          <a:xfrm>
            <a:off x="380138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α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C06C0C33-C44A-8094-5DCE-B3AD9E7A12E5}"/>
              </a:ext>
            </a:extLst>
          </p:cNvPr>
          <p:cNvSpPr/>
          <p:nvPr/>
        </p:nvSpPr>
        <p:spPr>
          <a:xfrm>
            <a:off x="380138" y="4071612"/>
            <a:ext cx="1735979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0.01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05AF582-F406-C2FA-04AA-ADA3410564B3}"/>
              </a:ext>
            </a:extLst>
          </p:cNvPr>
          <p:cNvSpPr/>
          <p:nvPr/>
        </p:nvSpPr>
        <p:spPr>
          <a:xfrm>
            <a:off x="380138" y="432256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Learning Rate</a:t>
            </a: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FA16E2E-5CDB-04EE-9482-6803F9287DEC}"/>
              </a:ext>
            </a:extLst>
          </p:cNvPr>
          <p:cNvSpPr/>
          <p:nvPr/>
        </p:nvSpPr>
        <p:spPr>
          <a:xfrm>
            <a:off x="380138" y="45193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Schrittweite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Updates</a:t>
            </a:r>
            <a:endParaRPr lang="en-US" sz="8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F1803012-E686-F49B-E45F-856B7EEE151B}"/>
              </a:ext>
            </a:extLst>
          </p:cNvPr>
          <p:cNvSpPr/>
          <p:nvPr/>
        </p:nvSpPr>
        <p:spPr>
          <a:xfrm>
            <a:off x="4217389" y="3652432"/>
            <a:ext cx="4542838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489C219A-95C9-CE10-66A5-A0099FC5B31C}"/>
              </a:ext>
            </a:extLst>
          </p:cNvPr>
          <p:cNvSpPr/>
          <p:nvPr/>
        </p:nvSpPr>
        <p:spPr>
          <a:xfrm>
            <a:off x="4217390" y="3717092"/>
            <a:ext cx="4603344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ε</a:t>
            </a:r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2B2AAC53-0EF0-6A0E-E1F8-06F7F18DA57C}"/>
              </a:ext>
            </a:extLst>
          </p:cNvPr>
          <p:cNvSpPr/>
          <p:nvPr/>
        </p:nvSpPr>
        <p:spPr>
          <a:xfrm>
            <a:off x="5749378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0.90</a:t>
            </a: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F588953-04E4-30AA-7CFC-DA26AEA2F7ED}"/>
              </a:ext>
            </a:extLst>
          </p:cNvPr>
          <p:cNvSpPr/>
          <p:nvPr/>
        </p:nvSpPr>
        <p:spPr>
          <a:xfrm>
            <a:off x="5749378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Decay</a:t>
            </a:r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8854A8C1-7E4E-59CB-E51D-F7FD449B9D3A}"/>
              </a:ext>
            </a:extLst>
          </p:cNvPr>
          <p:cNvSpPr/>
          <p:nvPr/>
        </p:nvSpPr>
        <p:spPr>
          <a:xfrm>
            <a:off x="5749378" y="45193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Langsame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schrittweise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Reduktion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!!11">
            <a:extLst>
              <a:ext uri="{FF2B5EF4-FFF2-40B4-BE49-F238E27FC236}">
                <a16:creationId xmlns:a16="http://schemas.microsoft.com/office/drawing/2014/main" id="{C9BFDF2B-F0B1-37DD-8D06-801B3112C732}"/>
              </a:ext>
            </a:extLst>
          </p:cNvPr>
          <p:cNvSpPr/>
          <p:nvPr/>
        </p:nvSpPr>
        <p:spPr>
          <a:xfrm>
            <a:off x="380138" y="1112834"/>
            <a:ext cx="8383724" cy="97442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31E1A0A1-B087-5D45-B453-6950FFE956C3}"/>
              </a:ext>
            </a:extLst>
          </p:cNvPr>
          <p:cNvSpPr/>
          <p:nvPr/>
        </p:nvSpPr>
        <p:spPr>
          <a:xfrm>
            <a:off x="380138" y="1225439"/>
            <a:ext cx="8383723" cy="36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Algorithmus</a:t>
            </a:r>
            <a:r>
              <a:rPr lang="en-GB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Q-Learning (Off-Policy TD Learning)</a:t>
            </a: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B702398D-09FA-991C-766C-B81608669720}"/>
              </a:ext>
            </a:extLst>
          </p:cNvPr>
          <p:cNvSpPr/>
          <p:nvPr/>
        </p:nvSpPr>
        <p:spPr>
          <a:xfrm>
            <a:off x="380139" y="1590685"/>
            <a:ext cx="83837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Bewährt für diskrete Action Spaces · Interpretierbar · Kein </a:t>
            </a:r>
            <a:r>
              <a:rPr lang="de-DE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Neural</a:t>
            </a: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 Network erforderlich</a:t>
            </a:r>
          </a:p>
        </p:txBody>
      </p:sp>
      <p:sp>
        <p:nvSpPr>
          <p:cNvPr id="44" name="!!11">
            <a:extLst>
              <a:ext uri="{FF2B5EF4-FFF2-40B4-BE49-F238E27FC236}">
                <a16:creationId xmlns:a16="http://schemas.microsoft.com/office/drawing/2014/main" id="{ED5BFF46-C423-7850-A649-C3C16EE46426}"/>
              </a:ext>
            </a:extLst>
          </p:cNvPr>
          <p:cNvSpPr/>
          <p:nvPr/>
        </p:nvSpPr>
        <p:spPr>
          <a:xfrm>
            <a:off x="2319826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72C6A2B9-0343-66AF-4E24-7BA9B8CB346F}"/>
              </a:ext>
            </a:extLst>
          </p:cNvPr>
          <p:cNvSpPr/>
          <p:nvPr/>
        </p:nvSpPr>
        <p:spPr>
          <a:xfrm>
            <a:off x="2319826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γ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C63F1E1B-957F-1F09-5289-D7A356708F09}"/>
              </a:ext>
            </a:extLst>
          </p:cNvPr>
          <p:cNvSpPr/>
          <p:nvPr/>
        </p:nvSpPr>
        <p:spPr>
          <a:xfrm>
            <a:off x="2319826" y="4071612"/>
            <a:ext cx="1735979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0.99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A609EA1-BB05-07FD-53C7-883F03BB4757}"/>
              </a:ext>
            </a:extLst>
          </p:cNvPr>
          <p:cNvSpPr/>
          <p:nvPr/>
        </p:nvSpPr>
        <p:spPr>
          <a:xfrm>
            <a:off x="2319826" y="432256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Discount Factor</a:t>
            </a:r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E705EB27-B13C-E57B-4CA2-23B3B039BEE6}"/>
              </a:ext>
            </a:extLst>
          </p:cNvPr>
          <p:cNvSpPr/>
          <p:nvPr/>
        </p:nvSpPr>
        <p:spPr>
          <a:xfrm>
            <a:off x="2319826" y="45193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Gewichtung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zukünftiger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Rewards</a:t>
            </a:r>
          </a:p>
        </p:txBody>
      </p:sp>
      <p:sp>
        <p:nvSpPr>
          <p:cNvPr id="57" name="Text 16">
            <a:extLst>
              <a:ext uri="{FF2B5EF4-FFF2-40B4-BE49-F238E27FC236}">
                <a16:creationId xmlns:a16="http://schemas.microsoft.com/office/drawing/2014/main" id="{B4BC0E0F-1A87-3D1E-416E-F3333560B39A}"/>
              </a:ext>
            </a:extLst>
          </p:cNvPr>
          <p:cNvSpPr/>
          <p:nvPr/>
        </p:nvSpPr>
        <p:spPr>
          <a:xfrm>
            <a:off x="4217389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1.0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851CC3BD-78CA-4C3A-6B19-CEFE034D15A4}"/>
              </a:ext>
            </a:extLst>
          </p:cNvPr>
          <p:cNvSpPr/>
          <p:nvPr/>
        </p:nvSpPr>
        <p:spPr>
          <a:xfrm>
            <a:off x="4217389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Initial</a:t>
            </a:r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A51134CE-4C7A-27DC-8259-D74EBDAD306D}"/>
              </a:ext>
            </a:extLst>
          </p:cNvPr>
          <p:cNvSpPr/>
          <p:nvPr/>
        </p:nvSpPr>
        <p:spPr>
          <a:xfrm>
            <a:off x="4217389" y="45193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Vollständige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Beginn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16">
            <a:extLst>
              <a:ext uri="{FF2B5EF4-FFF2-40B4-BE49-F238E27FC236}">
                <a16:creationId xmlns:a16="http://schemas.microsoft.com/office/drawing/2014/main" id="{DB04C67A-4018-7249-1459-117D55251D93}"/>
              </a:ext>
            </a:extLst>
          </p:cNvPr>
          <p:cNvSpPr/>
          <p:nvPr/>
        </p:nvSpPr>
        <p:spPr>
          <a:xfrm>
            <a:off x="7215008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0.10</a:t>
            </a:r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005A937C-2727-8039-7102-BCD7D09B3B81}"/>
              </a:ext>
            </a:extLst>
          </p:cNvPr>
          <p:cNvSpPr/>
          <p:nvPr/>
        </p:nvSpPr>
        <p:spPr>
          <a:xfrm>
            <a:off x="7215008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</a:t>
            </a:r>
          </a:p>
        </p:txBody>
      </p:sp>
      <p:sp>
        <p:nvSpPr>
          <p:cNvPr id="62" name="Text 18">
            <a:extLst>
              <a:ext uri="{FF2B5EF4-FFF2-40B4-BE49-F238E27FC236}">
                <a16:creationId xmlns:a16="http://schemas.microsoft.com/office/drawing/2014/main" id="{09D50986-EBDF-21A3-D6BE-D4ABA8E65B10}"/>
              </a:ext>
            </a:extLst>
          </p:cNvPr>
          <p:cNvSpPr/>
          <p:nvPr/>
        </p:nvSpPr>
        <p:spPr>
          <a:xfrm>
            <a:off x="7285703" y="4519365"/>
            <a:ext cx="1397978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Residuale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am Ende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im Training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F2857-1A9D-F776-F3CA-DA5C99D16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2F6C3E1-72CA-5369-D708-C34C0753CAA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11C77BD-80FD-3B97-7DD9-CF1CA3D49C6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35A4D4-572A-6845-08F0-343E6382A4D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Wachstum der Q-Tabelle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891C319-F439-9209-3864-519EFFBD129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64CEBA3-D8CE-A127-0F70-0CECB2BE757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04124A9-ACA4-C83F-0FBD-8E3DE9B0403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988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A322-D9CC-AE77-2B7F-13FF900DA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A2682-9688-85B9-14C0-76331F5C564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E0BEACC-3AFA-0B5C-D274-EAE7AB90E09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EE4AD1-72F4-04D4-47E6-C61CA5D5A33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3CEAE19-72DB-F3D1-49E7-E671D6E3D62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72C1FBF-793B-64FA-BBA0-2BBC2966000A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2115B67-CFCB-E4B2-CDAE-ED1C6CD7D16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8482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 Leitfragen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Schritte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923</Words>
  <Application>Microsoft Office PowerPoint</Application>
  <PresentationFormat>Bildschirmpräsentation (16:9)</PresentationFormat>
  <Paragraphs>249</Paragraphs>
  <Slides>28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Tom Markmann</cp:lastModifiedBy>
  <cp:revision>50</cp:revision>
  <dcterms:created xsi:type="dcterms:W3CDTF">2026-06-10T08:25:46Z</dcterms:created>
  <dcterms:modified xsi:type="dcterms:W3CDTF">2026-06-14T08:34:11Z</dcterms:modified>
</cp:coreProperties>
</file>