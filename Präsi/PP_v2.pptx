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316" r:id="rId3"/>
    <p:sldId id="289" r:id="rId4"/>
    <p:sldId id="321" r:id="rId5"/>
    <p:sldId id="315" r:id="rId6"/>
    <p:sldId id="317" r:id="rId7"/>
    <p:sldId id="320" r:id="rId8"/>
    <p:sldId id="318" r:id="rId9"/>
    <p:sldId id="291" r:id="rId10"/>
    <p:sldId id="322" r:id="rId11"/>
    <p:sldId id="332" r:id="rId12"/>
    <p:sldId id="323" r:id="rId13"/>
    <p:sldId id="333" r:id="rId14"/>
    <p:sldId id="334" r:id="rId15"/>
    <p:sldId id="335" r:id="rId16"/>
    <p:sldId id="336" r:id="rId17"/>
    <p:sldId id="290" r:id="rId18"/>
    <p:sldId id="327" r:id="rId19"/>
    <p:sldId id="328" r:id="rId20"/>
    <p:sldId id="337" r:id="rId21"/>
    <p:sldId id="338" r:id="rId22"/>
    <p:sldId id="339" r:id="rId23"/>
    <p:sldId id="340" r:id="rId24"/>
    <p:sldId id="341" r:id="rId25"/>
    <p:sldId id="342" r:id="rId2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inleitung" id="{536FACCD-4653-4BA5-8DF7-2232DEB13E83}">
          <p14:sldIdLst>
            <p14:sldId id="256"/>
            <p14:sldId id="316"/>
          </p14:sldIdLst>
        </p14:section>
        <p14:section name="1 Motivation &amp; Theorie" id="{3EBA12E5-41B4-428E-8C09-1FD8D4D08F43}">
          <p14:sldIdLst>
            <p14:sldId id="289"/>
            <p14:sldId id="321"/>
            <p14:sldId id="315"/>
            <p14:sldId id="317"/>
            <p14:sldId id="320"/>
            <p14:sldId id="318"/>
          </p14:sldIdLst>
        </p14:section>
        <p14:section name="2 Methodik &amp; Technik" id="{4A5FD6B1-3FE2-451E-99BA-10FC68385627}">
          <p14:sldIdLst>
            <p14:sldId id="291"/>
            <p14:sldId id="322"/>
            <p14:sldId id="332"/>
            <p14:sldId id="323"/>
            <p14:sldId id="333"/>
            <p14:sldId id="334"/>
            <p14:sldId id="335"/>
            <p14:sldId id="336"/>
          </p14:sldIdLst>
        </p14:section>
        <p14:section name="3 Ergebnisse &amp; Fazit" id="{E0CB15F2-38AF-408A-9FCD-CDD7179D5C5A}">
          <p14:sldIdLst>
            <p14:sldId id="290"/>
            <p14:sldId id="327"/>
            <p14:sldId id="328"/>
            <p14:sldId id="337"/>
            <p14:sldId id="338"/>
            <p14:sldId id="339"/>
            <p14:sldId id="340"/>
            <p14:sldId id="341"/>
            <p14:sldId id="34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F172A"/>
    <a:srgbClr val="FFFFFF"/>
    <a:srgbClr val="0D9488"/>
    <a:srgbClr val="5EEAD4"/>
    <a:srgbClr val="10B98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353" autoAdjust="0"/>
    <p:restoredTop sz="87131" autoAdjust="0"/>
  </p:normalViewPr>
  <p:slideViewPr>
    <p:cSldViewPr snapToGrid="0" snapToObjects="1">
      <p:cViewPr>
        <p:scale>
          <a:sx n="125" d="100"/>
          <a:sy n="125" d="100"/>
        </p:scale>
        <p:origin x="1152" y="192"/>
      </p:cViewPr>
      <p:guideLst/>
    </p:cSldViewPr>
  </p:slideViewPr>
  <p:outlineViewPr>
    <p:cViewPr>
      <p:scale>
        <a:sx n="20" d="100"/>
        <a:sy n="20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972221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8D44B6-DFF6-643A-3D09-AF1BB2DDB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8E2DE3-EBCE-F7AD-AA22-77FD28A884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458D3D-CCCD-1FF8-1236-A6D6794E47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2C9A4F-8A97-87AD-6CBA-12CB75227A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68707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 MDP benötigt Zustände, Aktionen, Übergänge und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Rewards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Der Agent kennt keine zukünftigen Karten und lernt ausschließlich aus simulierten Runden.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736592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 Episode entspricht genau einer Runde. Der finale Ausgang wird über das Q-Update auf vorherige Entscheidungen zurückgeführt. Der 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Reward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bildet kein Einsatzmanagement ab.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223132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Der Schlitten bleibt über mehrere Episoden bestehen. Deshalb hängt die nächste Kartenwahrscheinlichkeit von bereits gespielten Karten ab. Für die Baseline ist dieser Unterschied unsichtbar.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891547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Der Running Count verdichtet die sichtbare Kartenhistorie. Der True Count setzt diese Summe ins Verhältnis zum verbleibenden Schlitten. Beide Werte sind Näherungen und kein vollständiger Zustand.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254178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Umgebung isoliert Hit-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-Stand-Entscheidungen. Sie ist für den Modellvergleich geeignet, aber keine vollständige Casino-Simulation.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191132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F7FDAD-1419-9C8A-E8FC-12E377692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C0B8C2-6460-724A-47F6-AA0E61856A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07C3C1-502E-1A1D-7C09-3C94C9753F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FAFD66-D298-888F-06F2-2A228A7ED88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685833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kleine Tabelle wird schnell vollständig besucht. Zustände wiederholen sich häufig und ihre Q-Werte werden entsprechend oft aktualisiert.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2549695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 Kontext erzeugt viele seltene Kombinationen. Running Count, True Count und Deck-</a:t>
            </a:r>
            <a:r>
              <a:rPr lang="de-D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Bucket</a:t>
            </a:r>
            <a:r>
              <a:rPr lang="de-D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sind zudem teilweise redundant.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105017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45CE78-9B96-2AF7-00D6-98BBF2F11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18F951-9773-8F93-CE19-32A5C066FB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54ED93-00F8-DC1C-6D96-56D05A6CA7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26D9E7-8D0D-BAB8-53D4-11868FE3A8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22826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8D9F3DC-F7F6-5694-B924-1E4E2DEB40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9A811-E436-43CE-BA75-4E2174801D49}" type="datetimeFigureOut">
              <a:rPr lang="en-GB" smtClean="0"/>
              <a:t>13/06/2026</a:t>
            </a:fld>
            <a:endParaRPr lang="en-GB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E57A03BC-0C7D-F9E4-7B2F-E2BA1B2B6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7925C47-55AD-9530-055B-6E2D84B051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83BAD-F72E-40C1-8986-E2F00D6EF422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14134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589BF7D4-72AF-2001-39A9-03B7DC731C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4638"/>
            <a:ext cx="7886700" cy="9937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dirty="0"/>
              <a:t>Mastertitelformat bearbeiten</a:t>
            </a:r>
            <a:endParaRPr lang="en-GB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6AFFD29-E3E9-762B-CE46-FC1A086B35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137319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A171FE-A770-41BE-BA6E-8393C1639340}" type="slidenum">
              <a:rPr lang="en-GB" smtClean="0"/>
              <a:t>‹Nr.›</a:t>
            </a:fld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C8A818B2-C3A5-B80D-DA75-B1318A3367F8}"/>
              </a:ext>
            </a:extLst>
          </p:cNvPr>
          <p:cNvGrpSpPr/>
          <p:nvPr/>
        </p:nvGrpSpPr>
        <p:grpSpPr>
          <a:xfrm>
            <a:off x="6217920" y="-1097280"/>
            <a:ext cx="5029200" cy="5029200"/>
            <a:chOff x="6217920" y="-1097280"/>
            <a:chExt cx="5029200" cy="5029200"/>
          </a:xfrm>
        </p:grpSpPr>
        <p:sp>
          <p:nvSpPr>
            <p:cNvPr id="3" name="Shape 1"/>
            <p:cNvSpPr/>
            <p:nvPr/>
          </p:nvSpPr>
          <p:spPr>
            <a:xfrm>
              <a:off x="6217920" y="-1097280"/>
              <a:ext cx="5029200" cy="5029200"/>
            </a:xfrm>
            <a:prstGeom prst="ellipse">
              <a:avLst/>
            </a:prstGeom>
            <a:solidFill>
              <a:srgbClr val="14B8A6">
                <a:alpha val="12000"/>
              </a:srgbClr>
            </a:solidFill>
            <a:ln w="12700">
              <a:solidFill>
                <a:srgbClr val="0D9488">
                  <a:alpha val="30000"/>
                </a:srgbClr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4" name="Shape 2"/>
            <p:cNvSpPr/>
            <p:nvPr/>
          </p:nvSpPr>
          <p:spPr>
            <a:xfrm>
              <a:off x="6766560" y="-548640"/>
              <a:ext cx="3474720" cy="3474720"/>
            </a:xfrm>
            <a:prstGeom prst="ellipse">
              <a:avLst/>
            </a:prstGeom>
            <a:solidFill>
              <a:srgbClr val="14B8A6">
                <a:alpha val="18000"/>
              </a:srgbClr>
            </a:solidFill>
            <a:ln w="12700">
              <a:solidFill>
                <a:srgbClr val="0D9488">
                  <a:alpha val="40000"/>
                </a:srgbClr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FBCF9396-4B3A-1777-E4F2-DC8C0EFFB817}"/>
              </a:ext>
            </a:extLst>
          </p:cNvPr>
          <p:cNvGrpSpPr/>
          <p:nvPr/>
        </p:nvGrpSpPr>
        <p:grpSpPr>
          <a:xfrm>
            <a:off x="548640" y="1005840"/>
            <a:ext cx="2926080" cy="347472"/>
            <a:chOff x="548640" y="1005840"/>
            <a:chExt cx="2926080" cy="347472"/>
          </a:xfrm>
        </p:grpSpPr>
        <p:sp>
          <p:nvSpPr>
            <p:cNvPr id="5" name="Shape 3"/>
            <p:cNvSpPr/>
            <p:nvPr/>
          </p:nvSpPr>
          <p:spPr>
            <a:xfrm>
              <a:off x="548640" y="1005840"/>
              <a:ext cx="2926080" cy="347472"/>
            </a:xfrm>
            <a:prstGeom prst="roundRect">
              <a:avLst>
                <a:gd name="adj" fmla="val 21053"/>
              </a:avLst>
            </a:prstGeom>
            <a:solidFill>
              <a:srgbClr val="0D9488">
                <a:alpha val="85000"/>
              </a:srgbClr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6" name="Text 4"/>
            <p:cNvSpPr/>
            <p:nvPr/>
          </p:nvSpPr>
          <p:spPr>
            <a:xfrm>
              <a:off x="548640" y="1005840"/>
              <a:ext cx="292608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900" b="1" dirty="0" err="1">
                  <a:solidFill>
                    <a:srgbClr val="FFFFFF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Berufliche</a:t>
              </a:r>
              <a:r>
                <a:rPr lang="en-US" sz="900" b="1" dirty="0">
                  <a:solidFill>
                    <a:srgbClr val="FFFFFF"/>
                  </a:solidFill>
                  <a:latin typeface="Cambria" panose="02040503050406030204" pitchFamily="18" charset="0"/>
                  <a:ea typeface="Cambria" panose="02040503050406030204" pitchFamily="18" charset="0"/>
                </a:rPr>
                <a:t> Hochschule Hamburg · Machine Learning</a:t>
              </a:r>
              <a:endParaRPr lang="en-US" sz="900" dirty="0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</p:grpSp>
      <p:sp>
        <p:nvSpPr>
          <p:cNvPr id="7" name="Text 5"/>
          <p:cNvSpPr/>
          <p:nvPr/>
        </p:nvSpPr>
        <p:spPr>
          <a:xfrm>
            <a:off x="548640" y="1572768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GB" sz="4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Evaluation von Q-Learning-</a:t>
            </a:r>
            <a:r>
              <a:rPr lang="en-GB" sz="4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Agenten</a:t>
            </a:r>
            <a:r>
              <a:rPr lang="en-GB" sz="4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in Blackjack</a:t>
            </a:r>
            <a:endParaRPr lang="en-US" sz="46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002FD12B-9FF9-A621-05B6-00EB51A9F880}"/>
              </a:ext>
            </a:extLst>
          </p:cNvPr>
          <p:cNvGrpSpPr/>
          <p:nvPr/>
        </p:nvGrpSpPr>
        <p:grpSpPr>
          <a:xfrm>
            <a:off x="548640" y="3200400"/>
            <a:ext cx="5486400" cy="612648"/>
            <a:chOff x="548640" y="3200400"/>
            <a:chExt cx="5486400" cy="612648"/>
          </a:xfrm>
        </p:grpSpPr>
        <p:sp>
          <p:nvSpPr>
            <p:cNvPr id="9" name="Shape 7"/>
            <p:cNvSpPr/>
            <p:nvPr/>
          </p:nvSpPr>
          <p:spPr>
            <a:xfrm>
              <a:off x="548640" y="3200400"/>
              <a:ext cx="2194560" cy="36576"/>
            </a:xfrm>
            <a:prstGeom prst="rect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10" name="Text 8"/>
            <p:cNvSpPr/>
            <p:nvPr/>
          </p:nvSpPr>
          <p:spPr>
            <a:xfrm>
              <a:off x="548640" y="3401568"/>
              <a:ext cx="5486400" cy="4114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fld id="{9DC2D139-71C2-4058-9E3F-69A18641E6F6}" type="datetime4">
                <a:rPr lang="de-DE" sz="1600" smtClean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13. Juni 2026</a:t>
              </a:fld>
              <a:endParaRPr lang="en-US" sz="16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endParaRPr>
            </a:p>
            <a:p>
              <a:pPr marL="0" indent="0" algn="l">
                <a:buNone/>
              </a:pPr>
              <a:r>
                <a:rPr lang="en-US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Arvid Freese · Linus Paliga · Tom Markmann</a:t>
              </a:r>
              <a:endParaRPr lang="en-US" sz="1600" dirty="0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912098-1EFD-3D0A-FD3F-5CE33EE16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B71ABA53-18A8-E2FB-1649-6DA25BA92797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CB7DD163-71C7-501B-EEDE-1E8ECFEB9F1D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755B9E8-F40A-73FF-E71A-F94649B82C7F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Agenda</a:t>
            </a:r>
            <a:endParaRPr lang="en-US" sz="26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" name="!!8">
            <a:extLst>
              <a:ext uri="{FF2B5EF4-FFF2-40B4-BE49-F238E27FC236}">
                <a16:creationId xmlns:a16="http://schemas.microsoft.com/office/drawing/2014/main" id="{123F59CE-9B50-4F45-AA4C-AEBA3F2FAF8C}"/>
              </a:ext>
            </a:extLst>
          </p:cNvPr>
          <p:cNvSpPr/>
          <p:nvPr/>
        </p:nvSpPr>
        <p:spPr>
          <a:xfrm>
            <a:off x="6035040" y="109728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28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Ergebnisse</a:t>
            </a:r>
            <a:endParaRPr lang="en-US" sz="28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ctr"/>
            <a:r>
              <a:rPr lang="en-US" sz="28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&amp; </a:t>
            </a:r>
            <a:r>
              <a:rPr lang="en-US" sz="28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Fazit</a:t>
            </a:r>
            <a:endParaRPr lang="en-US" sz="28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!!8">
            <a:extLst>
              <a:ext uri="{FF2B5EF4-FFF2-40B4-BE49-F238E27FC236}">
                <a16:creationId xmlns:a16="http://schemas.microsoft.com/office/drawing/2014/main" id="{0041BA2D-FEE2-322A-F35E-39E4BC197E0A}"/>
              </a:ext>
            </a:extLst>
          </p:cNvPr>
          <p:cNvSpPr/>
          <p:nvPr/>
        </p:nvSpPr>
        <p:spPr>
          <a:xfrm>
            <a:off x="3200400" y="109728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28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Methodik</a:t>
            </a:r>
            <a:endParaRPr lang="en-US" sz="28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ctr"/>
            <a:r>
              <a:rPr lang="en-US" sz="28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&amp; Technik</a:t>
            </a:r>
          </a:p>
        </p:txBody>
      </p:sp>
      <p:sp>
        <p:nvSpPr>
          <p:cNvPr id="10" name="!!8">
            <a:extLst>
              <a:ext uri="{FF2B5EF4-FFF2-40B4-BE49-F238E27FC236}">
                <a16:creationId xmlns:a16="http://schemas.microsoft.com/office/drawing/2014/main" id="{624EF8BD-5123-B14E-9611-6D4C02A55287}"/>
              </a:ext>
            </a:extLst>
          </p:cNvPr>
          <p:cNvSpPr/>
          <p:nvPr/>
        </p:nvSpPr>
        <p:spPr>
          <a:xfrm>
            <a:off x="365760" y="109728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28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Motivation</a:t>
            </a:r>
          </a:p>
          <a:p>
            <a:pPr algn="ctr"/>
            <a:r>
              <a:rPr lang="en-US" sz="28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&amp; </a:t>
            </a:r>
            <a:r>
              <a:rPr lang="en-US" sz="28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Theorie</a:t>
            </a:r>
            <a:endParaRPr lang="en-US" sz="28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" name="!!6">
            <a:extLst>
              <a:ext uri="{FF2B5EF4-FFF2-40B4-BE49-F238E27FC236}">
                <a16:creationId xmlns:a16="http://schemas.microsoft.com/office/drawing/2014/main" id="{F1F2025E-865D-F611-F616-5C9AC7A1B6B2}"/>
              </a:ext>
            </a:extLst>
          </p:cNvPr>
          <p:cNvSpPr/>
          <p:nvPr/>
        </p:nvSpPr>
        <p:spPr>
          <a:xfrm>
            <a:off x="365760" y="2868930"/>
            <a:ext cx="2606040" cy="200025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Text 20">
            <a:extLst>
              <a:ext uri="{FF2B5EF4-FFF2-40B4-BE49-F238E27FC236}">
                <a16:creationId xmlns:a16="http://schemas.microsoft.com/office/drawing/2014/main" id="{403875D2-EE7E-FF3D-5E0D-9C28781EA13F}"/>
              </a:ext>
            </a:extLst>
          </p:cNvPr>
          <p:cNvSpPr/>
          <p:nvPr/>
        </p:nvSpPr>
        <p:spPr>
          <a:xfrm>
            <a:off x="1005838" y="3126105"/>
            <a:ext cx="1828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Blackjack </a:t>
            </a:r>
            <a:r>
              <a:rPr lang="en-US" sz="1100" b="1" dirty="0" err="1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als</a:t>
            </a:r>
            <a:r>
              <a:rPr lang="en-US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sz="1100" b="1" dirty="0" err="1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Entscheidungsproblem</a:t>
            </a:r>
            <a:endParaRPr lang="en-US" sz="1100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3" name="Text 20">
            <a:extLst>
              <a:ext uri="{FF2B5EF4-FFF2-40B4-BE49-F238E27FC236}">
                <a16:creationId xmlns:a16="http://schemas.microsoft.com/office/drawing/2014/main" id="{FE80A8B2-292A-3956-7839-F936C453DCE2}"/>
              </a:ext>
            </a:extLst>
          </p:cNvPr>
          <p:cNvSpPr/>
          <p:nvPr/>
        </p:nvSpPr>
        <p:spPr>
          <a:xfrm>
            <a:off x="1005838" y="3686175"/>
            <a:ext cx="1828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Kartenzählen als Zusatzinformation</a:t>
            </a:r>
            <a:endParaRPr lang="en-US" sz="1100" b="1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4" name="Text 20">
            <a:extLst>
              <a:ext uri="{FF2B5EF4-FFF2-40B4-BE49-F238E27FC236}">
                <a16:creationId xmlns:a16="http://schemas.microsoft.com/office/drawing/2014/main" id="{DD96DEBF-40BE-A114-1224-7532DF9562D7}"/>
              </a:ext>
            </a:extLst>
          </p:cNvPr>
          <p:cNvSpPr/>
          <p:nvPr/>
        </p:nvSpPr>
        <p:spPr>
          <a:xfrm>
            <a:off x="1005838" y="4300728"/>
            <a:ext cx="1828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Forschungsrahmen und Grenzen</a:t>
            </a:r>
            <a:endParaRPr lang="en-US" sz="1100" b="1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D04B4ED9-FA69-6E43-9429-276CA33FAFD5}"/>
              </a:ext>
            </a:extLst>
          </p:cNvPr>
          <p:cNvSpPr/>
          <p:nvPr/>
        </p:nvSpPr>
        <p:spPr>
          <a:xfrm>
            <a:off x="502919" y="4300728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4" name="!!6">
            <a:extLst>
              <a:ext uri="{FF2B5EF4-FFF2-40B4-BE49-F238E27FC236}">
                <a16:creationId xmlns:a16="http://schemas.microsoft.com/office/drawing/2014/main" id="{9815779C-099E-C1A4-59D2-2995A6A89F14}"/>
              </a:ext>
            </a:extLst>
          </p:cNvPr>
          <p:cNvSpPr/>
          <p:nvPr/>
        </p:nvSpPr>
        <p:spPr>
          <a:xfrm>
            <a:off x="3200400" y="2868930"/>
            <a:ext cx="2606040" cy="200025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7" name="!!6">
            <a:extLst>
              <a:ext uri="{FF2B5EF4-FFF2-40B4-BE49-F238E27FC236}">
                <a16:creationId xmlns:a16="http://schemas.microsoft.com/office/drawing/2014/main" id="{BAFFB33E-7D2C-789E-5563-BFB8F4D19AEA}"/>
              </a:ext>
            </a:extLst>
          </p:cNvPr>
          <p:cNvSpPr/>
          <p:nvPr/>
        </p:nvSpPr>
        <p:spPr>
          <a:xfrm>
            <a:off x="6035040" y="2868930"/>
            <a:ext cx="2606040" cy="200025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" name="Shape 16">
            <a:extLst>
              <a:ext uri="{FF2B5EF4-FFF2-40B4-BE49-F238E27FC236}">
                <a16:creationId xmlns:a16="http://schemas.microsoft.com/office/drawing/2014/main" id="{ED7900E1-FC8A-8015-BB74-6FF1101F035D}"/>
              </a:ext>
            </a:extLst>
          </p:cNvPr>
          <p:cNvSpPr/>
          <p:nvPr/>
        </p:nvSpPr>
        <p:spPr>
          <a:xfrm>
            <a:off x="502919" y="3686175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" name="Shape 16">
            <a:extLst>
              <a:ext uri="{FF2B5EF4-FFF2-40B4-BE49-F238E27FC236}">
                <a16:creationId xmlns:a16="http://schemas.microsoft.com/office/drawing/2014/main" id="{CA4361FC-9E6F-227D-424A-D81505ED1E23}"/>
              </a:ext>
            </a:extLst>
          </p:cNvPr>
          <p:cNvSpPr/>
          <p:nvPr/>
        </p:nvSpPr>
        <p:spPr>
          <a:xfrm>
            <a:off x="502919" y="3126105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" name="Shape 16">
            <a:extLst>
              <a:ext uri="{FF2B5EF4-FFF2-40B4-BE49-F238E27FC236}">
                <a16:creationId xmlns:a16="http://schemas.microsoft.com/office/drawing/2014/main" id="{1E2F5E0A-60D2-50EA-66A0-D49195777C05}"/>
              </a:ext>
            </a:extLst>
          </p:cNvPr>
          <p:cNvSpPr/>
          <p:nvPr/>
        </p:nvSpPr>
        <p:spPr>
          <a:xfrm>
            <a:off x="3337559" y="4300728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4" name="Shape 16">
            <a:extLst>
              <a:ext uri="{FF2B5EF4-FFF2-40B4-BE49-F238E27FC236}">
                <a16:creationId xmlns:a16="http://schemas.microsoft.com/office/drawing/2014/main" id="{6F0A422E-470D-DC95-41DA-019AB69F7977}"/>
              </a:ext>
            </a:extLst>
          </p:cNvPr>
          <p:cNvSpPr/>
          <p:nvPr/>
        </p:nvSpPr>
        <p:spPr>
          <a:xfrm>
            <a:off x="3337559" y="3686175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5" name="Shape 16">
            <a:extLst>
              <a:ext uri="{FF2B5EF4-FFF2-40B4-BE49-F238E27FC236}">
                <a16:creationId xmlns:a16="http://schemas.microsoft.com/office/drawing/2014/main" id="{72777890-51FB-9C5C-FF58-C1D51D1DD5E0}"/>
              </a:ext>
            </a:extLst>
          </p:cNvPr>
          <p:cNvSpPr/>
          <p:nvPr/>
        </p:nvSpPr>
        <p:spPr>
          <a:xfrm>
            <a:off x="3337559" y="3126105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6" name="Shape 16">
            <a:extLst>
              <a:ext uri="{FF2B5EF4-FFF2-40B4-BE49-F238E27FC236}">
                <a16:creationId xmlns:a16="http://schemas.microsoft.com/office/drawing/2014/main" id="{8C5D10EA-E162-B09F-C138-E646F6355EAB}"/>
              </a:ext>
            </a:extLst>
          </p:cNvPr>
          <p:cNvSpPr/>
          <p:nvPr/>
        </p:nvSpPr>
        <p:spPr>
          <a:xfrm>
            <a:off x="6172200" y="4300728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7" name="Shape 16">
            <a:extLst>
              <a:ext uri="{FF2B5EF4-FFF2-40B4-BE49-F238E27FC236}">
                <a16:creationId xmlns:a16="http://schemas.microsoft.com/office/drawing/2014/main" id="{FFECF91D-37E5-A34B-AC44-570AF94629D0}"/>
              </a:ext>
            </a:extLst>
          </p:cNvPr>
          <p:cNvSpPr/>
          <p:nvPr/>
        </p:nvSpPr>
        <p:spPr>
          <a:xfrm>
            <a:off x="6172200" y="3686175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8" name="Shape 16">
            <a:extLst>
              <a:ext uri="{FF2B5EF4-FFF2-40B4-BE49-F238E27FC236}">
                <a16:creationId xmlns:a16="http://schemas.microsoft.com/office/drawing/2014/main" id="{70B55967-276A-6E82-98EE-1409653FC37C}"/>
              </a:ext>
            </a:extLst>
          </p:cNvPr>
          <p:cNvSpPr/>
          <p:nvPr/>
        </p:nvSpPr>
        <p:spPr>
          <a:xfrm>
            <a:off x="6172200" y="3126105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9" name="Text 20">
            <a:extLst>
              <a:ext uri="{FF2B5EF4-FFF2-40B4-BE49-F238E27FC236}">
                <a16:creationId xmlns:a16="http://schemas.microsoft.com/office/drawing/2014/main" id="{6A1BBA7D-7837-EDB6-D790-CB86C4A9CA25}"/>
              </a:ext>
            </a:extLst>
          </p:cNvPr>
          <p:cNvSpPr/>
          <p:nvPr/>
        </p:nvSpPr>
        <p:spPr>
          <a:xfrm>
            <a:off x="3840478" y="3126105"/>
            <a:ext cx="1828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 err="1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Vergleich</a:t>
            </a:r>
            <a:r>
              <a:rPr lang="en-US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der </a:t>
            </a:r>
            <a:r>
              <a:rPr lang="en-US" sz="1100" b="1" dirty="0" err="1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Zustandsräume</a:t>
            </a:r>
            <a:endParaRPr lang="en-US" sz="1100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0" name="Text 20">
            <a:extLst>
              <a:ext uri="{FF2B5EF4-FFF2-40B4-BE49-F238E27FC236}">
                <a16:creationId xmlns:a16="http://schemas.microsoft.com/office/drawing/2014/main" id="{344DD6D2-8C23-CEF2-9AE8-5C99EC021A0D}"/>
              </a:ext>
            </a:extLst>
          </p:cNvPr>
          <p:cNvSpPr/>
          <p:nvPr/>
        </p:nvSpPr>
        <p:spPr>
          <a:xfrm>
            <a:off x="3840478" y="3686175"/>
            <a:ext cx="1828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Q-Learning und Hyperparameter</a:t>
            </a:r>
            <a:endParaRPr lang="en-US" sz="1100" b="1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1" name="Text 20">
            <a:extLst>
              <a:ext uri="{FF2B5EF4-FFF2-40B4-BE49-F238E27FC236}">
                <a16:creationId xmlns:a16="http://schemas.microsoft.com/office/drawing/2014/main" id="{CFB96C1D-D03D-396F-A37B-6B99E704DD29}"/>
              </a:ext>
            </a:extLst>
          </p:cNvPr>
          <p:cNvSpPr/>
          <p:nvPr/>
        </p:nvSpPr>
        <p:spPr>
          <a:xfrm>
            <a:off x="3840478" y="4300728"/>
            <a:ext cx="1828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Training und Evaluation</a:t>
            </a:r>
            <a:endParaRPr lang="en-US" sz="1100" b="1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2" name="Text 20">
            <a:extLst>
              <a:ext uri="{FF2B5EF4-FFF2-40B4-BE49-F238E27FC236}">
                <a16:creationId xmlns:a16="http://schemas.microsoft.com/office/drawing/2014/main" id="{954E7060-5EF0-E2AD-836F-02997FEDB000}"/>
              </a:ext>
            </a:extLst>
          </p:cNvPr>
          <p:cNvSpPr/>
          <p:nvPr/>
        </p:nvSpPr>
        <p:spPr>
          <a:xfrm>
            <a:off x="6675119" y="3126105"/>
            <a:ext cx="1828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 err="1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Lernverlauf</a:t>
            </a:r>
            <a:r>
              <a:rPr lang="en-US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und Performance</a:t>
            </a:r>
            <a:endParaRPr lang="en-US" sz="1100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3" name="Text 20">
            <a:extLst>
              <a:ext uri="{FF2B5EF4-FFF2-40B4-BE49-F238E27FC236}">
                <a16:creationId xmlns:a16="http://schemas.microsoft.com/office/drawing/2014/main" id="{95063DD1-CB6C-BDC4-5264-E36E0B0FD0A1}"/>
              </a:ext>
            </a:extLst>
          </p:cNvPr>
          <p:cNvSpPr/>
          <p:nvPr/>
        </p:nvSpPr>
        <p:spPr>
          <a:xfrm>
            <a:off x="6675119" y="3686175"/>
            <a:ext cx="1828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Analyse des Agentenverhaltens</a:t>
            </a:r>
            <a:endParaRPr lang="en-US" sz="1100" b="1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4" name="Text 20">
            <a:extLst>
              <a:ext uri="{FF2B5EF4-FFF2-40B4-BE49-F238E27FC236}">
                <a16:creationId xmlns:a16="http://schemas.microsoft.com/office/drawing/2014/main" id="{0BCBF1F6-6E07-9BC0-E7E8-4BB42468725C}"/>
              </a:ext>
            </a:extLst>
          </p:cNvPr>
          <p:cNvSpPr/>
          <p:nvPr/>
        </p:nvSpPr>
        <p:spPr>
          <a:xfrm>
            <a:off x="6675119" y="4300728"/>
            <a:ext cx="1828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de-DE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Fazit und nächste Schritte</a:t>
            </a:r>
            <a:endParaRPr lang="en-US" sz="1100" b="1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291803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0CCF8C1-E119-7397-2F5A-CB6B9E7BA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C2DB30E-7043-9BEF-342C-7E116DF81D54}"/>
              </a:ext>
            </a:extLst>
          </p:cNvPr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C7263D53-9ACA-950B-4C78-515B1084FACA}"/>
              </a:ext>
            </a:extLst>
          </p:cNvPr>
          <p:cNvGrpSpPr/>
          <p:nvPr/>
        </p:nvGrpSpPr>
        <p:grpSpPr>
          <a:xfrm>
            <a:off x="6217920" y="-1097280"/>
            <a:ext cx="5029200" cy="5029200"/>
            <a:chOff x="6217920" y="-1097280"/>
            <a:chExt cx="5029200" cy="5029200"/>
          </a:xfrm>
        </p:grpSpPr>
        <p:sp>
          <p:nvSpPr>
            <p:cNvPr id="3" name="Shape 1">
              <a:extLst>
                <a:ext uri="{FF2B5EF4-FFF2-40B4-BE49-F238E27FC236}">
                  <a16:creationId xmlns:a16="http://schemas.microsoft.com/office/drawing/2014/main" id="{D744BE99-295A-6DCC-3047-29A0B9493F4E}"/>
                </a:ext>
              </a:extLst>
            </p:cNvPr>
            <p:cNvSpPr/>
            <p:nvPr/>
          </p:nvSpPr>
          <p:spPr>
            <a:xfrm>
              <a:off x="6217920" y="-1097280"/>
              <a:ext cx="5029200" cy="5029200"/>
            </a:xfrm>
            <a:prstGeom prst="ellipse">
              <a:avLst/>
            </a:prstGeom>
            <a:solidFill>
              <a:srgbClr val="14B8A6">
                <a:alpha val="12000"/>
              </a:srgbClr>
            </a:solidFill>
            <a:ln w="12700">
              <a:solidFill>
                <a:srgbClr val="0D9488">
                  <a:alpha val="30000"/>
                </a:srgbClr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4" name="Shape 2">
              <a:extLst>
                <a:ext uri="{FF2B5EF4-FFF2-40B4-BE49-F238E27FC236}">
                  <a16:creationId xmlns:a16="http://schemas.microsoft.com/office/drawing/2014/main" id="{9F1850D4-34AB-802C-47D5-35698AC30135}"/>
                </a:ext>
              </a:extLst>
            </p:cNvPr>
            <p:cNvSpPr/>
            <p:nvPr/>
          </p:nvSpPr>
          <p:spPr>
            <a:xfrm>
              <a:off x="6766560" y="-548640"/>
              <a:ext cx="3474720" cy="3474720"/>
            </a:xfrm>
            <a:prstGeom prst="ellipse">
              <a:avLst/>
            </a:prstGeom>
            <a:solidFill>
              <a:srgbClr val="14B8A6">
                <a:alpha val="18000"/>
              </a:srgbClr>
            </a:solidFill>
            <a:ln w="12700">
              <a:solidFill>
                <a:srgbClr val="0D9488">
                  <a:alpha val="40000"/>
                </a:srgbClr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</p:grpSp>
      <p:sp>
        <p:nvSpPr>
          <p:cNvPr id="7" name="Text 5">
            <a:extLst>
              <a:ext uri="{FF2B5EF4-FFF2-40B4-BE49-F238E27FC236}">
                <a16:creationId xmlns:a16="http://schemas.microsoft.com/office/drawing/2014/main" id="{026ACCBB-BA1A-1191-2EBA-53DF24418FE5}"/>
              </a:ext>
            </a:extLst>
          </p:cNvPr>
          <p:cNvSpPr/>
          <p:nvPr/>
        </p:nvSpPr>
        <p:spPr>
          <a:xfrm>
            <a:off x="548640" y="1572768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4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Motivation</a:t>
            </a:r>
          </a:p>
          <a:p>
            <a:pPr marL="0" indent="0" algn="l">
              <a:buNone/>
            </a:pPr>
            <a:r>
              <a:rPr lang="en-US" sz="4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&amp; </a:t>
            </a:r>
            <a:r>
              <a:rPr lang="en-US" sz="4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Theorie</a:t>
            </a:r>
            <a:endParaRPr lang="en-US" sz="46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765C4C81-6854-16CC-3CD0-FA89C9B83364}"/>
              </a:ext>
            </a:extLst>
          </p:cNvPr>
          <p:cNvGrpSpPr/>
          <p:nvPr/>
        </p:nvGrpSpPr>
        <p:grpSpPr>
          <a:xfrm>
            <a:off x="548640" y="2535174"/>
            <a:ext cx="5486400" cy="1146811"/>
            <a:chOff x="548640" y="2535174"/>
            <a:chExt cx="5486400" cy="1146811"/>
          </a:xfrm>
        </p:grpSpPr>
        <p:sp>
          <p:nvSpPr>
            <p:cNvPr id="9" name="Shape 7">
              <a:extLst>
                <a:ext uri="{FF2B5EF4-FFF2-40B4-BE49-F238E27FC236}">
                  <a16:creationId xmlns:a16="http://schemas.microsoft.com/office/drawing/2014/main" id="{8D6241D1-9A2F-78FE-3C6F-7F5E0492CF34}"/>
                </a:ext>
              </a:extLst>
            </p:cNvPr>
            <p:cNvSpPr/>
            <p:nvPr/>
          </p:nvSpPr>
          <p:spPr>
            <a:xfrm>
              <a:off x="548640" y="2535174"/>
              <a:ext cx="3240000" cy="36576"/>
            </a:xfrm>
            <a:prstGeom prst="rect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10" name="Text 8">
              <a:extLst>
                <a:ext uri="{FF2B5EF4-FFF2-40B4-BE49-F238E27FC236}">
                  <a16:creationId xmlns:a16="http://schemas.microsoft.com/office/drawing/2014/main" id="{8A138491-3507-2D31-0984-69504EFD033F}"/>
                </a:ext>
              </a:extLst>
            </p:cNvPr>
            <p:cNvSpPr/>
            <p:nvPr/>
          </p:nvSpPr>
          <p:spPr>
            <a:xfrm>
              <a:off x="548640" y="2747773"/>
              <a:ext cx="5486400" cy="934212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 algn="l">
                <a:buNone/>
              </a:pPr>
              <a:r>
                <a:rPr lang="de-DE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Blackjack als Entscheidungsproblem</a:t>
              </a:r>
            </a:p>
            <a:p>
              <a:pPr marL="0" indent="0" algn="l">
                <a:buNone/>
              </a:pPr>
              <a:endParaRPr lang="de-DE" sz="16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endParaRPr>
            </a:p>
            <a:p>
              <a:pPr marL="0" indent="0" algn="l">
                <a:buNone/>
              </a:pPr>
              <a:r>
                <a:rPr lang="de-DE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Kartenzählen als Zusatzinformation</a:t>
              </a:r>
            </a:p>
            <a:p>
              <a:pPr marL="0" indent="0" algn="l">
                <a:buNone/>
              </a:pPr>
              <a:endParaRPr lang="de-DE" sz="16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endParaRPr>
            </a:p>
            <a:p>
              <a:pPr marL="0" indent="0" algn="l">
                <a:buNone/>
              </a:pPr>
              <a:r>
                <a:rPr lang="de-DE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Forschungsrahmen und Grenzen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941629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ED2654-773E-F860-BE30-C85A5EDFB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Shape 6">
            <a:extLst>
              <a:ext uri="{FF2B5EF4-FFF2-40B4-BE49-F238E27FC236}">
                <a16:creationId xmlns:a16="http://schemas.microsoft.com/office/drawing/2014/main" id="{99D68CDA-25CE-6D40-4047-05D03873E35C}"/>
              </a:ext>
            </a:extLst>
          </p:cNvPr>
          <p:cNvSpPr/>
          <p:nvPr/>
        </p:nvSpPr>
        <p:spPr>
          <a:xfrm>
            <a:off x="2560320" y="3794224"/>
            <a:ext cx="1600200" cy="658368"/>
          </a:xfrm>
          <a:prstGeom prst="roundRect">
            <a:avLst>
              <a:gd name="adj" fmla="val 13889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7" name="Shape 9">
            <a:extLst>
              <a:ext uri="{FF2B5EF4-FFF2-40B4-BE49-F238E27FC236}">
                <a16:creationId xmlns:a16="http://schemas.microsoft.com/office/drawing/2014/main" id="{2308C4C8-C1AC-93FE-CEBA-6505DC608122}"/>
              </a:ext>
            </a:extLst>
          </p:cNvPr>
          <p:cNvSpPr/>
          <p:nvPr/>
        </p:nvSpPr>
        <p:spPr>
          <a:xfrm>
            <a:off x="4754880" y="3794224"/>
            <a:ext cx="1600200" cy="658368"/>
          </a:xfrm>
          <a:prstGeom prst="roundRect">
            <a:avLst>
              <a:gd name="adj" fmla="val 13889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1" name="Shape 3">
            <a:extLst>
              <a:ext uri="{FF2B5EF4-FFF2-40B4-BE49-F238E27FC236}">
                <a16:creationId xmlns:a16="http://schemas.microsoft.com/office/drawing/2014/main" id="{8B06954B-74C6-499F-80E5-1B01FEE483C9}"/>
              </a:ext>
            </a:extLst>
          </p:cNvPr>
          <p:cNvSpPr/>
          <p:nvPr/>
        </p:nvSpPr>
        <p:spPr>
          <a:xfrm>
            <a:off x="365760" y="3794224"/>
            <a:ext cx="1600200" cy="658368"/>
          </a:xfrm>
          <a:prstGeom prst="roundRect">
            <a:avLst>
              <a:gd name="adj" fmla="val 13889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Shape 0">
            <a:extLst>
              <a:ext uri="{FF2B5EF4-FFF2-40B4-BE49-F238E27FC236}">
                <a16:creationId xmlns:a16="http://schemas.microsoft.com/office/drawing/2014/main" id="{AAD4B681-F2BD-6ACA-FFD0-EE307FB7DD9D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noFill/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AFBC9068-832B-28CC-113F-8C34C1D87CAE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A17E7C67-F351-1799-21B0-5F3E9CEE5F03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Blackjack </a:t>
            </a:r>
            <a:r>
              <a:rPr lang="en-US" sz="2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als</a:t>
            </a:r>
            <a:r>
              <a:rPr lang="en-US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Markov-</a:t>
            </a:r>
            <a:r>
              <a:rPr lang="en-US" sz="2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Entscheidungsproblem</a:t>
            </a:r>
            <a:endParaRPr lang="en-US" sz="26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435F46E5-D3BF-1E63-2D33-5B5EC8189EB9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4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73826787-C314-4516-D88B-B6C0452CB1D6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0EADFE9E-1379-4945-3246-6C4A474C4276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Motivation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Theorie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2" name="!!7"/>
          <p:cNvSpPr/>
          <p:nvPr/>
        </p:nvSpPr>
        <p:spPr>
          <a:xfrm>
            <a:off x="365760" y="1097280"/>
            <a:ext cx="3931920" cy="1933465"/>
          </a:xfrm>
          <a:prstGeom prst="roundRect">
            <a:avLst>
              <a:gd name="adj" fmla="val 960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!!8"/>
          <p:cNvSpPr/>
          <p:nvPr/>
        </p:nvSpPr>
        <p:spPr>
          <a:xfrm>
            <a:off x="4617720" y="1097280"/>
            <a:ext cx="3931920" cy="1933465"/>
          </a:xfrm>
          <a:prstGeom prst="roundRect">
            <a:avLst>
              <a:gd name="adj" fmla="val 960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 sz="240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2" name="Text 12">
            <a:extLst>
              <a:ext uri="{FF2B5EF4-FFF2-40B4-BE49-F238E27FC236}">
                <a16:creationId xmlns:a16="http://schemas.microsoft.com/office/drawing/2014/main" id="{98DB75BD-8738-1479-BA26-BC23E7C3B6ED}"/>
              </a:ext>
            </a:extLst>
          </p:cNvPr>
          <p:cNvSpPr/>
          <p:nvPr/>
        </p:nvSpPr>
        <p:spPr>
          <a:xfrm>
            <a:off x="530352" y="11887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Zustand</a:t>
            </a:r>
            <a:endParaRPr lang="en-US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3" name="Text 13">
            <a:extLst>
              <a:ext uri="{FF2B5EF4-FFF2-40B4-BE49-F238E27FC236}">
                <a16:creationId xmlns:a16="http://schemas.microsoft.com/office/drawing/2014/main" id="{B3B48937-90E3-6C4C-3A13-6A440021D111}"/>
              </a:ext>
            </a:extLst>
          </p:cNvPr>
          <p:cNvSpPr/>
          <p:nvPr/>
        </p:nvSpPr>
        <p:spPr>
          <a:xfrm>
            <a:off x="530352" y="1550642"/>
            <a:ext cx="3657600" cy="103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de-DE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 = ( Spielersumme,</a:t>
            </a:r>
          </a:p>
          <a:p>
            <a:r>
              <a:rPr lang="de-DE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        offene </a:t>
            </a:r>
            <a:r>
              <a:rPr lang="de-DE" sz="1400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Dealerkarte</a:t>
            </a:r>
            <a:r>
              <a:rPr lang="de-DE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,</a:t>
            </a:r>
          </a:p>
          <a:p>
            <a:r>
              <a:rPr lang="de-DE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        nutzbares Ass)</a:t>
            </a:r>
            <a:endParaRPr lang="en-US" sz="14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5" name="Text 12">
            <a:extLst>
              <a:ext uri="{FF2B5EF4-FFF2-40B4-BE49-F238E27FC236}">
                <a16:creationId xmlns:a16="http://schemas.microsoft.com/office/drawing/2014/main" id="{3FBF1A63-1838-58E7-144D-AD30BEBF4E8C}"/>
              </a:ext>
            </a:extLst>
          </p:cNvPr>
          <p:cNvSpPr/>
          <p:nvPr/>
        </p:nvSpPr>
        <p:spPr>
          <a:xfrm>
            <a:off x="4782312" y="11887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Aktionen</a:t>
            </a:r>
            <a:endParaRPr lang="en-US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6" name="Text 13">
            <a:extLst>
              <a:ext uri="{FF2B5EF4-FFF2-40B4-BE49-F238E27FC236}">
                <a16:creationId xmlns:a16="http://schemas.microsoft.com/office/drawing/2014/main" id="{72A13062-CE8E-0AA9-3E7F-B9AB03FDD053}"/>
              </a:ext>
            </a:extLst>
          </p:cNvPr>
          <p:cNvSpPr/>
          <p:nvPr/>
        </p:nvSpPr>
        <p:spPr>
          <a:xfrm>
            <a:off x="4782312" y="1550642"/>
            <a:ext cx="3657600" cy="103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GB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 ∈ {Stand, Hit}</a:t>
            </a:r>
          </a:p>
          <a:p>
            <a:endParaRPr lang="en-GB" sz="14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n-GB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0 = Stand</a:t>
            </a:r>
          </a:p>
          <a:p>
            <a:r>
              <a:rPr lang="en-GB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 = Hit</a:t>
            </a:r>
            <a:endParaRPr lang="en-US" sz="14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7" name="Text 14">
            <a:extLst>
              <a:ext uri="{FF2B5EF4-FFF2-40B4-BE49-F238E27FC236}">
                <a16:creationId xmlns:a16="http://schemas.microsoft.com/office/drawing/2014/main" id="{6B58C5D0-4637-61DC-67BE-B9A5D64661E7}"/>
              </a:ext>
            </a:extLst>
          </p:cNvPr>
          <p:cNvSpPr/>
          <p:nvPr/>
        </p:nvSpPr>
        <p:spPr>
          <a:xfrm>
            <a:off x="4782312" y="2452633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Binärer Aktionsraum ohne Split und Double Down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0" name="Text 14">
            <a:extLst>
              <a:ext uri="{FF2B5EF4-FFF2-40B4-BE49-F238E27FC236}">
                <a16:creationId xmlns:a16="http://schemas.microsoft.com/office/drawing/2014/main" id="{ABCE9C89-8F92-8E2F-5BCD-80628ED9C5BE}"/>
              </a:ext>
            </a:extLst>
          </p:cNvPr>
          <p:cNvSpPr/>
          <p:nvPr/>
        </p:nvSpPr>
        <p:spPr>
          <a:xfrm>
            <a:off x="530352" y="2452633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0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Kompakte Beobachtung der aktuellen Spielsituation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cxnSp>
        <p:nvCxnSpPr>
          <p:cNvPr id="66" name="Verbinder: gewinkelt 65">
            <a:extLst>
              <a:ext uri="{FF2B5EF4-FFF2-40B4-BE49-F238E27FC236}">
                <a16:creationId xmlns:a16="http://schemas.microsoft.com/office/drawing/2014/main" id="{E4354F33-50E4-78CC-B108-EF81D69E3999}"/>
              </a:ext>
            </a:extLst>
          </p:cNvPr>
          <p:cNvCxnSpPr>
            <a:cxnSpLocks/>
            <a:stCxn id="60" idx="2"/>
            <a:endCxn id="51" idx="2"/>
          </p:cNvCxnSpPr>
          <p:nvPr/>
        </p:nvCxnSpPr>
        <p:spPr>
          <a:xfrm rot="5400000">
            <a:off x="4457700" y="1160752"/>
            <a:ext cx="12700" cy="6583680"/>
          </a:xfrm>
          <a:prstGeom prst="bentConnector3">
            <a:avLst>
              <a:gd name="adj1" fmla="val 1800000"/>
            </a:avLst>
          </a:prstGeom>
          <a:noFill/>
          <a:ln w="19050">
            <a:solidFill>
              <a:srgbClr val="14B8A6"/>
            </a:solidFill>
            <a:prstDash val="solid"/>
            <a:tailEnd type="triangle"/>
          </a:ln>
        </p:spPr>
      </p:cxnSp>
      <p:sp>
        <p:nvSpPr>
          <p:cNvPr id="68" name="Text 12">
            <a:extLst>
              <a:ext uri="{FF2B5EF4-FFF2-40B4-BE49-F238E27FC236}">
                <a16:creationId xmlns:a16="http://schemas.microsoft.com/office/drawing/2014/main" id="{8869E230-592E-B6CB-6936-D2F15B9A9F51}"/>
              </a:ext>
            </a:extLst>
          </p:cNvPr>
          <p:cNvSpPr/>
          <p:nvPr/>
        </p:nvSpPr>
        <p:spPr>
          <a:xfrm>
            <a:off x="689378" y="3866902"/>
            <a:ext cx="92738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Zustand</a:t>
            </a:r>
            <a:endParaRPr lang="en-US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9" name="Text 12">
            <a:extLst>
              <a:ext uri="{FF2B5EF4-FFF2-40B4-BE49-F238E27FC236}">
                <a16:creationId xmlns:a16="http://schemas.microsoft.com/office/drawing/2014/main" id="{AF2D7822-EDFC-B516-6526-C6208739691D}"/>
              </a:ext>
            </a:extLst>
          </p:cNvPr>
          <p:cNvSpPr/>
          <p:nvPr/>
        </p:nvSpPr>
        <p:spPr>
          <a:xfrm>
            <a:off x="689378" y="4130830"/>
            <a:ext cx="927387" cy="20116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sₜ</a:t>
            </a:r>
          </a:p>
        </p:txBody>
      </p:sp>
      <p:cxnSp>
        <p:nvCxnSpPr>
          <p:cNvPr id="71" name="Gerader Verbinder 70">
            <a:extLst>
              <a:ext uri="{FF2B5EF4-FFF2-40B4-BE49-F238E27FC236}">
                <a16:creationId xmlns:a16="http://schemas.microsoft.com/office/drawing/2014/main" id="{30AA4E73-2E4D-FF1D-1510-986668B2AC2F}"/>
              </a:ext>
            </a:extLst>
          </p:cNvPr>
          <p:cNvCxnSpPr>
            <a:stCxn id="51" idx="3"/>
            <a:endCxn id="54" idx="1"/>
          </p:cNvCxnSpPr>
          <p:nvPr/>
        </p:nvCxnSpPr>
        <p:spPr>
          <a:xfrm>
            <a:off x="1965960" y="4123408"/>
            <a:ext cx="594360" cy="0"/>
          </a:xfrm>
          <a:prstGeom prst="line">
            <a:avLst/>
          </a:prstGeom>
          <a:noFill/>
          <a:ln w="19050">
            <a:solidFill>
              <a:srgbClr val="14B8A6"/>
            </a:solidFill>
            <a:prstDash val="solid"/>
            <a:tailEnd type="triangle"/>
          </a:ln>
        </p:spPr>
      </p:cxn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CCF12030-D086-81B5-93D8-6894EDF3D89E}"/>
              </a:ext>
            </a:extLst>
          </p:cNvPr>
          <p:cNvCxnSpPr>
            <a:stCxn id="54" idx="3"/>
            <a:endCxn id="57" idx="1"/>
          </p:cNvCxnSpPr>
          <p:nvPr/>
        </p:nvCxnSpPr>
        <p:spPr>
          <a:xfrm>
            <a:off x="4160520" y="4123408"/>
            <a:ext cx="594360" cy="0"/>
          </a:xfrm>
          <a:prstGeom prst="line">
            <a:avLst/>
          </a:prstGeom>
          <a:noFill/>
          <a:ln w="19050">
            <a:solidFill>
              <a:srgbClr val="14B8A6"/>
            </a:solidFill>
            <a:prstDash val="solid"/>
            <a:tailEnd type="triangle"/>
          </a:ln>
        </p:spPr>
      </p:cxnSp>
      <p:cxnSp>
        <p:nvCxnSpPr>
          <p:cNvPr id="75" name="Gerader Verbinder 74">
            <a:extLst>
              <a:ext uri="{FF2B5EF4-FFF2-40B4-BE49-F238E27FC236}">
                <a16:creationId xmlns:a16="http://schemas.microsoft.com/office/drawing/2014/main" id="{DBC1641A-DC52-79D7-9854-373B0E26932B}"/>
              </a:ext>
            </a:extLst>
          </p:cNvPr>
          <p:cNvCxnSpPr>
            <a:stCxn id="57" idx="3"/>
            <a:endCxn id="60" idx="1"/>
          </p:cNvCxnSpPr>
          <p:nvPr/>
        </p:nvCxnSpPr>
        <p:spPr>
          <a:xfrm>
            <a:off x="6355080" y="4123408"/>
            <a:ext cx="594360" cy="0"/>
          </a:xfrm>
          <a:prstGeom prst="line">
            <a:avLst/>
          </a:prstGeom>
          <a:noFill/>
          <a:ln w="19050">
            <a:solidFill>
              <a:srgbClr val="14B8A6"/>
            </a:solidFill>
            <a:prstDash val="solid"/>
            <a:tailEnd type="triangle"/>
          </a:ln>
        </p:spPr>
      </p:cxnSp>
      <p:sp>
        <p:nvSpPr>
          <p:cNvPr id="76" name="Text 12">
            <a:extLst>
              <a:ext uri="{FF2B5EF4-FFF2-40B4-BE49-F238E27FC236}">
                <a16:creationId xmlns:a16="http://schemas.microsoft.com/office/drawing/2014/main" id="{7E8D51A8-9735-ACAD-B65F-0AA51D009DF3}"/>
              </a:ext>
            </a:extLst>
          </p:cNvPr>
          <p:cNvSpPr/>
          <p:nvPr/>
        </p:nvSpPr>
        <p:spPr>
          <a:xfrm>
            <a:off x="2909515" y="3866902"/>
            <a:ext cx="92738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Aktion</a:t>
            </a:r>
          </a:p>
        </p:txBody>
      </p:sp>
      <p:sp>
        <p:nvSpPr>
          <p:cNvPr id="77" name="Text 12">
            <a:extLst>
              <a:ext uri="{FF2B5EF4-FFF2-40B4-BE49-F238E27FC236}">
                <a16:creationId xmlns:a16="http://schemas.microsoft.com/office/drawing/2014/main" id="{7FAD64BD-E6F6-66FB-8BA5-66CC297D0CC3}"/>
              </a:ext>
            </a:extLst>
          </p:cNvPr>
          <p:cNvSpPr/>
          <p:nvPr/>
        </p:nvSpPr>
        <p:spPr>
          <a:xfrm>
            <a:off x="2909515" y="4130830"/>
            <a:ext cx="927387" cy="20116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aₜ</a:t>
            </a:r>
          </a:p>
        </p:txBody>
      </p:sp>
      <p:sp>
        <p:nvSpPr>
          <p:cNvPr id="78" name="Text 12">
            <a:extLst>
              <a:ext uri="{FF2B5EF4-FFF2-40B4-BE49-F238E27FC236}">
                <a16:creationId xmlns:a16="http://schemas.microsoft.com/office/drawing/2014/main" id="{E09FEB1B-F433-22C2-97CA-92CC40227EAD}"/>
              </a:ext>
            </a:extLst>
          </p:cNvPr>
          <p:cNvSpPr/>
          <p:nvPr/>
        </p:nvSpPr>
        <p:spPr>
          <a:xfrm>
            <a:off x="4860389" y="3866902"/>
            <a:ext cx="13891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Umgebung</a:t>
            </a:r>
            <a:endParaRPr lang="en-US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9" name="Text 12">
            <a:extLst>
              <a:ext uri="{FF2B5EF4-FFF2-40B4-BE49-F238E27FC236}">
                <a16:creationId xmlns:a16="http://schemas.microsoft.com/office/drawing/2014/main" id="{4AC709D2-8030-1160-27B4-2F5B19558779}"/>
              </a:ext>
            </a:extLst>
          </p:cNvPr>
          <p:cNvSpPr/>
          <p:nvPr/>
        </p:nvSpPr>
        <p:spPr>
          <a:xfrm>
            <a:off x="4927208" y="4130830"/>
            <a:ext cx="1255544" cy="20116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Karte/Dealer</a:t>
            </a:r>
          </a:p>
        </p:txBody>
      </p:sp>
      <p:sp>
        <p:nvSpPr>
          <p:cNvPr id="60" name="Shape 12">
            <a:extLst>
              <a:ext uri="{FF2B5EF4-FFF2-40B4-BE49-F238E27FC236}">
                <a16:creationId xmlns:a16="http://schemas.microsoft.com/office/drawing/2014/main" id="{3CC4385E-CC74-933C-252B-BD61F22E3AB5}"/>
              </a:ext>
            </a:extLst>
          </p:cNvPr>
          <p:cNvSpPr/>
          <p:nvPr/>
        </p:nvSpPr>
        <p:spPr>
          <a:xfrm>
            <a:off x="6949440" y="3794224"/>
            <a:ext cx="1600200" cy="658368"/>
          </a:xfrm>
          <a:prstGeom prst="roundRect">
            <a:avLst>
              <a:gd name="adj" fmla="val 13889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0" name="Text 12">
            <a:extLst>
              <a:ext uri="{FF2B5EF4-FFF2-40B4-BE49-F238E27FC236}">
                <a16:creationId xmlns:a16="http://schemas.microsoft.com/office/drawing/2014/main" id="{5A7FD5B3-26BD-8083-34C0-1952D5EEB2BA}"/>
              </a:ext>
            </a:extLst>
          </p:cNvPr>
          <p:cNvSpPr/>
          <p:nvPr/>
        </p:nvSpPr>
        <p:spPr>
          <a:xfrm>
            <a:off x="7285846" y="3866902"/>
            <a:ext cx="92738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Ergebnis</a:t>
            </a:r>
            <a:endParaRPr lang="en-US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1" name="Text 12">
            <a:extLst>
              <a:ext uri="{FF2B5EF4-FFF2-40B4-BE49-F238E27FC236}">
                <a16:creationId xmlns:a16="http://schemas.microsoft.com/office/drawing/2014/main" id="{180E7CA7-3CDA-0D8A-7C63-D0BB6243A952}"/>
              </a:ext>
            </a:extLst>
          </p:cNvPr>
          <p:cNvSpPr/>
          <p:nvPr/>
        </p:nvSpPr>
        <p:spPr>
          <a:xfrm>
            <a:off x="7285846" y="4130830"/>
            <a:ext cx="927387" cy="20116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rₜ₊₁, sₜ₊₁ </a:t>
            </a:r>
          </a:p>
        </p:txBody>
      </p:sp>
      <p:sp>
        <p:nvSpPr>
          <p:cNvPr id="90" name="Text 16">
            <a:extLst>
              <a:ext uri="{FF2B5EF4-FFF2-40B4-BE49-F238E27FC236}">
                <a16:creationId xmlns:a16="http://schemas.microsoft.com/office/drawing/2014/main" id="{39F16CEC-2E7E-7B6A-481C-EF0581C223C4}"/>
              </a:ext>
            </a:extLst>
          </p:cNvPr>
          <p:cNvSpPr/>
          <p:nvPr/>
        </p:nvSpPr>
        <p:spPr>
          <a:xfrm>
            <a:off x="365760" y="3281472"/>
            <a:ext cx="457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 err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Entscheidungszyklus</a:t>
            </a:r>
            <a:r>
              <a:rPr lang="en-US"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</a:t>
            </a:r>
            <a:r>
              <a:rPr lang="en-US" sz="1400" b="1" dirty="0" err="1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im</a:t>
            </a:r>
            <a:r>
              <a:rPr lang="en-US"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MDP</a:t>
            </a:r>
          </a:p>
        </p:txBody>
      </p:sp>
    </p:spTree>
    <p:extLst>
      <p:ext uri="{BB962C8B-B14F-4D97-AF65-F5344CB8AC3E}">
        <p14:creationId xmlns:p14="http://schemas.microsoft.com/office/powerpoint/2010/main" val="15300038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69584CB4-DC63-C456-1278-081512B1F737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BCAA48AC-DC44-3F17-EEFB-A43F82CB0603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F25DAD0-93D7-3C78-D332-DC4CD8C39B67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Reward-System und </a:t>
            </a:r>
            <a:r>
              <a:rPr lang="en-US" sz="2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Übergänge</a:t>
            </a:r>
            <a:endParaRPr lang="en-US" sz="26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37A62879-C597-2E51-98B5-C4D8D8FAC348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5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13BE2948-32EF-78EC-DBC5-53E97EB81A79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D32FB7BF-77AA-1D5D-F936-FF173E38B2A9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Motivation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Theorie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59" name="!!7">
            <a:extLst>
              <a:ext uri="{FF2B5EF4-FFF2-40B4-BE49-F238E27FC236}">
                <a16:creationId xmlns:a16="http://schemas.microsoft.com/office/drawing/2014/main" id="{490448FD-EE64-A055-99F3-F0C492715399}"/>
              </a:ext>
            </a:extLst>
          </p:cNvPr>
          <p:cNvSpPr/>
          <p:nvPr/>
        </p:nvSpPr>
        <p:spPr>
          <a:xfrm>
            <a:off x="365760" y="109728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0" name="Text 5">
            <a:extLst>
              <a:ext uri="{FF2B5EF4-FFF2-40B4-BE49-F238E27FC236}">
                <a16:creationId xmlns:a16="http://schemas.microsoft.com/office/drawing/2014/main" id="{A949824B-5D24-3A75-DF3A-9EC1A4FEF5B5}"/>
              </a:ext>
            </a:extLst>
          </p:cNvPr>
          <p:cNvSpPr/>
          <p:nvPr/>
        </p:nvSpPr>
        <p:spPr>
          <a:xfrm>
            <a:off x="365760" y="11887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10B981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+1</a:t>
            </a:r>
            <a:endParaRPr lang="en-US" sz="38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1" name="Text 6">
            <a:extLst>
              <a:ext uri="{FF2B5EF4-FFF2-40B4-BE49-F238E27FC236}">
                <a16:creationId xmlns:a16="http://schemas.microsoft.com/office/drawing/2014/main" id="{A73F7969-6776-8182-F12C-FDEA47618137}"/>
              </a:ext>
            </a:extLst>
          </p:cNvPr>
          <p:cNvSpPr/>
          <p:nvPr/>
        </p:nvSpPr>
        <p:spPr>
          <a:xfrm>
            <a:off x="365760" y="181051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Gewinn</a:t>
            </a:r>
            <a:endParaRPr lang="en-US" sz="13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2" name="Text 7">
            <a:extLst>
              <a:ext uri="{FF2B5EF4-FFF2-40B4-BE49-F238E27FC236}">
                <a16:creationId xmlns:a16="http://schemas.microsoft.com/office/drawing/2014/main" id="{D5225BAA-5AD6-FF71-92C3-70D8D4046200}"/>
              </a:ext>
            </a:extLst>
          </p:cNvPr>
          <p:cNvSpPr/>
          <p:nvPr/>
        </p:nvSpPr>
        <p:spPr>
          <a:xfrm>
            <a:off x="47548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Agent gewinnt die Runde</a:t>
            </a:r>
            <a:endParaRPr lang="en-US" sz="9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7" name="!!8">
            <a:extLst>
              <a:ext uri="{FF2B5EF4-FFF2-40B4-BE49-F238E27FC236}">
                <a16:creationId xmlns:a16="http://schemas.microsoft.com/office/drawing/2014/main" id="{160B86F6-5E1B-6897-C760-95637D1C3637}"/>
              </a:ext>
            </a:extLst>
          </p:cNvPr>
          <p:cNvSpPr/>
          <p:nvPr/>
        </p:nvSpPr>
        <p:spPr>
          <a:xfrm>
            <a:off x="3200400" y="109728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8" name="Text 13">
            <a:extLst>
              <a:ext uri="{FF2B5EF4-FFF2-40B4-BE49-F238E27FC236}">
                <a16:creationId xmlns:a16="http://schemas.microsoft.com/office/drawing/2014/main" id="{67552164-B51B-7456-4EEE-EED7533CAC98}"/>
              </a:ext>
            </a:extLst>
          </p:cNvPr>
          <p:cNvSpPr/>
          <p:nvPr/>
        </p:nvSpPr>
        <p:spPr>
          <a:xfrm>
            <a:off x="3200400" y="11887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0</a:t>
            </a:r>
            <a:endParaRPr lang="en-US" sz="38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9" name="Text 14">
            <a:extLst>
              <a:ext uri="{FF2B5EF4-FFF2-40B4-BE49-F238E27FC236}">
                <a16:creationId xmlns:a16="http://schemas.microsoft.com/office/drawing/2014/main" id="{2E42AACC-6672-891F-9FC3-A05577DF10AB}"/>
              </a:ext>
            </a:extLst>
          </p:cNvPr>
          <p:cNvSpPr/>
          <p:nvPr/>
        </p:nvSpPr>
        <p:spPr>
          <a:xfrm>
            <a:off x="3200400" y="181051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Push</a:t>
            </a:r>
            <a:endParaRPr lang="en-US" sz="13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0" name="Text 15">
            <a:extLst>
              <a:ext uri="{FF2B5EF4-FFF2-40B4-BE49-F238E27FC236}">
                <a16:creationId xmlns:a16="http://schemas.microsoft.com/office/drawing/2014/main" id="{79623D49-6A83-52AB-F1ED-3E7F94AA1E72}"/>
              </a:ext>
            </a:extLst>
          </p:cNvPr>
          <p:cNvSpPr/>
          <p:nvPr/>
        </p:nvSpPr>
        <p:spPr>
          <a:xfrm>
            <a:off x="331012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Unentschieden – kein Reward</a:t>
            </a:r>
            <a:endParaRPr lang="en-US" sz="9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1" name="Text 16">
            <a:extLst>
              <a:ext uri="{FF2B5EF4-FFF2-40B4-BE49-F238E27FC236}">
                <a16:creationId xmlns:a16="http://schemas.microsoft.com/office/drawing/2014/main" id="{DE30BB6D-C3CD-F350-61D5-ADC524DE734D}"/>
              </a:ext>
            </a:extLst>
          </p:cNvPr>
          <p:cNvSpPr/>
          <p:nvPr/>
        </p:nvSpPr>
        <p:spPr>
          <a:xfrm>
            <a:off x="365760" y="2834640"/>
            <a:ext cx="457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Erfolgskriterien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2" name="!!6">
            <a:extLst>
              <a:ext uri="{FF2B5EF4-FFF2-40B4-BE49-F238E27FC236}">
                <a16:creationId xmlns:a16="http://schemas.microsoft.com/office/drawing/2014/main" id="{E3C27E31-ECC7-0B56-72FE-E5EEBB097896}"/>
              </a:ext>
            </a:extLst>
          </p:cNvPr>
          <p:cNvSpPr/>
          <p:nvPr/>
        </p:nvSpPr>
        <p:spPr>
          <a:xfrm>
            <a:off x="365760" y="324612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3" name="Shape 18">
            <a:extLst>
              <a:ext uri="{FF2B5EF4-FFF2-40B4-BE49-F238E27FC236}">
                <a16:creationId xmlns:a16="http://schemas.microsoft.com/office/drawing/2014/main" id="{8E12F02F-54E6-1A25-BEBC-D603F210203D}"/>
              </a:ext>
            </a:extLst>
          </p:cNvPr>
          <p:cNvSpPr/>
          <p:nvPr/>
        </p:nvSpPr>
        <p:spPr>
          <a:xfrm>
            <a:off x="502920" y="3383280"/>
            <a:ext cx="320040" cy="3200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4" name="Text 19">
            <a:extLst>
              <a:ext uri="{FF2B5EF4-FFF2-40B4-BE49-F238E27FC236}">
                <a16:creationId xmlns:a16="http://schemas.microsoft.com/office/drawing/2014/main" id="{BA9BA8DD-8974-C9A9-C05B-730407DE7957}"/>
              </a:ext>
            </a:extLst>
          </p:cNvPr>
          <p:cNvSpPr/>
          <p:nvPr/>
        </p:nvSpPr>
        <p:spPr>
          <a:xfrm>
            <a:off x="502920" y="33832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✓</a:t>
            </a:r>
            <a:endParaRPr lang="en-US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5" name="Text 20">
            <a:extLst>
              <a:ext uri="{FF2B5EF4-FFF2-40B4-BE49-F238E27FC236}">
                <a16:creationId xmlns:a16="http://schemas.microsoft.com/office/drawing/2014/main" id="{16E85030-7C12-0992-49CB-974D985CC19D}"/>
              </a:ext>
            </a:extLst>
          </p:cNvPr>
          <p:cNvSpPr/>
          <p:nvPr/>
        </p:nvSpPr>
        <p:spPr>
          <a:xfrm>
            <a:off x="914400" y="336499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Avg. Reward &gt; −0.05</a:t>
            </a:r>
            <a:endParaRPr lang="en-US" sz="1100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6" name="Text 21">
            <a:extLst>
              <a:ext uri="{FF2B5EF4-FFF2-40B4-BE49-F238E27FC236}">
                <a16:creationId xmlns:a16="http://schemas.microsoft.com/office/drawing/2014/main" id="{F854FAF3-26D7-E212-47ED-5CD038F7E643}"/>
              </a:ext>
            </a:extLst>
          </p:cNvPr>
          <p:cNvSpPr/>
          <p:nvPr/>
        </p:nvSpPr>
        <p:spPr>
          <a:xfrm>
            <a:off x="530352" y="37490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Signifikant besser als Zufallsstrategie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7" name="!!11">
            <a:extLst>
              <a:ext uri="{FF2B5EF4-FFF2-40B4-BE49-F238E27FC236}">
                <a16:creationId xmlns:a16="http://schemas.microsoft.com/office/drawing/2014/main" id="{74AD0F14-F4DA-D2B5-4DF6-D17F9A572246}"/>
              </a:ext>
            </a:extLst>
          </p:cNvPr>
          <p:cNvSpPr/>
          <p:nvPr/>
        </p:nvSpPr>
        <p:spPr>
          <a:xfrm>
            <a:off x="3200400" y="324612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8" name="Shape 23">
            <a:extLst>
              <a:ext uri="{FF2B5EF4-FFF2-40B4-BE49-F238E27FC236}">
                <a16:creationId xmlns:a16="http://schemas.microsoft.com/office/drawing/2014/main" id="{B52923F4-81C5-BFDE-87DA-A432A0819D13}"/>
              </a:ext>
            </a:extLst>
          </p:cNvPr>
          <p:cNvSpPr/>
          <p:nvPr/>
        </p:nvSpPr>
        <p:spPr>
          <a:xfrm>
            <a:off x="3337560" y="3383280"/>
            <a:ext cx="320040" cy="3200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9" name="Text 24">
            <a:extLst>
              <a:ext uri="{FF2B5EF4-FFF2-40B4-BE49-F238E27FC236}">
                <a16:creationId xmlns:a16="http://schemas.microsoft.com/office/drawing/2014/main" id="{3F4C2177-C8F7-0405-7D7A-227EE7702F77}"/>
              </a:ext>
            </a:extLst>
          </p:cNvPr>
          <p:cNvSpPr/>
          <p:nvPr/>
        </p:nvSpPr>
        <p:spPr>
          <a:xfrm>
            <a:off x="3337560" y="33832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✓</a:t>
            </a:r>
            <a:endParaRPr lang="en-US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0" name="Text 25">
            <a:extLst>
              <a:ext uri="{FF2B5EF4-FFF2-40B4-BE49-F238E27FC236}">
                <a16:creationId xmlns:a16="http://schemas.microsoft.com/office/drawing/2014/main" id="{CD8BB51B-43F9-75E3-5913-D858B0FD58F4}"/>
              </a:ext>
            </a:extLst>
          </p:cNvPr>
          <p:cNvSpPr/>
          <p:nvPr/>
        </p:nvSpPr>
        <p:spPr>
          <a:xfrm>
            <a:off x="3749040" y="336499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Win Rate 42-45%</a:t>
            </a:r>
            <a:endParaRPr lang="en-US" sz="1100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1" name="Text 26">
            <a:extLst>
              <a:ext uri="{FF2B5EF4-FFF2-40B4-BE49-F238E27FC236}">
                <a16:creationId xmlns:a16="http://schemas.microsoft.com/office/drawing/2014/main" id="{F846444B-F3A2-C9F2-A636-80F453B0EA82}"/>
              </a:ext>
            </a:extLst>
          </p:cNvPr>
          <p:cNvSpPr/>
          <p:nvPr/>
        </p:nvSpPr>
        <p:spPr>
          <a:xfrm>
            <a:off x="3364992" y="37490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Casino House Edge überwunden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2" name="!!5">
            <a:extLst>
              <a:ext uri="{FF2B5EF4-FFF2-40B4-BE49-F238E27FC236}">
                <a16:creationId xmlns:a16="http://schemas.microsoft.com/office/drawing/2014/main" id="{93939E6D-032A-D8D1-BF39-E92F330995B2}"/>
              </a:ext>
            </a:extLst>
          </p:cNvPr>
          <p:cNvSpPr/>
          <p:nvPr/>
        </p:nvSpPr>
        <p:spPr>
          <a:xfrm>
            <a:off x="6035040" y="324612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3" name="Shape 28">
            <a:extLst>
              <a:ext uri="{FF2B5EF4-FFF2-40B4-BE49-F238E27FC236}">
                <a16:creationId xmlns:a16="http://schemas.microsoft.com/office/drawing/2014/main" id="{7437AD16-25E7-519D-7F99-862CFCB0CFB9}"/>
              </a:ext>
            </a:extLst>
          </p:cNvPr>
          <p:cNvSpPr/>
          <p:nvPr/>
        </p:nvSpPr>
        <p:spPr>
          <a:xfrm>
            <a:off x="6172200" y="3383280"/>
            <a:ext cx="320040" cy="3200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4" name="Text 29">
            <a:extLst>
              <a:ext uri="{FF2B5EF4-FFF2-40B4-BE49-F238E27FC236}">
                <a16:creationId xmlns:a16="http://schemas.microsoft.com/office/drawing/2014/main" id="{90010D8D-7DDD-D5DD-356E-7F79FFBA13D1}"/>
              </a:ext>
            </a:extLst>
          </p:cNvPr>
          <p:cNvSpPr/>
          <p:nvPr/>
        </p:nvSpPr>
        <p:spPr>
          <a:xfrm>
            <a:off x="6172200" y="33832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✓</a:t>
            </a:r>
            <a:endParaRPr lang="en-US" sz="11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5" name="Text 30">
            <a:extLst>
              <a:ext uri="{FF2B5EF4-FFF2-40B4-BE49-F238E27FC236}">
                <a16:creationId xmlns:a16="http://schemas.microsoft.com/office/drawing/2014/main" id="{001367B1-338B-DB35-F96E-E48EA35A4FB7}"/>
              </a:ext>
            </a:extLst>
          </p:cNvPr>
          <p:cNvSpPr/>
          <p:nvPr/>
        </p:nvSpPr>
        <p:spPr>
          <a:xfrm>
            <a:off x="6583680" y="336499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CI &lt; ±0.003</a:t>
            </a:r>
            <a:endParaRPr lang="en-US" sz="1100" dirty="0">
              <a:solidFill>
                <a:srgbClr val="0F172A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6" name="Text 31">
            <a:extLst>
              <a:ext uri="{FF2B5EF4-FFF2-40B4-BE49-F238E27FC236}">
                <a16:creationId xmlns:a16="http://schemas.microsoft.com/office/drawing/2014/main" id="{8009D131-E20B-92D7-57E2-D08EF4FC3A17}"/>
              </a:ext>
            </a:extLst>
          </p:cNvPr>
          <p:cNvSpPr/>
          <p:nvPr/>
        </p:nvSpPr>
        <p:spPr>
          <a:xfrm>
            <a:off x="6199632" y="37490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Stabiles, konsistentes Lernen über Seeds</a:t>
            </a:r>
            <a:endParaRPr lang="en-US" sz="1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7" name="!!10">
            <a:extLst>
              <a:ext uri="{FF2B5EF4-FFF2-40B4-BE49-F238E27FC236}">
                <a16:creationId xmlns:a16="http://schemas.microsoft.com/office/drawing/2014/main" id="{CE2475E2-393F-B504-D6E8-498EC7CA80EB}"/>
              </a:ext>
            </a:extLst>
          </p:cNvPr>
          <p:cNvSpPr/>
          <p:nvPr/>
        </p:nvSpPr>
        <p:spPr>
          <a:xfrm>
            <a:off x="6035040" y="109728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EF4444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8" name="Text 9">
            <a:extLst>
              <a:ext uri="{FF2B5EF4-FFF2-40B4-BE49-F238E27FC236}">
                <a16:creationId xmlns:a16="http://schemas.microsoft.com/office/drawing/2014/main" id="{A6D3868B-789B-70AC-1466-F2D61E771DD5}"/>
              </a:ext>
            </a:extLst>
          </p:cNvPr>
          <p:cNvSpPr/>
          <p:nvPr/>
        </p:nvSpPr>
        <p:spPr>
          <a:xfrm>
            <a:off x="6035040" y="11887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EF4444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−1</a:t>
            </a:r>
            <a:endParaRPr lang="en-US" sz="38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9" name="Text 10">
            <a:extLst>
              <a:ext uri="{FF2B5EF4-FFF2-40B4-BE49-F238E27FC236}">
                <a16:creationId xmlns:a16="http://schemas.microsoft.com/office/drawing/2014/main" id="{CCBF8502-63B9-6B58-347C-BB712EA6B085}"/>
              </a:ext>
            </a:extLst>
          </p:cNvPr>
          <p:cNvSpPr/>
          <p:nvPr/>
        </p:nvSpPr>
        <p:spPr>
          <a:xfrm>
            <a:off x="6035040" y="181051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Verlust</a:t>
            </a:r>
            <a:endParaRPr lang="en-US" sz="13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0" name="Text 11">
            <a:extLst>
              <a:ext uri="{FF2B5EF4-FFF2-40B4-BE49-F238E27FC236}">
                <a16:creationId xmlns:a16="http://schemas.microsoft.com/office/drawing/2014/main" id="{51DD7ED6-BDF2-D961-E741-DC72F5530B70}"/>
              </a:ext>
            </a:extLst>
          </p:cNvPr>
          <p:cNvSpPr/>
          <p:nvPr/>
        </p:nvSpPr>
        <p:spPr>
          <a:xfrm>
            <a:off x="614476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Agent verliert die Runde</a:t>
            </a:r>
            <a:endParaRPr lang="en-US" sz="95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96136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BCBB9-173D-BAE7-EFE8-A81E19D89F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1B056DED-1A91-A1E6-1185-67F2142B48D1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1BCE832C-9149-DFF9-3442-9215ECED2534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DC31EF7-903D-B99E-182B-1B09FD1DAF9E}"/>
              </a:ext>
            </a:extLst>
          </p:cNvPr>
          <p:cNvSpPr/>
          <p:nvPr/>
        </p:nvSpPr>
        <p:spPr>
          <a:xfrm>
            <a:off x="457200" y="274320"/>
            <a:ext cx="8549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Das Deck hat Gedächtnis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E2D66724-6F61-05E2-D719-A202A6F36C70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6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1EE16C30-1682-275D-B4EF-417D16E095A9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840D29DE-A6CC-B136-6B5A-A5F028EB4C20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Motivation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Theorie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828079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40F20-4C60-D53C-9267-1AC62321F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DF16E5FF-9AC4-46A4-14F2-EAA3A5A735A9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F08439B4-F9A8-98BA-13CC-972A1F324777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9D3EC13-4637-6112-6986-0A7E2A8E4486}"/>
              </a:ext>
            </a:extLst>
          </p:cNvPr>
          <p:cNvSpPr/>
          <p:nvPr/>
        </p:nvSpPr>
        <p:spPr>
          <a:xfrm>
            <a:off x="457200" y="274320"/>
            <a:ext cx="8549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Das Hi-Lo-Verfahren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FC410493-899D-83CF-44E3-170AEBAF9A22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7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15BE5AF7-D0D6-1B5C-0658-11077A6D337D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76228C6C-BC4E-DB11-23FA-0C9939AB1CF1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Motivation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Theorie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2" name="!!7">
            <a:extLst>
              <a:ext uri="{FF2B5EF4-FFF2-40B4-BE49-F238E27FC236}">
                <a16:creationId xmlns:a16="http://schemas.microsoft.com/office/drawing/2014/main" id="{1E40F0C2-E05D-EC6E-686C-D17FB5143265}"/>
              </a:ext>
            </a:extLst>
          </p:cNvPr>
          <p:cNvSpPr>
            <a:spLocks noGrp="1"/>
          </p:cNvSpPr>
          <p:nvPr/>
        </p:nvSpPr>
        <p:spPr>
          <a:xfrm>
            <a:off x="365760" y="109728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10B981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5">
            <a:extLst>
              <a:ext uri="{FF2B5EF4-FFF2-40B4-BE49-F238E27FC236}">
                <a16:creationId xmlns:a16="http://schemas.microsoft.com/office/drawing/2014/main" id="{B63EE15C-1959-2707-EEF6-022066061AB0}"/>
              </a:ext>
            </a:extLst>
          </p:cNvPr>
          <p:cNvSpPr>
            <a:spLocks noGrp="1"/>
          </p:cNvSpPr>
          <p:nvPr/>
        </p:nvSpPr>
        <p:spPr>
          <a:xfrm>
            <a:off x="365760" y="1188720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3800" b="1">
                <a:solidFill>
                  <a:srgbClr val="10B981"/>
                </a:solidFill>
                <a:latin typeface="Cambria"/>
                <a:ea typeface="Cambria"/>
                <a:cs typeface="Cambria"/>
              </a:rPr>
              <a:t>+1</a:t>
            </a:r>
          </a:p>
        </p:txBody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050DC578-1DF3-43E2-FE91-04FC7EB567D8}"/>
              </a:ext>
            </a:extLst>
          </p:cNvPr>
          <p:cNvSpPr>
            <a:spLocks noGrp="1"/>
          </p:cNvSpPr>
          <p:nvPr/>
        </p:nvSpPr>
        <p:spPr>
          <a:xfrm>
            <a:off x="365760" y="1810512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300" b="1">
                <a:solidFill>
                  <a:srgbClr val="FFFFFF"/>
                </a:solidFill>
              </a:rPr>
              <a:t>Niedrige Karten</a:t>
            </a:r>
          </a:p>
        </p:txBody>
      </p:sp>
      <p:sp>
        <p:nvSpPr>
          <p:cNvPr id="8" name="Text 7">
            <a:extLst>
              <a:ext uri="{FF2B5EF4-FFF2-40B4-BE49-F238E27FC236}">
                <a16:creationId xmlns:a16="http://schemas.microsoft.com/office/drawing/2014/main" id="{C6129421-E27B-4AEF-BBE0-6B49753987FA}"/>
              </a:ext>
            </a:extLst>
          </p:cNvPr>
          <p:cNvSpPr>
            <a:spLocks noGrp="1"/>
          </p:cNvSpPr>
          <p:nvPr/>
        </p:nvSpPr>
        <p:spPr>
          <a:xfrm>
            <a:off x="475488" y="2103120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950">
                <a:solidFill>
                  <a:srgbClr val="94A3B8"/>
                </a:solidFill>
              </a:rPr>
              <a:t>2 bis 6 erhöhen den Running Count</a:t>
            </a:r>
          </a:p>
        </p:txBody>
      </p:sp>
      <p:sp>
        <p:nvSpPr>
          <p:cNvPr id="12" name="!!10">
            <a:extLst>
              <a:ext uri="{FF2B5EF4-FFF2-40B4-BE49-F238E27FC236}">
                <a16:creationId xmlns:a16="http://schemas.microsoft.com/office/drawing/2014/main" id="{7C003369-08A0-4E0E-860F-A044BA981845}"/>
              </a:ext>
            </a:extLst>
          </p:cNvPr>
          <p:cNvSpPr>
            <a:spLocks noGrp="1"/>
          </p:cNvSpPr>
          <p:nvPr/>
        </p:nvSpPr>
        <p:spPr>
          <a:xfrm>
            <a:off x="3200400" y="109728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EF4444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Text 9">
            <a:extLst>
              <a:ext uri="{FF2B5EF4-FFF2-40B4-BE49-F238E27FC236}">
                <a16:creationId xmlns:a16="http://schemas.microsoft.com/office/drawing/2014/main" id="{3F1C376A-225C-AFBA-24D0-8A7EE32C2525}"/>
              </a:ext>
            </a:extLst>
          </p:cNvPr>
          <p:cNvSpPr>
            <a:spLocks noGrp="1"/>
          </p:cNvSpPr>
          <p:nvPr/>
        </p:nvSpPr>
        <p:spPr>
          <a:xfrm>
            <a:off x="3200400" y="1188720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3800" b="1">
                <a:solidFill>
                  <a:srgbClr val="EF4444"/>
                </a:solidFill>
                <a:latin typeface="Cambria"/>
                <a:ea typeface="Cambria"/>
                <a:cs typeface="Cambria"/>
              </a:rPr>
              <a:t>−1</a:t>
            </a:r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86209BA3-5B89-23AF-9993-69292A6DFD00}"/>
              </a:ext>
            </a:extLst>
          </p:cNvPr>
          <p:cNvSpPr>
            <a:spLocks noGrp="1"/>
          </p:cNvSpPr>
          <p:nvPr/>
        </p:nvSpPr>
        <p:spPr>
          <a:xfrm>
            <a:off x="3200400" y="1810512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300" b="1">
                <a:solidFill>
                  <a:srgbClr val="FFFFFF"/>
                </a:solidFill>
              </a:rPr>
              <a:t>Hohe Karten</a:t>
            </a:r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0EB87D08-AC19-E2F8-6CCE-0951069A2A40}"/>
              </a:ext>
            </a:extLst>
          </p:cNvPr>
          <p:cNvSpPr>
            <a:spLocks noGrp="1"/>
          </p:cNvSpPr>
          <p:nvPr/>
        </p:nvSpPr>
        <p:spPr>
          <a:xfrm>
            <a:off x="3310128" y="2103120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950">
                <a:solidFill>
                  <a:srgbClr val="94A3B8"/>
                </a:solidFill>
              </a:rPr>
              <a:t>10, Bildkarten und Asse senken den Count</a:t>
            </a:r>
          </a:p>
        </p:txBody>
      </p:sp>
      <p:sp>
        <p:nvSpPr>
          <p:cNvPr id="16" name="!!8">
            <a:extLst>
              <a:ext uri="{FF2B5EF4-FFF2-40B4-BE49-F238E27FC236}">
                <a16:creationId xmlns:a16="http://schemas.microsoft.com/office/drawing/2014/main" id="{27D0C52B-39AD-BBDC-704D-C7C2FF17D8DD}"/>
              </a:ext>
            </a:extLst>
          </p:cNvPr>
          <p:cNvSpPr>
            <a:spLocks noGrp="1"/>
          </p:cNvSpPr>
          <p:nvPr/>
        </p:nvSpPr>
        <p:spPr>
          <a:xfrm>
            <a:off x="6035040" y="1097280"/>
            <a:ext cx="2606040" cy="1463040"/>
          </a:xfrm>
          <a:prstGeom prst="roundRect">
            <a:avLst>
              <a:gd name="adj" fmla="val 8750"/>
            </a:avLst>
          </a:prstGeom>
          <a:solidFill>
            <a:srgbClr val="1E293B"/>
          </a:solidFill>
          <a:ln w="12700">
            <a:solidFill>
              <a:srgbClr val="64748B">
                <a:alpha val="6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AEE9853B-0969-0496-65C2-278836F36422}"/>
              </a:ext>
            </a:extLst>
          </p:cNvPr>
          <p:cNvSpPr>
            <a:spLocks noGrp="1"/>
          </p:cNvSpPr>
          <p:nvPr/>
        </p:nvSpPr>
        <p:spPr>
          <a:xfrm>
            <a:off x="6035040" y="1188720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3800" b="1">
                <a:solidFill>
                  <a:srgbClr val="64748B"/>
                </a:solidFill>
                <a:latin typeface="Cambria"/>
                <a:ea typeface="Cambria"/>
                <a:cs typeface="Cambria"/>
              </a:rPr>
              <a:t>0</a:t>
            </a:r>
          </a:p>
        </p:txBody>
      </p:sp>
      <p:sp>
        <p:nvSpPr>
          <p:cNvPr id="18" name="Text 14">
            <a:extLst>
              <a:ext uri="{FF2B5EF4-FFF2-40B4-BE49-F238E27FC236}">
                <a16:creationId xmlns:a16="http://schemas.microsoft.com/office/drawing/2014/main" id="{59DBA9A4-F3E8-6BE2-F07B-67132D820315}"/>
              </a:ext>
            </a:extLst>
          </p:cNvPr>
          <p:cNvSpPr>
            <a:spLocks noGrp="1"/>
          </p:cNvSpPr>
          <p:nvPr/>
        </p:nvSpPr>
        <p:spPr>
          <a:xfrm>
            <a:off x="6035040" y="1810512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300" b="1">
                <a:solidFill>
                  <a:srgbClr val="FFFFFF"/>
                </a:solidFill>
              </a:rPr>
              <a:t>Neutrale Karten</a:t>
            </a:r>
          </a:p>
        </p:txBody>
      </p:sp>
      <p:sp>
        <p:nvSpPr>
          <p:cNvPr id="19" name="Text 15">
            <a:extLst>
              <a:ext uri="{FF2B5EF4-FFF2-40B4-BE49-F238E27FC236}">
                <a16:creationId xmlns:a16="http://schemas.microsoft.com/office/drawing/2014/main" id="{B2F72B31-AB3F-DF7C-A614-935E272FC97F}"/>
              </a:ext>
            </a:extLst>
          </p:cNvPr>
          <p:cNvSpPr>
            <a:spLocks noGrp="1"/>
          </p:cNvSpPr>
          <p:nvPr/>
        </p:nvSpPr>
        <p:spPr>
          <a:xfrm>
            <a:off x="6144768" y="2103120"/>
            <a:ext cx="237744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950">
                <a:solidFill>
                  <a:srgbClr val="94A3B8"/>
                </a:solidFill>
              </a:rPr>
              <a:t>7 bis 9 verändern den Count nicht</a:t>
            </a:r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ED1DDA07-1CF0-D765-DB93-81588569D6BC}"/>
              </a:ext>
            </a:extLst>
          </p:cNvPr>
          <p:cNvSpPr>
            <a:spLocks noGrp="1"/>
          </p:cNvSpPr>
          <p:nvPr/>
        </p:nvSpPr>
        <p:spPr>
          <a:xfrm>
            <a:off x="365760" y="2834640"/>
            <a:ext cx="45720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buNone/>
            </a:pPr>
            <a:r>
              <a:rPr sz="1400" b="1">
                <a:solidFill>
                  <a:srgbClr val="1E293B"/>
                </a:solidFill>
                <a:latin typeface="Cambria"/>
                <a:ea typeface="Cambria"/>
                <a:cs typeface="Cambria"/>
              </a:rPr>
              <a:t>Vom Running zum True Count</a:t>
            </a:r>
          </a:p>
        </p:txBody>
      </p:sp>
      <p:sp>
        <p:nvSpPr>
          <p:cNvPr id="21" name="!!6">
            <a:extLst>
              <a:ext uri="{FF2B5EF4-FFF2-40B4-BE49-F238E27FC236}">
                <a16:creationId xmlns:a16="http://schemas.microsoft.com/office/drawing/2014/main" id="{F52C55CE-25F3-B191-1E42-092349EFFC20}"/>
              </a:ext>
            </a:extLst>
          </p:cNvPr>
          <p:cNvSpPr>
            <a:spLocks noGrp="1"/>
          </p:cNvSpPr>
          <p:nvPr/>
        </p:nvSpPr>
        <p:spPr>
          <a:xfrm>
            <a:off x="365760" y="324612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2" name="Shape 18">
            <a:extLst>
              <a:ext uri="{FF2B5EF4-FFF2-40B4-BE49-F238E27FC236}">
                <a16:creationId xmlns:a16="http://schemas.microsoft.com/office/drawing/2014/main" id="{0058968B-046F-9F95-5B16-4B0B35316882}"/>
              </a:ext>
            </a:extLst>
          </p:cNvPr>
          <p:cNvSpPr>
            <a:spLocks noGrp="1"/>
          </p:cNvSpPr>
          <p:nvPr/>
        </p:nvSpPr>
        <p:spPr>
          <a:xfrm>
            <a:off x="502920" y="3383280"/>
            <a:ext cx="320040" cy="3200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F775431B-D946-4CB7-B9D5-6C19A36C5998}"/>
              </a:ext>
            </a:extLst>
          </p:cNvPr>
          <p:cNvSpPr>
            <a:spLocks noGrp="1"/>
          </p:cNvSpPr>
          <p:nvPr/>
        </p:nvSpPr>
        <p:spPr>
          <a:xfrm>
            <a:off x="502920" y="3383280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</a:rPr>
              <a:t>Σ</a:t>
            </a:r>
          </a:p>
        </p:txBody>
      </p:sp>
      <p:sp>
        <p:nvSpPr>
          <p:cNvPr id="24" name="Text 20">
            <a:extLst>
              <a:ext uri="{FF2B5EF4-FFF2-40B4-BE49-F238E27FC236}">
                <a16:creationId xmlns:a16="http://schemas.microsoft.com/office/drawing/2014/main" id="{D81DC62A-095B-4F82-1AE7-5644574568B1}"/>
              </a:ext>
            </a:extLst>
          </p:cNvPr>
          <p:cNvSpPr>
            <a:spLocks noGrp="1"/>
          </p:cNvSpPr>
          <p:nvPr/>
        </p:nvSpPr>
        <p:spPr>
          <a:xfrm>
            <a:off x="914400" y="3364992"/>
            <a:ext cx="192024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>
                <a:solidFill>
                  <a:srgbClr val="1E293B"/>
                </a:solidFill>
              </a:rPr>
              <a:t>Running Count</a:t>
            </a:r>
          </a:p>
        </p:txBody>
      </p:sp>
      <p:sp>
        <p:nvSpPr>
          <p:cNvPr id="25" name="Text 21">
            <a:extLst>
              <a:ext uri="{FF2B5EF4-FFF2-40B4-BE49-F238E27FC236}">
                <a16:creationId xmlns:a16="http://schemas.microsoft.com/office/drawing/2014/main" id="{41A21FCA-A6C6-4F6E-5EA5-63A1F6063049}"/>
              </a:ext>
            </a:extLst>
          </p:cNvPr>
          <p:cNvSpPr>
            <a:spLocks noGrp="1"/>
          </p:cNvSpPr>
          <p:nvPr/>
        </p:nvSpPr>
        <p:spPr>
          <a:xfrm>
            <a:off x="530352" y="3749040"/>
            <a:ext cx="228600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64748B"/>
                </a:solidFill>
              </a:rPr>
              <a:t>Summe aller sichtbaren Hi-Lo-Werte</a:t>
            </a:r>
          </a:p>
        </p:txBody>
      </p:sp>
      <p:sp>
        <p:nvSpPr>
          <p:cNvPr id="26" name="!!11">
            <a:extLst>
              <a:ext uri="{FF2B5EF4-FFF2-40B4-BE49-F238E27FC236}">
                <a16:creationId xmlns:a16="http://schemas.microsoft.com/office/drawing/2014/main" id="{F75FAC76-D2F6-3413-DECE-A8AE3BBF8140}"/>
              </a:ext>
            </a:extLst>
          </p:cNvPr>
          <p:cNvSpPr>
            <a:spLocks noGrp="1"/>
          </p:cNvSpPr>
          <p:nvPr/>
        </p:nvSpPr>
        <p:spPr>
          <a:xfrm>
            <a:off x="3200400" y="324612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23">
            <a:extLst>
              <a:ext uri="{FF2B5EF4-FFF2-40B4-BE49-F238E27FC236}">
                <a16:creationId xmlns:a16="http://schemas.microsoft.com/office/drawing/2014/main" id="{8DDBE9F2-747B-A8EB-F718-A67CF9C39002}"/>
              </a:ext>
            </a:extLst>
          </p:cNvPr>
          <p:cNvSpPr>
            <a:spLocks noGrp="1"/>
          </p:cNvSpPr>
          <p:nvPr/>
        </p:nvSpPr>
        <p:spPr>
          <a:xfrm>
            <a:off x="3337560" y="3383280"/>
            <a:ext cx="320040" cy="3200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57E23CFF-444A-6F40-D925-041AB0779802}"/>
              </a:ext>
            </a:extLst>
          </p:cNvPr>
          <p:cNvSpPr>
            <a:spLocks noGrp="1"/>
          </p:cNvSpPr>
          <p:nvPr/>
        </p:nvSpPr>
        <p:spPr>
          <a:xfrm>
            <a:off x="3337560" y="3383280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</a:rPr>
              <a:t>÷</a:t>
            </a:r>
          </a:p>
        </p:txBody>
      </p:sp>
      <p:sp>
        <p:nvSpPr>
          <p:cNvPr id="29" name="Text 25">
            <a:extLst>
              <a:ext uri="{FF2B5EF4-FFF2-40B4-BE49-F238E27FC236}">
                <a16:creationId xmlns:a16="http://schemas.microsoft.com/office/drawing/2014/main" id="{E4FE0DD1-6BD6-F785-E727-9A584CE680AE}"/>
              </a:ext>
            </a:extLst>
          </p:cNvPr>
          <p:cNvSpPr>
            <a:spLocks noGrp="1"/>
          </p:cNvSpPr>
          <p:nvPr/>
        </p:nvSpPr>
        <p:spPr>
          <a:xfrm>
            <a:off x="3749040" y="3364992"/>
            <a:ext cx="192024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>
                <a:solidFill>
                  <a:srgbClr val="1E293B"/>
                </a:solidFill>
              </a:rPr>
              <a:t>Verbleibende Decks</a:t>
            </a:r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B927DEDD-D244-31F9-4844-91AB93452A06}"/>
              </a:ext>
            </a:extLst>
          </p:cNvPr>
          <p:cNvSpPr>
            <a:spLocks noGrp="1"/>
          </p:cNvSpPr>
          <p:nvPr/>
        </p:nvSpPr>
        <p:spPr>
          <a:xfrm>
            <a:off x="3364992" y="3749040"/>
            <a:ext cx="228600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64748B"/>
                </a:solidFill>
              </a:rPr>
              <a:t>verbleibende Karten / 52</a:t>
            </a:r>
          </a:p>
        </p:txBody>
      </p:sp>
      <p:sp>
        <p:nvSpPr>
          <p:cNvPr id="31" name="!!5">
            <a:extLst>
              <a:ext uri="{FF2B5EF4-FFF2-40B4-BE49-F238E27FC236}">
                <a16:creationId xmlns:a16="http://schemas.microsoft.com/office/drawing/2014/main" id="{631F05F7-CD3F-83F7-0AEE-C965696B233C}"/>
              </a:ext>
            </a:extLst>
          </p:cNvPr>
          <p:cNvSpPr>
            <a:spLocks noGrp="1"/>
          </p:cNvSpPr>
          <p:nvPr/>
        </p:nvSpPr>
        <p:spPr>
          <a:xfrm>
            <a:off x="6035040" y="3246120"/>
            <a:ext cx="2606040" cy="1554480"/>
          </a:xfrm>
          <a:prstGeom prst="roundRect">
            <a:avLst>
              <a:gd name="adj" fmla="val 7059"/>
            </a:avLst>
          </a:prstGeom>
          <a:solidFill>
            <a:srgbClr val="F1F5F9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01600" dist="2540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2" name="Shape 28">
            <a:extLst>
              <a:ext uri="{FF2B5EF4-FFF2-40B4-BE49-F238E27FC236}">
                <a16:creationId xmlns:a16="http://schemas.microsoft.com/office/drawing/2014/main" id="{1E9ED043-E960-1BD9-F48D-02BD58990F1B}"/>
              </a:ext>
            </a:extLst>
          </p:cNvPr>
          <p:cNvSpPr>
            <a:spLocks noGrp="1"/>
          </p:cNvSpPr>
          <p:nvPr/>
        </p:nvSpPr>
        <p:spPr>
          <a:xfrm>
            <a:off x="6172200" y="3383280"/>
            <a:ext cx="320040" cy="32004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CE52CC3D-421E-5B69-F6C7-044E893E1F19}"/>
              </a:ext>
            </a:extLst>
          </p:cNvPr>
          <p:cNvSpPr>
            <a:spLocks noGrp="1"/>
          </p:cNvSpPr>
          <p:nvPr/>
        </p:nvSpPr>
        <p:spPr>
          <a:xfrm>
            <a:off x="6172200" y="3383280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</a:rPr>
              <a:t>=</a:t>
            </a:r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E658B8D3-0847-2E0A-3F7E-B7F50678BD42}"/>
              </a:ext>
            </a:extLst>
          </p:cNvPr>
          <p:cNvSpPr>
            <a:spLocks noGrp="1"/>
          </p:cNvSpPr>
          <p:nvPr/>
        </p:nvSpPr>
        <p:spPr>
          <a:xfrm>
            <a:off x="6583680" y="3364992"/>
            <a:ext cx="1920240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>
                <a:solidFill>
                  <a:srgbClr val="1E293B"/>
                </a:solidFill>
              </a:rPr>
              <a:t>True Count</a:t>
            </a:r>
          </a:p>
        </p:txBody>
      </p:sp>
      <p:sp>
        <p:nvSpPr>
          <p:cNvPr id="35" name="Text 31">
            <a:extLst>
              <a:ext uri="{FF2B5EF4-FFF2-40B4-BE49-F238E27FC236}">
                <a16:creationId xmlns:a16="http://schemas.microsoft.com/office/drawing/2014/main" id="{8A5566D8-A5F4-7D24-B2B2-DF5283433517}"/>
              </a:ext>
            </a:extLst>
          </p:cNvPr>
          <p:cNvSpPr>
            <a:spLocks noGrp="1"/>
          </p:cNvSpPr>
          <p:nvPr/>
        </p:nvSpPr>
        <p:spPr>
          <a:xfrm>
            <a:off x="6199632" y="3749040"/>
            <a:ext cx="228600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64748B"/>
                </a:solidFill>
              </a:rPr>
              <a:t>Running Count / verbleibende Decks</a:t>
            </a:r>
          </a:p>
        </p:txBody>
      </p:sp>
    </p:spTree>
    <p:extLst>
      <p:ext uri="{BB962C8B-B14F-4D97-AF65-F5344CB8AC3E}">
        <p14:creationId xmlns:p14="http://schemas.microsoft.com/office/powerpoint/2010/main" val="32260099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5EDC6E-D765-52C8-9C96-D22B958AA3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B771B513-9A3B-64B8-BD18-2CBE7DCED27C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32051B90-A756-E77C-CB4F-62C7896ABAE4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2A455A6-BDA9-4CD2-E697-53A86BD6AAF6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Forschungsfragen</a:t>
            </a:r>
            <a:r>
              <a:rPr lang="en-US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und </a:t>
            </a:r>
            <a:r>
              <a:rPr lang="en-US" sz="2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Grenzen</a:t>
            </a:r>
            <a:endParaRPr lang="en-US" sz="26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D49EEBFE-36F1-9D5B-BE6C-630FBC1069FF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8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EF8B595A-F6EA-2BC0-6DA3-4247DEB41A3F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C5EDCB72-2822-0475-AA60-6928E2B1A8BF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Motivation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Theorie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sp>
        <p:nvSpPr>
          <p:cNvPr id="2" name="!!6">
            <a:extLst>
              <a:ext uri="{FF2B5EF4-FFF2-40B4-BE49-F238E27FC236}">
                <a16:creationId xmlns:a16="http://schemas.microsoft.com/office/drawing/2014/main" id="{029E8EA6-60C8-3416-8F0A-8F33106056ED}"/>
              </a:ext>
            </a:extLst>
          </p:cNvPr>
          <p:cNvSpPr>
            <a:spLocks/>
          </p:cNvSpPr>
          <p:nvPr/>
        </p:nvSpPr>
        <p:spPr>
          <a:xfrm>
            <a:off x="365760" y="1097280"/>
            <a:ext cx="3931920" cy="3474720"/>
          </a:xfrm>
          <a:prstGeom prst="roundRect">
            <a:avLst>
              <a:gd name="adj" fmla="val 3947"/>
            </a:avLst>
          </a:prstGeom>
          <a:solidFill>
            <a:srgbClr val="1E293B"/>
          </a:solidFill>
          <a:ln w="12700">
            <a:solidFill>
              <a:srgbClr val="0D9488">
                <a:alpha val="4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B4393347-CE48-3D9E-1CF0-2D1000386BDE}"/>
              </a:ext>
            </a:extLst>
          </p:cNvPr>
          <p:cNvSpPr/>
          <p:nvPr/>
        </p:nvSpPr>
        <p:spPr>
          <a:xfrm>
            <a:off x="502920" y="1234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Forschungsfragen</a:t>
            </a:r>
            <a:endParaRPr lang="en-US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0" name="!!5">
            <a:extLst>
              <a:ext uri="{FF2B5EF4-FFF2-40B4-BE49-F238E27FC236}">
                <a16:creationId xmlns:a16="http://schemas.microsoft.com/office/drawing/2014/main" id="{4C87B213-15BD-EC93-23D2-C096D9B7CF8C}"/>
              </a:ext>
            </a:extLst>
          </p:cNvPr>
          <p:cNvSpPr/>
          <p:nvPr/>
        </p:nvSpPr>
        <p:spPr>
          <a:xfrm>
            <a:off x="4663440" y="1097280"/>
            <a:ext cx="4114800" cy="3474720"/>
          </a:xfrm>
          <a:prstGeom prst="roundRect">
            <a:avLst>
              <a:gd name="adj" fmla="val 3947"/>
            </a:avLst>
          </a:prstGeom>
          <a:solidFill>
            <a:srgbClr val="1E293B"/>
          </a:solidFill>
          <a:ln w="12700">
            <a:solidFill>
              <a:srgbClr val="F59E0B">
                <a:alpha val="40000"/>
              </a:srgbClr>
            </a:solidFill>
            <a:prstDash val="solid"/>
          </a:ln>
          <a:effectLst>
            <a:outerShdw blurRad="152400" dist="38100" dir="27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1" name="Text 15">
            <a:extLst>
              <a:ext uri="{FF2B5EF4-FFF2-40B4-BE49-F238E27FC236}">
                <a16:creationId xmlns:a16="http://schemas.microsoft.com/office/drawing/2014/main" id="{E5A5DE81-7F3B-6EE7-B797-4FFDD75900FF}"/>
              </a:ext>
            </a:extLst>
          </p:cNvPr>
          <p:cNvSpPr/>
          <p:nvPr/>
        </p:nvSpPr>
        <p:spPr>
          <a:xfrm>
            <a:off x="4800600" y="12344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Restriktionen</a:t>
            </a:r>
            <a:endParaRPr lang="en-US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2" name="Shape 16">
            <a:extLst>
              <a:ext uri="{FF2B5EF4-FFF2-40B4-BE49-F238E27FC236}">
                <a16:creationId xmlns:a16="http://schemas.microsoft.com/office/drawing/2014/main" id="{485F3F8F-D0C1-8618-4215-8E7ED5DA9DB9}"/>
              </a:ext>
            </a:extLst>
          </p:cNvPr>
          <p:cNvSpPr/>
          <p:nvPr/>
        </p:nvSpPr>
        <p:spPr>
          <a:xfrm>
            <a:off x="4800600" y="181051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4" name="Text 18">
            <a:extLst>
              <a:ext uri="{FF2B5EF4-FFF2-40B4-BE49-F238E27FC236}">
                <a16:creationId xmlns:a16="http://schemas.microsoft.com/office/drawing/2014/main" id="{0D708410-DBA3-23AE-A7A7-66FE286A70CA}"/>
              </a:ext>
            </a:extLst>
          </p:cNvPr>
          <p:cNvSpPr/>
          <p:nvPr/>
        </p:nvSpPr>
        <p:spPr>
          <a:xfrm>
            <a:off x="5257800" y="179679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Kein Split, Double Down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5" name="Shape 19">
            <a:extLst>
              <a:ext uri="{FF2B5EF4-FFF2-40B4-BE49-F238E27FC236}">
                <a16:creationId xmlns:a16="http://schemas.microsoft.com/office/drawing/2014/main" id="{3EB4C59E-201E-B0AA-5653-6B909A8BDCB6}"/>
              </a:ext>
            </a:extLst>
          </p:cNvPr>
          <p:cNvSpPr/>
          <p:nvPr/>
        </p:nvSpPr>
        <p:spPr>
          <a:xfrm>
            <a:off x="4800600" y="245059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7" name="Text 21">
            <a:extLst>
              <a:ext uri="{FF2B5EF4-FFF2-40B4-BE49-F238E27FC236}">
                <a16:creationId xmlns:a16="http://schemas.microsoft.com/office/drawing/2014/main" id="{8B59C9D5-35E9-271B-3D47-3720E9A31AA8}"/>
              </a:ext>
            </a:extLst>
          </p:cNvPr>
          <p:cNvSpPr/>
          <p:nvPr/>
        </p:nvSpPr>
        <p:spPr>
          <a:xfrm>
            <a:off x="5257800" y="2414016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 err="1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Konstante</a:t>
            </a:r>
            <a:r>
              <a:rPr lang="en-US" sz="1400" dirty="0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sz="1400" dirty="0" err="1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Einsätze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8" name="Shape 22">
            <a:extLst>
              <a:ext uri="{FF2B5EF4-FFF2-40B4-BE49-F238E27FC236}">
                <a16:creationId xmlns:a16="http://schemas.microsoft.com/office/drawing/2014/main" id="{438E395B-F821-346C-714A-797B67D0634D}"/>
              </a:ext>
            </a:extLst>
          </p:cNvPr>
          <p:cNvSpPr/>
          <p:nvPr/>
        </p:nvSpPr>
        <p:spPr>
          <a:xfrm>
            <a:off x="4800600" y="373075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0" name="Text 24">
            <a:extLst>
              <a:ext uri="{FF2B5EF4-FFF2-40B4-BE49-F238E27FC236}">
                <a16:creationId xmlns:a16="http://schemas.microsoft.com/office/drawing/2014/main" id="{346A3ABD-8BEA-7269-8E3D-6FB2F1172C59}"/>
              </a:ext>
            </a:extLst>
          </p:cNvPr>
          <p:cNvSpPr/>
          <p:nvPr/>
        </p:nvSpPr>
        <p:spPr>
          <a:xfrm>
            <a:off x="5257800" y="3798025"/>
            <a:ext cx="3200400" cy="2220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400" dirty="0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Vergleich von Spielentscheidungen, nicht Wettstrategien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1" name="Shape 16">
            <a:extLst>
              <a:ext uri="{FF2B5EF4-FFF2-40B4-BE49-F238E27FC236}">
                <a16:creationId xmlns:a16="http://schemas.microsoft.com/office/drawing/2014/main" id="{FC47CA1B-9A5F-BEFC-B995-D74BE53A2E75}"/>
              </a:ext>
            </a:extLst>
          </p:cNvPr>
          <p:cNvSpPr/>
          <p:nvPr/>
        </p:nvSpPr>
        <p:spPr>
          <a:xfrm>
            <a:off x="502920" y="181051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2" name="Text 17">
            <a:extLst>
              <a:ext uri="{FF2B5EF4-FFF2-40B4-BE49-F238E27FC236}">
                <a16:creationId xmlns:a16="http://schemas.microsoft.com/office/drawing/2014/main" id="{2622F89B-CD32-1355-D6B4-2392C790B11B}"/>
              </a:ext>
            </a:extLst>
          </p:cNvPr>
          <p:cNvSpPr/>
          <p:nvPr/>
        </p:nvSpPr>
        <p:spPr>
          <a:xfrm>
            <a:off x="502920" y="1810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</a:t>
            </a:r>
            <a:endParaRPr lang="en-US" sz="1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3" name="Text 18">
            <a:extLst>
              <a:ext uri="{FF2B5EF4-FFF2-40B4-BE49-F238E27FC236}">
                <a16:creationId xmlns:a16="http://schemas.microsoft.com/office/drawing/2014/main" id="{CEC00E4F-CFB2-0C62-ED90-135B90436F48}"/>
              </a:ext>
            </a:extLst>
          </p:cNvPr>
          <p:cNvSpPr/>
          <p:nvPr/>
        </p:nvSpPr>
        <p:spPr>
          <a:xfrm>
            <a:off x="960120" y="179679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Kann ein Q-Learning Agent Kartenzählung aktiv nutzen?</a:t>
            </a:r>
          </a:p>
        </p:txBody>
      </p:sp>
      <p:sp>
        <p:nvSpPr>
          <p:cNvPr id="44" name="Shape 19">
            <a:extLst>
              <a:ext uri="{FF2B5EF4-FFF2-40B4-BE49-F238E27FC236}">
                <a16:creationId xmlns:a16="http://schemas.microsoft.com/office/drawing/2014/main" id="{C56D7B2C-523F-A16F-E29D-1D3B7A8A8873}"/>
              </a:ext>
            </a:extLst>
          </p:cNvPr>
          <p:cNvSpPr/>
          <p:nvPr/>
        </p:nvSpPr>
        <p:spPr>
          <a:xfrm>
            <a:off x="502920" y="277063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5" name="Text 20">
            <a:extLst>
              <a:ext uri="{FF2B5EF4-FFF2-40B4-BE49-F238E27FC236}">
                <a16:creationId xmlns:a16="http://schemas.microsoft.com/office/drawing/2014/main" id="{5E1CC6DF-D0D7-0C6B-363D-F9C05EE1DB0C}"/>
              </a:ext>
            </a:extLst>
          </p:cNvPr>
          <p:cNvSpPr/>
          <p:nvPr/>
        </p:nvSpPr>
        <p:spPr>
          <a:xfrm>
            <a:off x="502920" y="27706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2</a:t>
            </a:r>
            <a:endParaRPr lang="en-US" sz="1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6" name="Text 21">
            <a:extLst>
              <a:ext uri="{FF2B5EF4-FFF2-40B4-BE49-F238E27FC236}">
                <a16:creationId xmlns:a16="http://schemas.microsoft.com/office/drawing/2014/main" id="{37F2A764-8255-9AD2-E418-F78001D9E211}"/>
              </a:ext>
            </a:extLst>
          </p:cNvPr>
          <p:cNvSpPr/>
          <p:nvPr/>
        </p:nvSpPr>
        <p:spPr>
          <a:xfrm>
            <a:off x="960120" y="2743200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Verbessert sich die Performance signifikant mit erweiterten State-Features?</a:t>
            </a:r>
          </a:p>
        </p:txBody>
      </p:sp>
      <p:sp>
        <p:nvSpPr>
          <p:cNvPr id="47" name="Shape 22">
            <a:extLst>
              <a:ext uri="{FF2B5EF4-FFF2-40B4-BE49-F238E27FC236}">
                <a16:creationId xmlns:a16="http://schemas.microsoft.com/office/drawing/2014/main" id="{11B142B7-1C67-8BB2-10AC-D8FC1B9C433A}"/>
              </a:ext>
            </a:extLst>
          </p:cNvPr>
          <p:cNvSpPr/>
          <p:nvPr/>
        </p:nvSpPr>
        <p:spPr>
          <a:xfrm>
            <a:off x="502920" y="373075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8" name="Text 23">
            <a:extLst>
              <a:ext uri="{FF2B5EF4-FFF2-40B4-BE49-F238E27FC236}">
                <a16:creationId xmlns:a16="http://schemas.microsoft.com/office/drawing/2014/main" id="{244B6C13-ED61-3494-D828-DC05301DA679}"/>
              </a:ext>
            </a:extLst>
          </p:cNvPr>
          <p:cNvSpPr/>
          <p:nvPr/>
        </p:nvSpPr>
        <p:spPr>
          <a:xfrm>
            <a:off x="502920" y="3730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3</a:t>
            </a:r>
            <a:endParaRPr lang="en-US" sz="1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9" name="Text 24">
            <a:extLst>
              <a:ext uri="{FF2B5EF4-FFF2-40B4-BE49-F238E27FC236}">
                <a16:creationId xmlns:a16="http://schemas.microsoft.com/office/drawing/2014/main" id="{E16AC6BB-D461-1BDA-7BEC-0704A48F5C56}"/>
              </a:ext>
            </a:extLst>
          </p:cNvPr>
          <p:cNvSpPr/>
          <p:nvPr/>
        </p:nvSpPr>
        <p:spPr>
          <a:xfrm>
            <a:off x="960120" y="3798025"/>
            <a:ext cx="3200400" cy="2220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Wie viele Episoden benötigt der Agent zur Konvergenz?</a:t>
            </a:r>
          </a:p>
        </p:txBody>
      </p:sp>
      <p:sp>
        <p:nvSpPr>
          <p:cNvPr id="50" name="Shape 19">
            <a:extLst>
              <a:ext uri="{FF2B5EF4-FFF2-40B4-BE49-F238E27FC236}">
                <a16:creationId xmlns:a16="http://schemas.microsoft.com/office/drawing/2014/main" id="{ECA5EDEA-3615-88FA-0FD1-473F4FA20535}"/>
              </a:ext>
            </a:extLst>
          </p:cNvPr>
          <p:cNvSpPr/>
          <p:nvPr/>
        </p:nvSpPr>
        <p:spPr>
          <a:xfrm>
            <a:off x="4800600" y="3090672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1" name="Text 21">
            <a:extLst>
              <a:ext uri="{FF2B5EF4-FFF2-40B4-BE49-F238E27FC236}">
                <a16:creationId xmlns:a16="http://schemas.microsoft.com/office/drawing/2014/main" id="{88EBBE51-7A61-7E38-8B10-7D3781456EBA}"/>
              </a:ext>
            </a:extLst>
          </p:cNvPr>
          <p:cNvSpPr/>
          <p:nvPr/>
        </p:nvSpPr>
        <p:spPr>
          <a:xfrm>
            <a:off x="5257800" y="3051156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 err="1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Reduziertes</a:t>
            </a:r>
            <a:r>
              <a:rPr lang="en-US" sz="1400" dirty="0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sz="1400" dirty="0" err="1">
                <a:solidFill>
                  <a:srgbClr val="F1F5F9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Regelwerk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43689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836EDA3-0233-1171-A2B2-13F4DF7A0F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0778B0C-B4A7-5ED2-1D45-1B342C4C6388}"/>
              </a:ext>
            </a:extLst>
          </p:cNvPr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E2CC0530-3EB2-27D6-7BB1-1DA0F5D4E546}"/>
              </a:ext>
            </a:extLst>
          </p:cNvPr>
          <p:cNvGrpSpPr/>
          <p:nvPr/>
        </p:nvGrpSpPr>
        <p:grpSpPr>
          <a:xfrm>
            <a:off x="6217920" y="-1097280"/>
            <a:ext cx="5029200" cy="5029200"/>
            <a:chOff x="6217920" y="-1097280"/>
            <a:chExt cx="5029200" cy="5029200"/>
          </a:xfrm>
        </p:grpSpPr>
        <p:sp>
          <p:nvSpPr>
            <p:cNvPr id="3" name="Shape 1">
              <a:extLst>
                <a:ext uri="{FF2B5EF4-FFF2-40B4-BE49-F238E27FC236}">
                  <a16:creationId xmlns:a16="http://schemas.microsoft.com/office/drawing/2014/main" id="{1AD5534C-615E-C219-4870-31AEBB6BA271}"/>
                </a:ext>
              </a:extLst>
            </p:cNvPr>
            <p:cNvSpPr/>
            <p:nvPr/>
          </p:nvSpPr>
          <p:spPr>
            <a:xfrm>
              <a:off x="6217920" y="-1097280"/>
              <a:ext cx="5029200" cy="5029200"/>
            </a:xfrm>
            <a:prstGeom prst="ellipse">
              <a:avLst/>
            </a:prstGeom>
            <a:solidFill>
              <a:srgbClr val="14B8A6">
                <a:alpha val="12000"/>
              </a:srgbClr>
            </a:solidFill>
            <a:ln w="12700">
              <a:solidFill>
                <a:srgbClr val="0D9488">
                  <a:alpha val="30000"/>
                </a:srgbClr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4" name="Shape 2">
              <a:extLst>
                <a:ext uri="{FF2B5EF4-FFF2-40B4-BE49-F238E27FC236}">
                  <a16:creationId xmlns:a16="http://schemas.microsoft.com/office/drawing/2014/main" id="{BC3D8A04-B0ED-411D-6D35-CD1A727D81D4}"/>
                </a:ext>
              </a:extLst>
            </p:cNvPr>
            <p:cNvSpPr/>
            <p:nvPr/>
          </p:nvSpPr>
          <p:spPr>
            <a:xfrm>
              <a:off x="6766560" y="-548640"/>
              <a:ext cx="3474720" cy="3474720"/>
            </a:xfrm>
            <a:prstGeom prst="ellipse">
              <a:avLst/>
            </a:prstGeom>
            <a:solidFill>
              <a:srgbClr val="14B8A6">
                <a:alpha val="18000"/>
              </a:srgbClr>
            </a:solidFill>
            <a:ln w="12700">
              <a:solidFill>
                <a:srgbClr val="0D9488">
                  <a:alpha val="40000"/>
                </a:srgbClr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</p:grpSp>
      <p:sp>
        <p:nvSpPr>
          <p:cNvPr id="7" name="Text 5">
            <a:extLst>
              <a:ext uri="{FF2B5EF4-FFF2-40B4-BE49-F238E27FC236}">
                <a16:creationId xmlns:a16="http://schemas.microsoft.com/office/drawing/2014/main" id="{593602C6-D149-AEE0-A6E3-CC9F2CEC5AB7}"/>
              </a:ext>
            </a:extLst>
          </p:cNvPr>
          <p:cNvSpPr/>
          <p:nvPr/>
        </p:nvSpPr>
        <p:spPr>
          <a:xfrm>
            <a:off x="548640" y="1572768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4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endParaRPr lang="en-US" sz="46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  <a:p>
            <a:pPr marL="0" indent="0" algn="l">
              <a:buNone/>
            </a:pPr>
            <a:r>
              <a:rPr lang="en-US" sz="4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&amp; Technik</a:t>
            </a:r>
          </a:p>
        </p:txBody>
      </p: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A0A8991C-9E1A-AFC4-BFB8-318B9363E6D3}"/>
              </a:ext>
            </a:extLst>
          </p:cNvPr>
          <p:cNvGrpSpPr/>
          <p:nvPr/>
        </p:nvGrpSpPr>
        <p:grpSpPr>
          <a:xfrm>
            <a:off x="548640" y="2535174"/>
            <a:ext cx="5486400" cy="1146811"/>
            <a:chOff x="548640" y="2535174"/>
            <a:chExt cx="5486400" cy="1146811"/>
          </a:xfrm>
        </p:grpSpPr>
        <p:sp>
          <p:nvSpPr>
            <p:cNvPr id="9" name="Shape 7">
              <a:extLst>
                <a:ext uri="{FF2B5EF4-FFF2-40B4-BE49-F238E27FC236}">
                  <a16:creationId xmlns:a16="http://schemas.microsoft.com/office/drawing/2014/main" id="{AF92A29C-2E30-3650-BF7E-55DEDD8D6B41}"/>
                </a:ext>
              </a:extLst>
            </p:cNvPr>
            <p:cNvSpPr/>
            <p:nvPr/>
          </p:nvSpPr>
          <p:spPr>
            <a:xfrm>
              <a:off x="548640" y="2535174"/>
              <a:ext cx="3240000" cy="36576"/>
            </a:xfrm>
            <a:prstGeom prst="rect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10" name="Text 8">
              <a:extLst>
                <a:ext uri="{FF2B5EF4-FFF2-40B4-BE49-F238E27FC236}">
                  <a16:creationId xmlns:a16="http://schemas.microsoft.com/office/drawing/2014/main" id="{66417712-CC3C-48B2-C0D6-6D83F265752F}"/>
                </a:ext>
              </a:extLst>
            </p:cNvPr>
            <p:cNvSpPr/>
            <p:nvPr/>
          </p:nvSpPr>
          <p:spPr>
            <a:xfrm>
              <a:off x="548640" y="2747773"/>
              <a:ext cx="5486400" cy="934212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 algn="l">
                <a:buNone/>
              </a:pPr>
              <a:r>
                <a:rPr lang="de-DE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Vergleich der Zustandsräume</a:t>
              </a:r>
            </a:p>
            <a:p>
              <a:pPr marL="0" indent="0" algn="l">
                <a:buNone/>
              </a:pPr>
              <a:endParaRPr lang="de-DE" sz="16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endParaRPr>
            </a:p>
            <a:p>
              <a:pPr marL="0" indent="0" algn="l">
                <a:buNone/>
              </a:pPr>
              <a:r>
                <a:rPr lang="de-DE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Q-Learning und Hyperparameter</a:t>
              </a:r>
            </a:p>
            <a:p>
              <a:pPr marL="0" indent="0" algn="l">
                <a:buNone/>
              </a:pPr>
              <a:endParaRPr lang="de-DE" sz="16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endParaRPr>
            </a:p>
            <a:p>
              <a:pPr marL="0" indent="0" algn="l">
                <a:buNone/>
              </a:pPr>
              <a:r>
                <a:rPr lang="de-DE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Training und Evaluation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0754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41C413-DB1F-AB11-AF8B-2768D3964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00B32462-7613-E01B-99A1-54E09977E96A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353257B9-BA93-2831-0600-BDCE2B40FEA0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E6E30D7-E5D3-B79B-F6A6-0A76549785B6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Baseline: 280 Zustände</a:t>
            </a:r>
            <a:endParaRPr lang="en-US" sz="26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08EAACE4-D4CE-6BFD-3BED-00A1EE08F409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10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B7A31D71-FCC3-D486-6608-A8D868E29361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4F63991F-6A7A-9E1A-029A-737CC7049B75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Technik</a:t>
            </a:r>
          </a:p>
        </p:txBody>
      </p:sp>
    </p:spTree>
    <p:extLst>
      <p:ext uri="{BB962C8B-B14F-4D97-AF65-F5344CB8AC3E}">
        <p14:creationId xmlns:p14="http://schemas.microsoft.com/office/powerpoint/2010/main" val="3464650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E1935D-F9F4-2EC1-5156-5CDB4BB660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DDF42003-D170-66C4-A7B9-66BD52BAAEA2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D2C54733-D382-795E-72B6-68A77AB30C4B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B2BD198-0594-C961-AC1A-EE0250808D91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Counting</a:t>
            </a: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 113.760 Zustände</a:t>
            </a:r>
            <a:endParaRPr lang="en-US" sz="2600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2C698BD4-3E52-C02C-D4A8-20FC7535A86A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11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D20DA8C1-685B-DA62-7131-EA2FDD233C3F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32961F75-5957-0003-A521-3BCE6D6C9315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Technik</a:t>
            </a:r>
          </a:p>
        </p:txBody>
      </p:sp>
    </p:spTree>
    <p:extLst>
      <p:ext uri="{BB962C8B-B14F-4D97-AF65-F5344CB8AC3E}">
        <p14:creationId xmlns:p14="http://schemas.microsoft.com/office/powerpoint/2010/main" val="19159374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8474AB-A382-B699-0587-E85827C37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FFFB25D9-2DF6-9DA0-0965-EB5356663EE8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CC968AB8-8890-09F3-99E4-C02F17FD46AF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2F7BEB4-24DB-4375-B8C2-AC50778D5C0A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Das Q-Learning-Update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E766250B-3BE7-F78A-81B2-05BAA8126DA8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12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0B36837B-17CF-974D-060E-8A07F5B07023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E84CF0F9-29A7-8E79-82F8-F3C6A863A34B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Technik</a:t>
            </a:r>
          </a:p>
        </p:txBody>
      </p:sp>
    </p:spTree>
    <p:extLst>
      <p:ext uri="{BB962C8B-B14F-4D97-AF65-F5344CB8AC3E}">
        <p14:creationId xmlns:p14="http://schemas.microsoft.com/office/powerpoint/2010/main" val="4037413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1F6EB6-CDFA-D56E-A331-5507B25AE5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8F13DA1D-C34E-3AE9-1D57-CBECC09A9D4B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138CB569-E1D9-DBA8-4A37-B1798FF4D465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6240DAC-B425-D9F3-56BB-4FD68168CBA6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Preis der Transparenz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A06EB835-E692-B076-E740-DD203016ECAF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13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747FA96B-E256-1014-35F9-52C8F195D412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64767774-DA11-67EB-9FC8-980AAF0822DE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Technik</a:t>
            </a:r>
          </a:p>
        </p:txBody>
      </p:sp>
    </p:spTree>
    <p:extLst>
      <p:ext uri="{BB962C8B-B14F-4D97-AF65-F5344CB8AC3E}">
        <p14:creationId xmlns:p14="http://schemas.microsoft.com/office/powerpoint/2010/main" val="36267665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E7C7F4-E109-BB02-4AD8-699BEBD85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526355BE-B347-CC44-1E15-62429B28A68D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183831AB-F516-ADB3-2FEC-23231FBF56C6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2BF69FD5-27F1-6424-5DE6-EE9AA5E52DF1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Hyperparameter-Auswahl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C52A4514-8358-0F8A-9E3A-0E2BDBA3CDA0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14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CE6F3845-F5F3-BFCB-ADA3-87F38ED483B2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8FD232F6-9E54-73D0-696F-43AC6A393249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Technik</a:t>
            </a:r>
          </a:p>
        </p:txBody>
      </p:sp>
    </p:spTree>
    <p:extLst>
      <p:ext uri="{BB962C8B-B14F-4D97-AF65-F5344CB8AC3E}">
        <p14:creationId xmlns:p14="http://schemas.microsoft.com/office/powerpoint/2010/main" val="1632348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4C2F6-EEFF-B114-E3E4-95F6351C52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7A566CF1-44E8-F9BD-F66F-B68EC95B035B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4F5541DB-FD7A-2A6A-A712-BBD32A124B63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ADF825D-3A00-2E4B-94B3-56DB95B33981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600 Millionen Trainingsrunden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FA85C2FF-7772-D7E6-5DF4-E0A1EED43C41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15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50E30040-40C7-0BF8-B851-4EE12A692FD8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5184EF68-F850-0B62-B712-52E1B1CE3D99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Technik</a:t>
            </a:r>
          </a:p>
        </p:txBody>
      </p:sp>
    </p:spTree>
    <p:extLst>
      <p:ext uri="{BB962C8B-B14F-4D97-AF65-F5344CB8AC3E}">
        <p14:creationId xmlns:p14="http://schemas.microsoft.com/office/powerpoint/2010/main" val="26210036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0DB4DF-BFD5-429D-29BA-FD20E0DA1D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33C033D7-D1D8-6914-EF4B-6A807C764D70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5C2FD08D-BFF5-DFC1-946F-1C804070F03C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EF7B931-9B9C-EC20-0827-D2E9032C89E0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18 Millionen Testepisoden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903E4777-A3C7-698E-FC26-B94D740CEF1B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16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73CBD018-4C92-F0FE-1B3F-6F2040DBDC00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C02A8C75-90C8-02E2-5C94-E8642263CF93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Methodik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Technik</a:t>
            </a:r>
          </a:p>
        </p:txBody>
      </p:sp>
    </p:spTree>
    <p:extLst>
      <p:ext uri="{BB962C8B-B14F-4D97-AF65-F5344CB8AC3E}">
        <p14:creationId xmlns:p14="http://schemas.microsoft.com/office/powerpoint/2010/main" val="4350847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2D6008-8AA1-F217-BEAB-31A7AD321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F71ED2D-6C31-7BF8-E4BD-A31513D8EA9C}"/>
              </a:ext>
            </a:extLst>
          </p:cNvPr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E1DA7A0E-20F8-727A-9A37-07C6C40DADC3}"/>
              </a:ext>
            </a:extLst>
          </p:cNvPr>
          <p:cNvGrpSpPr/>
          <p:nvPr/>
        </p:nvGrpSpPr>
        <p:grpSpPr>
          <a:xfrm>
            <a:off x="6217920" y="-1097280"/>
            <a:ext cx="5029200" cy="5029200"/>
            <a:chOff x="6217920" y="-1097280"/>
            <a:chExt cx="5029200" cy="5029200"/>
          </a:xfrm>
        </p:grpSpPr>
        <p:sp>
          <p:nvSpPr>
            <p:cNvPr id="3" name="Shape 1">
              <a:extLst>
                <a:ext uri="{FF2B5EF4-FFF2-40B4-BE49-F238E27FC236}">
                  <a16:creationId xmlns:a16="http://schemas.microsoft.com/office/drawing/2014/main" id="{FFE00045-01C6-2297-636C-B91FE06AD918}"/>
                </a:ext>
              </a:extLst>
            </p:cNvPr>
            <p:cNvSpPr/>
            <p:nvPr/>
          </p:nvSpPr>
          <p:spPr>
            <a:xfrm>
              <a:off x="6217920" y="-1097280"/>
              <a:ext cx="5029200" cy="5029200"/>
            </a:xfrm>
            <a:prstGeom prst="ellipse">
              <a:avLst/>
            </a:prstGeom>
            <a:solidFill>
              <a:srgbClr val="14B8A6">
                <a:alpha val="12000"/>
              </a:srgbClr>
            </a:solidFill>
            <a:ln w="12700">
              <a:solidFill>
                <a:srgbClr val="0D9488">
                  <a:alpha val="30000"/>
                </a:srgbClr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4" name="Shape 2">
              <a:extLst>
                <a:ext uri="{FF2B5EF4-FFF2-40B4-BE49-F238E27FC236}">
                  <a16:creationId xmlns:a16="http://schemas.microsoft.com/office/drawing/2014/main" id="{37574AFB-D5C9-0E9A-5467-0404B1D4F43E}"/>
                </a:ext>
              </a:extLst>
            </p:cNvPr>
            <p:cNvSpPr/>
            <p:nvPr/>
          </p:nvSpPr>
          <p:spPr>
            <a:xfrm>
              <a:off x="6766560" y="-548640"/>
              <a:ext cx="3474720" cy="3474720"/>
            </a:xfrm>
            <a:prstGeom prst="ellipse">
              <a:avLst/>
            </a:prstGeom>
            <a:solidFill>
              <a:srgbClr val="14B8A6">
                <a:alpha val="18000"/>
              </a:srgbClr>
            </a:solidFill>
            <a:ln w="12700">
              <a:solidFill>
                <a:srgbClr val="0D9488">
                  <a:alpha val="40000"/>
                </a:srgbClr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</p:grpSp>
      <p:sp>
        <p:nvSpPr>
          <p:cNvPr id="7" name="Text 5">
            <a:extLst>
              <a:ext uri="{FF2B5EF4-FFF2-40B4-BE49-F238E27FC236}">
                <a16:creationId xmlns:a16="http://schemas.microsoft.com/office/drawing/2014/main" id="{21E57FEB-DEE3-4FD0-928B-6F2690480D2A}"/>
              </a:ext>
            </a:extLst>
          </p:cNvPr>
          <p:cNvSpPr/>
          <p:nvPr/>
        </p:nvSpPr>
        <p:spPr>
          <a:xfrm>
            <a:off x="548640" y="1572768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4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endParaRPr lang="en-US" sz="46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  <a:p>
            <a:pPr marL="0" indent="0" algn="l">
              <a:buNone/>
            </a:pPr>
            <a:r>
              <a:rPr lang="en-US" sz="4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&amp; </a:t>
            </a:r>
            <a:r>
              <a:rPr lang="en-US" sz="4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46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94DEF9D7-1C9D-ACFA-FF36-F4637E26ABAA}"/>
              </a:ext>
            </a:extLst>
          </p:cNvPr>
          <p:cNvGrpSpPr/>
          <p:nvPr/>
        </p:nvGrpSpPr>
        <p:grpSpPr>
          <a:xfrm>
            <a:off x="548640" y="2535174"/>
            <a:ext cx="5486400" cy="1146811"/>
            <a:chOff x="548640" y="2535174"/>
            <a:chExt cx="5486400" cy="1146811"/>
          </a:xfrm>
        </p:grpSpPr>
        <p:sp>
          <p:nvSpPr>
            <p:cNvPr id="9" name="Shape 7">
              <a:extLst>
                <a:ext uri="{FF2B5EF4-FFF2-40B4-BE49-F238E27FC236}">
                  <a16:creationId xmlns:a16="http://schemas.microsoft.com/office/drawing/2014/main" id="{1A58F20D-8F32-898D-3C3E-9EE1B46F969D}"/>
                </a:ext>
              </a:extLst>
            </p:cNvPr>
            <p:cNvSpPr/>
            <p:nvPr/>
          </p:nvSpPr>
          <p:spPr>
            <a:xfrm>
              <a:off x="548640" y="2535174"/>
              <a:ext cx="3240000" cy="36576"/>
            </a:xfrm>
            <a:prstGeom prst="rect">
              <a:avLst/>
            </a:prstGeom>
            <a:solidFill>
              <a:srgbClr val="0D9488"/>
            </a:solidFill>
            <a:ln w="12700">
              <a:solidFill>
                <a:srgbClr val="0D9488"/>
              </a:solidFill>
              <a:prstDash val="solid"/>
            </a:ln>
          </p:spPr>
          <p:txBody>
            <a:bodyPr/>
            <a:lstStyle/>
            <a:p>
              <a:endParaRPr lang="de-DE">
                <a:latin typeface="Cambria" panose="02040503050406030204" pitchFamily="18" charset="0"/>
                <a:ea typeface="Cambria" panose="02040503050406030204" pitchFamily="18" charset="0"/>
              </a:endParaRPr>
            </a:p>
          </p:txBody>
        </p:sp>
        <p:sp>
          <p:nvSpPr>
            <p:cNvPr id="10" name="Text 8">
              <a:extLst>
                <a:ext uri="{FF2B5EF4-FFF2-40B4-BE49-F238E27FC236}">
                  <a16:creationId xmlns:a16="http://schemas.microsoft.com/office/drawing/2014/main" id="{34B56B22-7621-132F-197F-4C0D47A22D91}"/>
                </a:ext>
              </a:extLst>
            </p:cNvPr>
            <p:cNvSpPr/>
            <p:nvPr/>
          </p:nvSpPr>
          <p:spPr>
            <a:xfrm>
              <a:off x="548640" y="2747773"/>
              <a:ext cx="5486400" cy="934212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 algn="l">
                <a:buNone/>
              </a:pPr>
              <a:r>
                <a:rPr lang="de-DE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Lernverlauf und Performance</a:t>
              </a:r>
            </a:p>
            <a:p>
              <a:pPr marL="0" indent="0" algn="l">
                <a:buNone/>
              </a:pPr>
              <a:endParaRPr lang="de-DE" sz="16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endParaRPr>
            </a:p>
            <a:p>
              <a:pPr marL="0" indent="0" algn="l">
                <a:buNone/>
              </a:pPr>
              <a:r>
                <a:rPr lang="de-DE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Analyse des Agentenverhaltens</a:t>
              </a:r>
            </a:p>
            <a:p>
              <a:pPr marL="0" indent="0" algn="l">
                <a:buNone/>
              </a:pPr>
              <a:endParaRPr lang="de-DE" sz="1600" dirty="0">
                <a:solidFill>
                  <a:srgbClr val="94A3B8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endParaRPr>
            </a:p>
            <a:p>
              <a:pPr marL="0" indent="0" algn="l">
                <a:buNone/>
              </a:pPr>
              <a:r>
                <a:rPr lang="de-DE" sz="1600" dirty="0">
                  <a:solidFill>
                    <a:srgbClr val="94A3B8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Calibri" pitchFamily="34" charset="-120"/>
                </a:rPr>
                <a:t>Fazit und nächste Schritte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318980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60F55C-D536-8E39-E9F5-B899183506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816B4103-2660-00F0-3804-F4855DC2E848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226178B5-2705-0DC2-8BFA-D8772089FC57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C897750-8A12-0337-DC0B-A58462D921C0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Reward</a:t>
            </a: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im Training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59B6B67B-820F-6E89-BD6C-9AB8B6F90398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18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5A5EC323-4838-50B7-0D7A-86973CA85035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B51F4D82-D1AB-E736-D538-E973F0B527DB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0403212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CF2857-1A9D-F776-F3CA-DA5C99D166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62F6C3E1-72CA-5369-D708-C34C0753CAA7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011C77BD-80FD-3B97-7DD9-CF1CA3D49C6C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335A4D4-572A-6845-08F0-343E6382A4D6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Wachstum der Q-Tabelle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6891C319-F439-9209-3864-519EFFBD1291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19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164CEBA3-D8CE-A127-0F70-0CECB2BE7572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304124A9-ACA4-C83F-0FBD-8E3DE9B04038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29885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DFFB8B-F707-F9D5-2277-FA489F16C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E69EDDD8-E668-CF7F-1138-52C7744B4F90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4B6E711A-90B7-DA02-A417-F5330D5F7E64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5C23894-C9C0-5927-F03A-797C901FA89A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Finale Performance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44A11339-EF15-98FF-463B-1285E5B9DC26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20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E688F175-7B2A-BF4C-6645-CA800414FA4F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86712CB8-8259-4566-350E-847D0AFAD51A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8908314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FF4FF-8DAC-4D7E-C74D-A783E6FB92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C69C8D77-99CE-DC30-5D5B-A6E3BB0E2B58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EC0FC35A-4C46-4F27-AB94-4C1507343911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FF1D8FFC-D7E9-115E-3A67-BC612316B805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Kein Signifikanznachweis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070DFDE0-D7F0-7CF0-7AC0-E8C23A00AB39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21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25BCEA8F-0FE2-D7E3-8401-CB4E62D92A44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C9F119E0-D08F-6ADB-7AB0-E758E5F45A1E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0952347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25A322-D9CC-AE77-2B7F-13FF900DA7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C69A2682-9688-85B9-14C0-76331F5C564F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BE0BEACC-3AFA-0B5C-D274-EAE7AB90E09E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7EE4AD1-72F4-04D4-47E6-C61CA5D5A33B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de-DE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Verhalten nach True Count</a:t>
            </a: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93CEAE19-72DB-F3D1-49E7-E671D6E3D624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22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872C1FBF-793B-64FA-BBA0-2BBC2966000A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02115B67-CFCB-E4B2-CDAE-ED1C6CD7D16C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884828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E07AD0-5C95-385E-61E1-250D83662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C5C2BAF1-1184-A687-F56B-2E911E8D88C7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ACA4A13B-441C-DBC0-41EC-0FA909D22B15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B1CF81D-ABC1-3092-68F8-C5A8460C09BD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pl-PL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Policy bei TC −3/+3</a:t>
            </a:r>
            <a:endParaRPr lang="de-DE" sz="26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C681320D-C416-32A2-7E6C-FEAFBBA77688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23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C41275E8-55E2-AFDD-AE74-4C7A64F31B70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292A9F72-15C3-74B4-BD97-73D1F9F831C0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9449349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08F584-C7EF-483D-F19C-98FC2259C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9385613A-2F62-6472-1699-2374D324AB37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A50A1C1D-58CE-F375-2209-C88E7E2DB864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896414D-9C10-2D3C-8AAB-9C68F18AD49A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pl-PL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Antworten auf Leitfragen</a:t>
            </a:r>
            <a:endParaRPr lang="de-DE" sz="26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5FC2E809-E139-EAD1-240D-265CE48EBC1B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24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45393009-419B-71FE-3496-F3D91656334F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E04F2010-8270-2625-8511-6F07A5DF7FF2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6597749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018D3E-82F2-AB6C-1EE0-6DF09C6A6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4E8438DA-728D-1086-7C60-A7D6FEE95011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DE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E5D2E54E-7567-24E8-F164-70955FB32B33}"/>
              </a:ext>
            </a:extLst>
          </p:cNvPr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DE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DFB63C6-F676-9741-0872-C4DCD46ABBC7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pl-PL" sz="2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Nächste Schritte</a:t>
            </a:r>
            <a:endParaRPr lang="de-DE" sz="26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6092549B-6224-D5A0-0432-0F88142BEF4D}"/>
              </a:ext>
            </a:extLst>
          </p:cNvPr>
          <p:cNvSpPr/>
          <p:nvPr/>
        </p:nvSpPr>
        <p:spPr>
          <a:xfrm>
            <a:off x="6367670" y="54864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fld id="{1C87B5CB-FDE1-4D92-AEBF-0F36A1936069}" type="slidenum">
              <a:rPr lang="en-US" sz="900" b="1" smtClean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25</a:t>
            </a:fld>
            <a:endParaRPr lang="en-US" sz="9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B2C90E87-F915-027B-0565-5B24CE159CBD}"/>
              </a:ext>
            </a:extLst>
          </p:cNvPr>
          <p:cNvSpPr/>
          <p:nvPr/>
        </p:nvSpPr>
        <p:spPr>
          <a:xfrm>
            <a:off x="3412435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BHH · Machine Learning</a:t>
            </a:r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B1789A7C-1DA7-1FAC-46B4-07DB4264D1CB}"/>
              </a:ext>
            </a:extLst>
          </p:cNvPr>
          <p:cNvSpPr/>
          <p:nvPr/>
        </p:nvSpPr>
        <p:spPr>
          <a:xfrm>
            <a:off x="457200" y="60960"/>
            <a:ext cx="231913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Ergebnisse</a:t>
            </a:r>
            <a:r>
              <a:rPr lang="en-US" sz="9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 &amp; </a:t>
            </a:r>
            <a:r>
              <a:rPr lang="en-US" sz="900" b="1" dirty="0" err="1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Fazit</a:t>
            </a:r>
            <a:endParaRPr lang="en-US" sz="900" b="1" dirty="0">
              <a:solidFill>
                <a:srgbClr val="FFFFFF"/>
              </a:solidFill>
              <a:latin typeface="Cambria" panose="02040503050406030204" pitchFamily="18" charset="0"/>
              <a:ea typeface="Cambria" panose="02040503050406030204" pitchFamily="18" charset="0"/>
              <a:cs typeface="Cambria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507137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699</Words>
  <Application>Microsoft Office PowerPoint</Application>
  <PresentationFormat>Bildschirmpräsentation (16:9)</PresentationFormat>
  <Paragraphs>202</Paragraphs>
  <Slides>25</Slides>
  <Notes>11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25</vt:i4>
      </vt:variant>
    </vt:vector>
  </HeadingPairs>
  <TitlesOfParts>
    <vt:vector size="30" baseType="lpstr">
      <vt:lpstr>Arial</vt:lpstr>
      <vt:lpstr>Calibri</vt:lpstr>
      <vt:lpstr>Calibri Light</vt:lpstr>
      <vt:lpstr>Cambria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Reinforcement Learning für Blackjack-Agenten</dc:title>
  <dc:subject>PptxGenJS Presentation</dc:subject>
  <dc:creator>Arvid, Linus &amp; Tom</dc:creator>
  <cp:lastModifiedBy>Tom Markmann</cp:lastModifiedBy>
  <cp:revision>38</cp:revision>
  <dcterms:created xsi:type="dcterms:W3CDTF">2026-06-10T08:25:46Z</dcterms:created>
  <dcterms:modified xsi:type="dcterms:W3CDTF">2026-06-13T18:40:06Z</dcterms:modified>
</cp:coreProperties>
</file>