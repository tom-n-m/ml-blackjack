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theme/themeOverride1.xml" ContentType="application/vnd.openxmlformats-officedocument.themeOverr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71" r:id="rId7"/>
    <p:sldId id="261" r:id="rId8"/>
    <p:sldId id="267" r:id="rId9"/>
    <p:sldId id="262" r:id="rId10"/>
    <p:sldId id="264" r:id="rId11"/>
    <p:sldId id="285" r:id="rId12"/>
    <p:sldId id="273" r:id="rId13"/>
    <p:sldId id="278" r:id="rId14"/>
    <p:sldId id="279" r:id="rId15"/>
    <p:sldId id="281" r:id="rId16"/>
    <p:sldId id="282" r:id="rId17"/>
    <p:sldId id="283" r:id="rId18"/>
    <p:sldId id="263" r:id="rId19"/>
    <p:sldId id="287" r:id="rId20"/>
    <p:sldId id="268" r:id="rId21"/>
    <p:sldId id="269" r:id="rId22"/>
    <p:sldId id="284" r:id="rId23"/>
    <p:sldId id="270" r:id="rId2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F172A"/>
    <a:srgbClr val="10B98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43" d="100"/>
          <a:sy n="143" d="100"/>
        </p:scale>
        <p:origin x="684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972221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FE228A-1B19-CC3E-F8E2-2C3FF801EC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48F403-D6A9-5F50-918C-92552A099D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3BFB815-8B09-8546-D9B9-84385517BC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4FB58B-4595-E68B-C457-CAC7A1B87AF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338299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008308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748D71-F99F-F5DB-2902-44BBCE0CC6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32D4A9A-53F8-80E3-AB57-1CC5659133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FB0886F-979D-4B8F-1A35-BB2F85E624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4ADEFA-D20D-918F-4710-ECD1D236507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857061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FC15E8-45F2-11DA-FBD3-DB4C686170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DC7188-B303-8C24-BA8C-8D437DFBFA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C7A179C-02A5-EBBB-C804-0BCF3E8146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DA2503-FE41-67D4-6CB6-A60F1747CFA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051906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428266-E290-CE0C-FBBC-7F9E6D8CA4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005ECD-C0C4-232F-ADC7-F0D50934FA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536CE1-0A28-6C95-D757-10BDA25C63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1CCBA9-1D47-DA7C-615F-52CF12991B9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757336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C81354-B509-CB96-9A41-5178416575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120E6A-A370-62A1-9FA6-EE27D6D76D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39F650-3C2A-F1BA-AC9E-050B4DFA4D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33C659-9657-5D66-1AD7-0D863978E3A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557244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5A86A3-A50F-489B-CB2F-3185BE62EE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7BDCADC-2682-86CA-7F7A-97712AD37E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E56264F-26A1-FFDC-E033-50879DBF89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5E4AAA-F0D1-3FA1-608F-8F087FCC188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794286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425E47-9376-662F-454E-E6EEEEE796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8F2DAF-4541-ED72-D808-F3857FA415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190EC8-FE27-5301-7648-92CF74CD4D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D7A0F0-1888-6805-E299-5EB68F15120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959810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C7AD01-EE8C-3A11-98AD-C73200A69D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A4F6AB-0B65-7F2F-9578-CDAE139E0B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98FF1A6-5A36-564F-C733-67AD5C4BE5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639DB1-6725-A2EA-1B4A-625BCF7D77C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745083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4" name="Google Shape;194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2">
          <a:extLst>
            <a:ext uri="{FF2B5EF4-FFF2-40B4-BE49-F238E27FC236}">
              <a16:creationId xmlns:a16="http://schemas.microsoft.com/office/drawing/2014/main" id="{F66A74F1-186F-A4F4-F11E-F2B1B7DCE1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8:notes">
            <a:extLst>
              <a:ext uri="{FF2B5EF4-FFF2-40B4-BE49-F238E27FC236}">
                <a16:creationId xmlns:a16="http://schemas.microsoft.com/office/drawing/2014/main" id="{99AD158C-D873-380D-0FD0-29E032F9809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4" name="Google Shape;194;p8:notes">
            <a:extLst>
              <a:ext uri="{FF2B5EF4-FFF2-40B4-BE49-F238E27FC236}">
                <a16:creationId xmlns:a16="http://schemas.microsoft.com/office/drawing/2014/main" id="{4AFD012C-1B18-74B0-8A63-0180BA3308B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2353494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7932C2-A805-FB19-A551-979045FDF8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43E700-A073-C9C6-300B-24D1045384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0C00616-D428-3D83-D186-6A5AA62C13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1FFCF2-FE74-9D63-207C-4B0E051E6FA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61474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58354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7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1" Type="http://schemas.openxmlformats.org/officeDocument/2006/relationships/themeOverride" Target="../theme/themeOverride1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C8A818B2-C3A5-B80D-DA75-B1318A3367F8}"/>
              </a:ext>
            </a:extLst>
          </p:cNvPr>
          <p:cNvGrpSpPr/>
          <p:nvPr/>
        </p:nvGrpSpPr>
        <p:grpSpPr>
          <a:xfrm>
            <a:off x="6217920" y="-1097280"/>
            <a:ext cx="5029200" cy="5029200"/>
            <a:chOff x="6217920" y="-1097280"/>
            <a:chExt cx="5029200" cy="5029200"/>
          </a:xfrm>
        </p:grpSpPr>
        <p:sp>
          <p:nvSpPr>
            <p:cNvPr id="3" name="Shape 1"/>
            <p:cNvSpPr/>
            <p:nvPr/>
          </p:nvSpPr>
          <p:spPr>
            <a:xfrm>
              <a:off x="6217920" y="-1097280"/>
              <a:ext cx="5029200" cy="5029200"/>
            </a:xfrm>
            <a:prstGeom prst="ellipse">
              <a:avLst/>
            </a:prstGeom>
            <a:solidFill>
              <a:srgbClr val="14B8A6">
                <a:alpha val="12000"/>
              </a:srgbClr>
            </a:solidFill>
            <a:ln w="12700">
              <a:solidFill>
                <a:srgbClr val="0D9488">
                  <a:alpha val="30000"/>
                </a:srgbClr>
              </a:solidFill>
              <a:prstDash val="solid"/>
            </a:ln>
          </p:spPr>
          <p:txBody>
            <a:bodyPr/>
            <a:lstStyle/>
            <a:p>
              <a:endParaRPr lang="de-DE"/>
            </a:p>
          </p:txBody>
        </p:sp>
        <p:sp>
          <p:nvSpPr>
            <p:cNvPr id="4" name="Shape 2"/>
            <p:cNvSpPr/>
            <p:nvPr/>
          </p:nvSpPr>
          <p:spPr>
            <a:xfrm>
              <a:off x="6766560" y="-548640"/>
              <a:ext cx="3474720" cy="3474720"/>
            </a:xfrm>
            <a:prstGeom prst="ellipse">
              <a:avLst/>
            </a:prstGeom>
            <a:solidFill>
              <a:srgbClr val="14B8A6">
                <a:alpha val="18000"/>
              </a:srgbClr>
            </a:solidFill>
            <a:ln w="12700">
              <a:solidFill>
                <a:srgbClr val="0D9488">
                  <a:alpha val="40000"/>
                </a:srgbClr>
              </a:solidFill>
              <a:prstDash val="solid"/>
            </a:ln>
          </p:spPr>
          <p:txBody>
            <a:bodyPr/>
            <a:lstStyle/>
            <a:p>
              <a:endParaRPr lang="de-DE"/>
            </a:p>
          </p:txBody>
        </p:sp>
      </p:grpSp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FBCF9396-4B3A-1777-E4F2-DC8C0EFFB817}"/>
              </a:ext>
            </a:extLst>
          </p:cNvPr>
          <p:cNvGrpSpPr/>
          <p:nvPr/>
        </p:nvGrpSpPr>
        <p:grpSpPr>
          <a:xfrm>
            <a:off x="548640" y="1005840"/>
            <a:ext cx="2926080" cy="347472"/>
            <a:chOff x="548640" y="1005840"/>
            <a:chExt cx="2926080" cy="347472"/>
          </a:xfrm>
        </p:grpSpPr>
        <p:sp>
          <p:nvSpPr>
            <p:cNvPr id="5" name="Shape 3"/>
            <p:cNvSpPr/>
            <p:nvPr/>
          </p:nvSpPr>
          <p:spPr>
            <a:xfrm>
              <a:off x="548640" y="1005840"/>
              <a:ext cx="2926080" cy="347472"/>
            </a:xfrm>
            <a:prstGeom prst="roundRect">
              <a:avLst>
                <a:gd name="adj" fmla="val 21053"/>
              </a:avLst>
            </a:prstGeom>
            <a:solidFill>
              <a:srgbClr val="0D9488">
                <a:alpha val="85000"/>
              </a:srgbClr>
            </a:solidFill>
            <a:ln w="12700">
              <a:solidFill>
                <a:srgbClr val="0D9488"/>
              </a:solidFill>
              <a:prstDash val="solid"/>
            </a:ln>
          </p:spPr>
          <p:txBody>
            <a:bodyPr/>
            <a:lstStyle/>
            <a:p>
              <a:endParaRPr lang="de-DE"/>
            </a:p>
          </p:txBody>
        </p:sp>
        <p:sp>
          <p:nvSpPr>
            <p:cNvPr id="6" name="Text 4"/>
            <p:cNvSpPr/>
            <p:nvPr/>
          </p:nvSpPr>
          <p:spPr>
            <a:xfrm>
              <a:off x="548640" y="1005840"/>
              <a:ext cx="2926080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00" b="1" dirty="0">
                  <a:solidFill>
                    <a:srgbClr val="FFFFFF"/>
                  </a:solidFill>
                </a:rPr>
                <a:t>BHH · MACHINE LEARNING · JUNI 2026</a:t>
              </a:r>
              <a:endParaRPr lang="en-US" sz="900" dirty="0"/>
            </a:p>
          </p:txBody>
        </p:sp>
      </p:grpSp>
      <p:sp>
        <p:nvSpPr>
          <p:cNvPr id="7" name="Text 5"/>
          <p:cNvSpPr/>
          <p:nvPr/>
        </p:nvSpPr>
        <p:spPr>
          <a:xfrm>
            <a:off x="548640" y="1572768"/>
            <a:ext cx="7863840" cy="8229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l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Reinforcement Learning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548640" y="2340864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4000" dirty="0">
                <a:solidFill>
                  <a:srgbClr val="5EEA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für Blackjack-Agenten</a:t>
            </a:r>
            <a:endParaRPr lang="en-US" sz="4000" dirty="0"/>
          </a:p>
        </p:txBody>
      </p: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002FD12B-9FF9-A621-05B6-00EB51A9F880}"/>
              </a:ext>
            </a:extLst>
          </p:cNvPr>
          <p:cNvGrpSpPr/>
          <p:nvPr/>
        </p:nvGrpSpPr>
        <p:grpSpPr>
          <a:xfrm>
            <a:off x="548640" y="3200400"/>
            <a:ext cx="5486400" cy="612648"/>
            <a:chOff x="548640" y="3200400"/>
            <a:chExt cx="5486400" cy="612648"/>
          </a:xfrm>
        </p:grpSpPr>
        <p:sp>
          <p:nvSpPr>
            <p:cNvPr id="9" name="Shape 7"/>
            <p:cNvSpPr/>
            <p:nvPr/>
          </p:nvSpPr>
          <p:spPr>
            <a:xfrm>
              <a:off x="548640" y="3200400"/>
              <a:ext cx="2194560" cy="36576"/>
            </a:xfrm>
            <a:prstGeom prst="rect">
              <a:avLst/>
            </a:prstGeom>
            <a:solidFill>
              <a:srgbClr val="0D9488"/>
            </a:solidFill>
            <a:ln w="12700">
              <a:solidFill>
                <a:srgbClr val="0D9488"/>
              </a:solidFill>
              <a:prstDash val="solid"/>
            </a:ln>
          </p:spPr>
          <p:txBody>
            <a:bodyPr/>
            <a:lstStyle/>
            <a:p>
              <a:endParaRPr lang="de-DE"/>
            </a:p>
          </p:txBody>
        </p:sp>
        <p:sp>
          <p:nvSpPr>
            <p:cNvPr id="10" name="Text 8"/>
            <p:cNvSpPr/>
            <p:nvPr/>
          </p:nvSpPr>
          <p:spPr>
            <a:xfrm>
              <a:off x="548640" y="3401568"/>
              <a:ext cx="5486400" cy="4114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1600" dirty="0">
                  <a:solidFill>
                    <a:srgbClr val="94A3B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Arvid · Linus · Tom</a:t>
              </a:r>
              <a:endParaRPr lang="en-US" sz="1600" dirty="0"/>
            </a:p>
          </p:txBody>
        </p:sp>
      </p:grpSp>
      <p:sp>
        <p:nvSpPr>
          <p:cNvPr id="11" name="!!1"/>
          <p:cNvSpPr/>
          <p:nvPr/>
        </p:nvSpPr>
        <p:spPr>
          <a:xfrm>
            <a:off x="457200" y="4206240"/>
            <a:ext cx="1920240" cy="640080"/>
          </a:xfrm>
          <a:prstGeom prst="roundRect">
            <a:avLst>
              <a:gd name="adj" fmla="val 14286"/>
            </a:avLst>
          </a:prstGeom>
          <a:solidFill>
            <a:srgbClr val="1E3A5F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2" name="Text 10"/>
          <p:cNvSpPr/>
          <p:nvPr/>
        </p:nvSpPr>
        <p:spPr>
          <a:xfrm>
            <a:off x="457200" y="4242816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4B8A6"/>
                </a:solidFill>
              </a:rPr>
              <a:t>100M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57200" y="4553712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</a:rPr>
              <a:t>Episoden</a:t>
            </a:r>
            <a:endParaRPr lang="en-US" sz="900" dirty="0"/>
          </a:p>
        </p:txBody>
      </p:sp>
      <p:sp>
        <p:nvSpPr>
          <p:cNvPr id="14" name="!!2"/>
          <p:cNvSpPr/>
          <p:nvPr/>
        </p:nvSpPr>
        <p:spPr>
          <a:xfrm>
            <a:off x="2450592" y="4206240"/>
            <a:ext cx="1920240" cy="640080"/>
          </a:xfrm>
          <a:prstGeom prst="roundRect">
            <a:avLst>
              <a:gd name="adj" fmla="val 14286"/>
            </a:avLst>
          </a:prstGeom>
          <a:solidFill>
            <a:srgbClr val="1E3A5F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5" name="Text 13"/>
          <p:cNvSpPr/>
          <p:nvPr/>
        </p:nvSpPr>
        <p:spPr>
          <a:xfrm>
            <a:off x="2450592" y="4242816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4B8A6"/>
                </a:solidFill>
              </a:rPr>
              <a:t>2 Agenten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2450592" y="4553712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</a:rPr>
              <a:t>trainiert</a:t>
            </a:r>
            <a:endParaRPr lang="en-US" sz="900" dirty="0"/>
          </a:p>
        </p:txBody>
      </p:sp>
      <p:grpSp>
        <p:nvGrpSpPr>
          <p:cNvPr id="55" name="Gruppieren 54">
            <a:extLst>
              <a:ext uri="{FF2B5EF4-FFF2-40B4-BE49-F238E27FC236}">
                <a16:creationId xmlns:a16="http://schemas.microsoft.com/office/drawing/2014/main" id="{E8FF366A-BC70-7BF2-5194-77A64FA004F5}"/>
              </a:ext>
            </a:extLst>
          </p:cNvPr>
          <p:cNvGrpSpPr/>
          <p:nvPr/>
        </p:nvGrpSpPr>
        <p:grpSpPr>
          <a:xfrm>
            <a:off x="4443984" y="4206240"/>
            <a:ext cx="3914140" cy="640080"/>
            <a:chOff x="4443984" y="4206240"/>
            <a:chExt cx="3914140" cy="640080"/>
          </a:xfrm>
        </p:grpSpPr>
        <p:sp>
          <p:nvSpPr>
            <p:cNvPr id="54" name="!!3">
              <a:extLst>
                <a:ext uri="{FF2B5EF4-FFF2-40B4-BE49-F238E27FC236}">
                  <a16:creationId xmlns:a16="http://schemas.microsoft.com/office/drawing/2014/main" id="{E89AA557-6F59-A596-65E5-1DDE01474E10}"/>
                </a:ext>
              </a:extLst>
            </p:cNvPr>
            <p:cNvSpPr/>
            <p:nvPr/>
          </p:nvSpPr>
          <p:spPr>
            <a:xfrm>
              <a:off x="6437884" y="4206240"/>
              <a:ext cx="1920240" cy="640080"/>
            </a:xfrm>
            <a:prstGeom prst="roundRect">
              <a:avLst>
                <a:gd name="adj" fmla="val 14286"/>
              </a:avLst>
            </a:prstGeom>
            <a:solidFill>
              <a:srgbClr val="1E3A5F"/>
            </a:solidFill>
            <a:ln w="12700">
              <a:solidFill>
                <a:srgbClr val="0D9488">
                  <a:alpha val="40000"/>
                </a:srgbClr>
              </a:solidFill>
              <a:prstDash val="solid"/>
            </a:ln>
            <a:effectLst>
              <a:outerShdw blurRad="101600" dist="25400" dir="2700000" algn="bl" rotWithShape="0">
                <a:srgbClr val="000000">
                  <a:alpha val="14000"/>
                </a:srgbClr>
              </a:outerShdw>
            </a:effectLst>
          </p:spPr>
          <p:txBody>
            <a:bodyPr/>
            <a:lstStyle/>
            <a:p>
              <a:endParaRPr lang="de-DE"/>
            </a:p>
          </p:txBody>
        </p:sp>
        <p:sp>
          <p:nvSpPr>
            <p:cNvPr id="17" name="!!3"/>
            <p:cNvSpPr/>
            <p:nvPr/>
          </p:nvSpPr>
          <p:spPr>
            <a:xfrm>
              <a:off x="4443984" y="4206240"/>
              <a:ext cx="1920240" cy="640080"/>
            </a:xfrm>
            <a:prstGeom prst="roundRect">
              <a:avLst>
                <a:gd name="adj" fmla="val 14286"/>
              </a:avLst>
            </a:prstGeom>
            <a:solidFill>
              <a:srgbClr val="1E3A5F"/>
            </a:solidFill>
            <a:ln w="12700">
              <a:solidFill>
                <a:srgbClr val="0D9488">
                  <a:alpha val="40000"/>
                </a:srgbClr>
              </a:solidFill>
              <a:prstDash val="solid"/>
            </a:ln>
            <a:effectLst>
              <a:outerShdw blurRad="101600" dist="25400" dir="2700000" algn="bl" rotWithShape="0">
                <a:srgbClr val="000000">
                  <a:alpha val="14000"/>
                </a:srgbClr>
              </a:outerShdw>
            </a:effectLst>
          </p:spPr>
          <p:txBody>
            <a:bodyPr/>
            <a:lstStyle/>
            <a:p>
              <a:endParaRPr lang="de-DE"/>
            </a:p>
          </p:txBody>
        </p:sp>
      </p:grpSp>
      <p:sp>
        <p:nvSpPr>
          <p:cNvPr id="18" name="Text 16"/>
          <p:cNvSpPr/>
          <p:nvPr/>
        </p:nvSpPr>
        <p:spPr>
          <a:xfrm>
            <a:off x="4443984" y="4242816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4B8A6"/>
                </a:solidFill>
              </a:rPr>
              <a:t>42.8%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443984" y="4553712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</a:rPr>
              <a:t>Win Rate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437376" y="4242816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4B8A6"/>
                </a:solidFill>
              </a:rPr>
              <a:t>Q-Learning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437376" y="4553712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</a:rPr>
              <a:t>Algorithmus</a:t>
            </a:r>
            <a:endParaRPr lang="en-US" sz="900" dirty="0"/>
          </a:p>
        </p:txBody>
      </p:sp>
      <p:sp>
        <p:nvSpPr>
          <p:cNvPr id="32" name="!!6">
            <a:extLst>
              <a:ext uri="{FF2B5EF4-FFF2-40B4-BE49-F238E27FC236}">
                <a16:creationId xmlns:a16="http://schemas.microsoft.com/office/drawing/2014/main" id="{3204CAE5-0D7A-9786-BE7C-AFF3F2BBADFB}"/>
              </a:ext>
            </a:extLst>
          </p:cNvPr>
          <p:cNvSpPr>
            <a:spLocks/>
          </p:cNvSpPr>
          <p:nvPr/>
        </p:nvSpPr>
        <p:spPr>
          <a:xfrm>
            <a:off x="-4075614" y="1097280"/>
            <a:ext cx="3931920" cy="3474720"/>
          </a:xfrm>
          <a:prstGeom prst="roundRect">
            <a:avLst>
              <a:gd name="adj" fmla="val 3947"/>
            </a:avLst>
          </a:prstGeom>
          <a:solidFill>
            <a:srgbClr val="1E293B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33" name="Text 4">
            <a:extLst>
              <a:ext uri="{FF2B5EF4-FFF2-40B4-BE49-F238E27FC236}">
                <a16:creationId xmlns:a16="http://schemas.microsoft.com/office/drawing/2014/main" id="{3802B1F4-09E2-8006-7C40-859511BE66D1}"/>
              </a:ext>
            </a:extLst>
          </p:cNvPr>
          <p:cNvSpPr/>
          <p:nvPr/>
        </p:nvSpPr>
        <p:spPr>
          <a:xfrm>
            <a:off x="-3938454" y="12344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4B8A6"/>
                </a:solidFill>
              </a:rPr>
              <a:t>Warum Blackjack?</a:t>
            </a:r>
            <a:endParaRPr lang="en-US" sz="1400" dirty="0"/>
          </a:p>
        </p:txBody>
      </p:sp>
      <p:sp>
        <p:nvSpPr>
          <p:cNvPr id="34" name="!!1">
            <a:extLst>
              <a:ext uri="{FF2B5EF4-FFF2-40B4-BE49-F238E27FC236}">
                <a16:creationId xmlns:a16="http://schemas.microsoft.com/office/drawing/2014/main" id="{A7DA01F3-049F-C09A-8F61-C6D9A8D5AC93}"/>
              </a:ext>
            </a:extLst>
          </p:cNvPr>
          <p:cNvSpPr/>
          <p:nvPr/>
        </p:nvSpPr>
        <p:spPr>
          <a:xfrm>
            <a:off x="-3938454" y="1737360"/>
            <a:ext cx="3611880" cy="777240"/>
          </a:xfrm>
          <a:prstGeom prst="roundRect">
            <a:avLst>
              <a:gd name="adj" fmla="val 11765"/>
            </a:avLst>
          </a:prstGeom>
          <a:solidFill>
            <a:srgbClr val="1E3A5F"/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5" name="Text 6">
            <a:extLst>
              <a:ext uri="{FF2B5EF4-FFF2-40B4-BE49-F238E27FC236}">
                <a16:creationId xmlns:a16="http://schemas.microsoft.com/office/drawing/2014/main" id="{6D1DA905-DB94-B070-53DC-48965D33A876}"/>
              </a:ext>
            </a:extLst>
          </p:cNvPr>
          <p:cNvSpPr/>
          <p:nvPr/>
        </p:nvSpPr>
        <p:spPr>
          <a:xfrm>
            <a:off x="-3847014" y="1783080"/>
            <a:ext cx="3429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B8A6"/>
                </a:solidFill>
              </a:rPr>
              <a:t>Diskrete Zustandsräume</a:t>
            </a:r>
            <a:endParaRPr lang="en-US" sz="1100" dirty="0"/>
          </a:p>
        </p:txBody>
      </p:sp>
      <p:sp>
        <p:nvSpPr>
          <p:cNvPr id="36" name="Text 7">
            <a:extLst>
              <a:ext uri="{FF2B5EF4-FFF2-40B4-BE49-F238E27FC236}">
                <a16:creationId xmlns:a16="http://schemas.microsoft.com/office/drawing/2014/main" id="{917BB9CD-C317-151E-20AC-5C8DC6794F5B}"/>
              </a:ext>
            </a:extLst>
          </p:cNvPr>
          <p:cNvSpPr/>
          <p:nvPr/>
        </p:nvSpPr>
        <p:spPr>
          <a:xfrm>
            <a:off x="-3847014" y="2011680"/>
            <a:ext cx="3429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</a:rPr>
              <a:t>States &amp; Actions klar definiert – ideal für tabellarisches Q-Learning ohne Näherungsfunktionen.</a:t>
            </a:r>
            <a:endParaRPr lang="en-US" sz="950" dirty="0"/>
          </a:p>
        </p:txBody>
      </p:sp>
      <p:sp>
        <p:nvSpPr>
          <p:cNvPr id="37" name="!!2">
            <a:extLst>
              <a:ext uri="{FF2B5EF4-FFF2-40B4-BE49-F238E27FC236}">
                <a16:creationId xmlns:a16="http://schemas.microsoft.com/office/drawing/2014/main" id="{AA6F2A9C-9587-315A-16F4-D30AAFBC1E2C}"/>
              </a:ext>
            </a:extLst>
          </p:cNvPr>
          <p:cNvSpPr/>
          <p:nvPr/>
        </p:nvSpPr>
        <p:spPr>
          <a:xfrm>
            <a:off x="-3938454" y="2697480"/>
            <a:ext cx="3611880" cy="777240"/>
          </a:xfrm>
          <a:prstGeom prst="roundRect">
            <a:avLst>
              <a:gd name="adj" fmla="val 11765"/>
            </a:avLst>
          </a:prstGeom>
          <a:solidFill>
            <a:srgbClr val="1E3A5F"/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8" name="Text 9">
            <a:extLst>
              <a:ext uri="{FF2B5EF4-FFF2-40B4-BE49-F238E27FC236}">
                <a16:creationId xmlns:a16="http://schemas.microsoft.com/office/drawing/2014/main" id="{55E0039E-3922-7E7F-5049-4A51C019F784}"/>
              </a:ext>
            </a:extLst>
          </p:cNvPr>
          <p:cNvSpPr/>
          <p:nvPr/>
        </p:nvSpPr>
        <p:spPr>
          <a:xfrm>
            <a:off x="-3847014" y="2743200"/>
            <a:ext cx="3429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B8A6"/>
                </a:solidFill>
              </a:rPr>
              <a:t>Bekannte Baseline</a:t>
            </a:r>
            <a:endParaRPr lang="en-US" sz="1100" dirty="0"/>
          </a:p>
        </p:txBody>
      </p:sp>
      <p:sp>
        <p:nvSpPr>
          <p:cNvPr id="39" name="Text 10">
            <a:extLst>
              <a:ext uri="{FF2B5EF4-FFF2-40B4-BE49-F238E27FC236}">
                <a16:creationId xmlns:a16="http://schemas.microsoft.com/office/drawing/2014/main" id="{B3712B5C-AC69-1DEB-D60B-8E466BD60429}"/>
              </a:ext>
            </a:extLst>
          </p:cNvPr>
          <p:cNvSpPr/>
          <p:nvPr/>
        </p:nvSpPr>
        <p:spPr>
          <a:xfrm>
            <a:off x="-3847014" y="2971800"/>
            <a:ext cx="3429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</a:rPr>
              <a:t>Basic Strategy als mathematisch optimale Vergleichsreferenz vorhanden.</a:t>
            </a:r>
            <a:endParaRPr lang="en-US" sz="950" dirty="0"/>
          </a:p>
        </p:txBody>
      </p:sp>
      <p:sp>
        <p:nvSpPr>
          <p:cNvPr id="40" name="!!3">
            <a:extLst>
              <a:ext uri="{FF2B5EF4-FFF2-40B4-BE49-F238E27FC236}">
                <a16:creationId xmlns:a16="http://schemas.microsoft.com/office/drawing/2014/main" id="{E4866376-A55A-833E-740D-0F60B6641A46}"/>
              </a:ext>
            </a:extLst>
          </p:cNvPr>
          <p:cNvSpPr/>
          <p:nvPr/>
        </p:nvSpPr>
        <p:spPr>
          <a:xfrm>
            <a:off x="-3938454" y="3657600"/>
            <a:ext cx="3611880" cy="777240"/>
          </a:xfrm>
          <a:prstGeom prst="roundRect">
            <a:avLst>
              <a:gd name="adj" fmla="val 11765"/>
            </a:avLst>
          </a:prstGeom>
          <a:solidFill>
            <a:srgbClr val="1E3A5F"/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1" name="Text 12">
            <a:extLst>
              <a:ext uri="{FF2B5EF4-FFF2-40B4-BE49-F238E27FC236}">
                <a16:creationId xmlns:a16="http://schemas.microsoft.com/office/drawing/2014/main" id="{8C1F25BE-9528-C4CD-E8ED-9EAE9A67285F}"/>
              </a:ext>
            </a:extLst>
          </p:cNvPr>
          <p:cNvSpPr/>
          <p:nvPr/>
        </p:nvSpPr>
        <p:spPr>
          <a:xfrm>
            <a:off x="-3847014" y="3703320"/>
            <a:ext cx="3429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B8A6"/>
                </a:solidFill>
              </a:rPr>
              <a:t>Kartenzählung integrierbar</a:t>
            </a:r>
            <a:endParaRPr lang="en-US" sz="1100" dirty="0"/>
          </a:p>
        </p:txBody>
      </p:sp>
      <p:sp>
        <p:nvSpPr>
          <p:cNvPr id="42" name="Text 13">
            <a:extLst>
              <a:ext uri="{FF2B5EF4-FFF2-40B4-BE49-F238E27FC236}">
                <a16:creationId xmlns:a16="http://schemas.microsoft.com/office/drawing/2014/main" id="{04E77EAF-97CD-821E-2E9B-382D4477D486}"/>
              </a:ext>
            </a:extLst>
          </p:cNvPr>
          <p:cNvSpPr/>
          <p:nvPr/>
        </p:nvSpPr>
        <p:spPr>
          <a:xfrm>
            <a:off x="-3847014" y="3931920"/>
            <a:ext cx="3429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</a:rPr>
              <a:t>True-Count-Information als erweiterter State-Feature testbar.</a:t>
            </a:r>
            <a:endParaRPr lang="en-US" sz="950" dirty="0"/>
          </a:p>
        </p:txBody>
      </p:sp>
      <p:sp>
        <p:nvSpPr>
          <p:cNvPr id="43" name="!!5">
            <a:extLst>
              <a:ext uri="{FF2B5EF4-FFF2-40B4-BE49-F238E27FC236}">
                <a16:creationId xmlns:a16="http://schemas.microsoft.com/office/drawing/2014/main" id="{2FF71E43-4AFE-670C-7DFC-76F30D0EB28E}"/>
              </a:ext>
            </a:extLst>
          </p:cNvPr>
          <p:cNvSpPr/>
          <p:nvPr/>
        </p:nvSpPr>
        <p:spPr>
          <a:xfrm>
            <a:off x="9525729" y="1097280"/>
            <a:ext cx="4114800" cy="3474720"/>
          </a:xfrm>
          <a:prstGeom prst="roundRect">
            <a:avLst>
              <a:gd name="adj" fmla="val 3947"/>
            </a:avLst>
          </a:prstGeom>
          <a:solidFill>
            <a:srgbClr val="1E293B"/>
          </a:solidFill>
          <a:ln w="12700">
            <a:solidFill>
              <a:srgbClr val="F59E0B">
                <a:alpha val="4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44" name="Text 15">
            <a:extLst>
              <a:ext uri="{FF2B5EF4-FFF2-40B4-BE49-F238E27FC236}">
                <a16:creationId xmlns:a16="http://schemas.microsoft.com/office/drawing/2014/main" id="{2D629A66-D22C-40DA-5A21-D3D584D90814}"/>
              </a:ext>
            </a:extLst>
          </p:cNvPr>
          <p:cNvSpPr/>
          <p:nvPr/>
        </p:nvSpPr>
        <p:spPr>
          <a:xfrm>
            <a:off x="9662889" y="12344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59E0B"/>
                </a:solidFill>
              </a:rPr>
              <a:t>Forschungsfragen</a:t>
            </a:r>
            <a:endParaRPr lang="en-US" sz="1400" dirty="0"/>
          </a:p>
        </p:txBody>
      </p:sp>
      <p:sp>
        <p:nvSpPr>
          <p:cNvPr id="45" name="Shape 16">
            <a:extLst>
              <a:ext uri="{FF2B5EF4-FFF2-40B4-BE49-F238E27FC236}">
                <a16:creationId xmlns:a16="http://schemas.microsoft.com/office/drawing/2014/main" id="{A692901B-A18B-218C-2BC3-16FCBD79E8A6}"/>
              </a:ext>
            </a:extLst>
          </p:cNvPr>
          <p:cNvSpPr/>
          <p:nvPr/>
        </p:nvSpPr>
        <p:spPr>
          <a:xfrm>
            <a:off x="9662889" y="1810512"/>
            <a:ext cx="365760" cy="36576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6" name="Text 17">
            <a:extLst>
              <a:ext uri="{FF2B5EF4-FFF2-40B4-BE49-F238E27FC236}">
                <a16:creationId xmlns:a16="http://schemas.microsoft.com/office/drawing/2014/main" id="{6D60E8A1-74C6-1C49-67C9-82DA426E2657}"/>
              </a:ext>
            </a:extLst>
          </p:cNvPr>
          <p:cNvSpPr/>
          <p:nvPr/>
        </p:nvSpPr>
        <p:spPr>
          <a:xfrm>
            <a:off x="9662889" y="1810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</a:rPr>
              <a:t>1</a:t>
            </a:r>
            <a:endParaRPr lang="en-US" sz="1200" dirty="0"/>
          </a:p>
        </p:txBody>
      </p:sp>
      <p:sp>
        <p:nvSpPr>
          <p:cNvPr id="47" name="Text 18">
            <a:extLst>
              <a:ext uri="{FF2B5EF4-FFF2-40B4-BE49-F238E27FC236}">
                <a16:creationId xmlns:a16="http://schemas.microsoft.com/office/drawing/2014/main" id="{B78C5AA9-E60D-44F0-4FBB-26341D3C4BDF}"/>
              </a:ext>
            </a:extLst>
          </p:cNvPr>
          <p:cNvSpPr/>
          <p:nvPr/>
        </p:nvSpPr>
        <p:spPr>
          <a:xfrm>
            <a:off x="10120089" y="1796796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1F5F9"/>
                </a:solidFill>
              </a:rPr>
              <a:t>Kann ein Q-Learning Agent Kartenzählung aktiv nutzen?</a:t>
            </a:r>
            <a:endParaRPr lang="en-US" sz="1100" dirty="0"/>
          </a:p>
        </p:txBody>
      </p:sp>
      <p:sp>
        <p:nvSpPr>
          <p:cNvPr id="48" name="Shape 19">
            <a:extLst>
              <a:ext uri="{FF2B5EF4-FFF2-40B4-BE49-F238E27FC236}">
                <a16:creationId xmlns:a16="http://schemas.microsoft.com/office/drawing/2014/main" id="{A325DCB5-41C8-E272-203E-CD752709FCBA}"/>
              </a:ext>
            </a:extLst>
          </p:cNvPr>
          <p:cNvSpPr/>
          <p:nvPr/>
        </p:nvSpPr>
        <p:spPr>
          <a:xfrm>
            <a:off x="9662889" y="2770632"/>
            <a:ext cx="365760" cy="36576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9" name="Text 20">
            <a:extLst>
              <a:ext uri="{FF2B5EF4-FFF2-40B4-BE49-F238E27FC236}">
                <a16:creationId xmlns:a16="http://schemas.microsoft.com/office/drawing/2014/main" id="{A407E1B5-0DD6-538A-704F-B843A2ADCF25}"/>
              </a:ext>
            </a:extLst>
          </p:cNvPr>
          <p:cNvSpPr/>
          <p:nvPr/>
        </p:nvSpPr>
        <p:spPr>
          <a:xfrm>
            <a:off x="9662889" y="27706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</a:rPr>
              <a:t>2</a:t>
            </a:r>
            <a:endParaRPr lang="en-US" sz="1200" dirty="0"/>
          </a:p>
        </p:txBody>
      </p:sp>
      <p:sp>
        <p:nvSpPr>
          <p:cNvPr id="50" name="Text 21">
            <a:extLst>
              <a:ext uri="{FF2B5EF4-FFF2-40B4-BE49-F238E27FC236}">
                <a16:creationId xmlns:a16="http://schemas.microsoft.com/office/drawing/2014/main" id="{FAA4D58A-72D0-1E8E-06F1-15C60D193D71}"/>
              </a:ext>
            </a:extLst>
          </p:cNvPr>
          <p:cNvSpPr/>
          <p:nvPr/>
        </p:nvSpPr>
        <p:spPr>
          <a:xfrm>
            <a:off x="10120089" y="2743200"/>
            <a:ext cx="3337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1F5F9"/>
                </a:solidFill>
              </a:rPr>
              <a:t>Verbessert sich die Performance signifikant mit erweiterten State-Features?</a:t>
            </a:r>
            <a:endParaRPr lang="en-US" sz="1100" dirty="0"/>
          </a:p>
        </p:txBody>
      </p:sp>
      <p:sp>
        <p:nvSpPr>
          <p:cNvPr id="51" name="Shape 22">
            <a:extLst>
              <a:ext uri="{FF2B5EF4-FFF2-40B4-BE49-F238E27FC236}">
                <a16:creationId xmlns:a16="http://schemas.microsoft.com/office/drawing/2014/main" id="{A1338F8B-5826-A6FC-C2CA-E52106B704D0}"/>
              </a:ext>
            </a:extLst>
          </p:cNvPr>
          <p:cNvSpPr/>
          <p:nvPr/>
        </p:nvSpPr>
        <p:spPr>
          <a:xfrm>
            <a:off x="9662889" y="3730752"/>
            <a:ext cx="365760" cy="36576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2" name="Text 23">
            <a:extLst>
              <a:ext uri="{FF2B5EF4-FFF2-40B4-BE49-F238E27FC236}">
                <a16:creationId xmlns:a16="http://schemas.microsoft.com/office/drawing/2014/main" id="{0C0D3F35-EBEC-8C4D-E754-24B727A28833}"/>
              </a:ext>
            </a:extLst>
          </p:cNvPr>
          <p:cNvSpPr/>
          <p:nvPr/>
        </p:nvSpPr>
        <p:spPr>
          <a:xfrm>
            <a:off x="9662889" y="37307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</a:rPr>
              <a:t>3</a:t>
            </a:r>
            <a:endParaRPr lang="en-US" sz="1200" dirty="0"/>
          </a:p>
        </p:txBody>
      </p:sp>
      <p:sp>
        <p:nvSpPr>
          <p:cNvPr id="53" name="Text 24">
            <a:extLst>
              <a:ext uri="{FF2B5EF4-FFF2-40B4-BE49-F238E27FC236}">
                <a16:creationId xmlns:a16="http://schemas.microsoft.com/office/drawing/2014/main" id="{2E57173F-43E9-3D4D-5705-17D19C5514B1}"/>
              </a:ext>
            </a:extLst>
          </p:cNvPr>
          <p:cNvSpPr/>
          <p:nvPr/>
        </p:nvSpPr>
        <p:spPr>
          <a:xfrm>
            <a:off x="10120089" y="3798025"/>
            <a:ext cx="3337560" cy="2220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1F5F9"/>
                </a:solidFill>
              </a:rPr>
              <a:t>Wie viele Episoden benötigt der Agent zur Konvergenz?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!!6"/>
          <p:cNvSpPr>
            <a:spLocks/>
          </p:cNvSpPr>
          <p:nvPr/>
        </p:nvSpPr>
        <p:spPr>
          <a:xfrm>
            <a:off x="365760" y="1097280"/>
            <a:ext cx="3931920" cy="3474720"/>
          </a:xfrm>
          <a:prstGeom prst="roundRect">
            <a:avLst>
              <a:gd name="adj" fmla="val 3947"/>
            </a:avLst>
          </a:prstGeom>
          <a:solidFill>
            <a:srgbClr val="1E293B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" name="Text 2"/>
          <p:cNvSpPr/>
          <p:nvPr/>
        </p:nvSpPr>
        <p:spPr>
          <a:xfrm>
            <a:off x="457200" y="109728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Motivation &amp; Forschungsfrage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02920" y="12344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4B8A6"/>
                </a:solidFill>
              </a:rPr>
              <a:t>Warum Blackjack?</a:t>
            </a:r>
            <a:endParaRPr lang="en-US" sz="1400" dirty="0"/>
          </a:p>
        </p:txBody>
      </p:sp>
      <p:sp>
        <p:nvSpPr>
          <p:cNvPr id="7" name="!!1"/>
          <p:cNvSpPr/>
          <p:nvPr/>
        </p:nvSpPr>
        <p:spPr>
          <a:xfrm>
            <a:off x="502920" y="1737360"/>
            <a:ext cx="3611880" cy="777240"/>
          </a:xfrm>
          <a:prstGeom prst="roundRect">
            <a:avLst>
              <a:gd name="adj" fmla="val 11765"/>
            </a:avLst>
          </a:prstGeom>
          <a:solidFill>
            <a:srgbClr val="1E3A5F"/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Text 6"/>
          <p:cNvSpPr/>
          <p:nvPr/>
        </p:nvSpPr>
        <p:spPr>
          <a:xfrm>
            <a:off x="594360" y="1783080"/>
            <a:ext cx="3429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B8A6"/>
                </a:solidFill>
              </a:rPr>
              <a:t>Diskrete Zustandsräume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94360" y="2011680"/>
            <a:ext cx="3429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</a:rPr>
              <a:t>States &amp; Actions klar definiert – ideal für tabellarisches Q-Learning ohne Näherungsfunktionen.</a:t>
            </a:r>
            <a:endParaRPr lang="en-US" sz="950" dirty="0"/>
          </a:p>
        </p:txBody>
      </p:sp>
      <p:sp>
        <p:nvSpPr>
          <p:cNvPr id="10" name="!!2"/>
          <p:cNvSpPr/>
          <p:nvPr/>
        </p:nvSpPr>
        <p:spPr>
          <a:xfrm>
            <a:off x="502920" y="2697480"/>
            <a:ext cx="3611880" cy="777240"/>
          </a:xfrm>
          <a:prstGeom prst="roundRect">
            <a:avLst>
              <a:gd name="adj" fmla="val 11765"/>
            </a:avLst>
          </a:prstGeom>
          <a:solidFill>
            <a:srgbClr val="1E3A5F"/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1" name="Text 9"/>
          <p:cNvSpPr/>
          <p:nvPr/>
        </p:nvSpPr>
        <p:spPr>
          <a:xfrm>
            <a:off x="594360" y="2743200"/>
            <a:ext cx="3429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B8A6"/>
                </a:solidFill>
              </a:rPr>
              <a:t>Bekannte Baseline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94360" y="2971800"/>
            <a:ext cx="3429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</a:rPr>
              <a:t>Basic Strategy als mathematisch optimale Vergleichsreferenz vorhanden.</a:t>
            </a:r>
            <a:endParaRPr lang="en-US" sz="950" dirty="0"/>
          </a:p>
        </p:txBody>
      </p:sp>
      <p:sp>
        <p:nvSpPr>
          <p:cNvPr id="13" name="!!3"/>
          <p:cNvSpPr/>
          <p:nvPr/>
        </p:nvSpPr>
        <p:spPr>
          <a:xfrm>
            <a:off x="502920" y="3657600"/>
            <a:ext cx="3611880" cy="777240"/>
          </a:xfrm>
          <a:prstGeom prst="roundRect">
            <a:avLst>
              <a:gd name="adj" fmla="val 11765"/>
            </a:avLst>
          </a:prstGeom>
          <a:solidFill>
            <a:srgbClr val="1E3A5F"/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4" name="Text 12"/>
          <p:cNvSpPr/>
          <p:nvPr/>
        </p:nvSpPr>
        <p:spPr>
          <a:xfrm>
            <a:off x="594360" y="3703320"/>
            <a:ext cx="3429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B8A6"/>
                </a:solidFill>
              </a:rPr>
              <a:t>Kartenzählung integrierbar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94360" y="3931920"/>
            <a:ext cx="3429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</a:rPr>
              <a:t>True-Count-Information als erweiterter State-Feature testbar.</a:t>
            </a:r>
            <a:endParaRPr lang="en-US" sz="950" dirty="0"/>
          </a:p>
        </p:txBody>
      </p:sp>
      <p:sp>
        <p:nvSpPr>
          <p:cNvPr id="16" name="!!5"/>
          <p:cNvSpPr/>
          <p:nvPr/>
        </p:nvSpPr>
        <p:spPr>
          <a:xfrm>
            <a:off x="4663440" y="1097280"/>
            <a:ext cx="4114800" cy="3474720"/>
          </a:xfrm>
          <a:prstGeom prst="roundRect">
            <a:avLst>
              <a:gd name="adj" fmla="val 3947"/>
            </a:avLst>
          </a:prstGeom>
          <a:solidFill>
            <a:srgbClr val="1E293B"/>
          </a:solidFill>
          <a:ln w="12700">
            <a:solidFill>
              <a:srgbClr val="F59E0B">
                <a:alpha val="4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7" name="Text 15"/>
          <p:cNvSpPr/>
          <p:nvPr/>
        </p:nvSpPr>
        <p:spPr>
          <a:xfrm>
            <a:off x="4800600" y="12344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59E0B"/>
                </a:solidFill>
              </a:rPr>
              <a:t>Forschungsfragen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800600" y="1810512"/>
            <a:ext cx="365760" cy="36576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9" name="Text 17"/>
          <p:cNvSpPr/>
          <p:nvPr/>
        </p:nvSpPr>
        <p:spPr>
          <a:xfrm>
            <a:off x="4800600" y="1810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</a:rPr>
              <a:t>1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257800" y="1796796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1F5F9"/>
                </a:solidFill>
              </a:rPr>
              <a:t>Kann ein Q-Learning Agent Kartenzählung aktiv nutzen?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800600" y="2770632"/>
            <a:ext cx="365760" cy="36576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2" name="Text 20"/>
          <p:cNvSpPr/>
          <p:nvPr/>
        </p:nvSpPr>
        <p:spPr>
          <a:xfrm>
            <a:off x="4800600" y="27706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</a:rPr>
              <a:t>2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257800" y="2743200"/>
            <a:ext cx="3337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1F5F9"/>
                </a:solidFill>
              </a:rPr>
              <a:t>Verbessert sich die Performance signifikant mit erweiterten State-Features?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800600" y="3730752"/>
            <a:ext cx="365760" cy="36576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5" name="Text 23"/>
          <p:cNvSpPr/>
          <p:nvPr/>
        </p:nvSpPr>
        <p:spPr>
          <a:xfrm>
            <a:off x="4800600" y="37307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</a:rPr>
              <a:t>3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257800" y="3798025"/>
            <a:ext cx="3337560" cy="2220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1F5F9"/>
                </a:solidFill>
              </a:rPr>
              <a:t>Wie viele Episoden benötigt der Agent zur Konvergenz?</a:t>
            </a:r>
            <a:endParaRPr lang="en-US" sz="1100" dirty="0"/>
          </a:p>
        </p:txBody>
      </p:sp>
      <p:sp>
        <p:nvSpPr>
          <p:cNvPr id="27" name="Shape 3">
            <a:extLst>
              <a:ext uri="{FF2B5EF4-FFF2-40B4-BE49-F238E27FC236}">
                <a16:creationId xmlns:a16="http://schemas.microsoft.com/office/drawing/2014/main" id="{30F10107-D6D6-2C6D-3FBB-3EE6CEA17560}"/>
              </a:ext>
            </a:extLst>
          </p:cNvPr>
          <p:cNvSpPr/>
          <p:nvPr/>
        </p:nvSpPr>
        <p:spPr>
          <a:xfrm>
            <a:off x="365760" y="-1423843"/>
            <a:ext cx="3931920" cy="1143000"/>
          </a:xfrm>
          <a:prstGeom prst="roundRect">
            <a:avLst>
              <a:gd name="adj" fmla="val 9600"/>
            </a:avLst>
          </a:prstGeom>
          <a:solidFill>
            <a:srgbClr val="1E3A5F"/>
          </a:solidFill>
          <a:ln w="12700">
            <a:solidFill>
              <a:srgbClr val="0D9488">
                <a:alpha val="5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8" name="Shape 7">
            <a:extLst>
              <a:ext uri="{FF2B5EF4-FFF2-40B4-BE49-F238E27FC236}">
                <a16:creationId xmlns:a16="http://schemas.microsoft.com/office/drawing/2014/main" id="{4988CD75-C725-C205-E8B0-844D5B96C763}"/>
              </a:ext>
            </a:extLst>
          </p:cNvPr>
          <p:cNvSpPr/>
          <p:nvPr/>
        </p:nvSpPr>
        <p:spPr>
          <a:xfrm>
            <a:off x="4617720" y="-1423843"/>
            <a:ext cx="3931920" cy="1143000"/>
          </a:xfrm>
          <a:prstGeom prst="roundRect">
            <a:avLst>
              <a:gd name="adj" fmla="val 9600"/>
            </a:avLst>
          </a:prstGeom>
          <a:solidFill>
            <a:srgbClr val="1E3A5F"/>
          </a:solidFill>
          <a:ln w="12700">
            <a:solidFill>
              <a:srgbClr val="F59E0B">
                <a:alpha val="5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457200" y="1097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14B8A6"/>
                </a:solidFill>
              </a:rPr>
              <a:t>UMGEBUNG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State &amp; Action Space</a:t>
            </a:r>
            <a:endParaRPr lang="en-US" sz="2800" dirty="0"/>
          </a:p>
        </p:txBody>
      </p:sp>
      <p:sp>
        <p:nvSpPr>
          <p:cNvPr id="5" name="!!7"/>
          <p:cNvSpPr/>
          <p:nvPr/>
        </p:nvSpPr>
        <p:spPr>
          <a:xfrm>
            <a:off x="365760" y="1097280"/>
            <a:ext cx="3931920" cy="1143000"/>
          </a:xfrm>
          <a:prstGeom prst="roundRect">
            <a:avLst>
              <a:gd name="adj" fmla="val 9600"/>
            </a:avLst>
          </a:prstGeom>
          <a:solidFill>
            <a:srgbClr val="1E3A5F"/>
          </a:solidFill>
          <a:ln w="12700">
            <a:solidFill>
              <a:srgbClr val="0D9488">
                <a:alpha val="5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6" name="Text 4"/>
          <p:cNvSpPr/>
          <p:nvPr/>
        </p:nvSpPr>
        <p:spPr>
          <a:xfrm>
            <a:off x="530352" y="118872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0D9488"/>
                </a:solidFill>
              </a:rPr>
              <a:t>SHOE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30352" y="138988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6 Decks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30352" y="17922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</a:rPr>
              <a:t>75% Penetration</a:t>
            </a:r>
            <a:endParaRPr lang="en-US" sz="1000" dirty="0"/>
          </a:p>
        </p:txBody>
      </p:sp>
      <p:sp>
        <p:nvSpPr>
          <p:cNvPr id="9" name="!!8"/>
          <p:cNvSpPr/>
          <p:nvPr/>
        </p:nvSpPr>
        <p:spPr>
          <a:xfrm>
            <a:off x="4617720" y="1097280"/>
            <a:ext cx="3931920" cy="1143000"/>
          </a:xfrm>
          <a:prstGeom prst="roundRect">
            <a:avLst>
              <a:gd name="adj" fmla="val 9600"/>
            </a:avLst>
          </a:prstGeom>
          <a:solidFill>
            <a:srgbClr val="1E3A5F"/>
          </a:solidFill>
          <a:ln w="12700">
            <a:solidFill>
              <a:srgbClr val="F59E0B">
                <a:alpha val="5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0" name="Text 8"/>
          <p:cNvSpPr/>
          <p:nvPr/>
        </p:nvSpPr>
        <p:spPr>
          <a:xfrm>
            <a:off x="4782312" y="118872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F59E0B"/>
                </a:solidFill>
              </a:rPr>
              <a:t>DEALER RULE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782312" y="138988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Stand on Soft 17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782312" y="17922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</a:rPr>
              <a:t>Standardregel</a:t>
            </a:r>
            <a:endParaRPr lang="en-US" sz="1000" dirty="0"/>
          </a:p>
        </p:txBody>
      </p:sp>
      <p:sp>
        <p:nvSpPr>
          <p:cNvPr id="13" name="!!6"/>
          <p:cNvSpPr/>
          <p:nvPr/>
        </p:nvSpPr>
        <p:spPr>
          <a:xfrm>
            <a:off x="365760" y="2468880"/>
            <a:ext cx="3931920" cy="1143000"/>
          </a:xfrm>
          <a:prstGeom prst="roundRect">
            <a:avLst>
              <a:gd name="adj" fmla="val 9600"/>
            </a:avLst>
          </a:prstGeom>
          <a:solidFill>
            <a:srgbClr val="1E3A5F"/>
          </a:solidFill>
          <a:ln w="12700">
            <a:solidFill>
              <a:srgbClr val="14B8A6">
                <a:alpha val="5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4" name="Text 12"/>
          <p:cNvSpPr/>
          <p:nvPr/>
        </p:nvSpPr>
        <p:spPr>
          <a:xfrm>
            <a:off x="530352" y="256032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14B8A6"/>
                </a:solidFill>
              </a:rPr>
              <a:t>ACTIONS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530352" y="276148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{ 0 = Stand, 1 = Hit }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30352" y="31638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</a:rPr>
              <a:t>Binärer Action Space</a:t>
            </a:r>
            <a:endParaRPr lang="en-US" sz="1000" dirty="0"/>
          </a:p>
        </p:txBody>
      </p:sp>
      <p:sp>
        <p:nvSpPr>
          <p:cNvPr id="17" name="!!5"/>
          <p:cNvSpPr/>
          <p:nvPr/>
        </p:nvSpPr>
        <p:spPr>
          <a:xfrm>
            <a:off x="4617720" y="2468880"/>
            <a:ext cx="3931920" cy="1143000"/>
          </a:xfrm>
          <a:prstGeom prst="roundRect">
            <a:avLst>
              <a:gd name="adj" fmla="val 9600"/>
            </a:avLst>
          </a:prstGeom>
          <a:solidFill>
            <a:srgbClr val="1E3A5F"/>
          </a:solidFill>
          <a:ln w="12700">
            <a:solidFill>
              <a:srgbClr val="10B981">
                <a:alpha val="5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8" name="Text 16"/>
          <p:cNvSpPr/>
          <p:nvPr/>
        </p:nvSpPr>
        <p:spPr>
          <a:xfrm>
            <a:off x="4782312" y="256032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10B981"/>
                </a:solidFill>
              </a:rPr>
              <a:t>REWARD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4782312" y="276148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+1 / −1 / 0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4782312" y="31638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</a:rPr>
              <a:t>Win · Loss · Push</a:t>
            </a:r>
            <a:endParaRPr lang="en-US" sz="1000" dirty="0"/>
          </a:p>
        </p:txBody>
      </p:sp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857CA240-80C7-A49C-266B-2BCC61692BFB}"/>
              </a:ext>
            </a:extLst>
          </p:cNvPr>
          <p:cNvGrpSpPr/>
          <p:nvPr/>
        </p:nvGrpSpPr>
        <p:grpSpPr>
          <a:xfrm>
            <a:off x="365760" y="5205544"/>
            <a:ext cx="8412480" cy="804672"/>
            <a:chOff x="365760" y="5205544"/>
            <a:chExt cx="8412480" cy="804672"/>
          </a:xfrm>
        </p:grpSpPr>
        <p:sp>
          <p:nvSpPr>
            <p:cNvPr id="21" name="Shape 19"/>
            <p:cNvSpPr/>
            <p:nvPr/>
          </p:nvSpPr>
          <p:spPr>
            <a:xfrm>
              <a:off x="365760" y="5205544"/>
              <a:ext cx="8412480" cy="804672"/>
            </a:xfrm>
            <a:prstGeom prst="roundRect">
              <a:avLst>
                <a:gd name="adj" fmla="val 13636"/>
              </a:avLst>
            </a:prstGeom>
            <a:solidFill>
              <a:srgbClr val="0D9488">
                <a:alpha val="12000"/>
              </a:srgbClr>
            </a:solidFill>
            <a:ln w="12700">
              <a:solidFill>
                <a:srgbClr val="0D9488"/>
              </a:solidFill>
              <a:prstDash val="solid"/>
            </a:ln>
          </p:spPr>
          <p:txBody>
            <a:bodyPr/>
            <a:lstStyle/>
            <a:p>
              <a:endParaRPr lang="de-DE"/>
            </a:p>
          </p:txBody>
        </p:sp>
        <p:sp>
          <p:nvSpPr>
            <p:cNvPr id="22" name="Text 20"/>
            <p:cNvSpPr/>
            <p:nvPr/>
          </p:nvSpPr>
          <p:spPr>
            <a:xfrm>
              <a:off x="594360" y="5296984"/>
              <a:ext cx="274320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b="1" dirty="0">
                  <a:solidFill>
                    <a:srgbClr val="14B8A6"/>
                  </a:solidFill>
                </a:rPr>
                <a:t>Zentrale experimentelle Variable:</a:t>
              </a:r>
              <a:endParaRPr lang="en-US" sz="11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594360" y="5571304"/>
              <a:ext cx="77724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50" dirty="0">
                  <a:solidFill>
                    <a:srgbClr val="FFFFFF"/>
                  </a:solidFill>
                </a:rPr>
                <a:t>Der Counting Agent hat 385× mehr States als der Baseline Agent → Kernfrage der Studie</a:t>
              </a:r>
              <a:endParaRPr lang="en-US" sz="1050" dirty="0"/>
            </a:p>
          </p:txBody>
        </p: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.02408 L 0 -0.23456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293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" name="Text 2"/>
          <p:cNvSpPr/>
          <p:nvPr/>
        </p:nvSpPr>
        <p:spPr>
          <a:xfrm>
            <a:off x="457200" y="54864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F59E0B"/>
                </a:solidFill>
              </a:rPr>
              <a:t>EVALUATION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Belohnungsfunktion &amp; Erfolgskriterien</a:t>
            </a:r>
            <a:endParaRPr lang="en-US" sz="2400" dirty="0"/>
          </a:p>
        </p:txBody>
      </p:sp>
      <p:sp>
        <p:nvSpPr>
          <p:cNvPr id="6" name="!!7"/>
          <p:cNvSpPr/>
          <p:nvPr/>
        </p:nvSpPr>
        <p:spPr>
          <a:xfrm>
            <a:off x="365760" y="1097280"/>
            <a:ext cx="2606040" cy="1463040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10B981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 dirty="0"/>
          </a:p>
        </p:txBody>
      </p:sp>
      <p:sp>
        <p:nvSpPr>
          <p:cNvPr id="7" name="Text 5"/>
          <p:cNvSpPr/>
          <p:nvPr/>
        </p:nvSpPr>
        <p:spPr>
          <a:xfrm>
            <a:off x="365760" y="118872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10B98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365760" y="181051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Gewinn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75488" y="21031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</a:rPr>
              <a:t>Agent gewinnt die Runde</a:t>
            </a:r>
            <a:endParaRPr lang="en-US" sz="950" dirty="0"/>
          </a:p>
        </p:txBody>
      </p:sp>
      <p:sp>
        <p:nvSpPr>
          <p:cNvPr id="10" name="!!10"/>
          <p:cNvSpPr/>
          <p:nvPr/>
        </p:nvSpPr>
        <p:spPr>
          <a:xfrm>
            <a:off x="3200400" y="1097280"/>
            <a:ext cx="2606040" cy="1463040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EF4444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1" name="Text 9"/>
          <p:cNvSpPr/>
          <p:nvPr/>
        </p:nvSpPr>
        <p:spPr>
          <a:xfrm>
            <a:off x="3200400" y="118872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EF44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−1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3200400" y="181051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Verlust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310128" y="21031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</a:rPr>
              <a:t>Agent verliert die Runde</a:t>
            </a:r>
            <a:endParaRPr lang="en-US" sz="950" dirty="0"/>
          </a:p>
        </p:txBody>
      </p:sp>
      <p:sp>
        <p:nvSpPr>
          <p:cNvPr id="14" name="!!8"/>
          <p:cNvSpPr/>
          <p:nvPr/>
        </p:nvSpPr>
        <p:spPr>
          <a:xfrm>
            <a:off x="6035040" y="1097280"/>
            <a:ext cx="2606040" cy="1463040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5" name="Text 13"/>
          <p:cNvSpPr/>
          <p:nvPr/>
        </p:nvSpPr>
        <p:spPr>
          <a:xfrm>
            <a:off x="6035040" y="118872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800" dirty="0"/>
          </a:p>
        </p:txBody>
      </p:sp>
      <p:sp>
        <p:nvSpPr>
          <p:cNvPr id="16" name="Text 14"/>
          <p:cNvSpPr/>
          <p:nvPr/>
        </p:nvSpPr>
        <p:spPr>
          <a:xfrm>
            <a:off x="6035040" y="181051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Push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144768" y="21031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</a:rPr>
              <a:t>Unentschieden – kein Reward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365760" y="2834640"/>
            <a:ext cx="4572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Erfolgskriterien</a:t>
            </a:r>
            <a:endParaRPr lang="en-US" sz="1400" dirty="0"/>
          </a:p>
        </p:txBody>
      </p:sp>
      <p:sp>
        <p:nvSpPr>
          <p:cNvPr id="19" name="!!6"/>
          <p:cNvSpPr/>
          <p:nvPr/>
        </p:nvSpPr>
        <p:spPr>
          <a:xfrm>
            <a:off x="365760" y="3246120"/>
            <a:ext cx="2606040" cy="1554480"/>
          </a:xfrm>
          <a:prstGeom prst="roundRect">
            <a:avLst>
              <a:gd name="adj" fmla="val 7059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0" name="Shape 18"/>
          <p:cNvSpPr/>
          <p:nvPr/>
        </p:nvSpPr>
        <p:spPr>
          <a:xfrm>
            <a:off x="502920" y="3383280"/>
            <a:ext cx="320040" cy="32004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1" name="Text 19"/>
          <p:cNvSpPr/>
          <p:nvPr/>
        </p:nvSpPr>
        <p:spPr>
          <a:xfrm>
            <a:off x="502920" y="33832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14400" y="3364992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</a:rPr>
              <a:t>Avg. Reward &gt; −0.05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30352" y="37490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Signifikant besser als Zufallsstrategie</a:t>
            </a:r>
            <a:endParaRPr lang="en-US" sz="1000" dirty="0"/>
          </a:p>
        </p:txBody>
      </p:sp>
      <p:sp>
        <p:nvSpPr>
          <p:cNvPr id="24" name="!!11"/>
          <p:cNvSpPr/>
          <p:nvPr/>
        </p:nvSpPr>
        <p:spPr>
          <a:xfrm>
            <a:off x="3200400" y="3246120"/>
            <a:ext cx="2606040" cy="1554480"/>
          </a:xfrm>
          <a:prstGeom prst="roundRect">
            <a:avLst>
              <a:gd name="adj" fmla="val 7059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5" name="Shape 23"/>
          <p:cNvSpPr/>
          <p:nvPr/>
        </p:nvSpPr>
        <p:spPr>
          <a:xfrm>
            <a:off x="3337560" y="3383280"/>
            <a:ext cx="320040" cy="32004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6" name="Text 24"/>
          <p:cNvSpPr/>
          <p:nvPr/>
        </p:nvSpPr>
        <p:spPr>
          <a:xfrm>
            <a:off x="3337560" y="33832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✓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749040" y="3364992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</a:rPr>
              <a:t>Win Rate 42-45%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3364992" y="37490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Casino House Edge überwunden</a:t>
            </a:r>
            <a:endParaRPr lang="en-US" sz="1000" dirty="0"/>
          </a:p>
        </p:txBody>
      </p:sp>
      <p:sp>
        <p:nvSpPr>
          <p:cNvPr id="29" name="!!5"/>
          <p:cNvSpPr/>
          <p:nvPr/>
        </p:nvSpPr>
        <p:spPr>
          <a:xfrm>
            <a:off x="6035040" y="3246120"/>
            <a:ext cx="2606040" cy="1554480"/>
          </a:xfrm>
          <a:prstGeom prst="roundRect">
            <a:avLst>
              <a:gd name="adj" fmla="val 7059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30" name="Shape 28"/>
          <p:cNvSpPr/>
          <p:nvPr/>
        </p:nvSpPr>
        <p:spPr>
          <a:xfrm>
            <a:off x="6172200" y="3383280"/>
            <a:ext cx="320040" cy="32004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1" name="Text 29"/>
          <p:cNvSpPr/>
          <p:nvPr/>
        </p:nvSpPr>
        <p:spPr>
          <a:xfrm>
            <a:off x="6172200" y="33832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✓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583680" y="3364992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</a:rPr>
              <a:t>CI &lt; ±0.003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199632" y="37490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Stabiles, konsistentes Lernen über Seeds</a:t>
            </a:r>
            <a:endParaRPr lang="en-US" sz="1000" dirty="0"/>
          </a:p>
        </p:txBody>
      </p:sp>
      <p:sp>
        <p:nvSpPr>
          <p:cNvPr id="35" name="Shape 9">
            <a:extLst>
              <a:ext uri="{FF2B5EF4-FFF2-40B4-BE49-F238E27FC236}">
                <a16:creationId xmlns:a16="http://schemas.microsoft.com/office/drawing/2014/main" id="{C54ED0B8-C60C-36EC-F96D-A8D41938B292}"/>
              </a:ext>
            </a:extLst>
          </p:cNvPr>
          <p:cNvSpPr/>
          <p:nvPr/>
        </p:nvSpPr>
        <p:spPr>
          <a:xfrm>
            <a:off x="356235" y="5262372"/>
            <a:ext cx="2606040" cy="1280160"/>
          </a:xfrm>
          <a:prstGeom prst="roundRect">
            <a:avLst>
              <a:gd name="adj" fmla="val 8571"/>
            </a:avLst>
          </a:prstGeom>
          <a:solidFill>
            <a:srgbClr val="1E3A5F"/>
          </a:solidFill>
          <a:ln w="12700">
            <a:solidFill>
              <a:srgbClr val="0D9488">
                <a:alpha val="3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36" name="Text 10">
            <a:extLst>
              <a:ext uri="{FF2B5EF4-FFF2-40B4-BE49-F238E27FC236}">
                <a16:creationId xmlns:a16="http://schemas.microsoft.com/office/drawing/2014/main" id="{AE136B5D-631A-7C30-C8CD-9BA6D105F210}"/>
              </a:ext>
            </a:extLst>
          </p:cNvPr>
          <p:cNvSpPr/>
          <p:nvPr/>
        </p:nvSpPr>
        <p:spPr>
          <a:xfrm>
            <a:off x="356235" y="532638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4B8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α</a:t>
            </a:r>
            <a:endParaRPr lang="en-US" sz="2400" dirty="0"/>
          </a:p>
        </p:txBody>
      </p:sp>
      <p:sp>
        <p:nvSpPr>
          <p:cNvPr id="37" name="Text 11">
            <a:extLst>
              <a:ext uri="{FF2B5EF4-FFF2-40B4-BE49-F238E27FC236}">
                <a16:creationId xmlns:a16="http://schemas.microsoft.com/office/drawing/2014/main" id="{CB72313E-2E68-73A7-4FC4-DF3A25F9AF86}"/>
              </a:ext>
            </a:extLst>
          </p:cNvPr>
          <p:cNvSpPr/>
          <p:nvPr/>
        </p:nvSpPr>
        <p:spPr>
          <a:xfrm>
            <a:off x="356235" y="5710428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9E0B"/>
                </a:solidFill>
              </a:rPr>
              <a:t>0.01</a:t>
            </a:r>
            <a:endParaRPr lang="en-US" sz="1200" dirty="0"/>
          </a:p>
        </p:txBody>
      </p:sp>
      <p:sp>
        <p:nvSpPr>
          <p:cNvPr id="38" name="Text 12">
            <a:extLst>
              <a:ext uri="{FF2B5EF4-FFF2-40B4-BE49-F238E27FC236}">
                <a16:creationId xmlns:a16="http://schemas.microsoft.com/office/drawing/2014/main" id="{515203A1-8035-DB62-CA74-872FD15CDC27}"/>
              </a:ext>
            </a:extLst>
          </p:cNvPr>
          <p:cNvSpPr/>
          <p:nvPr/>
        </p:nvSpPr>
        <p:spPr>
          <a:xfrm>
            <a:off x="465963" y="601218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Learning Rate</a:t>
            </a:r>
            <a:endParaRPr lang="en-US" sz="950" dirty="0"/>
          </a:p>
        </p:txBody>
      </p:sp>
      <p:sp>
        <p:nvSpPr>
          <p:cNvPr id="39" name="Text 13">
            <a:extLst>
              <a:ext uri="{FF2B5EF4-FFF2-40B4-BE49-F238E27FC236}">
                <a16:creationId xmlns:a16="http://schemas.microsoft.com/office/drawing/2014/main" id="{51169989-B21A-94AD-994B-0EC9EB9A81F7}"/>
              </a:ext>
            </a:extLst>
          </p:cNvPr>
          <p:cNvSpPr/>
          <p:nvPr/>
        </p:nvSpPr>
        <p:spPr>
          <a:xfrm>
            <a:off x="465963" y="621334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4A3B8"/>
                </a:solidFill>
              </a:rPr>
              <a:t>Schrittweite der Updates</a:t>
            </a:r>
            <a:endParaRPr lang="en-US" sz="850" dirty="0"/>
          </a:p>
        </p:txBody>
      </p:sp>
      <p:sp>
        <p:nvSpPr>
          <p:cNvPr id="40" name="Shape 14">
            <a:extLst>
              <a:ext uri="{FF2B5EF4-FFF2-40B4-BE49-F238E27FC236}">
                <a16:creationId xmlns:a16="http://schemas.microsoft.com/office/drawing/2014/main" id="{327A8C89-3DB2-4257-007A-8D8BF5EC5141}"/>
              </a:ext>
            </a:extLst>
          </p:cNvPr>
          <p:cNvSpPr/>
          <p:nvPr/>
        </p:nvSpPr>
        <p:spPr>
          <a:xfrm>
            <a:off x="3190875" y="5262372"/>
            <a:ext cx="2606040" cy="1280160"/>
          </a:xfrm>
          <a:prstGeom prst="roundRect">
            <a:avLst>
              <a:gd name="adj" fmla="val 8571"/>
            </a:avLst>
          </a:prstGeom>
          <a:solidFill>
            <a:srgbClr val="1E3A5F"/>
          </a:solidFill>
          <a:ln w="12700">
            <a:solidFill>
              <a:srgbClr val="0D9488">
                <a:alpha val="3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41" name="Text 15">
            <a:extLst>
              <a:ext uri="{FF2B5EF4-FFF2-40B4-BE49-F238E27FC236}">
                <a16:creationId xmlns:a16="http://schemas.microsoft.com/office/drawing/2014/main" id="{B59A079A-EC29-7350-AFF6-38FB59511D5E}"/>
              </a:ext>
            </a:extLst>
          </p:cNvPr>
          <p:cNvSpPr/>
          <p:nvPr/>
        </p:nvSpPr>
        <p:spPr>
          <a:xfrm>
            <a:off x="3190875" y="532638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4B8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γ</a:t>
            </a:r>
            <a:endParaRPr lang="en-US" sz="2400" dirty="0"/>
          </a:p>
        </p:txBody>
      </p:sp>
      <p:sp>
        <p:nvSpPr>
          <p:cNvPr id="42" name="Text 16">
            <a:extLst>
              <a:ext uri="{FF2B5EF4-FFF2-40B4-BE49-F238E27FC236}">
                <a16:creationId xmlns:a16="http://schemas.microsoft.com/office/drawing/2014/main" id="{D6B7BC3B-F47A-7113-547B-4475CC306D83}"/>
              </a:ext>
            </a:extLst>
          </p:cNvPr>
          <p:cNvSpPr/>
          <p:nvPr/>
        </p:nvSpPr>
        <p:spPr>
          <a:xfrm>
            <a:off x="3190875" y="5710428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9E0B"/>
                </a:solidFill>
              </a:rPr>
              <a:t>0.99</a:t>
            </a:r>
            <a:endParaRPr lang="en-US" sz="1200" dirty="0"/>
          </a:p>
        </p:txBody>
      </p:sp>
      <p:sp>
        <p:nvSpPr>
          <p:cNvPr id="43" name="Text 17">
            <a:extLst>
              <a:ext uri="{FF2B5EF4-FFF2-40B4-BE49-F238E27FC236}">
                <a16:creationId xmlns:a16="http://schemas.microsoft.com/office/drawing/2014/main" id="{4A76D85C-B821-594B-C747-013AA84AD11B}"/>
              </a:ext>
            </a:extLst>
          </p:cNvPr>
          <p:cNvSpPr/>
          <p:nvPr/>
        </p:nvSpPr>
        <p:spPr>
          <a:xfrm>
            <a:off x="3300603" y="601218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Discount Factor</a:t>
            </a:r>
            <a:endParaRPr lang="en-US" sz="950" dirty="0"/>
          </a:p>
        </p:txBody>
      </p:sp>
      <p:sp>
        <p:nvSpPr>
          <p:cNvPr id="44" name="Text 18">
            <a:extLst>
              <a:ext uri="{FF2B5EF4-FFF2-40B4-BE49-F238E27FC236}">
                <a16:creationId xmlns:a16="http://schemas.microsoft.com/office/drawing/2014/main" id="{8FAFE602-031E-6EC1-682D-2739E21599E6}"/>
              </a:ext>
            </a:extLst>
          </p:cNvPr>
          <p:cNvSpPr/>
          <p:nvPr/>
        </p:nvSpPr>
        <p:spPr>
          <a:xfrm>
            <a:off x="3300603" y="621334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4A3B8"/>
                </a:solidFill>
              </a:rPr>
              <a:t>Gewichtung zukünftiger Rewards</a:t>
            </a:r>
            <a:endParaRPr lang="en-US" sz="850" dirty="0"/>
          </a:p>
        </p:txBody>
      </p:sp>
      <p:sp>
        <p:nvSpPr>
          <p:cNvPr id="45" name="Shape 19">
            <a:extLst>
              <a:ext uri="{FF2B5EF4-FFF2-40B4-BE49-F238E27FC236}">
                <a16:creationId xmlns:a16="http://schemas.microsoft.com/office/drawing/2014/main" id="{650ED8EB-BC03-68B0-69FC-258B3D63DB49}"/>
              </a:ext>
            </a:extLst>
          </p:cNvPr>
          <p:cNvSpPr/>
          <p:nvPr/>
        </p:nvSpPr>
        <p:spPr>
          <a:xfrm>
            <a:off x="6025515" y="5262372"/>
            <a:ext cx="2606040" cy="1280160"/>
          </a:xfrm>
          <a:prstGeom prst="roundRect">
            <a:avLst>
              <a:gd name="adj" fmla="val 8571"/>
            </a:avLst>
          </a:prstGeom>
          <a:solidFill>
            <a:srgbClr val="1E3A5F"/>
          </a:solidFill>
          <a:ln w="12700">
            <a:solidFill>
              <a:srgbClr val="0D9488">
                <a:alpha val="3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46" name="Text 20">
            <a:extLst>
              <a:ext uri="{FF2B5EF4-FFF2-40B4-BE49-F238E27FC236}">
                <a16:creationId xmlns:a16="http://schemas.microsoft.com/office/drawing/2014/main" id="{A144AE83-AEBF-1CE7-2BF1-698CF3537126}"/>
              </a:ext>
            </a:extLst>
          </p:cNvPr>
          <p:cNvSpPr/>
          <p:nvPr/>
        </p:nvSpPr>
        <p:spPr>
          <a:xfrm>
            <a:off x="6025515" y="532638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4B8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endParaRPr lang="en-US" sz="2400" dirty="0"/>
          </a:p>
        </p:txBody>
      </p:sp>
      <p:sp>
        <p:nvSpPr>
          <p:cNvPr id="47" name="Text 21">
            <a:extLst>
              <a:ext uri="{FF2B5EF4-FFF2-40B4-BE49-F238E27FC236}">
                <a16:creationId xmlns:a16="http://schemas.microsoft.com/office/drawing/2014/main" id="{184F99EE-C16E-42EC-57C2-CBCBF3F691CF}"/>
              </a:ext>
            </a:extLst>
          </p:cNvPr>
          <p:cNvSpPr/>
          <p:nvPr/>
        </p:nvSpPr>
        <p:spPr>
          <a:xfrm>
            <a:off x="6025515" y="5710428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9E0B"/>
                </a:solidFill>
              </a:rPr>
              <a:t>+1/−1/0</a:t>
            </a:r>
            <a:endParaRPr lang="en-US" sz="1200" dirty="0"/>
          </a:p>
        </p:txBody>
      </p:sp>
      <p:sp>
        <p:nvSpPr>
          <p:cNvPr id="48" name="Text 22">
            <a:extLst>
              <a:ext uri="{FF2B5EF4-FFF2-40B4-BE49-F238E27FC236}">
                <a16:creationId xmlns:a16="http://schemas.microsoft.com/office/drawing/2014/main" id="{9C12F242-EEA1-FCF5-6B2A-DADE7BFFC2AF}"/>
              </a:ext>
            </a:extLst>
          </p:cNvPr>
          <p:cNvSpPr/>
          <p:nvPr/>
        </p:nvSpPr>
        <p:spPr>
          <a:xfrm>
            <a:off x="6135243" y="601218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Immediate Reward</a:t>
            </a:r>
            <a:endParaRPr lang="en-US" sz="950" dirty="0"/>
          </a:p>
        </p:txBody>
      </p:sp>
      <p:sp>
        <p:nvSpPr>
          <p:cNvPr id="49" name="Text 23">
            <a:extLst>
              <a:ext uri="{FF2B5EF4-FFF2-40B4-BE49-F238E27FC236}">
                <a16:creationId xmlns:a16="http://schemas.microsoft.com/office/drawing/2014/main" id="{2005F07D-4606-944C-7DAA-213CEE266EE9}"/>
              </a:ext>
            </a:extLst>
          </p:cNvPr>
          <p:cNvSpPr/>
          <p:nvPr/>
        </p:nvSpPr>
        <p:spPr>
          <a:xfrm>
            <a:off x="6135243" y="621334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4A3B8"/>
                </a:solidFill>
              </a:rPr>
              <a:t>Direktes Feedback der Umgebung</a:t>
            </a:r>
            <a:endParaRPr lang="en-US" sz="85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457200" y="1097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14B8A6"/>
                </a:solidFill>
              </a:rPr>
              <a:t>METHODIK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Reinforcement Learning – Q-Learning</a:t>
            </a:r>
            <a:endParaRPr lang="en-US" sz="2600" dirty="0"/>
          </a:p>
        </p:txBody>
      </p:sp>
      <p:sp>
        <p:nvSpPr>
          <p:cNvPr id="5" name="!!10"/>
          <p:cNvSpPr/>
          <p:nvPr/>
        </p:nvSpPr>
        <p:spPr>
          <a:xfrm>
            <a:off x="365760" y="1005840"/>
            <a:ext cx="8412480" cy="777240"/>
          </a:xfrm>
          <a:prstGeom prst="roundRect">
            <a:avLst>
              <a:gd name="adj" fmla="val 14118"/>
            </a:avLst>
          </a:prstGeom>
          <a:solidFill>
            <a:srgbClr val="1E3A5F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6" name="Text 4"/>
          <p:cNvSpPr/>
          <p:nvPr/>
        </p:nvSpPr>
        <p:spPr>
          <a:xfrm>
            <a:off x="594360" y="10972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B8A6"/>
                </a:solidFill>
              </a:rPr>
              <a:t>Algorithmus: Q-Learning (Off-Policy TD Learning)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94360" y="13898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</a:rPr>
              <a:t>Bewährt für diskrete Action Spaces · Interpretierbar · Kein Neural Network erforderlich</a:t>
            </a:r>
            <a:endParaRPr lang="en-US" sz="1050" dirty="0"/>
          </a:p>
        </p:txBody>
      </p:sp>
      <p:sp>
        <p:nvSpPr>
          <p:cNvPr id="8" name="!!11"/>
          <p:cNvSpPr/>
          <p:nvPr/>
        </p:nvSpPr>
        <p:spPr>
          <a:xfrm>
            <a:off x="365760" y="1920240"/>
            <a:ext cx="8412480" cy="1463040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F59E0B">
                <a:alpha val="5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9" name="Text 7"/>
          <p:cNvSpPr/>
          <p:nvPr/>
        </p:nvSpPr>
        <p:spPr>
          <a:xfrm>
            <a:off x="594360" y="20299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F59E0B"/>
                </a:solidFill>
              </a:rPr>
              <a:t>Bellman Update-Gleichung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94360" y="2377440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Q(s,a) ← Q(s,a) + α · [ r + γ · max Q(s',a') − Q(s,a) ]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365760" y="3547872"/>
            <a:ext cx="2606040" cy="1280160"/>
          </a:xfrm>
          <a:prstGeom prst="roundRect">
            <a:avLst>
              <a:gd name="adj" fmla="val 8571"/>
            </a:avLst>
          </a:prstGeom>
          <a:solidFill>
            <a:srgbClr val="1E3A5F"/>
          </a:solidFill>
          <a:ln w="12700">
            <a:solidFill>
              <a:srgbClr val="0D9488">
                <a:alpha val="3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2" name="Text 10"/>
          <p:cNvSpPr/>
          <p:nvPr/>
        </p:nvSpPr>
        <p:spPr>
          <a:xfrm>
            <a:off x="365760" y="361188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4B8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α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365760" y="3995928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9E0B"/>
                </a:solidFill>
              </a:rPr>
              <a:t>0.01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75488" y="429768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Learning Rate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75488" y="449884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4A3B8"/>
                </a:solidFill>
              </a:rPr>
              <a:t>Schrittweite der Updates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3200400" y="3547872"/>
            <a:ext cx="2606040" cy="1280160"/>
          </a:xfrm>
          <a:prstGeom prst="roundRect">
            <a:avLst>
              <a:gd name="adj" fmla="val 8571"/>
            </a:avLst>
          </a:prstGeom>
          <a:solidFill>
            <a:srgbClr val="1E3A5F"/>
          </a:solidFill>
          <a:ln w="12700">
            <a:solidFill>
              <a:srgbClr val="0D9488">
                <a:alpha val="3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7" name="Text 15"/>
          <p:cNvSpPr/>
          <p:nvPr/>
        </p:nvSpPr>
        <p:spPr>
          <a:xfrm>
            <a:off x="3200400" y="361188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4B8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γ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3200400" y="3995928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9E0B"/>
                </a:solidFill>
              </a:rPr>
              <a:t>0.99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310128" y="429768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Discount Factor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310128" y="449884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4A3B8"/>
                </a:solidFill>
              </a:rPr>
              <a:t>Gewichtung zukünftiger Rewards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035040" y="3547872"/>
            <a:ext cx="2606040" cy="1280160"/>
          </a:xfrm>
          <a:prstGeom prst="roundRect">
            <a:avLst>
              <a:gd name="adj" fmla="val 8571"/>
            </a:avLst>
          </a:prstGeom>
          <a:solidFill>
            <a:srgbClr val="1E3A5F"/>
          </a:solidFill>
          <a:ln w="12700">
            <a:solidFill>
              <a:srgbClr val="0D9488">
                <a:alpha val="3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2" name="Text 20"/>
          <p:cNvSpPr/>
          <p:nvPr/>
        </p:nvSpPr>
        <p:spPr>
          <a:xfrm>
            <a:off x="6035040" y="361188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4B8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6035040" y="3995928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9E0B"/>
                </a:solidFill>
              </a:rPr>
              <a:t>+1/−1/0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144768" y="429768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Immediate Reward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6144768" y="449884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4A3B8"/>
                </a:solidFill>
              </a:rPr>
              <a:t>Direktes Feedback der Umgebung</a:t>
            </a:r>
            <a:endParaRPr lang="en-US" sz="85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E352B3-AE23-B804-2716-D5A557E270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1508FF5-087F-3053-F239-6FC5CB3BB869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3B0EA357-E090-B01A-A6EC-250BD6BFCA95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95C58A44-3B8E-0E0C-327C-2B4DE37FD1EF}"/>
              </a:ext>
            </a:extLst>
          </p:cNvPr>
          <p:cNvSpPr/>
          <p:nvPr/>
        </p:nvSpPr>
        <p:spPr>
          <a:xfrm>
            <a:off x="457200" y="5486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14B8A6"/>
                </a:solidFill>
              </a:rPr>
              <a:t>HYPERPARAMETER</a:t>
            </a:r>
            <a:endParaRPr lang="en-US" sz="9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73E9CCC9-1B77-EA14-97A4-83A55A212585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Hyperparameter-Optimierung</a:t>
            </a:r>
            <a:endParaRPr lang="en-US" sz="2600" dirty="0"/>
          </a:p>
        </p:txBody>
      </p:sp>
      <p:grpSp>
        <p:nvGrpSpPr>
          <p:cNvPr id="32" name="Gruppieren 31">
            <a:extLst>
              <a:ext uri="{FF2B5EF4-FFF2-40B4-BE49-F238E27FC236}">
                <a16:creationId xmlns:a16="http://schemas.microsoft.com/office/drawing/2014/main" id="{8EF9404F-8D14-CEFF-75D0-07E3FA805309}"/>
              </a:ext>
            </a:extLst>
          </p:cNvPr>
          <p:cNvGrpSpPr/>
          <p:nvPr/>
        </p:nvGrpSpPr>
        <p:grpSpPr>
          <a:xfrm>
            <a:off x="365760" y="1051560"/>
            <a:ext cx="3840480" cy="384048"/>
            <a:chOff x="365760" y="1051560"/>
            <a:chExt cx="3840480" cy="384048"/>
          </a:xfrm>
        </p:grpSpPr>
        <p:sp>
          <p:nvSpPr>
            <p:cNvPr id="6" name="Shape 4">
              <a:extLst>
                <a:ext uri="{FF2B5EF4-FFF2-40B4-BE49-F238E27FC236}">
                  <a16:creationId xmlns:a16="http://schemas.microsoft.com/office/drawing/2014/main" id="{930706C3-EC22-96FE-9AAE-C2D5FA45CB06}"/>
                </a:ext>
              </a:extLst>
            </p:cNvPr>
            <p:cNvSpPr/>
            <p:nvPr/>
          </p:nvSpPr>
          <p:spPr>
            <a:xfrm>
              <a:off x="365760" y="1051560"/>
              <a:ext cx="3840480" cy="384048"/>
            </a:xfrm>
            <a:prstGeom prst="roundRect">
              <a:avLst>
                <a:gd name="adj" fmla="val 23810"/>
              </a:avLst>
            </a:prstGeom>
            <a:solidFill>
              <a:srgbClr val="0D9488"/>
            </a:solidFill>
            <a:ln w="12700">
              <a:solidFill>
                <a:srgbClr val="0D9488"/>
              </a:solidFill>
              <a:prstDash val="solid"/>
            </a:ln>
          </p:spPr>
          <p:txBody>
            <a:bodyPr/>
            <a:lstStyle/>
            <a:p>
              <a:endParaRPr lang="de-DE"/>
            </a:p>
          </p:txBody>
        </p:sp>
        <p:sp>
          <p:nvSpPr>
            <p:cNvPr id="7" name="Text 5">
              <a:extLst>
                <a:ext uri="{FF2B5EF4-FFF2-40B4-BE49-F238E27FC236}">
                  <a16:creationId xmlns:a16="http://schemas.microsoft.com/office/drawing/2014/main" id="{E558A069-A64A-E4C9-D5FA-99B10E79F97A}"/>
                </a:ext>
              </a:extLst>
            </p:cNvPr>
            <p:cNvSpPr/>
            <p:nvPr/>
          </p:nvSpPr>
          <p:spPr>
            <a:xfrm>
              <a:off x="365760" y="1051560"/>
              <a:ext cx="3840480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</a:rPr>
                <a:t>Finale Konfiguration: c05_long_default</a:t>
              </a:r>
              <a:endParaRPr lang="en-US" sz="1100" dirty="0"/>
            </a:p>
          </p:txBody>
        </p:sp>
      </p:grpSp>
      <p:sp>
        <p:nvSpPr>
          <p:cNvPr id="8" name="Shape 6">
            <a:extLst>
              <a:ext uri="{FF2B5EF4-FFF2-40B4-BE49-F238E27FC236}">
                <a16:creationId xmlns:a16="http://schemas.microsoft.com/office/drawing/2014/main" id="{1E163C01-BE47-24C0-35CB-868FCEA221BD}"/>
              </a:ext>
            </a:extLst>
          </p:cNvPr>
          <p:cNvSpPr/>
          <p:nvPr/>
        </p:nvSpPr>
        <p:spPr>
          <a:xfrm>
            <a:off x="365760" y="1600200"/>
            <a:ext cx="7498080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60E0BE37-B32B-396A-BB5A-F48E67ACA103}"/>
              </a:ext>
            </a:extLst>
          </p:cNvPr>
          <p:cNvSpPr/>
          <p:nvPr/>
        </p:nvSpPr>
        <p:spPr>
          <a:xfrm>
            <a:off x="457200" y="160020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14B8A6"/>
                </a:solidFill>
              </a:rPr>
              <a:t>PARAMETER</a:t>
            </a:r>
            <a:endParaRPr lang="en-US" sz="90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9E4E9B87-319C-FE24-0650-B81CE02F9D0E}"/>
              </a:ext>
            </a:extLst>
          </p:cNvPr>
          <p:cNvSpPr/>
          <p:nvPr/>
        </p:nvSpPr>
        <p:spPr>
          <a:xfrm>
            <a:off x="3017520" y="160020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14B8A6"/>
                </a:solidFill>
              </a:rPr>
              <a:t>WERT</a:t>
            </a:r>
            <a:endParaRPr lang="en-US" sz="90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8912660C-5098-5A68-E4E0-E9CFBDD66086}"/>
              </a:ext>
            </a:extLst>
          </p:cNvPr>
          <p:cNvSpPr/>
          <p:nvPr/>
        </p:nvSpPr>
        <p:spPr>
          <a:xfrm>
            <a:off x="4114800" y="160020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14B8A6"/>
                </a:solidFill>
              </a:rPr>
              <a:t>BEGRÜNDUNG</a:t>
            </a:r>
            <a:endParaRPr lang="en-US" sz="900" dirty="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C6D5B7A7-09FC-5E5A-38D1-2715F68D4A70}"/>
              </a:ext>
            </a:extLst>
          </p:cNvPr>
          <p:cNvSpPr/>
          <p:nvPr/>
        </p:nvSpPr>
        <p:spPr>
          <a:xfrm>
            <a:off x="365760" y="1984248"/>
            <a:ext cx="749808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B557A113-B7A8-BA6E-8FB1-C3074662B819}"/>
              </a:ext>
            </a:extLst>
          </p:cNvPr>
          <p:cNvSpPr/>
          <p:nvPr/>
        </p:nvSpPr>
        <p:spPr>
          <a:xfrm>
            <a:off x="457200" y="198424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Learning Rate α</a:t>
            </a:r>
            <a:endParaRPr lang="en-US" sz="1100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2FE101CF-02F0-8DCE-1D7D-F0B2D9536E5D}"/>
              </a:ext>
            </a:extLst>
          </p:cNvPr>
          <p:cNvSpPr/>
          <p:nvPr/>
        </p:nvSpPr>
        <p:spPr>
          <a:xfrm>
            <a:off x="3017520" y="1984248"/>
            <a:ext cx="1005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</a:rPr>
              <a:t>0.01</a:t>
            </a:r>
            <a:endParaRPr lang="en-US" sz="1100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C4DBA1BA-DA97-9137-B434-CB64297F205A}"/>
              </a:ext>
            </a:extLst>
          </p:cNvPr>
          <p:cNvSpPr/>
          <p:nvPr/>
        </p:nvSpPr>
        <p:spPr>
          <a:xfrm>
            <a:off x="4114800" y="1984248"/>
            <a:ext cx="3749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Stabilität &amp; Speed</a:t>
            </a:r>
            <a:endParaRPr lang="en-US" sz="1100" dirty="0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C33DF736-5955-DA1A-FD40-0838AF39203D}"/>
              </a:ext>
            </a:extLst>
          </p:cNvPr>
          <p:cNvSpPr/>
          <p:nvPr/>
        </p:nvSpPr>
        <p:spPr>
          <a:xfrm>
            <a:off x="365760" y="2404872"/>
            <a:ext cx="7498080" cy="420624"/>
          </a:xfrm>
          <a:prstGeom prst="rect">
            <a:avLst/>
          </a:prstGeom>
          <a:solidFill>
            <a:srgbClr val="E2E8F0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FD04FBF1-0551-5A8B-BEB6-1E557E6E7AA2}"/>
              </a:ext>
            </a:extLst>
          </p:cNvPr>
          <p:cNvSpPr/>
          <p:nvPr/>
        </p:nvSpPr>
        <p:spPr>
          <a:xfrm>
            <a:off x="457200" y="2404872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Discount Factor γ</a:t>
            </a:r>
            <a:endParaRPr lang="en-US" sz="1100" dirty="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FCCF6548-1AC4-80AF-9396-855A93A73349}"/>
              </a:ext>
            </a:extLst>
          </p:cNvPr>
          <p:cNvSpPr/>
          <p:nvPr/>
        </p:nvSpPr>
        <p:spPr>
          <a:xfrm>
            <a:off x="3017520" y="2404872"/>
            <a:ext cx="1005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</a:rPr>
              <a:t>0.99</a:t>
            </a:r>
            <a:endParaRPr lang="en-US" sz="1100" dirty="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942F9E89-4CD6-2576-A910-15874296B7AC}"/>
              </a:ext>
            </a:extLst>
          </p:cNvPr>
          <p:cNvSpPr/>
          <p:nvPr/>
        </p:nvSpPr>
        <p:spPr>
          <a:xfrm>
            <a:off x="4114800" y="2404872"/>
            <a:ext cx="3749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Lange Foresight</a:t>
            </a:r>
            <a:endParaRPr lang="en-US" sz="1100" dirty="0"/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91B8E6CA-F6F3-7936-2CF2-28F30DF6D802}"/>
              </a:ext>
            </a:extLst>
          </p:cNvPr>
          <p:cNvSpPr/>
          <p:nvPr/>
        </p:nvSpPr>
        <p:spPr>
          <a:xfrm>
            <a:off x="365760" y="2825496"/>
            <a:ext cx="749808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CF6B5886-987A-27AC-9DBC-242A5A06BF4D}"/>
              </a:ext>
            </a:extLst>
          </p:cNvPr>
          <p:cNvSpPr/>
          <p:nvPr/>
        </p:nvSpPr>
        <p:spPr>
          <a:xfrm>
            <a:off x="457200" y="2825496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Initial ε</a:t>
            </a:r>
            <a:endParaRPr lang="en-US" sz="1100" dirty="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42A2AEFA-EB41-2764-9F44-75AB1FEB74AB}"/>
              </a:ext>
            </a:extLst>
          </p:cNvPr>
          <p:cNvSpPr/>
          <p:nvPr/>
        </p:nvSpPr>
        <p:spPr>
          <a:xfrm>
            <a:off x="3017520" y="2825496"/>
            <a:ext cx="1005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</a:rPr>
              <a:t>1.0</a:t>
            </a:r>
            <a:endParaRPr lang="en-US" sz="1100" dirty="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DE7FB917-5B80-DF46-1DD3-C4CF2074D456}"/>
              </a:ext>
            </a:extLst>
          </p:cNvPr>
          <p:cNvSpPr/>
          <p:nvPr/>
        </p:nvSpPr>
        <p:spPr>
          <a:xfrm>
            <a:off x="4114800" y="2825496"/>
            <a:ext cx="3749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Vollständige Exploration zu Beginn</a:t>
            </a:r>
            <a:endParaRPr lang="en-US" sz="1100" dirty="0"/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19095843-D131-49C8-2591-B3A321A08834}"/>
              </a:ext>
            </a:extLst>
          </p:cNvPr>
          <p:cNvSpPr/>
          <p:nvPr/>
        </p:nvSpPr>
        <p:spPr>
          <a:xfrm>
            <a:off x="365760" y="3246120"/>
            <a:ext cx="7498080" cy="420624"/>
          </a:xfrm>
          <a:prstGeom prst="rect">
            <a:avLst/>
          </a:prstGeom>
          <a:solidFill>
            <a:srgbClr val="E2E8F0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AAB6A739-A870-A079-0FF8-594A5FEB29DE}"/>
              </a:ext>
            </a:extLst>
          </p:cNvPr>
          <p:cNvSpPr/>
          <p:nvPr/>
        </p:nvSpPr>
        <p:spPr>
          <a:xfrm>
            <a:off x="457200" y="3246120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ε Decay</a:t>
            </a:r>
            <a:endParaRPr lang="en-US" sz="1100" dirty="0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2297F026-B516-8B5B-816F-35B6791ADCCF}"/>
              </a:ext>
            </a:extLst>
          </p:cNvPr>
          <p:cNvSpPr/>
          <p:nvPr/>
        </p:nvSpPr>
        <p:spPr>
          <a:xfrm>
            <a:off x="3017520" y="3246120"/>
            <a:ext cx="1005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</a:rPr>
              <a:t>0.90</a:t>
            </a:r>
            <a:endParaRPr lang="en-US" sz="1100" dirty="0"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E9A4AD1D-3036-7C91-440E-A31CC22A67AD}"/>
              </a:ext>
            </a:extLst>
          </p:cNvPr>
          <p:cNvSpPr/>
          <p:nvPr/>
        </p:nvSpPr>
        <p:spPr>
          <a:xfrm>
            <a:off x="4114800" y="3246120"/>
            <a:ext cx="3749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Langsame, schrittweise Reduktion</a:t>
            </a:r>
            <a:endParaRPr lang="en-US" sz="1100" dirty="0"/>
          </a:p>
        </p:txBody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108B6B49-6A40-1503-212B-4827E581D19C}"/>
              </a:ext>
            </a:extLst>
          </p:cNvPr>
          <p:cNvSpPr/>
          <p:nvPr/>
        </p:nvSpPr>
        <p:spPr>
          <a:xfrm>
            <a:off x="365760" y="3666744"/>
            <a:ext cx="749808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4EFC9B84-F798-51EC-F8A2-8E24BC764942}"/>
              </a:ext>
            </a:extLst>
          </p:cNvPr>
          <p:cNvSpPr/>
          <p:nvPr/>
        </p:nvSpPr>
        <p:spPr>
          <a:xfrm>
            <a:off x="457200" y="3666744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Final ε</a:t>
            </a:r>
            <a:endParaRPr lang="en-US" sz="1100" dirty="0"/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3378CBD9-AF87-F009-08EC-1A279A43DE73}"/>
              </a:ext>
            </a:extLst>
          </p:cNvPr>
          <p:cNvSpPr/>
          <p:nvPr/>
        </p:nvSpPr>
        <p:spPr>
          <a:xfrm>
            <a:off x="3017520" y="3666744"/>
            <a:ext cx="1005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</a:rPr>
              <a:t>0.10</a:t>
            </a:r>
            <a:endParaRPr lang="en-US" sz="1100" dirty="0"/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6EEBE25A-0AA7-F1C8-E226-E62C09687B98}"/>
              </a:ext>
            </a:extLst>
          </p:cNvPr>
          <p:cNvSpPr/>
          <p:nvPr/>
        </p:nvSpPr>
        <p:spPr>
          <a:xfrm>
            <a:off x="4114800" y="3666744"/>
            <a:ext cx="3749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Residuale Exploration am Ende</a:t>
            </a:r>
            <a:endParaRPr lang="en-US" sz="1100" dirty="0"/>
          </a:p>
        </p:txBody>
      </p:sp>
      <p:sp>
        <p:nvSpPr>
          <p:cNvPr id="48" name="Shape 30">
            <a:extLst>
              <a:ext uri="{FF2B5EF4-FFF2-40B4-BE49-F238E27FC236}">
                <a16:creationId xmlns:a16="http://schemas.microsoft.com/office/drawing/2014/main" id="{34740335-7364-6DDD-D98B-62FC3C7EAAFE}"/>
              </a:ext>
            </a:extLst>
          </p:cNvPr>
          <p:cNvSpPr/>
          <p:nvPr/>
        </p:nvSpPr>
        <p:spPr>
          <a:xfrm>
            <a:off x="9371057" y="1055370"/>
            <a:ext cx="2750458" cy="3611880"/>
          </a:xfrm>
          <a:prstGeom prst="roundRect">
            <a:avLst>
              <a:gd name="adj" fmla="val 3544"/>
            </a:avLst>
          </a:prstGeom>
          <a:solidFill>
            <a:srgbClr val="1E293B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49" name="Text 31">
            <a:extLst>
              <a:ext uri="{FF2B5EF4-FFF2-40B4-BE49-F238E27FC236}">
                <a16:creationId xmlns:a16="http://schemas.microsoft.com/office/drawing/2014/main" id="{EB990D4A-4582-42BE-1D84-821FC8622E70}"/>
              </a:ext>
            </a:extLst>
          </p:cNvPr>
          <p:cNvSpPr/>
          <p:nvPr/>
        </p:nvSpPr>
        <p:spPr>
          <a:xfrm>
            <a:off x="9986344" y="1192530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4B8A6"/>
                </a:solidFill>
              </a:rPr>
              <a:t>Optimierungsprozess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5139185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" name="Text 2"/>
          <p:cNvSpPr/>
          <p:nvPr/>
        </p:nvSpPr>
        <p:spPr>
          <a:xfrm>
            <a:off x="457200" y="5486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14B8A6"/>
                </a:solidFill>
              </a:rPr>
              <a:t>HYPERPARAMETER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Hyperparameter-Optimierung</a:t>
            </a:r>
            <a:endParaRPr lang="en-US" sz="2600" dirty="0"/>
          </a:p>
        </p:txBody>
      </p:sp>
      <p:grpSp>
        <p:nvGrpSpPr>
          <p:cNvPr id="84" name="Gruppieren 83">
            <a:extLst>
              <a:ext uri="{FF2B5EF4-FFF2-40B4-BE49-F238E27FC236}">
                <a16:creationId xmlns:a16="http://schemas.microsoft.com/office/drawing/2014/main" id="{389EDD42-C256-79CC-3E53-C6E6448B5E07}"/>
              </a:ext>
            </a:extLst>
          </p:cNvPr>
          <p:cNvGrpSpPr/>
          <p:nvPr/>
        </p:nvGrpSpPr>
        <p:grpSpPr>
          <a:xfrm>
            <a:off x="365760" y="1051560"/>
            <a:ext cx="3840480" cy="384048"/>
            <a:chOff x="365760" y="1051560"/>
            <a:chExt cx="3840480" cy="384048"/>
          </a:xfrm>
        </p:grpSpPr>
        <p:sp>
          <p:nvSpPr>
            <p:cNvPr id="6" name="Shape 4"/>
            <p:cNvSpPr/>
            <p:nvPr/>
          </p:nvSpPr>
          <p:spPr>
            <a:xfrm>
              <a:off x="365760" y="1051560"/>
              <a:ext cx="3840480" cy="384048"/>
            </a:xfrm>
            <a:prstGeom prst="roundRect">
              <a:avLst>
                <a:gd name="adj" fmla="val 23810"/>
              </a:avLst>
            </a:prstGeom>
            <a:solidFill>
              <a:srgbClr val="0D9488"/>
            </a:solidFill>
            <a:ln w="12700">
              <a:solidFill>
                <a:srgbClr val="0D9488"/>
              </a:solidFill>
              <a:prstDash val="solid"/>
            </a:ln>
          </p:spPr>
          <p:txBody>
            <a:bodyPr/>
            <a:lstStyle/>
            <a:p>
              <a:endParaRPr lang="de-DE"/>
            </a:p>
          </p:txBody>
        </p:sp>
        <p:sp>
          <p:nvSpPr>
            <p:cNvPr id="7" name="Text 5"/>
            <p:cNvSpPr/>
            <p:nvPr/>
          </p:nvSpPr>
          <p:spPr>
            <a:xfrm>
              <a:off x="365760" y="1051560"/>
              <a:ext cx="3840480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</a:rPr>
                <a:t>Finale Konfiguration: c05_long_default</a:t>
              </a:r>
              <a:endParaRPr lang="en-US" sz="1100" dirty="0"/>
            </a:p>
          </p:txBody>
        </p:sp>
      </p:grpSp>
      <p:sp>
        <p:nvSpPr>
          <p:cNvPr id="8" name="Shape 6"/>
          <p:cNvSpPr/>
          <p:nvPr/>
        </p:nvSpPr>
        <p:spPr>
          <a:xfrm>
            <a:off x="356235" y="1600200"/>
            <a:ext cx="5794760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9" name="Text 7"/>
          <p:cNvSpPr/>
          <p:nvPr/>
        </p:nvSpPr>
        <p:spPr>
          <a:xfrm>
            <a:off x="447675" y="160020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14B8A6"/>
                </a:solidFill>
              </a:rPr>
              <a:t>PARAMETER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07995" y="160020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14B8A6"/>
                </a:solidFill>
              </a:rPr>
              <a:t>WERT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14800" y="1600200"/>
            <a:ext cx="317370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14B8A6"/>
                </a:solidFill>
              </a:rPr>
              <a:t>BEGRÜNDUNG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56235" y="1984248"/>
            <a:ext cx="579476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3" name="Text 11"/>
          <p:cNvSpPr/>
          <p:nvPr/>
        </p:nvSpPr>
        <p:spPr>
          <a:xfrm>
            <a:off x="447675" y="198424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Learning Rate α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007995" y="1984248"/>
            <a:ext cx="1005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</a:rPr>
              <a:t>0.01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105275" y="1984248"/>
            <a:ext cx="317370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Stabilität &amp; Speed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56235" y="2404872"/>
            <a:ext cx="5794760" cy="420624"/>
          </a:xfrm>
          <a:prstGeom prst="rect">
            <a:avLst/>
          </a:prstGeom>
          <a:solidFill>
            <a:srgbClr val="E2E8F0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7" name="Text 15"/>
          <p:cNvSpPr/>
          <p:nvPr/>
        </p:nvSpPr>
        <p:spPr>
          <a:xfrm>
            <a:off x="447675" y="2404872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Discount Factor γ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007995" y="2404872"/>
            <a:ext cx="1005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</a:rPr>
              <a:t>0.99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105275" y="2404872"/>
            <a:ext cx="317370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Lange Foresight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56235" y="2825496"/>
            <a:ext cx="579476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1" name="Text 19"/>
          <p:cNvSpPr/>
          <p:nvPr/>
        </p:nvSpPr>
        <p:spPr>
          <a:xfrm>
            <a:off x="447675" y="2825496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Initial ε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007995" y="2825496"/>
            <a:ext cx="1005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</a:rPr>
              <a:t>1.0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105275" y="2825496"/>
            <a:ext cx="317370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Vollständige Exploration zu Beginn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56235" y="3246120"/>
            <a:ext cx="5794760" cy="420624"/>
          </a:xfrm>
          <a:prstGeom prst="rect">
            <a:avLst/>
          </a:prstGeom>
          <a:solidFill>
            <a:srgbClr val="E2E8F0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5" name="Text 23"/>
          <p:cNvSpPr/>
          <p:nvPr/>
        </p:nvSpPr>
        <p:spPr>
          <a:xfrm>
            <a:off x="447675" y="3246120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ε Decay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007995" y="3246120"/>
            <a:ext cx="1005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</a:rPr>
              <a:t>0.90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105275" y="3246120"/>
            <a:ext cx="317370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Langsame, schrittweise Reduktion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56235" y="3666744"/>
            <a:ext cx="579476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9" name="Text 27"/>
          <p:cNvSpPr/>
          <p:nvPr/>
        </p:nvSpPr>
        <p:spPr>
          <a:xfrm>
            <a:off x="447675" y="3666744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Final ε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007995" y="3666744"/>
            <a:ext cx="1005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</a:rPr>
              <a:t>0.10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105275" y="3666744"/>
            <a:ext cx="317370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Residuale Exploration am Ende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284957" y="1055370"/>
            <a:ext cx="2750458" cy="3611880"/>
          </a:xfrm>
          <a:prstGeom prst="roundRect">
            <a:avLst>
              <a:gd name="adj" fmla="val 3544"/>
            </a:avLst>
          </a:prstGeom>
          <a:solidFill>
            <a:srgbClr val="1E293B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33" name="Text 31"/>
          <p:cNvSpPr/>
          <p:nvPr/>
        </p:nvSpPr>
        <p:spPr>
          <a:xfrm>
            <a:off x="6900244" y="1192530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4B8A6"/>
                </a:solidFill>
              </a:rPr>
              <a:t>Optimierungsprozess</a:t>
            </a:r>
            <a:endParaRPr lang="en-US" sz="1200" dirty="0"/>
          </a:p>
        </p:txBody>
      </p:sp>
      <p:grpSp>
        <p:nvGrpSpPr>
          <p:cNvPr id="48" name="Gruppieren 47">
            <a:extLst>
              <a:ext uri="{FF2B5EF4-FFF2-40B4-BE49-F238E27FC236}">
                <a16:creationId xmlns:a16="http://schemas.microsoft.com/office/drawing/2014/main" id="{B1D29F4E-AE1A-03CF-FCEB-70AAED10A935}"/>
              </a:ext>
            </a:extLst>
          </p:cNvPr>
          <p:cNvGrpSpPr/>
          <p:nvPr/>
        </p:nvGrpSpPr>
        <p:grpSpPr>
          <a:xfrm>
            <a:off x="6900244" y="1649730"/>
            <a:ext cx="548640" cy="548640"/>
            <a:chOff x="6900244" y="1649730"/>
            <a:chExt cx="548640" cy="548640"/>
          </a:xfrm>
        </p:grpSpPr>
        <p:sp>
          <p:nvSpPr>
            <p:cNvPr id="34" name="Shape 32"/>
            <p:cNvSpPr/>
            <p:nvPr/>
          </p:nvSpPr>
          <p:spPr>
            <a:xfrm>
              <a:off x="6900244" y="1649730"/>
              <a:ext cx="548640" cy="548640"/>
            </a:xfrm>
            <a:prstGeom prst="ellipse">
              <a:avLst/>
            </a:prstGeom>
            <a:solidFill>
              <a:srgbClr val="0D9488"/>
            </a:solidFill>
            <a:ln w="12700">
              <a:solidFill>
                <a:srgbClr val="0D9488"/>
              </a:solidFill>
              <a:prstDash val="solid"/>
            </a:ln>
          </p:spPr>
          <p:txBody>
            <a:bodyPr/>
            <a:lstStyle/>
            <a:p>
              <a:endParaRPr lang="de-DE"/>
            </a:p>
          </p:txBody>
        </p:sp>
        <p:sp>
          <p:nvSpPr>
            <p:cNvPr id="35" name="Text 33"/>
            <p:cNvSpPr/>
            <p:nvPr/>
          </p:nvSpPr>
          <p:spPr>
            <a:xfrm>
              <a:off x="6900244" y="1649730"/>
              <a:ext cx="54864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</a:rPr>
                <a:t>16</a:t>
              </a:r>
              <a:endParaRPr lang="en-US" sz="1600" dirty="0"/>
            </a:p>
          </p:txBody>
        </p:sp>
      </p:grpSp>
      <p:sp>
        <p:nvSpPr>
          <p:cNvPr id="36" name="Text 34"/>
          <p:cNvSpPr/>
          <p:nvPr/>
        </p:nvSpPr>
        <p:spPr>
          <a:xfrm>
            <a:off x="7567756" y="1686306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Konfigurationen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7567756" y="195148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</a:rPr>
              <a:t>Stage 1: Breite Suche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7174564" y="2244090"/>
            <a:ext cx="0" cy="365760"/>
          </a:xfrm>
          <a:prstGeom prst="line">
            <a:avLst/>
          </a:prstGeom>
          <a:noFill/>
          <a:ln w="19050">
            <a:solidFill>
              <a:srgbClr val="0D9488"/>
            </a:solidFill>
            <a:prstDash val="dash"/>
          </a:ln>
        </p:spPr>
        <p:txBody>
          <a:bodyPr/>
          <a:lstStyle/>
          <a:p>
            <a:endParaRPr lang="de-DE"/>
          </a:p>
        </p:txBody>
      </p:sp>
      <p:grpSp>
        <p:nvGrpSpPr>
          <p:cNvPr id="49" name="Gruppieren 48">
            <a:extLst>
              <a:ext uri="{FF2B5EF4-FFF2-40B4-BE49-F238E27FC236}">
                <a16:creationId xmlns:a16="http://schemas.microsoft.com/office/drawing/2014/main" id="{3DBDD54B-9E6F-2353-1470-1CE822BFEE08}"/>
              </a:ext>
            </a:extLst>
          </p:cNvPr>
          <p:cNvGrpSpPr/>
          <p:nvPr/>
        </p:nvGrpSpPr>
        <p:grpSpPr>
          <a:xfrm>
            <a:off x="6900244" y="2637282"/>
            <a:ext cx="548640" cy="548640"/>
            <a:chOff x="6900244" y="2637282"/>
            <a:chExt cx="548640" cy="548640"/>
          </a:xfrm>
        </p:grpSpPr>
        <p:sp>
          <p:nvSpPr>
            <p:cNvPr id="39" name="Shape 37"/>
            <p:cNvSpPr/>
            <p:nvPr/>
          </p:nvSpPr>
          <p:spPr>
            <a:xfrm>
              <a:off x="6900244" y="2637282"/>
              <a:ext cx="548640" cy="548640"/>
            </a:xfrm>
            <a:prstGeom prst="ellipse">
              <a:avLst/>
            </a:prstGeom>
            <a:solidFill>
              <a:srgbClr val="0D9488"/>
            </a:solidFill>
            <a:ln w="12700">
              <a:solidFill>
                <a:srgbClr val="0D9488"/>
              </a:solidFill>
              <a:prstDash val="solid"/>
            </a:ln>
          </p:spPr>
          <p:txBody>
            <a:bodyPr/>
            <a:lstStyle/>
            <a:p>
              <a:endParaRPr lang="de-DE"/>
            </a:p>
          </p:txBody>
        </p:sp>
        <p:sp>
          <p:nvSpPr>
            <p:cNvPr id="40" name="Text 38"/>
            <p:cNvSpPr/>
            <p:nvPr/>
          </p:nvSpPr>
          <p:spPr>
            <a:xfrm>
              <a:off x="6900244" y="2637282"/>
              <a:ext cx="54864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</a:rPr>
                <a:t>8</a:t>
              </a:r>
              <a:endParaRPr lang="en-US" sz="1600" dirty="0"/>
            </a:p>
          </p:txBody>
        </p:sp>
      </p:grpSp>
      <p:sp>
        <p:nvSpPr>
          <p:cNvPr id="41" name="Text 39"/>
          <p:cNvSpPr/>
          <p:nvPr/>
        </p:nvSpPr>
        <p:spPr>
          <a:xfrm>
            <a:off x="7567756" y="267385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Konfigurationen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7567756" y="2939034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</a:rPr>
              <a:t>Stage 2: Eingrenzung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7174564" y="3231642"/>
            <a:ext cx="0" cy="365760"/>
          </a:xfrm>
          <a:prstGeom prst="line">
            <a:avLst/>
          </a:prstGeom>
          <a:noFill/>
          <a:ln w="19050">
            <a:solidFill>
              <a:srgbClr val="0D9488"/>
            </a:solidFill>
            <a:prstDash val="dash"/>
          </a:ln>
        </p:spPr>
        <p:txBody>
          <a:bodyPr/>
          <a:lstStyle/>
          <a:p>
            <a:endParaRPr lang="de-DE"/>
          </a:p>
        </p:txBody>
      </p:sp>
      <p:grpSp>
        <p:nvGrpSpPr>
          <p:cNvPr id="50" name="Gruppieren 49">
            <a:extLst>
              <a:ext uri="{FF2B5EF4-FFF2-40B4-BE49-F238E27FC236}">
                <a16:creationId xmlns:a16="http://schemas.microsoft.com/office/drawing/2014/main" id="{19D73659-1393-FB99-F24C-5E7F8114497F}"/>
              </a:ext>
            </a:extLst>
          </p:cNvPr>
          <p:cNvGrpSpPr/>
          <p:nvPr/>
        </p:nvGrpSpPr>
        <p:grpSpPr>
          <a:xfrm>
            <a:off x="6900244" y="3624834"/>
            <a:ext cx="548640" cy="548640"/>
            <a:chOff x="6900244" y="3624834"/>
            <a:chExt cx="548640" cy="548640"/>
          </a:xfrm>
        </p:grpSpPr>
        <p:sp>
          <p:nvSpPr>
            <p:cNvPr id="44" name="Shape 42"/>
            <p:cNvSpPr/>
            <p:nvPr/>
          </p:nvSpPr>
          <p:spPr>
            <a:xfrm>
              <a:off x="6900244" y="3624834"/>
              <a:ext cx="548640" cy="548640"/>
            </a:xfrm>
            <a:prstGeom prst="ellipse">
              <a:avLst/>
            </a:prstGeom>
            <a:solidFill>
              <a:srgbClr val="0D9488"/>
            </a:solidFill>
            <a:ln w="12700">
              <a:solidFill>
                <a:srgbClr val="0D9488"/>
              </a:solidFill>
              <a:prstDash val="solid"/>
            </a:ln>
          </p:spPr>
          <p:txBody>
            <a:bodyPr/>
            <a:lstStyle/>
            <a:p>
              <a:endParaRPr lang="de-DE"/>
            </a:p>
          </p:txBody>
        </p:sp>
        <p:sp>
          <p:nvSpPr>
            <p:cNvPr id="45" name="Text 43"/>
            <p:cNvSpPr/>
            <p:nvPr/>
          </p:nvSpPr>
          <p:spPr>
            <a:xfrm>
              <a:off x="6900244" y="3624834"/>
              <a:ext cx="54864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</a:rPr>
                <a:t>4</a:t>
              </a:r>
              <a:endParaRPr lang="en-US" sz="1600" dirty="0"/>
            </a:p>
          </p:txBody>
        </p:sp>
      </p:grpSp>
      <p:sp>
        <p:nvSpPr>
          <p:cNvPr id="46" name="Text 44"/>
          <p:cNvSpPr/>
          <p:nvPr/>
        </p:nvSpPr>
        <p:spPr>
          <a:xfrm>
            <a:off x="7567756" y="366141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Konfigurationen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7567756" y="3926586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</a:rPr>
              <a:t>Stage 3: Finale Tests</a:t>
            </a:r>
            <a:endParaRPr lang="en-US" sz="950" dirty="0"/>
          </a:p>
        </p:txBody>
      </p:sp>
      <p:sp>
        <p:nvSpPr>
          <p:cNvPr id="54" name="Shape 20">
            <a:extLst>
              <a:ext uri="{FF2B5EF4-FFF2-40B4-BE49-F238E27FC236}">
                <a16:creationId xmlns:a16="http://schemas.microsoft.com/office/drawing/2014/main" id="{7E77DE95-D2D1-04F1-EF06-40DBF1374421}"/>
              </a:ext>
            </a:extLst>
          </p:cNvPr>
          <p:cNvSpPr/>
          <p:nvPr/>
        </p:nvSpPr>
        <p:spPr>
          <a:xfrm>
            <a:off x="365760" y="5300472"/>
            <a:ext cx="2606040" cy="1097280"/>
          </a:xfrm>
          <a:prstGeom prst="roundRect">
            <a:avLst>
              <a:gd name="adj" fmla="val 8333"/>
            </a:avLst>
          </a:prstGeom>
          <a:solidFill>
            <a:srgbClr val="1E293B"/>
          </a:solidFill>
          <a:ln w="12700">
            <a:solidFill>
              <a:srgbClr val="EF4444">
                <a:alpha val="35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55" name="Shape 21">
            <a:extLst>
              <a:ext uri="{FF2B5EF4-FFF2-40B4-BE49-F238E27FC236}">
                <a16:creationId xmlns:a16="http://schemas.microsoft.com/office/drawing/2014/main" id="{2C074194-5255-8124-D92C-1338405D068C}"/>
              </a:ext>
            </a:extLst>
          </p:cNvPr>
          <p:cNvSpPr/>
          <p:nvPr/>
        </p:nvSpPr>
        <p:spPr>
          <a:xfrm>
            <a:off x="475488" y="5373624"/>
            <a:ext cx="256032" cy="25603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6" name="Text 22">
            <a:extLst>
              <a:ext uri="{FF2B5EF4-FFF2-40B4-BE49-F238E27FC236}">
                <a16:creationId xmlns:a16="http://schemas.microsoft.com/office/drawing/2014/main" id="{F7113883-AFDB-914F-34EC-40707B0548EB}"/>
              </a:ext>
            </a:extLst>
          </p:cNvPr>
          <p:cNvSpPr/>
          <p:nvPr/>
        </p:nvSpPr>
        <p:spPr>
          <a:xfrm>
            <a:off x="475488" y="537362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✕</a:t>
            </a:r>
            <a:endParaRPr lang="en-US" sz="1000" dirty="0"/>
          </a:p>
        </p:txBody>
      </p:sp>
      <p:sp>
        <p:nvSpPr>
          <p:cNvPr id="57" name="Text 23">
            <a:extLst>
              <a:ext uri="{FF2B5EF4-FFF2-40B4-BE49-F238E27FC236}">
                <a16:creationId xmlns:a16="http://schemas.microsoft.com/office/drawing/2014/main" id="{D8EDF746-9B04-C938-D5D9-EDE6A9576BC2}"/>
              </a:ext>
            </a:extLst>
          </p:cNvPr>
          <p:cNvSpPr/>
          <p:nvPr/>
        </p:nvSpPr>
        <p:spPr>
          <a:xfrm>
            <a:off x="822960" y="5355336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</a:rPr>
              <a:t>c04_aggressive</a:t>
            </a:r>
            <a:endParaRPr lang="en-US" sz="1050" dirty="0"/>
          </a:p>
        </p:txBody>
      </p:sp>
      <p:sp>
        <p:nvSpPr>
          <p:cNvPr id="58" name="Text 24">
            <a:extLst>
              <a:ext uri="{FF2B5EF4-FFF2-40B4-BE49-F238E27FC236}">
                <a16:creationId xmlns:a16="http://schemas.microsoft.com/office/drawing/2014/main" id="{FACAAEF6-0FCC-C4FB-C7DA-EF57C2CDFC97}"/>
              </a:ext>
            </a:extLst>
          </p:cNvPr>
          <p:cNvSpPr/>
          <p:nvPr/>
        </p:nvSpPr>
        <p:spPr>
          <a:xfrm>
            <a:off x="530352" y="5666232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</a:rPr>
              <a:t>lr=0.04 → zu noisy, instabil</a:t>
            </a:r>
            <a:endParaRPr lang="en-US" sz="950" dirty="0"/>
          </a:p>
        </p:txBody>
      </p:sp>
      <p:sp>
        <p:nvSpPr>
          <p:cNvPr id="59" name="Shape 25">
            <a:extLst>
              <a:ext uri="{FF2B5EF4-FFF2-40B4-BE49-F238E27FC236}">
                <a16:creationId xmlns:a16="http://schemas.microsoft.com/office/drawing/2014/main" id="{FD15DFCB-ED2A-1D5E-26F6-C8B9E823E594}"/>
              </a:ext>
            </a:extLst>
          </p:cNvPr>
          <p:cNvSpPr/>
          <p:nvPr/>
        </p:nvSpPr>
        <p:spPr>
          <a:xfrm>
            <a:off x="3200400" y="5300472"/>
            <a:ext cx="2606040" cy="1097280"/>
          </a:xfrm>
          <a:prstGeom prst="roundRect">
            <a:avLst>
              <a:gd name="adj" fmla="val 8333"/>
            </a:avLst>
          </a:prstGeom>
          <a:solidFill>
            <a:srgbClr val="1E293B"/>
          </a:solidFill>
          <a:ln w="12700">
            <a:solidFill>
              <a:srgbClr val="EF4444">
                <a:alpha val="35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60" name="Shape 26">
            <a:extLst>
              <a:ext uri="{FF2B5EF4-FFF2-40B4-BE49-F238E27FC236}">
                <a16:creationId xmlns:a16="http://schemas.microsoft.com/office/drawing/2014/main" id="{4EF2DF11-68C4-FD7F-E9D0-9C3507B9AFBC}"/>
              </a:ext>
            </a:extLst>
          </p:cNvPr>
          <p:cNvSpPr/>
          <p:nvPr/>
        </p:nvSpPr>
        <p:spPr>
          <a:xfrm>
            <a:off x="3310128" y="5373624"/>
            <a:ext cx="256032" cy="25603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61" name="Text 27">
            <a:extLst>
              <a:ext uri="{FF2B5EF4-FFF2-40B4-BE49-F238E27FC236}">
                <a16:creationId xmlns:a16="http://schemas.microsoft.com/office/drawing/2014/main" id="{147C1820-ADCD-FC44-68EC-BADEB85EF190}"/>
              </a:ext>
            </a:extLst>
          </p:cNvPr>
          <p:cNvSpPr/>
          <p:nvPr/>
        </p:nvSpPr>
        <p:spPr>
          <a:xfrm>
            <a:off x="3310128" y="537362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✕</a:t>
            </a:r>
            <a:endParaRPr lang="en-US" sz="1000" dirty="0"/>
          </a:p>
        </p:txBody>
      </p:sp>
      <p:sp>
        <p:nvSpPr>
          <p:cNvPr id="62" name="Text 28">
            <a:extLst>
              <a:ext uri="{FF2B5EF4-FFF2-40B4-BE49-F238E27FC236}">
                <a16:creationId xmlns:a16="http://schemas.microsoft.com/office/drawing/2014/main" id="{FEB00BBB-9E5E-82A8-655C-5992A193CAD9}"/>
              </a:ext>
            </a:extLst>
          </p:cNvPr>
          <p:cNvSpPr/>
          <p:nvPr/>
        </p:nvSpPr>
        <p:spPr>
          <a:xfrm>
            <a:off x="3657600" y="5355336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</a:rPr>
              <a:t>c02_very_stable</a:t>
            </a:r>
            <a:endParaRPr lang="en-US" sz="1050" dirty="0"/>
          </a:p>
        </p:txBody>
      </p:sp>
      <p:sp>
        <p:nvSpPr>
          <p:cNvPr id="63" name="Text 29">
            <a:extLst>
              <a:ext uri="{FF2B5EF4-FFF2-40B4-BE49-F238E27FC236}">
                <a16:creationId xmlns:a16="http://schemas.microsoft.com/office/drawing/2014/main" id="{25EAAB64-954F-92F9-8C22-8A699B25062F}"/>
              </a:ext>
            </a:extLst>
          </p:cNvPr>
          <p:cNvSpPr/>
          <p:nvPr/>
        </p:nvSpPr>
        <p:spPr>
          <a:xfrm>
            <a:off x="3364992" y="5666232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</a:rPr>
              <a:t>lr=0.0025 → zu langsam</a:t>
            </a:r>
            <a:endParaRPr lang="en-US" sz="950" dirty="0"/>
          </a:p>
        </p:txBody>
      </p:sp>
      <p:sp>
        <p:nvSpPr>
          <p:cNvPr id="64" name="Shape 30">
            <a:extLst>
              <a:ext uri="{FF2B5EF4-FFF2-40B4-BE49-F238E27FC236}">
                <a16:creationId xmlns:a16="http://schemas.microsoft.com/office/drawing/2014/main" id="{1F0B9FDA-3726-840E-FAA5-73EA3B832B3B}"/>
              </a:ext>
            </a:extLst>
          </p:cNvPr>
          <p:cNvSpPr/>
          <p:nvPr/>
        </p:nvSpPr>
        <p:spPr>
          <a:xfrm>
            <a:off x="6035040" y="5300472"/>
            <a:ext cx="2606040" cy="1097280"/>
          </a:xfrm>
          <a:prstGeom prst="roundRect">
            <a:avLst>
              <a:gd name="adj" fmla="val 8333"/>
            </a:avLst>
          </a:prstGeom>
          <a:solidFill>
            <a:srgbClr val="1E293B"/>
          </a:solidFill>
          <a:ln w="12700">
            <a:solidFill>
              <a:srgbClr val="EF4444">
                <a:alpha val="35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65" name="Shape 31">
            <a:extLst>
              <a:ext uri="{FF2B5EF4-FFF2-40B4-BE49-F238E27FC236}">
                <a16:creationId xmlns:a16="http://schemas.microsoft.com/office/drawing/2014/main" id="{C7118242-3809-A0BD-15F5-3524FEBC2A98}"/>
              </a:ext>
            </a:extLst>
          </p:cNvPr>
          <p:cNvSpPr/>
          <p:nvPr/>
        </p:nvSpPr>
        <p:spPr>
          <a:xfrm>
            <a:off x="6144768" y="5373624"/>
            <a:ext cx="256032" cy="25603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66" name="Text 32">
            <a:extLst>
              <a:ext uri="{FF2B5EF4-FFF2-40B4-BE49-F238E27FC236}">
                <a16:creationId xmlns:a16="http://schemas.microsoft.com/office/drawing/2014/main" id="{11BDE702-2158-80A4-35AF-8E0435B0E6C2}"/>
              </a:ext>
            </a:extLst>
          </p:cNvPr>
          <p:cNvSpPr/>
          <p:nvPr/>
        </p:nvSpPr>
        <p:spPr>
          <a:xfrm>
            <a:off x="6144768" y="537362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✕</a:t>
            </a:r>
            <a:endParaRPr lang="en-US" sz="1000" dirty="0"/>
          </a:p>
        </p:txBody>
      </p:sp>
      <p:sp>
        <p:nvSpPr>
          <p:cNvPr id="67" name="Text 33">
            <a:extLst>
              <a:ext uri="{FF2B5EF4-FFF2-40B4-BE49-F238E27FC236}">
                <a16:creationId xmlns:a16="http://schemas.microsoft.com/office/drawing/2014/main" id="{1D17BBC0-71CE-88B1-DB06-DEABAD9328FF}"/>
              </a:ext>
            </a:extLst>
          </p:cNvPr>
          <p:cNvSpPr/>
          <p:nvPr/>
        </p:nvSpPr>
        <p:spPr>
          <a:xfrm>
            <a:off x="6492240" y="5355336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</a:rPr>
              <a:t>c14_fast_low_eps</a:t>
            </a:r>
            <a:endParaRPr lang="en-US" sz="1050" dirty="0"/>
          </a:p>
        </p:txBody>
      </p:sp>
      <p:sp>
        <p:nvSpPr>
          <p:cNvPr id="68" name="Text 34">
            <a:extLst>
              <a:ext uri="{FF2B5EF4-FFF2-40B4-BE49-F238E27FC236}">
                <a16:creationId xmlns:a16="http://schemas.microsoft.com/office/drawing/2014/main" id="{5FAEAC8C-A38C-E253-F801-88CBF85B8340}"/>
              </a:ext>
            </a:extLst>
          </p:cNvPr>
          <p:cNvSpPr/>
          <p:nvPr/>
        </p:nvSpPr>
        <p:spPr>
          <a:xfrm>
            <a:off x="6199632" y="5666232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</a:rPr>
              <a:t>Konvergiert zu früh, Exploration unzureichend</a:t>
            </a:r>
            <a:endParaRPr lang="en-US" sz="950" dirty="0"/>
          </a:p>
        </p:txBody>
      </p:sp>
      <p:sp>
        <p:nvSpPr>
          <p:cNvPr id="69" name="Shape 4">
            <a:extLst>
              <a:ext uri="{FF2B5EF4-FFF2-40B4-BE49-F238E27FC236}">
                <a16:creationId xmlns:a16="http://schemas.microsoft.com/office/drawing/2014/main" id="{AEF3274F-F8B6-3DDD-6B8E-3382B3F839B8}"/>
              </a:ext>
            </a:extLst>
          </p:cNvPr>
          <p:cNvSpPr/>
          <p:nvPr/>
        </p:nvSpPr>
        <p:spPr>
          <a:xfrm>
            <a:off x="365760" y="-2026920"/>
            <a:ext cx="2606040" cy="1828800"/>
          </a:xfrm>
          <a:prstGeom prst="roundRect">
            <a:avLst>
              <a:gd name="adj" fmla="val 7000"/>
            </a:avLst>
          </a:prstGeom>
          <a:solidFill>
            <a:srgbClr val="F1F5F9"/>
          </a:solidFill>
          <a:ln w="12700">
            <a:solidFill>
              <a:srgbClr val="10B981">
                <a:alpha val="5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70" name="!!Test">
            <a:extLst>
              <a:ext uri="{FF2B5EF4-FFF2-40B4-BE49-F238E27FC236}">
                <a16:creationId xmlns:a16="http://schemas.microsoft.com/office/drawing/2014/main" id="{6CC8DECC-D162-ECF2-E625-B24CB6EA79A2}"/>
              </a:ext>
            </a:extLst>
          </p:cNvPr>
          <p:cNvSpPr>
            <a:spLocks/>
          </p:cNvSpPr>
          <p:nvPr/>
        </p:nvSpPr>
        <p:spPr>
          <a:xfrm>
            <a:off x="493776" y="-1917192"/>
            <a:ext cx="2350008" cy="292608"/>
          </a:xfrm>
          <a:prstGeom prst="roundRect">
            <a:avLst>
              <a:gd name="adj" fmla="val 25000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71" name="Text 6">
            <a:extLst>
              <a:ext uri="{FF2B5EF4-FFF2-40B4-BE49-F238E27FC236}">
                <a16:creationId xmlns:a16="http://schemas.microsoft.com/office/drawing/2014/main" id="{BAD4AC87-8044-477C-82E5-5D0C6ABDBB4F}"/>
              </a:ext>
            </a:extLst>
          </p:cNvPr>
          <p:cNvSpPr/>
          <p:nvPr/>
        </p:nvSpPr>
        <p:spPr>
          <a:xfrm>
            <a:off x="493776" y="-1917192"/>
            <a:ext cx="2350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</a:rPr>
              <a:t>OPTIMAL</a:t>
            </a:r>
            <a:endParaRPr lang="en-US" sz="900" dirty="0"/>
          </a:p>
        </p:txBody>
      </p:sp>
      <p:sp>
        <p:nvSpPr>
          <p:cNvPr id="72" name="Text 7">
            <a:extLst>
              <a:ext uri="{FF2B5EF4-FFF2-40B4-BE49-F238E27FC236}">
                <a16:creationId xmlns:a16="http://schemas.microsoft.com/office/drawing/2014/main" id="{0D7F7261-3B7F-8173-44FA-A4FB6F1515D3}"/>
              </a:ext>
            </a:extLst>
          </p:cNvPr>
          <p:cNvSpPr/>
          <p:nvPr/>
        </p:nvSpPr>
        <p:spPr>
          <a:xfrm>
            <a:off x="493776" y="-1496568"/>
            <a:ext cx="2350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0B98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LR = 0.01</a:t>
            </a:r>
            <a:endParaRPr lang="en-US" sz="2200" dirty="0"/>
          </a:p>
        </p:txBody>
      </p:sp>
      <p:sp>
        <p:nvSpPr>
          <p:cNvPr id="73" name="Text 8">
            <a:extLst>
              <a:ext uri="{FF2B5EF4-FFF2-40B4-BE49-F238E27FC236}">
                <a16:creationId xmlns:a16="http://schemas.microsoft.com/office/drawing/2014/main" id="{33B275B4-0BBB-F902-CDC4-0C66DBF3C9DB}"/>
              </a:ext>
            </a:extLst>
          </p:cNvPr>
          <p:cNvSpPr/>
          <p:nvPr/>
        </p:nvSpPr>
        <p:spPr>
          <a:xfrm>
            <a:off x="493776" y="-984504"/>
            <a:ext cx="23500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LR 0.02 zu instabil, LR 0.005 zu langsam – 0.01 ist der Sweet Spot.</a:t>
            </a:r>
            <a:endParaRPr lang="en-US" sz="950" dirty="0"/>
          </a:p>
        </p:txBody>
      </p:sp>
      <p:sp>
        <p:nvSpPr>
          <p:cNvPr id="74" name="Shape 9">
            <a:extLst>
              <a:ext uri="{FF2B5EF4-FFF2-40B4-BE49-F238E27FC236}">
                <a16:creationId xmlns:a16="http://schemas.microsoft.com/office/drawing/2014/main" id="{9FA1DAB8-9523-5883-BE97-E038639E2584}"/>
              </a:ext>
            </a:extLst>
          </p:cNvPr>
          <p:cNvSpPr/>
          <p:nvPr/>
        </p:nvSpPr>
        <p:spPr>
          <a:xfrm>
            <a:off x="3200400" y="-2026920"/>
            <a:ext cx="2606040" cy="1828800"/>
          </a:xfrm>
          <a:prstGeom prst="roundRect">
            <a:avLst>
              <a:gd name="adj" fmla="val 7000"/>
            </a:avLst>
          </a:prstGeom>
          <a:solidFill>
            <a:srgbClr val="F1F5F9"/>
          </a:solidFill>
          <a:ln w="12700">
            <a:solidFill>
              <a:srgbClr val="0D9488">
                <a:alpha val="5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75" name="Shape 10">
            <a:extLst>
              <a:ext uri="{FF2B5EF4-FFF2-40B4-BE49-F238E27FC236}">
                <a16:creationId xmlns:a16="http://schemas.microsoft.com/office/drawing/2014/main" id="{49970275-0F60-EC75-66EB-2E467035C87A}"/>
              </a:ext>
            </a:extLst>
          </p:cNvPr>
          <p:cNvSpPr/>
          <p:nvPr/>
        </p:nvSpPr>
        <p:spPr>
          <a:xfrm>
            <a:off x="3328416" y="-1917192"/>
            <a:ext cx="2350008" cy="292608"/>
          </a:xfrm>
          <a:prstGeom prst="roundRect">
            <a:avLst>
              <a:gd name="adj" fmla="val 25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76" name="Text 11">
            <a:extLst>
              <a:ext uri="{FF2B5EF4-FFF2-40B4-BE49-F238E27FC236}">
                <a16:creationId xmlns:a16="http://schemas.microsoft.com/office/drawing/2014/main" id="{1C98C4D2-3D15-ED15-ED60-8C99E5007B5F}"/>
              </a:ext>
            </a:extLst>
          </p:cNvPr>
          <p:cNvSpPr/>
          <p:nvPr/>
        </p:nvSpPr>
        <p:spPr>
          <a:xfrm>
            <a:off x="3328416" y="-1917192"/>
            <a:ext cx="2350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</a:rPr>
              <a:t>BEST</a:t>
            </a:r>
            <a:endParaRPr lang="en-US" sz="900" dirty="0"/>
          </a:p>
        </p:txBody>
      </p:sp>
      <p:sp>
        <p:nvSpPr>
          <p:cNvPr id="77" name="Text 12">
            <a:extLst>
              <a:ext uri="{FF2B5EF4-FFF2-40B4-BE49-F238E27FC236}">
                <a16:creationId xmlns:a16="http://schemas.microsoft.com/office/drawing/2014/main" id="{F03692CB-BC1A-475F-AFCD-5C1F8EAA85A3}"/>
              </a:ext>
            </a:extLst>
          </p:cNvPr>
          <p:cNvSpPr/>
          <p:nvPr/>
        </p:nvSpPr>
        <p:spPr>
          <a:xfrm>
            <a:off x="3328416" y="-1496568"/>
            <a:ext cx="2350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γ = 0.99</a:t>
            </a:r>
            <a:endParaRPr lang="en-US" sz="2200" dirty="0"/>
          </a:p>
        </p:txBody>
      </p:sp>
      <p:sp>
        <p:nvSpPr>
          <p:cNvPr id="78" name="Text 13">
            <a:extLst>
              <a:ext uri="{FF2B5EF4-FFF2-40B4-BE49-F238E27FC236}">
                <a16:creationId xmlns:a16="http://schemas.microsoft.com/office/drawing/2014/main" id="{99CA8099-FD36-79FB-D054-AF3B02B0B56E}"/>
              </a:ext>
            </a:extLst>
          </p:cNvPr>
          <p:cNvSpPr/>
          <p:nvPr/>
        </p:nvSpPr>
        <p:spPr>
          <a:xfrm>
            <a:off x="3328416" y="-984504"/>
            <a:ext cx="23500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Sowohl γ = 1.0 als auch γ = 0.98 lieferten schlechtere Ergebnisse.</a:t>
            </a:r>
            <a:endParaRPr lang="en-US" sz="950" dirty="0"/>
          </a:p>
        </p:txBody>
      </p:sp>
      <p:sp>
        <p:nvSpPr>
          <p:cNvPr id="79" name="Shape 14">
            <a:extLst>
              <a:ext uri="{FF2B5EF4-FFF2-40B4-BE49-F238E27FC236}">
                <a16:creationId xmlns:a16="http://schemas.microsoft.com/office/drawing/2014/main" id="{2BB2494B-0363-508F-F5EA-97E25CC9B61F}"/>
              </a:ext>
            </a:extLst>
          </p:cNvPr>
          <p:cNvSpPr/>
          <p:nvPr/>
        </p:nvSpPr>
        <p:spPr>
          <a:xfrm>
            <a:off x="6035040" y="-2026920"/>
            <a:ext cx="2606040" cy="1828800"/>
          </a:xfrm>
          <a:prstGeom prst="roundRect">
            <a:avLst>
              <a:gd name="adj" fmla="val 7000"/>
            </a:avLst>
          </a:prstGeom>
          <a:solidFill>
            <a:srgbClr val="F1F5F9"/>
          </a:solidFill>
          <a:ln w="12700">
            <a:solidFill>
              <a:srgbClr val="F59E0B">
                <a:alpha val="5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80" name="Shape 15">
            <a:extLst>
              <a:ext uri="{FF2B5EF4-FFF2-40B4-BE49-F238E27FC236}">
                <a16:creationId xmlns:a16="http://schemas.microsoft.com/office/drawing/2014/main" id="{ECB773EF-FF95-886B-EDDB-C8AF339091B1}"/>
              </a:ext>
            </a:extLst>
          </p:cNvPr>
          <p:cNvSpPr/>
          <p:nvPr/>
        </p:nvSpPr>
        <p:spPr>
          <a:xfrm>
            <a:off x="6163056" y="-1917192"/>
            <a:ext cx="2350008" cy="292608"/>
          </a:xfrm>
          <a:prstGeom prst="roundRect">
            <a:avLst>
              <a:gd name="adj" fmla="val 25000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1" name="Text 16">
            <a:extLst>
              <a:ext uri="{FF2B5EF4-FFF2-40B4-BE49-F238E27FC236}">
                <a16:creationId xmlns:a16="http://schemas.microsoft.com/office/drawing/2014/main" id="{A5018999-AF24-646F-FBBC-157E1A752996}"/>
              </a:ext>
            </a:extLst>
          </p:cNvPr>
          <p:cNvSpPr/>
          <p:nvPr/>
        </p:nvSpPr>
        <p:spPr>
          <a:xfrm>
            <a:off x="6163056" y="-1917192"/>
            <a:ext cx="2350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</a:rPr>
              <a:t>LANGER SCHEDULE</a:t>
            </a:r>
            <a:endParaRPr lang="en-US" sz="900" dirty="0"/>
          </a:p>
        </p:txBody>
      </p:sp>
      <p:sp>
        <p:nvSpPr>
          <p:cNvPr id="82" name="Text 17">
            <a:extLst>
              <a:ext uri="{FF2B5EF4-FFF2-40B4-BE49-F238E27FC236}">
                <a16:creationId xmlns:a16="http://schemas.microsoft.com/office/drawing/2014/main" id="{7DBC49B3-62F2-EDAD-B3DE-B2B06B124A81}"/>
              </a:ext>
            </a:extLst>
          </p:cNvPr>
          <p:cNvSpPr/>
          <p:nvPr/>
        </p:nvSpPr>
        <p:spPr>
          <a:xfrm>
            <a:off x="6163056" y="-1496568"/>
            <a:ext cx="2350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59E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Exploration</a:t>
            </a:r>
            <a:endParaRPr lang="en-US" sz="2200" dirty="0"/>
          </a:p>
        </p:txBody>
      </p:sp>
      <p:sp>
        <p:nvSpPr>
          <p:cNvPr id="83" name="Text 18">
            <a:extLst>
              <a:ext uri="{FF2B5EF4-FFF2-40B4-BE49-F238E27FC236}">
                <a16:creationId xmlns:a16="http://schemas.microsoft.com/office/drawing/2014/main" id="{A9D592B0-AF13-C024-2AD7-B177CF2F3689}"/>
              </a:ext>
            </a:extLst>
          </p:cNvPr>
          <p:cNvSpPr/>
          <p:nvPr/>
        </p:nvSpPr>
        <p:spPr>
          <a:xfrm>
            <a:off x="6163056" y="-984504"/>
            <a:ext cx="23500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Kurzer Schedule konvergiert zu früh – vollständige Exploration zu Beginn entscheidend.</a:t>
            </a:r>
            <a:endParaRPr lang="en-US" sz="95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" grpId="0" animBg="1"/>
      <p:bldP spid="37" grpId="0" animBg="1"/>
      <p:bldP spid="38" grpId="0" animBg="1"/>
      <p:bldP spid="41" grpId="0" animBg="1"/>
      <p:bldP spid="42" grpId="0" animBg="1"/>
      <p:bldP spid="43" grpId="0" animBg="1"/>
      <p:bldP spid="46" grpId="0" animBg="1"/>
      <p:bldP spid="4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" name="Text 2"/>
          <p:cNvSpPr/>
          <p:nvPr/>
        </p:nvSpPr>
        <p:spPr>
          <a:xfrm>
            <a:off x="457200" y="5486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F59E0B"/>
                </a:solidFill>
              </a:rPr>
              <a:t>SENSITIVITY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Hyperparameter Sensitivity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1097280"/>
            <a:ext cx="2606040" cy="1828800"/>
          </a:xfrm>
          <a:prstGeom prst="roundRect">
            <a:avLst>
              <a:gd name="adj" fmla="val 7000"/>
            </a:avLst>
          </a:prstGeom>
          <a:solidFill>
            <a:srgbClr val="F1F5F9"/>
          </a:solidFill>
          <a:ln w="12700">
            <a:solidFill>
              <a:srgbClr val="10B981">
                <a:alpha val="5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7" name="!!Test"/>
          <p:cNvSpPr>
            <a:spLocks/>
          </p:cNvSpPr>
          <p:nvPr/>
        </p:nvSpPr>
        <p:spPr>
          <a:xfrm>
            <a:off x="493776" y="1207008"/>
            <a:ext cx="2350008" cy="292608"/>
          </a:xfrm>
          <a:prstGeom prst="roundRect">
            <a:avLst>
              <a:gd name="adj" fmla="val 25000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Text 6"/>
          <p:cNvSpPr/>
          <p:nvPr/>
        </p:nvSpPr>
        <p:spPr>
          <a:xfrm>
            <a:off x="493776" y="1207008"/>
            <a:ext cx="2350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</a:rPr>
              <a:t>OPTIMAL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93776" y="1627632"/>
            <a:ext cx="2350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0B98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LR = 0.01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493776" y="2139696"/>
            <a:ext cx="23500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LR 0.02 zu instabil, LR 0.005 zu langsam – 0.01 ist der Sweet Spot.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200400" y="1097280"/>
            <a:ext cx="2606040" cy="1828800"/>
          </a:xfrm>
          <a:prstGeom prst="roundRect">
            <a:avLst>
              <a:gd name="adj" fmla="val 7000"/>
            </a:avLst>
          </a:prstGeom>
          <a:solidFill>
            <a:srgbClr val="F1F5F9"/>
          </a:solidFill>
          <a:ln w="12700">
            <a:solidFill>
              <a:srgbClr val="0D9488">
                <a:alpha val="5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2" name="Shape 10"/>
          <p:cNvSpPr/>
          <p:nvPr/>
        </p:nvSpPr>
        <p:spPr>
          <a:xfrm>
            <a:off x="3328416" y="1207008"/>
            <a:ext cx="2350008" cy="292608"/>
          </a:xfrm>
          <a:prstGeom prst="roundRect">
            <a:avLst>
              <a:gd name="adj" fmla="val 25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3" name="Text 11"/>
          <p:cNvSpPr/>
          <p:nvPr/>
        </p:nvSpPr>
        <p:spPr>
          <a:xfrm>
            <a:off x="3328416" y="1207008"/>
            <a:ext cx="2350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</a:rPr>
              <a:t>BEST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328416" y="1627632"/>
            <a:ext cx="2350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γ = 0.99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3328416" y="2139696"/>
            <a:ext cx="23500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Sowohl γ = 1.0 als auch γ = 0.98 lieferten schlechtere Ergebnisse.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035040" y="1097280"/>
            <a:ext cx="2606040" cy="1828800"/>
          </a:xfrm>
          <a:prstGeom prst="roundRect">
            <a:avLst>
              <a:gd name="adj" fmla="val 7000"/>
            </a:avLst>
          </a:prstGeom>
          <a:solidFill>
            <a:srgbClr val="F1F5F9"/>
          </a:solidFill>
          <a:ln w="12700">
            <a:solidFill>
              <a:srgbClr val="F59E0B">
                <a:alpha val="5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7" name="Shape 15"/>
          <p:cNvSpPr/>
          <p:nvPr/>
        </p:nvSpPr>
        <p:spPr>
          <a:xfrm>
            <a:off x="6163056" y="1207008"/>
            <a:ext cx="2350008" cy="292608"/>
          </a:xfrm>
          <a:prstGeom prst="roundRect">
            <a:avLst>
              <a:gd name="adj" fmla="val 25000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8" name="Text 16"/>
          <p:cNvSpPr/>
          <p:nvPr/>
        </p:nvSpPr>
        <p:spPr>
          <a:xfrm>
            <a:off x="6163056" y="1207008"/>
            <a:ext cx="2350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</a:rPr>
              <a:t>LANGER SCHEDULE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163056" y="1627632"/>
            <a:ext cx="2350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59E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Exploration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6163056" y="2139696"/>
            <a:ext cx="23500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Kurzer Schedule konvergiert zu früh – vollständige Exploration zu Beginn entscheidend.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65760" y="3127248"/>
            <a:ext cx="4572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Abgelehnte Konfigurationen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365760" y="3547872"/>
            <a:ext cx="2606040" cy="1097280"/>
          </a:xfrm>
          <a:prstGeom prst="roundRect">
            <a:avLst>
              <a:gd name="adj" fmla="val 8333"/>
            </a:avLst>
          </a:prstGeom>
          <a:solidFill>
            <a:srgbClr val="1E293B"/>
          </a:solidFill>
          <a:ln w="12700">
            <a:solidFill>
              <a:srgbClr val="EF4444">
                <a:alpha val="35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3" name="Shape 21"/>
          <p:cNvSpPr/>
          <p:nvPr/>
        </p:nvSpPr>
        <p:spPr>
          <a:xfrm>
            <a:off x="475488" y="3621024"/>
            <a:ext cx="256032" cy="25603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4" name="Text 22"/>
          <p:cNvSpPr/>
          <p:nvPr/>
        </p:nvSpPr>
        <p:spPr>
          <a:xfrm>
            <a:off x="475488" y="362102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✕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22960" y="3602736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</a:rPr>
              <a:t>c04_aggressive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30352" y="3913632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</a:rPr>
              <a:t>lr=0.04 → zu noisy, instabil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200400" y="3547872"/>
            <a:ext cx="2606040" cy="1097280"/>
          </a:xfrm>
          <a:prstGeom prst="roundRect">
            <a:avLst>
              <a:gd name="adj" fmla="val 8333"/>
            </a:avLst>
          </a:prstGeom>
          <a:solidFill>
            <a:srgbClr val="1E293B"/>
          </a:solidFill>
          <a:ln w="12700">
            <a:solidFill>
              <a:srgbClr val="EF4444">
                <a:alpha val="35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8" name="Shape 26"/>
          <p:cNvSpPr/>
          <p:nvPr/>
        </p:nvSpPr>
        <p:spPr>
          <a:xfrm>
            <a:off x="3310128" y="3621024"/>
            <a:ext cx="256032" cy="25603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9" name="Text 27"/>
          <p:cNvSpPr/>
          <p:nvPr/>
        </p:nvSpPr>
        <p:spPr>
          <a:xfrm>
            <a:off x="3310128" y="362102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✕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3657600" y="3602736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</a:rPr>
              <a:t>c02_very_stable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3364992" y="3913632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</a:rPr>
              <a:t>lr=0.0025 → zu langsam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035040" y="3547872"/>
            <a:ext cx="2606040" cy="1097280"/>
          </a:xfrm>
          <a:prstGeom prst="roundRect">
            <a:avLst>
              <a:gd name="adj" fmla="val 8333"/>
            </a:avLst>
          </a:prstGeom>
          <a:solidFill>
            <a:srgbClr val="1E293B"/>
          </a:solidFill>
          <a:ln w="12700">
            <a:solidFill>
              <a:srgbClr val="EF4444">
                <a:alpha val="35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33" name="Shape 31"/>
          <p:cNvSpPr/>
          <p:nvPr/>
        </p:nvSpPr>
        <p:spPr>
          <a:xfrm>
            <a:off x="6144768" y="3621024"/>
            <a:ext cx="256032" cy="25603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4" name="Text 32"/>
          <p:cNvSpPr/>
          <p:nvPr/>
        </p:nvSpPr>
        <p:spPr>
          <a:xfrm>
            <a:off x="6144768" y="362102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✕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492240" y="3602736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</a:rPr>
              <a:t>c14_fast_low_eps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6199632" y="3913632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</a:rPr>
              <a:t>Konvergiert zu früh, Exploration unzureichend</a:t>
            </a:r>
            <a:endParaRPr lang="en-US" sz="950" dirty="0"/>
          </a:p>
        </p:txBody>
      </p:sp>
    </p:spTree>
    <p:extLst>
      <p:ext uri="{BB962C8B-B14F-4D97-AF65-F5344CB8AC3E}">
        <p14:creationId xmlns:p14="http://schemas.microsoft.com/office/powerpoint/2010/main" val="67344160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457200" y="1097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14B8A6"/>
                </a:solidFill>
              </a:rPr>
              <a:t>TRAINING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Trainingsprozess &amp; Hardware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1600200" cy="658368"/>
          </a:xfrm>
          <a:prstGeom prst="roundRect">
            <a:avLst>
              <a:gd name="adj" fmla="val 13889"/>
            </a:avLst>
          </a:prstGeom>
          <a:solidFill>
            <a:srgbClr val="1E3A5F"/>
          </a:solidFill>
          <a:ln w="12700">
            <a:solidFill>
              <a:srgbClr val="0D9488">
                <a:alpha val="7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6" name="Text 4"/>
          <p:cNvSpPr/>
          <p:nvPr/>
        </p:nvSpPr>
        <p:spPr>
          <a:xfrm>
            <a:off x="365760" y="1097280"/>
            <a:ext cx="1600200" cy="65836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D9488"/>
                </a:solidFill>
              </a:rPr>
              <a:t>ε-greedy Aktion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1965960" y="1426464"/>
            <a:ext cx="502920" cy="0"/>
          </a:xfrm>
          <a:prstGeom prst="line">
            <a:avLst/>
          </a:prstGeom>
          <a:noFill/>
          <a:ln w="1905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Shape 6"/>
          <p:cNvSpPr/>
          <p:nvPr/>
        </p:nvSpPr>
        <p:spPr>
          <a:xfrm>
            <a:off x="2103120" y="1097280"/>
            <a:ext cx="1600200" cy="658368"/>
          </a:xfrm>
          <a:prstGeom prst="roundRect">
            <a:avLst>
              <a:gd name="adj" fmla="val 13889"/>
            </a:avLst>
          </a:prstGeom>
          <a:solidFill>
            <a:srgbClr val="1E3A5F"/>
          </a:solidFill>
          <a:ln w="12700">
            <a:solidFill>
              <a:srgbClr val="F59E0B">
                <a:alpha val="7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9" name="Text 7"/>
          <p:cNvSpPr/>
          <p:nvPr/>
        </p:nvSpPr>
        <p:spPr>
          <a:xfrm>
            <a:off x="2103120" y="1097280"/>
            <a:ext cx="1600200" cy="65836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59E0B"/>
                </a:solidFill>
              </a:rPr>
              <a:t>Umgebung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703320" y="1426464"/>
            <a:ext cx="502920" cy="0"/>
          </a:xfrm>
          <a:prstGeom prst="line">
            <a:avLst/>
          </a:prstGeom>
          <a:noFill/>
          <a:ln w="1905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1" name="Shape 9"/>
          <p:cNvSpPr/>
          <p:nvPr/>
        </p:nvSpPr>
        <p:spPr>
          <a:xfrm>
            <a:off x="3840480" y="1097280"/>
            <a:ext cx="1600200" cy="658368"/>
          </a:xfrm>
          <a:prstGeom prst="roundRect">
            <a:avLst>
              <a:gd name="adj" fmla="val 13889"/>
            </a:avLst>
          </a:prstGeom>
          <a:solidFill>
            <a:srgbClr val="1E3A5F"/>
          </a:solidFill>
          <a:ln w="12700">
            <a:solidFill>
              <a:srgbClr val="14B8A6">
                <a:alpha val="7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2" name="Text 10"/>
          <p:cNvSpPr/>
          <p:nvPr/>
        </p:nvSpPr>
        <p:spPr>
          <a:xfrm>
            <a:off x="3840480" y="1097280"/>
            <a:ext cx="1600200" cy="65836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4B8A6"/>
                </a:solidFill>
              </a:rPr>
              <a:t>Bellman-Update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440680" y="1426464"/>
            <a:ext cx="502920" cy="0"/>
          </a:xfrm>
          <a:prstGeom prst="line">
            <a:avLst/>
          </a:prstGeom>
          <a:noFill/>
          <a:ln w="1905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4" name="Shape 12"/>
          <p:cNvSpPr/>
          <p:nvPr/>
        </p:nvSpPr>
        <p:spPr>
          <a:xfrm>
            <a:off x="5577840" y="1097280"/>
            <a:ext cx="1600200" cy="658368"/>
          </a:xfrm>
          <a:prstGeom prst="roundRect">
            <a:avLst>
              <a:gd name="adj" fmla="val 13889"/>
            </a:avLst>
          </a:prstGeom>
          <a:solidFill>
            <a:srgbClr val="1E3A5F"/>
          </a:solidFill>
          <a:ln w="12700">
            <a:solidFill>
              <a:srgbClr val="10B981">
                <a:alpha val="7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5" name="Text 13"/>
          <p:cNvSpPr/>
          <p:nvPr/>
        </p:nvSpPr>
        <p:spPr>
          <a:xfrm>
            <a:off x="5577840" y="1097280"/>
            <a:ext cx="1600200" cy="65836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0B981"/>
                </a:solidFill>
              </a:rPr>
              <a:t>Q-Tabelle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7178040" y="1426464"/>
            <a:ext cx="502920" cy="0"/>
          </a:xfrm>
          <a:prstGeom prst="line">
            <a:avLst/>
          </a:prstGeom>
          <a:noFill/>
          <a:ln w="1905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7" name="Shape 15"/>
          <p:cNvSpPr/>
          <p:nvPr/>
        </p:nvSpPr>
        <p:spPr>
          <a:xfrm>
            <a:off x="7269480" y="1097280"/>
            <a:ext cx="1600200" cy="658368"/>
          </a:xfrm>
          <a:prstGeom prst="roundRect">
            <a:avLst>
              <a:gd name="adj" fmla="val 13889"/>
            </a:avLst>
          </a:prstGeom>
          <a:solidFill>
            <a:srgbClr val="1E3A5F"/>
          </a:solidFill>
          <a:ln w="12700">
            <a:solidFill>
              <a:srgbClr val="F59E0B">
                <a:alpha val="7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8" name="Text 16"/>
          <p:cNvSpPr/>
          <p:nvPr/>
        </p:nvSpPr>
        <p:spPr>
          <a:xfrm>
            <a:off x="7269480" y="1097280"/>
            <a:ext cx="1600200" cy="65836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59E0B"/>
                </a:solidFill>
              </a:rPr>
              <a:t>Epsilon-Decay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65760" y="1920240"/>
            <a:ext cx="8503920" cy="256032"/>
          </a:xfrm>
          <a:prstGeom prst="roundRect">
            <a:avLst>
              <a:gd name="adj" fmla="val 28571"/>
            </a:avLst>
          </a:prstGeom>
          <a:solidFill>
            <a:srgbClr val="0D9488">
              <a:alpha val="10000"/>
            </a:srgbClr>
          </a:solidFill>
          <a:ln w="12700">
            <a:solidFill>
              <a:srgbClr val="0D948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0" name="Text 18"/>
          <p:cNvSpPr/>
          <p:nvPr/>
        </p:nvSpPr>
        <p:spPr>
          <a:xfrm>
            <a:off x="502920" y="19202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</a:rPr>
              <a:t>Dieser Loop wiederholt sich für jede der 100 Millionen Episoden mit kontinuierlicher Q-Table-Aktualisierung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65760" y="2331720"/>
            <a:ext cx="3977640" cy="1078992"/>
          </a:xfrm>
          <a:prstGeom prst="roundRect">
            <a:avLst>
              <a:gd name="adj" fmla="val 10169"/>
            </a:avLst>
          </a:prstGeom>
          <a:solidFill>
            <a:srgbClr val="1E3A5F"/>
          </a:solidFill>
          <a:ln w="12700">
            <a:solidFill>
              <a:srgbClr val="14B8A6">
                <a:alpha val="45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2" name="Text 20"/>
          <p:cNvSpPr/>
          <p:nvPr/>
        </p:nvSpPr>
        <p:spPr>
          <a:xfrm>
            <a:off x="457200" y="2331720"/>
            <a:ext cx="731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⚡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234440" y="249631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14B8A6"/>
                </a:solidFill>
              </a:rPr>
              <a:t>CPU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234440" y="2752344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Intel® Core™ Ultra 7 155U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4663440" y="2331720"/>
            <a:ext cx="3977640" cy="1078992"/>
          </a:xfrm>
          <a:prstGeom prst="roundRect">
            <a:avLst>
              <a:gd name="adj" fmla="val 10169"/>
            </a:avLst>
          </a:prstGeom>
          <a:solidFill>
            <a:srgbClr val="1E3A5F"/>
          </a:solidFill>
          <a:ln w="12700">
            <a:solidFill>
              <a:srgbClr val="F59E0B">
                <a:alpha val="45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6" name="Text 24"/>
          <p:cNvSpPr/>
          <p:nvPr/>
        </p:nvSpPr>
        <p:spPr>
          <a:xfrm>
            <a:off x="4754880" y="2331720"/>
            <a:ext cx="731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⏱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5532120" y="249631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F59E0B"/>
                </a:solidFill>
              </a:rPr>
              <a:t>DAUER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532120" y="2752344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~12–14 Stunden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365760" y="3611880"/>
            <a:ext cx="3977640" cy="1078992"/>
          </a:xfrm>
          <a:prstGeom prst="roundRect">
            <a:avLst>
              <a:gd name="adj" fmla="val 10169"/>
            </a:avLst>
          </a:prstGeom>
          <a:solidFill>
            <a:srgbClr val="1E3A5F"/>
          </a:solidFill>
          <a:ln w="12700">
            <a:solidFill>
              <a:srgbClr val="10B981">
                <a:alpha val="45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30" name="Text 28"/>
          <p:cNvSpPr/>
          <p:nvPr/>
        </p:nvSpPr>
        <p:spPr>
          <a:xfrm>
            <a:off x="457200" y="3611880"/>
            <a:ext cx="731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💾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1234440" y="377647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10B981"/>
                </a:solidFill>
              </a:rPr>
              <a:t>CHECKPOINTING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234440" y="4032504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alle 5M Episoden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4663440" y="3611880"/>
            <a:ext cx="3977640" cy="1078992"/>
          </a:xfrm>
          <a:prstGeom prst="roundRect">
            <a:avLst>
              <a:gd name="adj" fmla="val 10169"/>
            </a:avLst>
          </a:prstGeom>
          <a:solidFill>
            <a:srgbClr val="1E3A5F"/>
          </a:solidFill>
          <a:ln w="12700">
            <a:solidFill>
              <a:srgbClr val="0D9488">
                <a:alpha val="45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34" name="Text 32"/>
          <p:cNvSpPr/>
          <p:nvPr/>
        </p:nvSpPr>
        <p:spPr>
          <a:xfrm>
            <a:off x="4754880" y="3611880"/>
            <a:ext cx="731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35" name="Text 33"/>
          <p:cNvSpPr/>
          <p:nvPr/>
        </p:nvSpPr>
        <p:spPr>
          <a:xfrm>
            <a:off x="5532120" y="377647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0D9488"/>
                </a:solidFill>
              </a:rPr>
              <a:t>EVALUATION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5532120" y="4032504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1M greedy Ep. / Checkpoint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457200" y="10972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10B981"/>
                </a:solidFill>
              </a:rPr>
              <a:t>100M EPISODES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Final Performance Metrics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05840"/>
            <a:ext cx="7772400" cy="402336"/>
          </a:xfrm>
          <a:prstGeom prst="rect">
            <a:avLst/>
          </a:prstGeom>
          <a:solidFill>
            <a:srgbClr val="1E3A5F"/>
          </a:solidFill>
          <a:ln w="12700">
            <a:solidFill>
              <a:srgbClr val="0D9488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6" name="Text 4"/>
          <p:cNvSpPr/>
          <p:nvPr/>
        </p:nvSpPr>
        <p:spPr>
          <a:xfrm>
            <a:off x="475488" y="1005840"/>
            <a:ext cx="23591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94A3B8"/>
                </a:solidFill>
              </a:rPr>
              <a:t>METRIC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944368" y="1005840"/>
            <a:ext cx="17190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0D9488"/>
                </a:solidFill>
              </a:rPr>
              <a:t>BASELINE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773168" y="1005840"/>
            <a:ext cx="17190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F59E0B"/>
                </a:solidFill>
              </a:rPr>
              <a:t>COUNTING AGENT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601968" y="1005840"/>
            <a:ext cx="15361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10B981"/>
                </a:solidFill>
              </a:rPr>
              <a:t>DIFF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65760" y="1408176"/>
            <a:ext cx="7772400" cy="438912"/>
          </a:xfrm>
          <a:prstGeom prst="rect">
            <a:avLst/>
          </a:prstGeom>
          <a:solidFill>
            <a:srgbClr val="1E293B"/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1" name="Text 9"/>
          <p:cNvSpPr/>
          <p:nvPr/>
        </p:nvSpPr>
        <p:spPr>
          <a:xfrm>
            <a:off x="475488" y="1408176"/>
            <a:ext cx="2359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</a:rPr>
              <a:t>Avg Reward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944368" y="1408176"/>
            <a:ext cx="1719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</a:rPr>
              <a:t>−0.051565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773168" y="1408176"/>
            <a:ext cx="1719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</a:rPr>
              <a:t>−0.049736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601968" y="1408176"/>
            <a:ext cx="15361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0B981"/>
                </a:solidFill>
              </a:rPr>
              <a:t>+0.001829 ✅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365760" y="1847088"/>
            <a:ext cx="7772400" cy="438912"/>
          </a:xfrm>
          <a:prstGeom prst="rect">
            <a:avLst/>
          </a:prstGeom>
          <a:solidFill>
            <a:srgbClr val="1E3A5F"/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6" name="Text 14"/>
          <p:cNvSpPr/>
          <p:nvPr/>
        </p:nvSpPr>
        <p:spPr>
          <a:xfrm>
            <a:off x="475488" y="1847088"/>
            <a:ext cx="2359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</a:rPr>
              <a:t>Win Rate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2944368" y="1847088"/>
            <a:ext cx="1719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</a:rPr>
              <a:t>42.74%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773168" y="1847088"/>
            <a:ext cx="1719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</a:rPr>
              <a:t>42.83%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601968" y="1847088"/>
            <a:ext cx="15361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0B981"/>
                </a:solidFill>
              </a:rPr>
              <a:t>+0.09%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365760" y="2286000"/>
            <a:ext cx="7772400" cy="438912"/>
          </a:xfrm>
          <a:prstGeom prst="rect">
            <a:avLst/>
          </a:prstGeom>
          <a:solidFill>
            <a:srgbClr val="1E293B"/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1" name="Text 19"/>
          <p:cNvSpPr/>
          <p:nvPr/>
        </p:nvSpPr>
        <p:spPr>
          <a:xfrm>
            <a:off x="475488" y="2286000"/>
            <a:ext cx="2359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</a:rPr>
              <a:t>Loss Rate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2944368" y="2286000"/>
            <a:ext cx="1719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</a:rPr>
              <a:t>47.90%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4773168" y="2286000"/>
            <a:ext cx="1719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</a:rPr>
              <a:t>47.80%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601968" y="2286000"/>
            <a:ext cx="15361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94A3B8"/>
                </a:solidFill>
              </a:rPr>
              <a:t>−0.1%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365760" y="2724912"/>
            <a:ext cx="7772400" cy="438912"/>
          </a:xfrm>
          <a:prstGeom prst="rect">
            <a:avLst/>
          </a:prstGeom>
          <a:solidFill>
            <a:srgbClr val="1E3A5F"/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6" name="Text 24"/>
          <p:cNvSpPr/>
          <p:nvPr/>
        </p:nvSpPr>
        <p:spPr>
          <a:xfrm>
            <a:off x="475488" y="2724912"/>
            <a:ext cx="2359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</a:rPr>
              <a:t>Push Rate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944368" y="2724912"/>
            <a:ext cx="1719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</a:rPr>
              <a:t>9.35%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4773168" y="2724912"/>
            <a:ext cx="1719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</a:rPr>
              <a:t>9.35%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6601968" y="2724912"/>
            <a:ext cx="15361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94A3B8"/>
                </a:solidFill>
              </a:rPr>
              <a:t>Same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365760" y="3163824"/>
            <a:ext cx="7772400" cy="438912"/>
          </a:xfrm>
          <a:prstGeom prst="rect">
            <a:avLst/>
          </a:prstGeom>
          <a:solidFill>
            <a:srgbClr val="1E293B"/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1" name="Text 29"/>
          <p:cNvSpPr/>
          <p:nvPr/>
        </p:nvSpPr>
        <p:spPr>
          <a:xfrm>
            <a:off x="475488" y="3163824"/>
            <a:ext cx="2359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</a:rPr>
              <a:t>Q-States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2944368" y="3163824"/>
            <a:ext cx="1719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</a:rPr>
              <a:t>280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4773168" y="3163824"/>
            <a:ext cx="1719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</a:rPr>
              <a:t>113,744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6601968" y="3163824"/>
            <a:ext cx="15361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94A3B8"/>
                </a:solidFill>
              </a:rPr>
              <a:t>406× larger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365760" y="3602736"/>
            <a:ext cx="7772400" cy="438912"/>
          </a:xfrm>
          <a:prstGeom prst="rect">
            <a:avLst/>
          </a:prstGeom>
          <a:solidFill>
            <a:srgbClr val="1E3A5F"/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6" name="Text 34"/>
          <p:cNvSpPr/>
          <p:nvPr/>
        </p:nvSpPr>
        <p:spPr>
          <a:xfrm>
            <a:off x="475488" y="3602736"/>
            <a:ext cx="2359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</a:rPr>
              <a:t>Seed Stability (σ)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2944368" y="3602736"/>
            <a:ext cx="1719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</a:rPr>
              <a:t>0.00138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4773168" y="3602736"/>
            <a:ext cx="1719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</a:rPr>
              <a:t>0.00052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6601968" y="3602736"/>
            <a:ext cx="15361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0B981"/>
                </a:solidFill>
              </a:rPr>
              <a:t>Better ✅</a:t>
            </a:r>
            <a:endParaRPr lang="en-US" sz="1150" dirty="0"/>
          </a:p>
        </p:txBody>
      </p:sp>
      <p:grpSp>
        <p:nvGrpSpPr>
          <p:cNvPr id="42" name="Gruppieren 41">
            <a:extLst>
              <a:ext uri="{FF2B5EF4-FFF2-40B4-BE49-F238E27FC236}">
                <a16:creationId xmlns:a16="http://schemas.microsoft.com/office/drawing/2014/main" id="{F51ADEB4-DC91-7688-914B-646760B46B21}"/>
              </a:ext>
            </a:extLst>
          </p:cNvPr>
          <p:cNvGrpSpPr/>
          <p:nvPr/>
        </p:nvGrpSpPr>
        <p:grpSpPr>
          <a:xfrm>
            <a:off x="365760" y="5316855"/>
            <a:ext cx="7492365" cy="804672"/>
            <a:chOff x="365760" y="4183380"/>
            <a:chExt cx="8412480" cy="804672"/>
          </a:xfrm>
        </p:grpSpPr>
        <p:sp>
          <p:nvSpPr>
            <p:cNvPr id="40" name="Shape 38"/>
            <p:cNvSpPr/>
            <p:nvPr/>
          </p:nvSpPr>
          <p:spPr>
            <a:xfrm>
              <a:off x="365760" y="4183380"/>
              <a:ext cx="8412480" cy="804672"/>
            </a:xfrm>
            <a:prstGeom prst="roundRect">
              <a:avLst>
                <a:gd name="adj" fmla="val 13636"/>
              </a:avLst>
            </a:prstGeom>
            <a:solidFill>
              <a:srgbClr val="10B981">
                <a:alpha val="12000"/>
              </a:srgbClr>
            </a:solidFill>
            <a:ln w="12700">
              <a:solidFill>
                <a:srgbClr val="10B981"/>
              </a:solidFill>
              <a:prstDash val="solid"/>
            </a:ln>
          </p:spPr>
          <p:txBody>
            <a:bodyPr/>
            <a:lstStyle/>
            <a:p>
              <a:endParaRPr lang="de-DE"/>
            </a:p>
          </p:txBody>
        </p:sp>
        <p:sp>
          <p:nvSpPr>
            <p:cNvPr id="41" name="Text 39"/>
            <p:cNvSpPr/>
            <p:nvPr/>
          </p:nvSpPr>
          <p:spPr>
            <a:xfrm>
              <a:off x="795528" y="4256532"/>
              <a:ext cx="7955280" cy="6583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50" dirty="0">
                  <a:solidFill>
                    <a:srgbClr val="FFFFFF"/>
                  </a:solidFill>
                </a:rPr>
                <a:t>Counting Agent führt — stabiler über Seeds, 406× mehr State-Information. </a:t>
              </a:r>
              <a:endParaRPr lang="en-US" sz="1050" dirty="0"/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77778E-6 1.60494E-6 L -2.77778E-6 -0.21296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064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668292A-A32C-0968-A43C-4484775C2F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Shape 0">
            <a:extLst>
              <a:ext uri="{FF2B5EF4-FFF2-40B4-BE49-F238E27FC236}">
                <a16:creationId xmlns:a16="http://schemas.microsoft.com/office/drawing/2014/main" id="{C21325FB-0B89-AF90-3050-B983E45D2370}"/>
              </a:ext>
            </a:extLst>
          </p:cNvPr>
          <p:cNvSpPr/>
          <p:nvPr/>
        </p:nvSpPr>
        <p:spPr>
          <a:xfrm>
            <a:off x="-9525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91" name="Shape 1">
            <a:extLst>
              <a:ext uri="{FF2B5EF4-FFF2-40B4-BE49-F238E27FC236}">
                <a16:creationId xmlns:a16="http://schemas.microsoft.com/office/drawing/2014/main" id="{23148629-93F8-9D68-3CC6-24E585FB65A3}"/>
              </a:ext>
            </a:extLst>
          </p:cNvPr>
          <p:cNvSpPr/>
          <p:nvPr/>
        </p:nvSpPr>
        <p:spPr>
          <a:xfrm>
            <a:off x="-9525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" name="Shape 0">
            <a:extLst>
              <a:ext uri="{FF2B5EF4-FFF2-40B4-BE49-F238E27FC236}">
                <a16:creationId xmlns:a16="http://schemas.microsoft.com/office/drawing/2014/main" id="{E7DDE123-3207-3F76-88A6-D8D0354A548A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374D60F-25B2-FD28-415F-21FE80E10281}"/>
              </a:ext>
            </a:extLst>
          </p:cNvPr>
          <p:cNvSpPr/>
          <p:nvPr/>
        </p:nvSpPr>
        <p:spPr>
          <a:xfrm>
            <a:off x="457200" y="10972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10B981"/>
                </a:solidFill>
              </a:rPr>
              <a:t>100M EPISODES</a:t>
            </a:r>
            <a:endParaRPr lang="en-US" sz="9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A9E0893-0496-2B4A-B5CD-735B0D558F8B}"/>
              </a:ext>
            </a:extLst>
          </p:cNvPr>
          <p:cNvSpPr/>
          <p:nvPr/>
        </p:nvSpPr>
        <p:spPr>
          <a:xfrm>
            <a:off x="457200" y="34747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de-DE" sz="2800" b="1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Seed-Variabilität &amp; t-Test</a:t>
            </a:r>
            <a:endParaRPr lang="en-US" sz="280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pic>
        <p:nvPicPr>
          <p:cNvPr id="74" name="Google Shape;164;p18" descr="image.png">
            <a:extLst>
              <a:ext uri="{FF2B5EF4-FFF2-40B4-BE49-F238E27FC236}">
                <a16:creationId xmlns:a16="http://schemas.microsoft.com/office/drawing/2014/main" id="{A06979E2-2213-245D-8FD5-515ADA8DC5E2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80972" y="1969274"/>
            <a:ext cx="2562227" cy="594270"/>
          </a:xfrm>
          <a:prstGeom prst="rect">
            <a:avLst/>
          </a:prstGeom>
          <a:noFill/>
          <a:ln>
            <a:noFill/>
          </a:ln>
        </p:spPr>
      </p:pic>
      <p:pic>
        <p:nvPicPr>
          <p:cNvPr id="75" name="Google Shape;165;p18" descr="image.png">
            <a:extLst>
              <a:ext uri="{FF2B5EF4-FFF2-40B4-BE49-F238E27FC236}">
                <a16:creationId xmlns:a16="http://schemas.microsoft.com/office/drawing/2014/main" id="{327A693E-BB63-C132-C982-34CCD49706A9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377440" y="3123129"/>
            <a:ext cx="6400800" cy="1571476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167;p18">
            <a:extLst>
              <a:ext uri="{FF2B5EF4-FFF2-40B4-BE49-F238E27FC236}">
                <a16:creationId xmlns:a16="http://schemas.microsoft.com/office/drawing/2014/main" id="{B9F2DFEF-D2FE-E918-578F-3B11715C1414}"/>
              </a:ext>
            </a:extLst>
          </p:cNvPr>
          <p:cNvSpPr txBox="1"/>
          <p:nvPr/>
        </p:nvSpPr>
        <p:spPr>
          <a:xfrm>
            <a:off x="-738190" y="1213255"/>
            <a:ext cx="4267200" cy="70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59929"/>
              </a:lnSpc>
            </a:pPr>
            <a:r>
              <a:rPr lang="en-US" sz="1425" b="1" dirty="0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0,153</a:t>
            </a:r>
            <a:endParaRPr lang="en-US" sz="1425" b="1" i="0" u="none" strike="noStrike" cap="none" dirty="0">
              <a:solidFill>
                <a:srgbClr val="333333"/>
              </a:solidFill>
              <a:latin typeface="Cambria" panose="02040503050406030204" pitchFamily="18" charset="0"/>
              <a:ea typeface="Cambria" panose="02040503050406030204" pitchFamily="18" charset="0"/>
              <a:cs typeface="Lato"/>
              <a:sym typeface="Lato"/>
            </a:endParaRPr>
          </a:p>
          <a:p>
            <a:pPr marL="0" marR="0" lvl="0" indent="0" algn="ctr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1" i="0" u="none" strike="noStrike" cap="none" dirty="0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p-Wert (t-Test)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8" name="Google Shape;168;p18">
            <a:extLst>
              <a:ext uri="{FF2B5EF4-FFF2-40B4-BE49-F238E27FC236}">
                <a16:creationId xmlns:a16="http://schemas.microsoft.com/office/drawing/2014/main" id="{F3B45279-628E-E522-E198-13A708F7BE47}"/>
              </a:ext>
            </a:extLst>
          </p:cNvPr>
          <p:cNvSpPr txBox="1"/>
          <p:nvPr/>
        </p:nvSpPr>
        <p:spPr>
          <a:xfrm>
            <a:off x="3467100" y="1092306"/>
            <a:ext cx="672084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 err="1">
                <a:solidFill>
                  <a:srgbClr val="C5A059"/>
                </a:solidFill>
                <a:latin typeface="Cambria" panose="02040503050406030204" pitchFamily="18" charset="0"/>
                <a:ea typeface="Cambria" panose="02040503050406030204" pitchFamily="18" charset="0"/>
                <a:cs typeface="Poppins"/>
                <a:sym typeface="Poppins"/>
              </a:rPr>
              <a:t>Variabilität</a:t>
            </a:r>
            <a:r>
              <a:rPr lang="en-US" sz="2400" b="1" i="0" u="none" strike="noStrike" cap="none" dirty="0">
                <a:solidFill>
                  <a:srgbClr val="C5A059"/>
                </a:solidFill>
                <a:latin typeface="Cambria" panose="02040503050406030204" pitchFamily="18" charset="0"/>
                <a:ea typeface="Cambria" panose="02040503050406030204" pitchFamily="18" charset="0"/>
                <a:cs typeface="Poppins"/>
                <a:sym typeface="Poppins"/>
              </a:rPr>
              <a:t> </a:t>
            </a:r>
            <a:r>
              <a:rPr lang="en-US" sz="2400" b="1" i="0" u="none" strike="noStrike" cap="none" dirty="0" err="1">
                <a:solidFill>
                  <a:srgbClr val="C5A059"/>
                </a:solidFill>
                <a:latin typeface="Cambria" panose="02040503050406030204" pitchFamily="18" charset="0"/>
                <a:ea typeface="Cambria" panose="02040503050406030204" pitchFamily="18" charset="0"/>
                <a:cs typeface="Poppins"/>
                <a:sym typeface="Poppins"/>
              </a:rPr>
              <a:t>über</a:t>
            </a:r>
            <a:r>
              <a:rPr lang="en-US" sz="2400" b="1" i="0" u="none" strike="noStrike" cap="none" dirty="0">
                <a:solidFill>
                  <a:srgbClr val="C5A059"/>
                </a:solidFill>
                <a:latin typeface="Cambria" panose="02040503050406030204" pitchFamily="18" charset="0"/>
                <a:ea typeface="Cambria" panose="02040503050406030204" pitchFamily="18" charset="0"/>
                <a:cs typeface="Poppins"/>
                <a:sym typeface="Poppins"/>
              </a:rPr>
              <a:t> </a:t>
            </a:r>
            <a:r>
              <a:rPr lang="en-US" sz="2400" b="1" i="0" u="none" strike="noStrike" cap="none" dirty="0" err="1">
                <a:solidFill>
                  <a:srgbClr val="C5A059"/>
                </a:solidFill>
                <a:latin typeface="Cambria" panose="02040503050406030204" pitchFamily="18" charset="0"/>
                <a:ea typeface="Cambria" panose="02040503050406030204" pitchFamily="18" charset="0"/>
                <a:cs typeface="Poppins"/>
                <a:sym typeface="Poppins"/>
              </a:rPr>
              <a:t>Trainingsläufe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9" name="Google Shape;169;p18">
            <a:extLst>
              <a:ext uri="{FF2B5EF4-FFF2-40B4-BE49-F238E27FC236}">
                <a16:creationId xmlns:a16="http://schemas.microsoft.com/office/drawing/2014/main" id="{5397BCA9-C6C8-35BC-88C5-AC1768E4D257}"/>
              </a:ext>
            </a:extLst>
          </p:cNvPr>
          <p:cNvSpPr txBox="1"/>
          <p:nvPr/>
        </p:nvSpPr>
        <p:spPr>
          <a:xfrm>
            <a:off x="470294" y="2081656"/>
            <a:ext cx="2216946" cy="350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0975" tIns="0" rIns="0" bIns="0" anchor="t" anchorCtr="0">
            <a:spAutoFit/>
          </a:bodyPr>
          <a:lstStyle/>
          <a:p>
            <a:pPr marL="0" marR="0" lvl="0" indent="0" algn="ctr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1" i="0" u="none" strike="noStrike" cap="none" dirty="0">
                <a:solidFill>
                  <a:srgbClr val="C53030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NICHT SIGNIFIKANT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1" name="Google Shape;171;p18">
            <a:extLst>
              <a:ext uri="{FF2B5EF4-FFF2-40B4-BE49-F238E27FC236}">
                <a16:creationId xmlns:a16="http://schemas.microsoft.com/office/drawing/2014/main" id="{05B8DC11-E50E-B07C-6569-7F7CFEF1168D}"/>
              </a:ext>
            </a:extLst>
          </p:cNvPr>
          <p:cNvSpPr txBox="1"/>
          <p:nvPr/>
        </p:nvSpPr>
        <p:spPr>
          <a:xfrm>
            <a:off x="3467100" y="1571073"/>
            <a:ext cx="6019800" cy="350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4775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1" i="0" u="none" strike="noStrike" cap="none" dirty="0">
                <a:solidFill>
                  <a:srgbClr val="333333"/>
                </a:solidFill>
                <a:latin typeface="Calibri "/>
                <a:ea typeface="Lato"/>
                <a:cs typeface="Lato"/>
                <a:sym typeface="Lato"/>
              </a:rPr>
              <a:t>Seed 1:</a:t>
            </a:r>
            <a:r>
              <a:rPr lang="en-US" sz="1425" b="0" i="0" u="none" strike="noStrike" cap="none" dirty="0">
                <a:solidFill>
                  <a:srgbClr val="333333"/>
                </a:solidFill>
                <a:latin typeface="Calibri "/>
                <a:ea typeface="Lato"/>
                <a:cs typeface="Lato"/>
                <a:sym typeface="Lato"/>
              </a:rPr>
              <a:t> +0.002516 (Reward </a:t>
            </a:r>
            <a:r>
              <a:rPr lang="en-US" sz="1425" b="0" i="0" u="none" strike="noStrike" cap="none" dirty="0" err="1">
                <a:solidFill>
                  <a:srgbClr val="333333"/>
                </a:solidFill>
                <a:latin typeface="Calibri "/>
                <a:ea typeface="Lato"/>
                <a:cs typeface="Lato"/>
                <a:sym typeface="Lato"/>
              </a:rPr>
              <a:t>Differenz</a:t>
            </a:r>
            <a:r>
              <a:rPr lang="en-US" sz="1425" b="0" i="0" u="none" strike="noStrike" cap="none" dirty="0">
                <a:solidFill>
                  <a:srgbClr val="333333"/>
                </a:solidFill>
                <a:latin typeface="Calibri "/>
                <a:ea typeface="Lato"/>
                <a:cs typeface="Lato"/>
                <a:sym typeface="Lato"/>
              </a:rPr>
              <a:t>)</a:t>
            </a:r>
            <a:endParaRPr dirty="0">
              <a:latin typeface="Calibri "/>
            </a:endParaRPr>
          </a:p>
        </p:txBody>
      </p:sp>
      <p:sp>
        <p:nvSpPr>
          <p:cNvPr id="83" name="Google Shape;173;p18">
            <a:extLst>
              <a:ext uri="{FF2B5EF4-FFF2-40B4-BE49-F238E27FC236}">
                <a16:creationId xmlns:a16="http://schemas.microsoft.com/office/drawing/2014/main" id="{51F3161F-16D3-776E-934C-A413794D084A}"/>
              </a:ext>
            </a:extLst>
          </p:cNvPr>
          <p:cNvSpPr txBox="1"/>
          <p:nvPr/>
        </p:nvSpPr>
        <p:spPr>
          <a:xfrm>
            <a:off x="3467100" y="1860544"/>
            <a:ext cx="6019800" cy="350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4775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1" i="0" u="none" strike="noStrike" cap="none" dirty="0">
                <a:solidFill>
                  <a:srgbClr val="333333"/>
                </a:solidFill>
                <a:latin typeface="Calibri "/>
                <a:ea typeface="Lato"/>
                <a:cs typeface="Lato"/>
                <a:sym typeface="Lato"/>
              </a:rPr>
              <a:t>Seed 42:</a:t>
            </a:r>
            <a:r>
              <a:rPr lang="en-US" sz="1425" b="0" i="0" u="none" strike="noStrike" cap="none" dirty="0">
                <a:solidFill>
                  <a:srgbClr val="333333"/>
                </a:solidFill>
                <a:latin typeface="Calibri "/>
                <a:ea typeface="Lato"/>
                <a:cs typeface="Lato"/>
                <a:sym typeface="Lato"/>
              </a:rPr>
              <a:t> +0.002662 (</a:t>
            </a:r>
            <a:r>
              <a:rPr lang="en-US" sz="1425" b="0" i="0" u="none" strike="noStrike" cap="none" dirty="0" err="1">
                <a:solidFill>
                  <a:srgbClr val="333333"/>
                </a:solidFill>
                <a:latin typeface="Calibri "/>
                <a:ea typeface="Lato"/>
                <a:cs typeface="Lato"/>
                <a:sym typeface="Lato"/>
              </a:rPr>
              <a:t>Maximaler</a:t>
            </a:r>
            <a:r>
              <a:rPr lang="en-US" sz="1425" b="0" i="0" u="none" strike="noStrike" cap="none" dirty="0">
                <a:solidFill>
                  <a:srgbClr val="333333"/>
                </a:solidFill>
                <a:latin typeface="Calibri "/>
                <a:ea typeface="Lato"/>
                <a:cs typeface="Lato"/>
                <a:sym typeface="Lato"/>
              </a:rPr>
              <a:t> </a:t>
            </a:r>
            <a:r>
              <a:rPr lang="en-US" sz="1425" b="0" i="0" u="none" strike="noStrike" cap="none" dirty="0" err="1">
                <a:solidFill>
                  <a:srgbClr val="333333"/>
                </a:solidFill>
                <a:latin typeface="Calibri "/>
                <a:ea typeface="Lato"/>
                <a:cs typeface="Lato"/>
                <a:sym typeface="Lato"/>
              </a:rPr>
              <a:t>Vorteil</a:t>
            </a:r>
            <a:r>
              <a:rPr lang="en-US" sz="1425" b="0" i="0" u="none" strike="noStrike" cap="none" dirty="0">
                <a:solidFill>
                  <a:srgbClr val="333333"/>
                </a:solidFill>
                <a:latin typeface="Calibri "/>
                <a:ea typeface="Lato"/>
                <a:cs typeface="Lato"/>
                <a:sym typeface="Lato"/>
              </a:rPr>
              <a:t>)</a:t>
            </a:r>
            <a:endParaRPr dirty="0">
              <a:latin typeface="Calibri "/>
            </a:endParaRPr>
          </a:p>
        </p:txBody>
      </p:sp>
      <p:sp>
        <p:nvSpPr>
          <p:cNvPr id="85" name="Google Shape;175;p18">
            <a:extLst>
              <a:ext uri="{FF2B5EF4-FFF2-40B4-BE49-F238E27FC236}">
                <a16:creationId xmlns:a16="http://schemas.microsoft.com/office/drawing/2014/main" id="{A608BD00-6706-6069-263B-22FF7C97D916}"/>
              </a:ext>
            </a:extLst>
          </p:cNvPr>
          <p:cNvSpPr txBox="1"/>
          <p:nvPr/>
        </p:nvSpPr>
        <p:spPr>
          <a:xfrm>
            <a:off x="3467100" y="2150015"/>
            <a:ext cx="6019800" cy="350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4775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1" i="0" u="none" strike="noStrike" cap="none" dirty="0">
                <a:solidFill>
                  <a:srgbClr val="333333"/>
                </a:solidFill>
                <a:ea typeface="Lato"/>
                <a:cs typeface="Lato"/>
                <a:sym typeface="Lato"/>
              </a:rPr>
              <a:t>Seed 123:</a:t>
            </a:r>
            <a:r>
              <a:rPr lang="en-US" sz="1425" b="0" i="0" u="none" strike="noStrike" cap="none" dirty="0">
                <a:solidFill>
                  <a:srgbClr val="333333"/>
                </a:solidFill>
                <a:ea typeface="Lato"/>
                <a:cs typeface="Lato"/>
                <a:sym typeface="Lato"/>
              </a:rPr>
              <a:t> +0.000205 (Fast </a:t>
            </a:r>
            <a:r>
              <a:rPr lang="en-US" sz="1425" b="0" i="0" u="none" strike="noStrike" cap="none" dirty="0" err="1">
                <a:solidFill>
                  <a:srgbClr val="333333"/>
                </a:solidFill>
                <a:ea typeface="Lato"/>
                <a:cs typeface="Lato"/>
                <a:sym typeface="Lato"/>
              </a:rPr>
              <a:t>kein</a:t>
            </a:r>
            <a:r>
              <a:rPr lang="en-US" sz="1425" b="0" i="0" u="none" strike="noStrike" cap="none" dirty="0">
                <a:solidFill>
                  <a:srgbClr val="333333"/>
                </a:solidFill>
                <a:ea typeface="Lato"/>
                <a:cs typeface="Lato"/>
                <a:sym typeface="Lato"/>
              </a:rPr>
              <a:t> Benefit)</a:t>
            </a:r>
            <a:endParaRPr dirty="0"/>
          </a:p>
        </p:txBody>
      </p:sp>
      <p:sp>
        <p:nvSpPr>
          <p:cNvPr id="86" name="Google Shape;176;p18">
            <a:extLst>
              <a:ext uri="{FF2B5EF4-FFF2-40B4-BE49-F238E27FC236}">
                <a16:creationId xmlns:a16="http://schemas.microsoft.com/office/drawing/2014/main" id="{584AEAD1-6126-37AB-6C80-5F5109FEF407}"/>
              </a:ext>
            </a:extLst>
          </p:cNvPr>
          <p:cNvSpPr txBox="1"/>
          <p:nvPr/>
        </p:nvSpPr>
        <p:spPr>
          <a:xfrm>
            <a:off x="2615565" y="3313629"/>
            <a:ext cx="5972175" cy="350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1" i="0" u="none" strike="noStrike" cap="none" dirty="0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95% </a:t>
            </a:r>
            <a:r>
              <a:rPr lang="en-US" sz="1425" b="1" i="0" u="none" strike="noStrike" cap="none" dirty="0" err="1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Konfidenzintervall</a:t>
            </a:r>
            <a:r>
              <a:rPr lang="en-US" sz="1425" b="1" i="0" u="none" strike="noStrike" cap="none" dirty="0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: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7" name="Google Shape;177;p18">
            <a:extLst>
              <a:ext uri="{FF2B5EF4-FFF2-40B4-BE49-F238E27FC236}">
                <a16:creationId xmlns:a16="http://schemas.microsoft.com/office/drawing/2014/main" id="{FDC5D7C0-7EC0-F2E0-17B3-6B15D92763C1}"/>
              </a:ext>
            </a:extLst>
          </p:cNvPr>
          <p:cNvSpPr txBox="1"/>
          <p:nvPr/>
        </p:nvSpPr>
        <p:spPr>
          <a:xfrm>
            <a:off x="2615565" y="4117450"/>
            <a:ext cx="5972175" cy="295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333333"/>
                </a:solidFill>
                <a:latin typeface="Calibri "/>
                <a:ea typeface="Lato"/>
                <a:cs typeface="Lato"/>
                <a:sym typeface="Lato"/>
              </a:rPr>
              <a:t>Der </a:t>
            </a:r>
            <a:r>
              <a:rPr lang="en-US" sz="1200" b="0" i="0" u="none" strike="noStrike" cap="none" dirty="0" err="1">
                <a:solidFill>
                  <a:srgbClr val="333333"/>
                </a:solidFill>
                <a:latin typeface="Calibri "/>
                <a:ea typeface="Lato"/>
                <a:cs typeface="Lato"/>
                <a:sym typeface="Lato"/>
              </a:rPr>
              <a:t>Vorteil</a:t>
            </a:r>
            <a:r>
              <a:rPr lang="en-US" sz="1200" b="0" i="0" u="none" strike="noStrike" cap="none" dirty="0">
                <a:solidFill>
                  <a:srgbClr val="333333"/>
                </a:solidFill>
                <a:latin typeface="Calibri "/>
                <a:ea typeface="Lato"/>
                <a:cs typeface="Lato"/>
                <a:sym typeface="Lato"/>
              </a:rPr>
              <a:t> </a:t>
            </a:r>
            <a:r>
              <a:rPr lang="en-US" sz="1200" b="0" i="0" u="none" strike="noStrike" cap="none" dirty="0" err="1">
                <a:solidFill>
                  <a:srgbClr val="333333"/>
                </a:solidFill>
                <a:latin typeface="Calibri "/>
                <a:ea typeface="Lato"/>
                <a:cs typeface="Lato"/>
                <a:sym typeface="Lato"/>
              </a:rPr>
              <a:t>ist</a:t>
            </a:r>
            <a:r>
              <a:rPr lang="en-US" sz="1200" b="0" i="0" u="none" strike="noStrike" cap="none" dirty="0">
                <a:solidFill>
                  <a:srgbClr val="333333"/>
                </a:solidFill>
                <a:latin typeface="Calibri "/>
                <a:ea typeface="Lato"/>
                <a:cs typeface="Lato"/>
                <a:sym typeface="Lato"/>
              </a:rPr>
              <a:t> </a:t>
            </a:r>
            <a:r>
              <a:rPr lang="en-US" sz="1200" b="0" i="0" u="none" strike="noStrike" cap="none" dirty="0" err="1">
                <a:solidFill>
                  <a:srgbClr val="333333"/>
                </a:solidFill>
                <a:latin typeface="Calibri "/>
                <a:ea typeface="Lato"/>
                <a:cs typeface="Lato"/>
                <a:sym typeface="Lato"/>
              </a:rPr>
              <a:t>zu</a:t>
            </a:r>
            <a:r>
              <a:rPr lang="en-US" sz="1200" b="0" i="0" u="none" strike="noStrike" cap="none" dirty="0">
                <a:solidFill>
                  <a:srgbClr val="333333"/>
                </a:solidFill>
                <a:latin typeface="Calibri "/>
                <a:ea typeface="Lato"/>
                <a:cs typeface="Lato"/>
                <a:sym typeface="Lato"/>
              </a:rPr>
              <a:t> </a:t>
            </a:r>
            <a:r>
              <a:rPr lang="en-US" sz="1200" b="0" i="0" u="none" strike="noStrike" cap="none" dirty="0" err="1">
                <a:solidFill>
                  <a:srgbClr val="333333"/>
                </a:solidFill>
                <a:latin typeface="Calibri "/>
                <a:ea typeface="Lato"/>
                <a:cs typeface="Lato"/>
                <a:sym typeface="Lato"/>
              </a:rPr>
              <a:t>klein</a:t>
            </a:r>
            <a:r>
              <a:rPr lang="en-US" sz="1200" b="0" i="0" u="none" strike="noStrike" cap="none" dirty="0">
                <a:solidFill>
                  <a:srgbClr val="333333"/>
                </a:solidFill>
                <a:latin typeface="Calibri "/>
                <a:ea typeface="Lato"/>
                <a:cs typeface="Lato"/>
                <a:sym typeface="Lato"/>
              </a:rPr>
              <a:t> und die </a:t>
            </a:r>
            <a:r>
              <a:rPr lang="en-US" sz="1200" b="0" i="0" u="none" strike="noStrike" cap="none" dirty="0" err="1">
                <a:solidFill>
                  <a:srgbClr val="333333"/>
                </a:solidFill>
                <a:latin typeface="Calibri "/>
                <a:ea typeface="Lato"/>
                <a:cs typeface="Lato"/>
                <a:sym typeface="Lato"/>
              </a:rPr>
              <a:t>Stichprobe</a:t>
            </a:r>
            <a:r>
              <a:rPr lang="en-US" sz="1200" b="0" i="0" u="none" strike="noStrike" cap="none" dirty="0">
                <a:solidFill>
                  <a:srgbClr val="333333"/>
                </a:solidFill>
                <a:latin typeface="Calibri "/>
                <a:ea typeface="Lato"/>
                <a:cs typeface="Lato"/>
                <a:sym typeface="Lato"/>
              </a:rPr>
              <a:t> (n=3) </a:t>
            </a:r>
            <a:r>
              <a:rPr lang="en-US" sz="1200" b="0" i="0" u="none" strike="noStrike" cap="none" dirty="0" err="1">
                <a:solidFill>
                  <a:srgbClr val="333333"/>
                </a:solidFill>
                <a:latin typeface="Calibri "/>
                <a:ea typeface="Lato"/>
                <a:cs typeface="Lato"/>
                <a:sym typeface="Lato"/>
              </a:rPr>
              <a:t>unzureichend</a:t>
            </a:r>
            <a:r>
              <a:rPr lang="en-US" sz="1200" b="0" i="0" u="none" strike="noStrike" cap="none" dirty="0">
                <a:solidFill>
                  <a:srgbClr val="333333"/>
                </a:solidFill>
                <a:latin typeface="Calibri "/>
                <a:ea typeface="Lato"/>
                <a:cs typeface="Lato"/>
                <a:sym typeface="Lato"/>
              </a:rPr>
              <a:t> für </a:t>
            </a:r>
            <a:r>
              <a:rPr lang="en-US" sz="1200" b="0" i="0" u="none" strike="noStrike" cap="none" dirty="0" err="1">
                <a:solidFill>
                  <a:srgbClr val="333333"/>
                </a:solidFill>
                <a:latin typeface="Calibri "/>
                <a:ea typeface="Lato"/>
                <a:cs typeface="Lato"/>
                <a:sym typeface="Lato"/>
              </a:rPr>
              <a:t>belastbare</a:t>
            </a:r>
            <a:r>
              <a:rPr lang="en-US" sz="1200" b="0" i="0" u="none" strike="noStrike" cap="none" dirty="0">
                <a:solidFill>
                  <a:srgbClr val="333333"/>
                </a:solidFill>
                <a:latin typeface="Calibri "/>
                <a:ea typeface="Lato"/>
                <a:cs typeface="Lato"/>
                <a:sym typeface="Lato"/>
              </a:rPr>
              <a:t> </a:t>
            </a:r>
            <a:r>
              <a:rPr lang="en-US" sz="1200" b="0" i="0" u="none" strike="noStrike" cap="none" dirty="0" err="1">
                <a:solidFill>
                  <a:srgbClr val="333333"/>
                </a:solidFill>
                <a:latin typeface="Calibri "/>
                <a:ea typeface="Lato"/>
                <a:cs typeface="Lato"/>
                <a:sym typeface="Lato"/>
              </a:rPr>
              <a:t>Aussagen</a:t>
            </a:r>
            <a:r>
              <a:rPr lang="en-US" sz="1200" b="0" i="0" u="none" strike="noStrike" cap="none" dirty="0">
                <a:solidFill>
                  <a:srgbClr val="333333"/>
                </a:solidFill>
                <a:latin typeface="Calibri "/>
                <a:ea typeface="Lato"/>
                <a:cs typeface="Lato"/>
                <a:sym typeface="Lato"/>
              </a:rPr>
              <a:t>.</a:t>
            </a:r>
            <a:endParaRPr dirty="0">
              <a:latin typeface="Calibri "/>
            </a:endParaRPr>
          </a:p>
        </p:txBody>
      </p:sp>
      <p:pic>
        <p:nvPicPr>
          <p:cNvPr id="88" name="Google Shape;178;p18" descr="image.png">
            <a:extLst>
              <a:ext uri="{FF2B5EF4-FFF2-40B4-BE49-F238E27FC236}">
                <a16:creationId xmlns:a16="http://schemas.microsoft.com/office/drawing/2014/main" id="{D0332ED7-23FD-A67E-CA63-D61F7C2EEB42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317297" y="2133448"/>
            <a:ext cx="305994" cy="265921"/>
          </a:xfrm>
          <a:prstGeom prst="rect">
            <a:avLst/>
          </a:prstGeom>
          <a:noFill/>
          <a:ln>
            <a:noFill/>
          </a:ln>
        </p:spPr>
      </p:pic>
      <p:pic>
        <p:nvPicPr>
          <p:cNvPr id="89" name="Google Shape;179;p18" descr="image.png">
            <a:extLst>
              <a:ext uri="{FF2B5EF4-FFF2-40B4-BE49-F238E27FC236}">
                <a16:creationId xmlns:a16="http://schemas.microsoft.com/office/drawing/2014/main" id="{4C36A6AD-B6F1-EFB8-E349-47F45734CF5E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2615565" y="3822175"/>
            <a:ext cx="2587525" cy="1905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90422712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0A26F6-14FD-43E2-CC68-9AAF48E0E2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C6F2EFF2-D3FB-2417-D396-84512ECC5FFD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2449A71F-E6F4-AEDE-9A8F-EFAE7B7CC591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7E4B88F-9EB3-C60A-CD29-FB91DB7790B9}"/>
              </a:ext>
            </a:extLst>
          </p:cNvPr>
          <p:cNvSpPr/>
          <p:nvPr/>
        </p:nvSpPr>
        <p:spPr>
          <a:xfrm>
            <a:off x="457200" y="5486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14B8A6"/>
                </a:solidFill>
              </a:rPr>
              <a:t>FEATURE VALIDATION</a:t>
            </a:r>
            <a:endParaRPr lang="en-US" sz="9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8376675C-410A-D2ED-2F5C-9A481B960CF9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True-Count-Bucket Analysis</a:t>
            </a:r>
            <a:endParaRPr lang="en-US" sz="26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02E1868E-326E-465A-CA9B-8CD6C11FE10E}"/>
              </a:ext>
            </a:extLst>
          </p:cNvPr>
          <p:cNvSpPr/>
          <p:nvPr/>
        </p:nvSpPr>
        <p:spPr>
          <a:xfrm>
            <a:off x="365760" y="1097280"/>
            <a:ext cx="8412480" cy="1078992"/>
          </a:xfrm>
          <a:prstGeom prst="roundRect">
            <a:avLst>
              <a:gd name="adj" fmla="val 10169"/>
            </a:avLst>
          </a:prstGeom>
          <a:solidFill>
            <a:srgbClr val="F1F5F9"/>
          </a:solidFill>
          <a:ln w="12700">
            <a:solidFill>
              <a:srgbClr val="EF4444">
                <a:alpha val="5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E221A2B4-314E-B72E-DCAD-EEB6DBBFC5B2}"/>
              </a:ext>
            </a:extLst>
          </p:cNvPr>
          <p:cNvSpPr/>
          <p:nvPr/>
        </p:nvSpPr>
        <p:spPr>
          <a:xfrm>
            <a:off x="502920" y="1225296"/>
            <a:ext cx="1737360" cy="329184"/>
          </a:xfrm>
          <a:prstGeom prst="roundRect">
            <a:avLst>
              <a:gd name="adj" fmla="val 22222"/>
            </a:avLst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E02F226B-3EE2-218F-96FA-903AAC3123E6}"/>
              </a:ext>
            </a:extLst>
          </p:cNvPr>
          <p:cNvSpPr/>
          <p:nvPr/>
        </p:nvSpPr>
        <p:spPr>
          <a:xfrm>
            <a:off x="502920" y="1225296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TC &lt; −1</a:t>
            </a:r>
            <a:endParaRPr lang="en-US" sz="11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8E896CC7-1C65-4A67-BF9C-758FB832CFA0}"/>
              </a:ext>
            </a:extLst>
          </p:cNvPr>
          <p:cNvSpPr/>
          <p:nvPr/>
        </p:nvSpPr>
        <p:spPr>
          <a:xfrm>
            <a:off x="502920" y="1609344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</a:rPr>
              <a:t>Dealer-Vorteil</a:t>
            </a:r>
            <a:endParaRPr lang="en-US" sz="90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2246FC68-B387-4E50-670B-76B269C9C061}"/>
              </a:ext>
            </a:extLst>
          </p:cNvPr>
          <p:cNvSpPr/>
          <p:nvPr/>
        </p:nvSpPr>
        <p:spPr>
          <a:xfrm>
            <a:off x="2377440" y="120700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Avg Reward</a:t>
            </a:r>
            <a:endParaRPr lang="en-US" sz="90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495F4557-09D3-BF33-AD24-AB6D0F4A4FCF}"/>
              </a:ext>
            </a:extLst>
          </p:cNvPr>
          <p:cNvSpPr/>
          <p:nvPr/>
        </p:nvSpPr>
        <p:spPr>
          <a:xfrm>
            <a:off x="2377440" y="1444752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F4444"/>
                </a:solidFill>
              </a:rPr>
              <a:t>−0.08</a:t>
            </a:r>
            <a:endParaRPr lang="en-US" sz="2000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0154EAAF-396B-7A5A-EAD3-3AA1E9962B19}"/>
              </a:ext>
            </a:extLst>
          </p:cNvPr>
          <p:cNvSpPr/>
          <p:nvPr/>
        </p:nvSpPr>
        <p:spPr>
          <a:xfrm>
            <a:off x="3886200" y="1207008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Win Rate</a:t>
            </a:r>
            <a:endParaRPr lang="en-US" sz="90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C00E76A9-C38A-16E0-BD5B-F6BC318BB013}"/>
              </a:ext>
            </a:extLst>
          </p:cNvPr>
          <p:cNvSpPr/>
          <p:nvPr/>
        </p:nvSpPr>
        <p:spPr>
          <a:xfrm>
            <a:off x="3886200" y="144475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F4444"/>
                </a:solidFill>
              </a:rPr>
              <a:t>38%</a:t>
            </a:r>
            <a:endParaRPr lang="en-US" sz="2000" dirty="0"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140FF2C1-C8B5-58AC-8E8A-ACA6F089AF34}"/>
              </a:ext>
            </a:extLst>
          </p:cNvPr>
          <p:cNvSpPr/>
          <p:nvPr/>
        </p:nvSpPr>
        <p:spPr>
          <a:xfrm>
            <a:off x="5120640" y="1508760"/>
            <a:ext cx="3337560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41EBA13A-3597-31A3-FCD9-D442ED4A6147}"/>
              </a:ext>
            </a:extLst>
          </p:cNvPr>
          <p:cNvSpPr/>
          <p:nvPr/>
        </p:nvSpPr>
        <p:spPr>
          <a:xfrm>
            <a:off x="5120640" y="1783080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Konservative Strategie · Implizites Surrender</a:t>
            </a:r>
            <a:endParaRPr lang="en-US" sz="900" dirty="0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905B53C6-4C3F-AE21-F744-CBFB559EE77F}"/>
              </a:ext>
            </a:extLst>
          </p:cNvPr>
          <p:cNvSpPr/>
          <p:nvPr/>
        </p:nvSpPr>
        <p:spPr>
          <a:xfrm>
            <a:off x="365760" y="2377440"/>
            <a:ext cx="8412480" cy="1078992"/>
          </a:xfrm>
          <a:prstGeom prst="roundRect">
            <a:avLst>
              <a:gd name="adj" fmla="val 10169"/>
            </a:avLst>
          </a:prstGeom>
          <a:solidFill>
            <a:srgbClr val="F1F5F9"/>
          </a:solidFill>
          <a:ln w="12700">
            <a:solidFill>
              <a:srgbClr val="F59E0B">
                <a:alpha val="5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500BA520-9094-2BA1-0C50-55C8562F015E}"/>
              </a:ext>
            </a:extLst>
          </p:cNvPr>
          <p:cNvSpPr/>
          <p:nvPr/>
        </p:nvSpPr>
        <p:spPr>
          <a:xfrm>
            <a:off x="502920" y="2505456"/>
            <a:ext cx="1737360" cy="329184"/>
          </a:xfrm>
          <a:prstGeom prst="roundRect">
            <a:avLst>
              <a:gd name="adj" fmla="val 22222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F3367B08-EC69-E477-169A-8DD05F9D167C}"/>
              </a:ext>
            </a:extLst>
          </p:cNvPr>
          <p:cNvSpPr/>
          <p:nvPr/>
        </p:nvSpPr>
        <p:spPr>
          <a:xfrm>
            <a:off x="502920" y="2505456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TC neutral</a:t>
            </a:r>
            <a:endParaRPr lang="en-US" sz="1100" dirty="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4769BAD9-03F7-94E5-05D4-2E34BEACC8B9}"/>
              </a:ext>
            </a:extLst>
          </p:cNvPr>
          <p:cNvSpPr/>
          <p:nvPr/>
        </p:nvSpPr>
        <p:spPr>
          <a:xfrm>
            <a:off x="502920" y="2889504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</a:rPr>
              <a:t>Ausgeglichen</a:t>
            </a:r>
            <a:endParaRPr lang="en-US" sz="900" dirty="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199202C3-6F4D-9FDF-BB1D-49C6EC18E4CE}"/>
              </a:ext>
            </a:extLst>
          </p:cNvPr>
          <p:cNvSpPr/>
          <p:nvPr/>
        </p:nvSpPr>
        <p:spPr>
          <a:xfrm>
            <a:off x="2377440" y="248716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Avg Reward</a:t>
            </a:r>
            <a:endParaRPr lang="en-US" sz="900" dirty="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6B42B8D4-BBD6-2481-E1E8-5FA6C71D7C43}"/>
              </a:ext>
            </a:extLst>
          </p:cNvPr>
          <p:cNvSpPr/>
          <p:nvPr/>
        </p:nvSpPr>
        <p:spPr>
          <a:xfrm>
            <a:off x="2377440" y="2724912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59E0B"/>
                </a:solidFill>
              </a:rPr>
              <a:t>−0.05</a:t>
            </a:r>
            <a:endParaRPr lang="en-US" sz="2000" dirty="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D0540965-B618-AC72-1C80-309E4626C2E1}"/>
              </a:ext>
            </a:extLst>
          </p:cNvPr>
          <p:cNvSpPr/>
          <p:nvPr/>
        </p:nvSpPr>
        <p:spPr>
          <a:xfrm>
            <a:off x="3886200" y="2487168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Win Rate</a:t>
            </a:r>
            <a:endParaRPr lang="en-US" sz="900" dirty="0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D8A2F207-0098-9677-7DB5-9CE5CC3A7B13}"/>
              </a:ext>
            </a:extLst>
          </p:cNvPr>
          <p:cNvSpPr/>
          <p:nvPr/>
        </p:nvSpPr>
        <p:spPr>
          <a:xfrm>
            <a:off x="3886200" y="272491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59E0B"/>
                </a:solidFill>
              </a:rPr>
              <a:t>43%</a:t>
            </a:r>
            <a:endParaRPr lang="en-US" sz="2000" dirty="0"/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23C3F575-4FD8-04FC-F5D7-8647F8DBD291}"/>
              </a:ext>
            </a:extLst>
          </p:cNvPr>
          <p:cNvSpPr/>
          <p:nvPr/>
        </p:nvSpPr>
        <p:spPr>
          <a:xfrm>
            <a:off x="5120640" y="2788920"/>
            <a:ext cx="3337560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953EAFF9-85B1-A763-A62A-96247BB2047D}"/>
              </a:ext>
            </a:extLst>
          </p:cNvPr>
          <p:cNvSpPr/>
          <p:nvPr/>
        </p:nvSpPr>
        <p:spPr>
          <a:xfrm>
            <a:off x="5120640" y="3063240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Standardstrategie, nah an Basic Strategy</a:t>
            </a:r>
            <a:endParaRPr lang="en-US" sz="900" dirty="0"/>
          </a:p>
        </p:txBody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78103A91-5A83-D984-493A-3F1DBACC8A5A}"/>
              </a:ext>
            </a:extLst>
          </p:cNvPr>
          <p:cNvSpPr/>
          <p:nvPr/>
        </p:nvSpPr>
        <p:spPr>
          <a:xfrm>
            <a:off x="365760" y="3657600"/>
            <a:ext cx="8412480" cy="1078992"/>
          </a:xfrm>
          <a:prstGeom prst="roundRect">
            <a:avLst>
              <a:gd name="adj" fmla="val 10169"/>
            </a:avLst>
          </a:prstGeom>
          <a:solidFill>
            <a:srgbClr val="F1F5F9"/>
          </a:solidFill>
          <a:ln w="12700">
            <a:solidFill>
              <a:srgbClr val="10B981">
                <a:alpha val="5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 dirty="0"/>
          </a:p>
        </p:txBody>
      </p:sp>
      <p:sp>
        <p:nvSpPr>
          <p:cNvPr id="29" name="Shape 27">
            <a:extLst>
              <a:ext uri="{FF2B5EF4-FFF2-40B4-BE49-F238E27FC236}">
                <a16:creationId xmlns:a16="http://schemas.microsoft.com/office/drawing/2014/main" id="{EB9D9E2A-69D5-BACF-B53C-313977176288}"/>
              </a:ext>
            </a:extLst>
          </p:cNvPr>
          <p:cNvSpPr/>
          <p:nvPr/>
        </p:nvSpPr>
        <p:spPr>
          <a:xfrm>
            <a:off x="502920" y="3785616"/>
            <a:ext cx="1737360" cy="329184"/>
          </a:xfrm>
          <a:prstGeom prst="roundRect">
            <a:avLst>
              <a:gd name="adj" fmla="val 22222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de-DE">
              <a:solidFill>
                <a:srgbClr val="10B981"/>
              </a:solidFill>
            </a:endParaRPr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0FA94680-4EE0-5856-0320-231620484A75}"/>
              </a:ext>
            </a:extLst>
          </p:cNvPr>
          <p:cNvSpPr/>
          <p:nvPr/>
        </p:nvSpPr>
        <p:spPr>
          <a:xfrm>
            <a:off x="502920" y="3785616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TC ≥ +1</a:t>
            </a:r>
            <a:endParaRPr lang="en-US" sz="1100" dirty="0"/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B857B0C9-D3F0-AE1A-930F-92CCDB22C86E}"/>
              </a:ext>
            </a:extLst>
          </p:cNvPr>
          <p:cNvSpPr/>
          <p:nvPr/>
        </p:nvSpPr>
        <p:spPr>
          <a:xfrm>
            <a:off x="502920" y="5322189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</a:rPr>
              <a:t>Spieler-Vorteil</a:t>
            </a:r>
            <a:endParaRPr lang="en-US" sz="900" dirty="0"/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1D8F698A-648A-9800-18BB-74A35CCD5F8C}"/>
              </a:ext>
            </a:extLst>
          </p:cNvPr>
          <p:cNvSpPr/>
          <p:nvPr/>
        </p:nvSpPr>
        <p:spPr>
          <a:xfrm>
            <a:off x="2377440" y="376732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Avg Reward</a:t>
            </a:r>
            <a:endParaRPr lang="en-US" sz="900" dirty="0"/>
          </a:p>
        </p:txBody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ECE41B2F-B1EC-A8B8-F540-F21805B4F9FA}"/>
              </a:ext>
            </a:extLst>
          </p:cNvPr>
          <p:cNvSpPr/>
          <p:nvPr/>
        </p:nvSpPr>
        <p:spPr>
          <a:xfrm>
            <a:off x="2377440" y="5157597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0B981"/>
                </a:solidFill>
              </a:rPr>
              <a:t>−0.02</a:t>
            </a:r>
            <a:endParaRPr lang="en-US" sz="2000" dirty="0"/>
          </a:p>
        </p:txBody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26F25303-4E6C-9D6B-D47E-7F45A07988D4}"/>
              </a:ext>
            </a:extLst>
          </p:cNvPr>
          <p:cNvSpPr/>
          <p:nvPr/>
        </p:nvSpPr>
        <p:spPr>
          <a:xfrm>
            <a:off x="3886200" y="3767328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Win Rate</a:t>
            </a:r>
            <a:endParaRPr lang="en-US" sz="900" dirty="0"/>
          </a:p>
        </p:txBody>
      </p:sp>
      <p:sp>
        <p:nvSpPr>
          <p:cNvPr id="35" name="Text 33">
            <a:extLst>
              <a:ext uri="{FF2B5EF4-FFF2-40B4-BE49-F238E27FC236}">
                <a16:creationId xmlns:a16="http://schemas.microsoft.com/office/drawing/2014/main" id="{E3BECBC4-D222-4201-D700-8C1D08497C7B}"/>
              </a:ext>
            </a:extLst>
          </p:cNvPr>
          <p:cNvSpPr/>
          <p:nvPr/>
        </p:nvSpPr>
        <p:spPr>
          <a:xfrm>
            <a:off x="3886200" y="5157597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0B981"/>
                </a:solidFill>
              </a:rPr>
              <a:t>46%</a:t>
            </a:r>
            <a:endParaRPr lang="en-US" sz="2000" dirty="0"/>
          </a:p>
        </p:txBody>
      </p:sp>
      <p:sp>
        <p:nvSpPr>
          <p:cNvPr id="36" name="Shape 34">
            <a:extLst>
              <a:ext uri="{FF2B5EF4-FFF2-40B4-BE49-F238E27FC236}">
                <a16:creationId xmlns:a16="http://schemas.microsoft.com/office/drawing/2014/main" id="{82649CD7-4E51-8B2D-6299-FBF208DAFF4D}"/>
              </a:ext>
            </a:extLst>
          </p:cNvPr>
          <p:cNvSpPr/>
          <p:nvPr/>
        </p:nvSpPr>
        <p:spPr>
          <a:xfrm>
            <a:off x="5120640" y="5221605"/>
            <a:ext cx="3337560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7" name="Shape 35">
            <a:extLst>
              <a:ext uri="{FF2B5EF4-FFF2-40B4-BE49-F238E27FC236}">
                <a16:creationId xmlns:a16="http://schemas.microsoft.com/office/drawing/2014/main" id="{1FE98CD1-4C4F-1451-1DD8-E2DEC8F0107E}"/>
              </a:ext>
            </a:extLst>
          </p:cNvPr>
          <p:cNvSpPr/>
          <p:nvPr/>
        </p:nvSpPr>
        <p:spPr>
          <a:xfrm>
            <a:off x="5120640" y="5221605"/>
            <a:ext cx="3003804" cy="20116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8" name="Text 36">
            <a:extLst>
              <a:ext uri="{FF2B5EF4-FFF2-40B4-BE49-F238E27FC236}">
                <a16:creationId xmlns:a16="http://schemas.microsoft.com/office/drawing/2014/main" id="{9869D371-CAFF-3383-D9BF-EC0FC6E115C9}"/>
              </a:ext>
            </a:extLst>
          </p:cNvPr>
          <p:cNvSpPr/>
          <p:nvPr/>
        </p:nvSpPr>
        <p:spPr>
          <a:xfrm>
            <a:off x="5120640" y="5495925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Aggressive Hits · Mathematisch korrekt</a:t>
            </a:r>
            <a:endParaRPr lang="en-US" sz="900" dirty="0"/>
          </a:p>
        </p:txBody>
      </p:sp>
      <p:sp>
        <p:nvSpPr>
          <p:cNvPr id="39" name="Shape 37">
            <a:extLst>
              <a:ext uri="{FF2B5EF4-FFF2-40B4-BE49-F238E27FC236}">
                <a16:creationId xmlns:a16="http://schemas.microsoft.com/office/drawing/2014/main" id="{493E2A1D-5FB8-0109-FC62-8ED9EF3B8348}"/>
              </a:ext>
            </a:extLst>
          </p:cNvPr>
          <p:cNvSpPr/>
          <p:nvPr/>
        </p:nvSpPr>
        <p:spPr>
          <a:xfrm>
            <a:off x="365760" y="5221605"/>
            <a:ext cx="8412480" cy="777240"/>
          </a:xfrm>
          <a:prstGeom prst="roundRect">
            <a:avLst>
              <a:gd name="adj" fmla="val 14118"/>
            </a:avLst>
          </a:prstGeom>
          <a:solidFill>
            <a:srgbClr val="1E293B"/>
          </a:solidFill>
          <a:ln w="12700">
            <a:solidFill>
              <a:srgbClr val="0D9488"/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458D80D2-2221-2F91-0933-FB88FD39F3AD}"/>
              </a:ext>
            </a:extLst>
          </p:cNvPr>
          <p:cNvSpPr/>
          <p:nvPr/>
        </p:nvSpPr>
        <p:spPr>
          <a:xfrm>
            <a:off x="594360" y="5303901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B8A6"/>
                </a:solidFill>
              </a:rPr>
              <a:t>✅ Kartenzählung funktioniert nachweisbar:</a:t>
            </a:r>
            <a:endParaRPr lang="en-US" sz="1100" dirty="0"/>
          </a:p>
        </p:txBody>
      </p:sp>
      <p:sp>
        <p:nvSpPr>
          <p:cNvPr id="41" name="Text 39">
            <a:extLst>
              <a:ext uri="{FF2B5EF4-FFF2-40B4-BE49-F238E27FC236}">
                <a16:creationId xmlns:a16="http://schemas.microsoft.com/office/drawing/2014/main" id="{47848AAD-FAAC-C869-3EAB-B4201C24A302}"/>
              </a:ext>
            </a:extLst>
          </p:cNvPr>
          <p:cNvSpPr/>
          <p:nvPr/>
        </p:nvSpPr>
        <p:spPr>
          <a:xfrm>
            <a:off x="594360" y="5559933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</a:rPr>
              <a:t>Der Counting Agent trifft bessere Entscheidungen bei hohem TC und verhält sich konservativer bei niedrigem TC.</a:t>
            </a:r>
            <a:endParaRPr lang="en-US" sz="1000" dirty="0"/>
          </a:p>
        </p:txBody>
      </p:sp>
      <p:sp>
        <p:nvSpPr>
          <p:cNvPr id="42" name="Text 22">
            <a:extLst>
              <a:ext uri="{FF2B5EF4-FFF2-40B4-BE49-F238E27FC236}">
                <a16:creationId xmlns:a16="http://schemas.microsoft.com/office/drawing/2014/main" id="{77A7E0D9-CE79-30FF-F995-5274D70F6D54}"/>
              </a:ext>
            </a:extLst>
          </p:cNvPr>
          <p:cNvSpPr/>
          <p:nvPr/>
        </p:nvSpPr>
        <p:spPr>
          <a:xfrm>
            <a:off x="3886200" y="3995928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0B981"/>
                </a:solidFill>
              </a:rPr>
              <a:t>46%</a:t>
            </a:r>
            <a:endParaRPr lang="en-US" sz="2000" dirty="0">
              <a:solidFill>
                <a:srgbClr val="10B981"/>
              </a:solidFill>
            </a:endParaRPr>
          </a:p>
        </p:txBody>
      </p:sp>
      <p:sp>
        <p:nvSpPr>
          <p:cNvPr id="43" name="Text 20">
            <a:extLst>
              <a:ext uri="{FF2B5EF4-FFF2-40B4-BE49-F238E27FC236}">
                <a16:creationId xmlns:a16="http://schemas.microsoft.com/office/drawing/2014/main" id="{CCD09FEF-6DDB-0FFE-6C26-4435B43B4A16}"/>
              </a:ext>
            </a:extLst>
          </p:cNvPr>
          <p:cNvSpPr/>
          <p:nvPr/>
        </p:nvSpPr>
        <p:spPr>
          <a:xfrm>
            <a:off x="2377440" y="3985641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0B981"/>
                </a:solidFill>
              </a:rPr>
              <a:t>−0.02</a:t>
            </a:r>
            <a:endParaRPr lang="en-US" sz="2000" dirty="0">
              <a:solidFill>
                <a:srgbClr val="10B981"/>
              </a:solidFill>
            </a:endParaRPr>
          </a:p>
        </p:txBody>
      </p:sp>
      <p:sp>
        <p:nvSpPr>
          <p:cNvPr id="44" name="Shape 23">
            <a:extLst>
              <a:ext uri="{FF2B5EF4-FFF2-40B4-BE49-F238E27FC236}">
                <a16:creationId xmlns:a16="http://schemas.microsoft.com/office/drawing/2014/main" id="{247ADEC9-C714-A116-53E0-30CB49B8CF8F}"/>
              </a:ext>
            </a:extLst>
          </p:cNvPr>
          <p:cNvSpPr/>
          <p:nvPr/>
        </p:nvSpPr>
        <p:spPr>
          <a:xfrm>
            <a:off x="5120640" y="3983736"/>
            <a:ext cx="3337560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6" name="Text 25">
            <a:extLst>
              <a:ext uri="{FF2B5EF4-FFF2-40B4-BE49-F238E27FC236}">
                <a16:creationId xmlns:a16="http://schemas.microsoft.com/office/drawing/2014/main" id="{71B9DC01-9717-28E6-A561-F319EC6FBFDB}"/>
              </a:ext>
            </a:extLst>
          </p:cNvPr>
          <p:cNvSpPr/>
          <p:nvPr/>
        </p:nvSpPr>
        <p:spPr>
          <a:xfrm>
            <a:off x="5120640" y="4320540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Aggressive </a:t>
            </a:r>
            <a:r>
              <a:rPr lang="en-US" sz="900" dirty="0" err="1">
                <a:solidFill>
                  <a:srgbClr val="64748B"/>
                </a:solidFill>
              </a:rPr>
              <a:t>Strategie</a:t>
            </a:r>
            <a:r>
              <a:rPr lang="en-US" sz="900" dirty="0">
                <a:solidFill>
                  <a:srgbClr val="64748B"/>
                </a:solidFill>
              </a:rPr>
              <a:t>, </a:t>
            </a:r>
            <a:r>
              <a:rPr lang="en-US" sz="900" dirty="0" err="1">
                <a:solidFill>
                  <a:srgbClr val="64748B"/>
                </a:solidFill>
              </a:rPr>
              <a:t>Optimale</a:t>
            </a:r>
            <a:r>
              <a:rPr lang="en-US" sz="900" dirty="0">
                <a:solidFill>
                  <a:srgbClr val="64748B"/>
                </a:solidFill>
              </a:rPr>
              <a:t> </a:t>
            </a:r>
            <a:r>
              <a:rPr lang="en-US" sz="900" dirty="0" err="1">
                <a:solidFill>
                  <a:srgbClr val="64748B"/>
                </a:solidFill>
              </a:rPr>
              <a:t>Blackjackentscheidungen</a:t>
            </a:r>
            <a:endParaRPr lang="en-US" sz="900" dirty="0"/>
          </a:p>
        </p:txBody>
      </p:sp>
      <p:sp>
        <p:nvSpPr>
          <p:cNvPr id="47" name="Text 18">
            <a:extLst>
              <a:ext uri="{FF2B5EF4-FFF2-40B4-BE49-F238E27FC236}">
                <a16:creationId xmlns:a16="http://schemas.microsoft.com/office/drawing/2014/main" id="{D3507EF6-418B-A01E-842B-234986E728C4}"/>
              </a:ext>
            </a:extLst>
          </p:cNvPr>
          <p:cNvSpPr/>
          <p:nvPr/>
        </p:nvSpPr>
        <p:spPr>
          <a:xfrm>
            <a:off x="502920" y="4204716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</a:rPr>
              <a:t>Spieler-</a:t>
            </a:r>
            <a:r>
              <a:rPr lang="en-US" sz="900" dirty="0" err="1">
                <a:solidFill>
                  <a:srgbClr val="64748B"/>
                </a:solidFill>
              </a:rPr>
              <a:t>Vorteil</a:t>
            </a:r>
            <a:endParaRPr lang="en-US" sz="900" dirty="0"/>
          </a:p>
        </p:txBody>
      </p:sp>
      <p:sp>
        <p:nvSpPr>
          <p:cNvPr id="48" name="Shape 13">
            <a:extLst>
              <a:ext uri="{FF2B5EF4-FFF2-40B4-BE49-F238E27FC236}">
                <a16:creationId xmlns:a16="http://schemas.microsoft.com/office/drawing/2014/main" id="{ED91D57A-E81A-29A4-E96D-66E105E779DF}"/>
              </a:ext>
            </a:extLst>
          </p:cNvPr>
          <p:cNvSpPr/>
          <p:nvPr/>
        </p:nvSpPr>
        <p:spPr>
          <a:xfrm>
            <a:off x="5120640" y="1502410"/>
            <a:ext cx="1335024" cy="201168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9" name="Shape 24">
            <a:extLst>
              <a:ext uri="{FF2B5EF4-FFF2-40B4-BE49-F238E27FC236}">
                <a16:creationId xmlns:a16="http://schemas.microsoft.com/office/drawing/2014/main" id="{D7E8A361-AB3F-07B2-A983-FC1FE786F686}"/>
              </a:ext>
            </a:extLst>
          </p:cNvPr>
          <p:cNvSpPr/>
          <p:nvPr/>
        </p:nvSpPr>
        <p:spPr>
          <a:xfrm>
            <a:off x="5120640" y="2792095"/>
            <a:ext cx="1521460" cy="20116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0" name="Shape 24">
            <a:extLst>
              <a:ext uri="{FF2B5EF4-FFF2-40B4-BE49-F238E27FC236}">
                <a16:creationId xmlns:a16="http://schemas.microsoft.com/office/drawing/2014/main" id="{9BF48160-D930-7563-A3C0-D47DA6BD4140}"/>
              </a:ext>
            </a:extLst>
          </p:cNvPr>
          <p:cNvSpPr/>
          <p:nvPr/>
        </p:nvSpPr>
        <p:spPr>
          <a:xfrm>
            <a:off x="5120640" y="3984942"/>
            <a:ext cx="1737360" cy="19996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770380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D13B92-8B70-DE68-ACB6-D76DF226DD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F8263899-B1BA-148D-16E6-C1BBC72569FC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135F811D-DAC8-9177-F471-2096840ADB91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7167370C-D62E-AFA9-0718-5226545EDE71}"/>
              </a:ext>
            </a:extLst>
          </p:cNvPr>
          <p:cNvSpPr/>
          <p:nvPr/>
        </p:nvSpPr>
        <p:spPr>
          <a:xfrm>
            <a:off x="457200" y="5486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14B8A6"/>
                </a:solidFill>
              </a:rPr>
              <a:t>FEATURE VALIDATION</a:t>
            </a:r>
            <a:endParaRPr lang="en-US" sz="9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487D7E73-4049-3D76-016A-D7283BBEFCF2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True-Count-Bucket Analysis</a:t>
            </a:r>
            <a:endParaRPr lang="en-US" sz="26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EC149777-B0D9-9619-4B4B-A8EBA0B6D632}"/>
              </a:ext>
            </a:extLst>
          </p:cNvPr>
          <p:cNvSpPr/>
          <p:nvPr/>
        </p:nvSpPr>
        <p:spPr>
          <a:xfrm>
            <a:off x="365760" y="1097280"/>
            <a:ext cx="8412480" cy="1078992"/>
          </a:xfrm>
          <a:prstGeom prst="roundRect">
            <a:avLst>
              <a:gd name="adj" fmla="val 10169"/>
            </a:avLst>
          </a:prstGeom>
          <a:solidFill>
            <a:srgbClr val="F1F5F9"/>
          </a:solidFill>
          <a:ln w="12700">
            <a:solidFill>
              <a:srgbClr val="EF4444">
                <a:alpha val="5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FD735FB1-944C-4DF6-0019-EE8E86255B45}"/>
              </a:ext>
            </a:extLst>
          </p:cNvPr>
          <p:cNvSpPr/>
          <p:nvPr/>
        </p:nvSpPr>
        <p:spPr>
          <a:xfrm>
            <a:off x="502920" y="1225296"/>
            <a:ext cx="1737360" cy="329184"/>
          </a:xfrm>
          <a:prstGeom prst="roundRect">
            <a:avLst>
              <a:gd name="adj" fmla="val 22222"/>
            </a:avLst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CB4C3B40-1D81-8733-98C8-634CD55207C7}"/>
              </a:ext>
            </a:extLst>
          </p:cNvPr>
          <p:cNvSpPr/>
          <p:nvPr/>
        </p:nvSpPr>
        <p:spPr>
          <a:xfrm>
            <a:off x="502920" y="1225296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TC &lt; −1</a:t>
            </a:r>
            <a:endParaRPr lang="en-US" sz="11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6752FEDE-0C61-F023-F025-AEC9529D90B2}"/>
              </a:ext>
            </a:extLst>
          </p:cNvPr>
          <p:cNvSpPr/>
          <p:nvPr/>
        </p:nvSpPr>
        <p:spPr>
          <a:xfrm>
            <a:off x="502920" y="1609344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</a:rPr>
              <a:t>Dealer-Vorteil</a:t>
            </a:r>
            <a:endParaRPr lang="en-US" sz="90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E6692CF4-A2AD-0414-5B1B-8DB8B0BB7EED}"/>
              </a:ext>
            </a:extLst>
          </p:cNvPr>
          <p:cNvSpPr/>
          <p:nvPr/>
        </p:nvSpPr>
        <p:spPr>
          <a:xfrm>
            <a:off x="2377440" y="120700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Avg Reward</a:t>
            </a:r>
            <a:endParaRPr lang="en-US" sz="90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3B791CCF-7F29-6C8C-1512-9310D60B982D}"/>
              </a:ext>
            </a:extLst>
          </p:cNvPr>
          <p:cNvSpPr/>
          <p:nvPr/>
        </p:nvSpPr>
        <p:spPr>
          <a:xfrm>
            <a:off x="2377440" y="1444752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F4444"/>
                </a:solidFill>
              </a:rPr>
              <a:t>−0.08</a:t>
            </a:r>
            <a:endParaRPr lang="en-US" sz="2000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CF305F1A-8DD1-235E-F167-1A3FC927670C}"/>
              </a:ext>
            </a:extLst>
          </p:cNvPr>
          <p:cNvSpPr/>
          <p:nvPr/>
        </p:nvSpPr>
        <p:spPr>
          <a:xfrm>
            <a:off x="3886200" y="1207008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Win Rate</a:t>
            </a:r>
            <a:endParaRPr lang="en-US" sz="90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3D84FF7D-60B6-0FED-3816-FC7E8DD5370F}"/>
              </a:ext>
            </a:extLst>
          </p:cNvPr>
          <p:cNvSpPr/>
          <p:nvPr/>
        </p:nvSpPr>
        <p:spPr>
          <a:xfrm>
            <a:off x="3886200" y="144475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F4444"/>
                </a:solidFill>
              </a:rPr>
              <a:t>38%</a:t>
            </a:r>
            <a:endParaRPr lang="en-US" sz="2000" dirty="0"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AC2EC4DC-91F8-79FE-0A69-7B6E678A0486}"/>
              </a:ext>
            </a:extLst>
          </p:cNvPr>
          <p:cNvSpPr/>
          <p:nvPr/>
        </p:nvSpPr>
        <p:spPr>
          <a:xfrm>
            <a:off x="5120640" y="1508760"/>
            <a:ext cx="3337560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E267CC06-1B16-BC60-AA95-88D76F91ECAD}"/>
              </a:ext>
            </a:extLst>
          </p:cNvPr>
          <p:cNvSpPr/>
          <p:nvPr/>
        </p:nvSpPr>
        <p:spPr>
          <a:xfrm>
            <a:off x="5120640" y="1783080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Konservative Strategie · Implizites Surrender</a:t>
            </a:r>
            <a:endParaRPr lang="en-US" sz="900" dirty="0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4110AA45-991E-6347-6795-F8308BB0AE25}"/>
              </a:ext>
            </a:extLst>
          </p:cNvPr>
          <p:cNvSpPr/>
          <p:nvPr/>
        </p:nvSpPr>
        <p:spPr>
          <a:xfrm>
            <a:off x="365760" y="5394960"/>
            <a:ext cx="8412480" cy="1078992"/>
          </a:xfrm>
          <a:prstGeom prst="roundRect">
            <a:avLst>
              <a:gd name="adj" fmla="val 10169"/>
            </a:avLst>
          </a:prstGeom>
          <a:solidFill>
            <a:srgbClr val="F1F5F9"/>
          </a:solidFill>
          <a:ln w="12700">
            <a:solidFill>
              <a:srgbClr val="F59E0B">
                <a:alpha val="5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998EF841-44AB-D630-B197-4887DB8AD62F}"/>
              </a:ext>
            </a:extLst>
          </p:cNvPr>
          <p:cNvSpPr/>
          <p:nvPr/>
        </p:nvSpPr>
        <p:spPr>
          <a:xfrm>
            <a:off x="502920" y="5522976"/>
            <a:ext cx="1737360" cy="329184"/>
          </a:xfrm>
          <a:prstGeom prst="roundRect">
            <a:avLst>
              <a:gd name="adj" fmla="val 22222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82D218FD-E949-B708-3840-80CDCED2E809}"/>
              </a:ext>
            </a:extLst>
          </p:cNvPr>
          <p:cNvSpPr/>
          <p:nvPr/>
        </p:nvSpPr>
        <p:spPr>
          <a:xfrm>
            <a:off x="502920" y="5522976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TC neutral</a:t>
            </a:r>
            <a:endParaRPr lang="en-US" sz="1100" dirty="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70956A7D-0AB5-98BB-4108-D6CCD6D835E0}"/>
              </a:ext>
            </a:extLst>
          </p:cNvPr>
          <p:cNvSpPr/>
          <p:nvPr/>
        </p:nvSpPr>
        <p:spPr>
          <a:xfrm>
            <a:off x="502920" y="5907024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</a:rPr>
              <a:t>Ausgeglichen</a:t>
            </a:r>
            <a:endParaRPr lang="en-US" sz="900" dirty="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A5FAB23D-C20E-AE0A-C7AF-A178EB795F26}"/>
              </a:ext>
            </a:extLst>
          </p:cNvPr>
          <p:cNvSpPr/>
          <p:nvPr/>
        </p:nvSpPr>
        <p:spPr>
          <a:xfrm>
            <a:off x="2377440" y="550468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Avg Reward</a:t>
            </a:r>
            <a:endParaRPr lang="en-US" sz="900" dirty="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25B968AB-4655-E45E-C9D3-F7E4681023C1}"/>
              </a:ext>
            </a:extLst>
          </p:cNvPr>
          <p:cNvSpPr/>
          <p:nvPr/>
        </p:nvSpPr>
        <p:spPr>
          <a:xfrm>
            <a:off x="2377440" y="5742432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59E0B"/>
                </a:solidFill>
              </a:rPr>
              <a:t>−0.05</a:t>
            </a:r>
            <a:endParaRPr lang="en-US" sz="2000" dirty="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018A1247-32B5-ED24-C825-B442066A508D}"/>
              </a:ext>
            </a:extLst>
          </p:cNvPr>
          <p:cNvSpPr/>
          <p:nvPr/>
        </p:nvSpPr>
        <p:spPr>
          <a:xfrm>
            <a:off x="3886200" y="5504688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Win Rate</a:t>
            </a:r>
            <a:endParaRPr lang="en-US" sz="900" dirty="0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17EB57B0-C0BA-8477-BAC3-B3C04B09208F}"/>
              </a:ext>
            </a:extLst>
          </p:cNvPr>
          <p:cNvSpPr/>
          <p:nvPr/>
        </p:nvSpPr>
        <p:spPr>
          <a:xfrm>
            <a:off x="3886200" y="574243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59E0B"/>
                </a:solidFill>
              </a:rPr>
              <a:t>43%</a:t>
            </a:r>
            <a:endParaRPr lang="en-US" sz="2000" dirty="0"/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AE35ACE7-0C97-86C5-04E7-C5A41DC854AA}"/>
              </a:ext>
            </a:extLst>
          </p:cNvPr>
          <p:cNvSpPr/>
          <p:nvPr/>
        </p:nvSpPr>
        <p:spPr>
          <a:xfrm>
            <a:off x="5120640" y="5806440"/>
            <a:ext cx="3337560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9492ADE4-7646-B3AD-8C26-FDCFD5DACDC6}"/>
              </a:ext>
            </a:extLst>
          </p:cNvPr>
          <p:cNvSpPr/>
          <p:nvPr/>
        </p:nvSpPr>
        <p:spPr>
          <a:xfrm>
            <a:off x="5120640" y="6080760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Standardstrategie, nah an Basic Strategy</a:t>
            </a:r>
            <a:endParaRPr lang="en-US" sz="900" dirty="0"/>
          </a:p>
        </p:txBody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165D10DD-E88C-29B7-C698-83C85757F973}"/>
              </a:ext>
            </a:extLst>
          </p:cNvPr>
          <p:cNvSpPr/>
          <p:nvPr/>
        </p:nvSpPr>
        <p:spPr>
          <a:xfrm>
            <a:off x="365760" y="6675120"/>
            <a:ext cx="8412480" cy="1078992"/>
          </a:xfrm>
          <a:prstGeom prst="roundRect">
            <a:avLst>
              <a:gd name="adj" fmla="val 10169"/>
            </a:avLst>
          </a:prstGeom>
          <a:solidFill>
            <a:srgbClr val="F1F5F9"/>
          </a:solidFill>
          <a:ln w="12700">
            <a:solidFill>
              <a:srgbClr val="10B981">
                <a:alpha val="5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 dirty="0"/>
          </a:p>
        </p:txBody>
      </p:sp>
      <p:sp>
        <p:nvSpPr>
          <p:cNvPr id="29" name="Shape 27">
            <a:extLst>
              <a:ext uri="{FF2B5EF4-FFF2-40B4-BE49-F238E27FC236}">
                <a16:creationId xmlns:a16="http://schemas.microsoft.com/office/drawing/2014/main" id="{67D5A689-3F80-1CB6-1F42-58FCCF2DCB76}"/>
              </a:ext>
            </a:extLst>
          </p:cNvPr>
          <p:cNvSpPr/>
          <p:nvPr/>
        </p:nvSpPr>
        <p:spPr>
          <a:xfrm>
            <a:off x="502920" y="6803136"/>
            <a:ext cx="1737360" cy="329184"/>
          </a:xfrm>
          <a:prstGeom prst="roundRect">
            <a:avLst>
              <a:gd name="adj" fmla="val 22222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de-DE">
              <a:solidFill>
                <a:srgbClr val="10B981"/>
              </a:solidFill>
            </a:endParaRPr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E586C2B7-9206-D417-EA3A-4200076E6D28}"/>
              </a:ext>
            </a:extLst>
          </p:cNvPr>
          <p:cNvSpPr/>
          <p:nvPr/>
        </p:nvSpPr>
        <p:spPr>
          <a:xfrm>
            <a:off x="502920" y="6803136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TC ≥ +1</a:t>
            </a:r>
            <a:endParaRPr lang="en-US" sz="1100" dirty="0"/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510E8889-AC4B-ADDF-9948-55FD5BE716FF}"/>
              </a:ext>
            </a:extLst>
          </p:cNvPr>
          <p:cNvSpPr/>
          <p:nvPr/>
        </p:nvSpPr>
        <p:spPr>
          <a:xfrm>
            <a:off x="2377440" y="678484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Avg Reward</a:t>
            </a:r>
            <a:endParaRPr lang="en-US" sz="900" dirty="0"/>
          </a:p>
        </p:txBody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47B5DA80-1600-384B-5B31-5D3A71BE82AC}"/>
              </a:ext>
            </a:extLst>
          </p:cNvPr>
          <p:cNvSpPr/>
          <p:nvPr/>
        </p:nvSpPr>
        <p:spPr>
          <a:xfrm>
            <a:off x="3886200" y="6784848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Win Rate</a:t>
            </a:r>
            <a:endParaRPr lang="en-US" sz="900" dirty="0"/>
          </a:p>
        </p:txBody>
      </p:sp>
      <p:sp>
        <p:nvSpPr>
          <p:cNvPr id="42" name="Text 22">
            <a:extLst>
              <a:ext uri="{FF2B5EF4-FFF2-40B4-BE49-F238E27FC236}">
                <a16:creationId xmlns:a16="http://schemas.microsoft.com/office/drawing/2014/main" id="{D7D6A13F-D505-E4FE-1679-D68196FCE8E1}"/>
              </a:ext>
            </a:extLst>
          </p:cNvPr>
          <p:cNvSpPr/>
          <p:nvPr/>
        </p:nvSpPr>
        <p:spPr>
          <a:xfrm>
            <a:off x="3886200" y="7013448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0B981"/>
                </a:solidFill>
              </a:rPr>
              <a:t>46%</a:t>
            </a:r>
            <a:endParaRPr lang="en-US" sz="2000" dirty="0">
              <a:solidFill>
                <a:srgbClr val="10B981"/>
              </a:solidFill>
            </a:endParaRPr>
          </a:p>
        </p:txBody>
      </p:sp>
      <p:sp>
        <p:nvSpPr>
          <p:cNvPr id="43" name="Text 20">
            <a:extLst>
              <a:ext uri="{FF2B5EF4-FFF2-40B4-BE49-F238E27FC236}">
                <a16:creationId xmlns:a16="http://schemas.microsoft.com/office/drawing/2014/main" id="{BC2C155B-92A5-A60A-2EF7-C4B0BE07F926}"/>
              </a:ext>
            </a:extLst>
          </p:cNvPr>
          <p:cNvSpPr/>
          <p:nvPr/>
        </p:nvSpPr>
        <p:spPr>
          <a:xfrm>
            <a:off x="2377440" y="7003161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0B981"/>
                </a:solidFill>
              </a:rPr>
              <a:t>−0.02</a:t>
            </a:r>
            <a:endParaRPr lang="en-US" sz="2000" dirty="0">
              <a:solidFill>
                <a:srgbClr val="10B981"/>
              </a:solidFill>
            </a:endParaRPr>
          </a:p>
        </p:txBody>
      </p:sp>
      <p:sp>
        <p:nvSpPr>
          <p:cNvPr id="44" name="Shape 23">
            <a:extLst>
              <a:ext uri="{FF2B5EF4-FFF2-40B4-BE49-F238E27FC236}">
                <a16:creationId xmlns:a16="http://schemas.microsoft.com/office/drawing/2014/main" id="{B34AB5C9-576C-27CF-AF0F-B734EED53DD7}"/>
              </a:ext>
            </a:extLst>
          </p:cNvPr>
          <p:cNvSpPr/>
          <p:nvPr/>
        </p:nvSpPr>
        <p:spPr>
          <a:xfrm>
            <a:off x="5120640" y="7001256"/>
            <a:ext cx="3337560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6" name="Text 25">
            <a:extLst>
              <a:ext uri="{FF2B5EF4-FFF2-40B4-BE49-F238E27FC236}">
                <a16:creationId xmlns:a16="http://schemas.microsoft.com/office/drawing/2014/main" id="{14CBF1C9-3294-3FFD-B9BB-3CA702332E97}"/>
              </a:ext>
            </a:extLst>
          </p:cNvPr>
          <p:cNvSpPr/>
          <p:nvPr/>
        </p:nvSpPr>
        <p:spPr>
          <a:xfrm>
            <a:off x="5120640" y="7338060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Aggressive </a:t>
            </a:r>
            <a:r>
              <a:rPr lang="en-US" sz="900" dirty="0" err="1">
                <a:solidFill>
                  <a:srgbClr val="64748B"/>
                </a:solidFill>
              </a:rPr>
              <a:t>Strategie</a:t>
            </a:r>
            <a:r>
              <a:rPr lang="en-US" sz="900" dirty="0">
                <a:solidFill>
                  <a:srgbClr val="64748B"/>
                </a:solidFill>
              </a:rPr>
              <a:t>, </a:t>
            </a:r>
            <a:r>
              <a:rPr lang="en-US" sz="900" dirty="0" err="1">
                <a:solidFill>
                  <a:srgbClr val="64748B"/>
                </a:solidFill>
              </a:rPr>
              <a:t>Optimale</a:t>
            </a:r>
            <a:r>
              <a:rPr lang="en-US" sz="900" dirty="0">
                <a:solidFill>
                  <a:srgbClr val="64748B"/>
                </a:solidFill>
              </a:rPr>
              <a:t> </a:t>
            </a:r>
            <a:r>
              <a:rPr lang="en-US" sz="900" dirty="0" err="1">
                <a:solidFill>
                  <a:srgbClr val="64748B"/>
                </a:solidFill>
              </a:rPr>
              <a:t>Blackjackentscheidungen</a:t>
            </a:r>
            <a:endParaRPr lang="en-US" sz="900" dirty="0"/>
          </a:p>
        </p:txBody>
      </p:sp>
      <p:sp>
        <p:nvSpPr>
          <p:cNvPr id="47" name="Text 18">
            <a:extLst>
              <a:ext uri="{FF2B5EF4-FFF2-40B4-BE49-F238E27FC236}">
                <a16:creationId xmlns:a16="http://schemas.microsoft.com/office/drawing/2014/main" id="{4093C48B-F9BA-4E5A-C907-4405C8CFEC82}"/>
              </a:ext>
            </a:extLst>
          </p:cNvPr>
          <p:cNvSpPr/>
          <p:nvPr/>
        </p:nvSpPr>
        <p:spPr>
          <a:xfrm>
            <a:off x="502920" y="7222236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</a:rPr>
              <a:t>Spieler-</a:t>
            </a:r>
            <a:r>
              <a:rPr lang="en-US" sz="900" dirty="0" err="1">
                <a:solidFill>
                  <a:srgbClr val="64748B"/>
                </a:solidFill>
              </a:rPr>
              <a:t>Vorteil</a:t>
            </a:r>
            <a:endParaRPr lang="en-US" sz="900" dirty="0"/>
          </a:p>
        </p:txBody>
      </p:sp>
      <p:sp>
        <p:nvSpPr>
          <p:cNvPr id="48" name="Shape 13">
            <a:extLst>
              <a:ext uri="{FF2B5EF4-FFF2-40B4-BE49-F238E27FC236}">
                <a16:creationId xmlns:a16="http://schemas.microsoft.com/office/drawing/2014/main" id="{0CC2FEBD-0E70-CFC1-2151-25A5E74F8306}"/>
              </a:ext>
            </a:extLst>
          </p:cNvPr>
          <p:cNvSpPr/>
          <p:nvPr/>
        </p:nvSpPr>
        <p:spPr>
          <a:xfrm>
            <a:off x="5120640" y="1502410"/>
            <a:ext cx="1335024" cy="201168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9" name="Shape 24">
            <a:extLst>
              <a:ext uri="{FF2B5EF4-FFF2-40B4-BE49-F238E27FC236}">
                <a16:creationId xmlns:a16="http://schemas.microsoft.com/office/drawing/2014/main" id="{386E9FB7-FBC4-B424-09E0-B1E53ED7CA39}"/>
              </a:ext>
            </a:extLst>
          </p:cNvPr>
          <p:cNvSpPr/>
          <p:nvPr/>
        </p:nvSpPr>
        <p:spPr>
          <a:xfrm>
            <a:off x="5120640" y="5809615"/>
            <a:ext cx="1521460" cy="20116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0" name="Shape 24">
            <a:extLst>
              <a:ext uri="{FF2B5EF4-FFF2-40B4-BE49-F238E27FC236}">
                <a16:creationId xmlns:a16="http://schemas.microsoft.com/office/drawing/2014/main" id="{7DBE8BED-3FC5-CDB9-7643-CE30AB36F629}"/>
              </a:ext>
            </a:extLst>
          </p:cNvPr>
          <p:cNvSpPr/>
          <p:nvPr/>
        </p:nvSpPr>
        <p:spPr>
          <a:xfrm>
            <a:off x="5120640" y="7002462"/>
            <a:ext cx="1737360" cy="19996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pic>
        <p:nvPicPr>
          <p:cNvPr id="26" name="Grafik 25">
            <a:extLst>
              <a:ext uri="{FF2B5EF4-FFF2-40B4-BE49-F238E27FC236}">
                <a16:creationId xmlns:a16="http://schemas.microsoft.com/office/drawing/2014/main" id="{4C872828-D18B-CF3D-CD6C-DC43ADABAA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9030" y="2462022"/>
            <a:ext cx="2987462" cy="2240280"/>
          </a:xfrm>
          <a:prstGeom prst="rect">
            <a:avLst/>
          </a:prstGeom>
        </p:spPr>
      </p:pic>
      <p:pic>
        <p:nvPicPr>
          <p:cNvPr id="51" name="Grafik 50">
            <a:extLst>
              <a:ext uri="{FF2B5EF4-FFF2-40B4-BE49-F238E27FC236}">
                <a16:creationId xmlns:a16="http://schemas.microsoft.com/office/drawing/2014/main" id="{EADA4957-5B19-1B64-33DB-E529633564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6492" y="2470133"/>
            <a:ext cx="2989179" cy="2241568"/>
          </a:xfrm>
          <a:prstGeom prst="rect">
            <a:avLst/>
          </a:prstGeom>
        </p:spPr>
      </p:pic>
      <p:pic>
        <p:nvPicPr>
          <p:cNvPr id="53" name="Grafik 52">
            <a:extLst>
              <a:ext uri="{FF2B5EF4-FFF2-40B4-BE49-F238E27FC236}">
                <a16:creationId xmlns:a16="http://schemas.microsoft.com/office/drawing/2014/main" id="{574DDBF5-0746-39E1-10D1-45EADB6E942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05293" y="2481072"/>
            <a:ext cx="2963603" cy="2219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09583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0F8A90-90FB-414E-F96D-877AC4A7C5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AD15860-0F68-B5D1-CCC2-3E6CE0F4F24D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94F00E50-A24F-1812-E230-10B8BC0D1E0A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3C32905-A3CA-F4F0-79CC-C48A4919C8DA}"/>
              </a:ext>
            </a:extLst>
          </p:cNvPr>
          <p:cNvSpPr/>
          <p:nvPr/>
        </p:nvSpPr>
        <p:spPr>
          <a:xfrm>
            <a:off x="457200" y="5486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14B8A6"/>
                </a:solidFill>
              </a:rPr>
              <a:t>FEATURE VALIDATION</a:t>
            </a:r>
            <a:endParaRPr lang="en-US" sz="9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C291FDC1-1A09-F1E5-A9ED-DC6ACD1F02B9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True-Count-Bucket Analysis</a:t>
            </a:r>
            <a:endParaRPr lang="en-US" sz="2600" dirty="0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0994C7CB-318C-DBFD-C459-B38515854057}"/>
              </a:ext>
            </a:extLst>
          </p:cNvPr>
          <p:cNvSpPr/>
          <p:nvPr/>
        </p:nvSpPr>
        <p:spPr>
          <a:xfrm>
            <a:off x="365760" y="5394960"/>
            <a:ext cx="8412480" cy="1078992"/>
          </a:xfrm>
          <a:prstGeom prst="roundRect">
            <a:avLst>
              <a:gd name="adj" fmla="val 10169"/>
            </a:avLst>
          </a:prstGeom>
          <a:solidFill>
            <a:srgbClr val="F1F5F9"/>
          </a:solidFill>
          <a:ln w="12700">
            <a:solidFill>
              <a:srgbClr val="F59E0B">
                <a:alpha val="5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522D0F80-7F71-1403-38D4-C17AD9B7F0EE}"/>
              </a:ext>
            </a:extLst>
          </p:cNvPr>
          <p:cNvSpPr/>
          <p:nvPr/>
        </p:nvSpPr>
        <p:spPr>
          <a:xfrm>
            <a:off x="502920" y="5522976"/>
            <a:ext cx="1737360" cy="329184"/>
          </a:xfrm>
          <a:prstGeom prst="roundRect">
            <a:avLst>
              <a:gd name="adj" fmla="val 22222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70EAE043-F2B8-2404-8EC8-1AD22385AAAF}"/>
              </a:ext>
            </a:extLst>
          </p:cNvPr>
          <p:cNvSpPr/>
          <p:nvPr/>
        </p:nvSpPr>
        <p:spPr>
          <a:xfrm>
            <a:off x="502920" y="5522976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TC neutral</a:t>
            </a:r>
            <a:endParaRPr lang="en-US" sz="1100" dirty="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785D2E51-85E1-6312-B751-6267D2D126A1}"/>
              </a:ext>
            </a:extLst>
          </p:cNvPr>
          <p:cNvSpPr/>
          <p:nvPr/>
        </p:nvSpPr>
        <p:spPr>
          <a:xfrm>
            <a:off x="502920" y="5907024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</a:rPr>
              <a:t>Ausgeglichen</a:t>
            </a:r>
            <a:endParaRPr lang="en-US" sz="900" dirty="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E5879724-EFD1-9586-DE67-9D9FD83BA396}"/>
              </a:ext>
            </a:extLst>
          </p:cNvPr>
          <p:cNvSpPr/>
          <p:nvPr/>
        </p:nvSpPr>
        <p:spPr>
          <a:xfrm>
            <a:off x="2377440" y="550468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Avg Reward</a:t>
            </a:r>
            <a:endParaRPr lang="en-US" sz="900" dirty="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A8006E6E-3405-85D2-DE98-4C27A9D61670}"/>
              </a:ext>
            </a:extLst>
          </p:cNvPr>
          <p:cNvSpPr/>
          <p:nvPr/>
        </p:nvSpPr>
        <p:spPr>
          <a:xfrm>
            <a:off x="2377440" y="5742432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59E0B"/>
                </a:solidFill>
              </a:rPr>
              <a:t>−0.05</a:t>
            </a:r>
            <a:endParaRPr lang="en-US" sz="2000" dirty="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FDE3CC5A-2888-4B15-F58A-A4AD81E7AED5}"/>
              </a:ext>
            </a:extLst>
          </p:cNvPr>
          <p:cNvSpPr/>
          <p:nvPr/>
        </p:nvSpPr>
        <p:spPr>
          <a:xfrm>
            <a:off x="3886200" y="5504688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Win Rate</a:t>
            </a:r>
            <a:endParaRPr lang="en-US" sz="900" dirty="0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00F7FD3A-0EB9-9387-EA02-7E4C282FD1E7}"/>
              </a:ext>
            </a:extLst>
          </p:cNvPr>
          <p:cNvSpPr/>
          <p:nvPr/>
        </p:nvSpPr>
        <p:spPr>
          <a:xfrm>
            <a:off x="3886200" y="574243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59E0B"/>
                </a:solidFill>
              </a:rPr>
              <a:t>43%</a:t>
            </a:r>
            <a:endParaRPr lang="en-US" sz="2000" dirty="0"/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EE49CD5B-7A77-A55A-F35B-213086DD5BFC}"/>
              </a:ext>
            </a:extLst>
          </p:cNvPr>
          <p:cNvSpPr/>
          <p:nvPr/>
        </p:nvSpPr>
        <p:spPr>
          <a:xfrm>
            <a:off x="5120640" y="5806440"/>
            <a:ext cx="3337560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E6238344-D22D-755A-1F92-73C2CB988535}"/>
              </a:ext>
            </a:extLst>
          </p:cNvPr>
          <p:cNvSpPr/>
          <p:nvPr/>
        </p:nvSpPr>
        <p:spPr>
          <a:xfrm>
            <a:off x="5120640" y="6080760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Standardstrategie, nah an Basic Strategy</a:t>
            </a:r>
            <a:endParaRPr lang="en-US" sz="900" dirty="0"/>
          </a:p>
        </p:txBody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0BCCE8CC-0225-36ED-D6F8-D2C62406B7D6}"/>
              </a:ext>
            </a:extLst>
          </p:cNvPr>
          <p:cNvSpPr/>
          <p:nvPr/>
        </p:nvSpPr>
        <p:spPr>
          <a:xfrm>
            <a:off x="365760" y="6675120"/>
            <a:ext cx="8412480" cy="1078992"/>
          </a:xfrm>
          <a:prstGeom prst="roundRect">
            <a:avLst>
              <a:gd name="adj" fmla="val 10169"/>
            </a:avLst>
          </a:prstGeom>
          <a:solidFill>
            <a:srgbClr val="F1F5F9"/>
          </a:solidFill>
          <a:ln w="12700">
            <a:solidFill>
              <a:srgbClr val="10B981">
                <a:alpha val="5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 dirty="0"/>
          </a:p>
        </p:txBody>
      </p:sp>
      <p:sp>
        <p:nvSpPr>
          <p:cNvPr id="29" name="Shape 27">
            <a:extLst>
              <a:ext uri="{FF2B5EF4-FFF2-40B4-BE49-F238E27FC236}">
                <a16:creationId xmlns:a16="http://schemas.microsoft.com/office/drawing/2014/main" id="{7B800BF2-9AFA-732A-59E6-EE9179407D23}"/>
              </a:ext>
            </a:extLst>
          </p:cNvPr>
          <p:cNvSpPr/>
          <p:nvPr/>
        </p:nvSpPr>
        <p:spPr>
          <a:xfrm>
            <a:off x="502920" y="6803136"/>
            <a:ext cx="1737360" cy="329184"/>
          </a:xfrm>
          <a:prstGeom prst="roundRect">
            <a:avLst>
              <a:gd name="adj" fmla="val 22222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de-DE">
              <a:solidFill>
                <a:srgbClr val="10B981"/>
              </a:solidFill>
            </a:endParaRPr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6F3111A2-6762-C6D4-8B86-A2AD4C0442A4}"/>
              </a:ext>
            </a:extLst>
          </p:cNvPr>
          <p:cNvSpPr/>
          <p:nvPr/>
        </p:nvSpPr>
        <p:spPr>
          <a:xfrm>
            <a:off x="502920" y="6803136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TC ≥ +1</a:t>
            </a:r>
            <a:endParaRPr lang="en-US" sz="1100" dirty="0"/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605C4D65-7DCC-46EB-B055-AC0661EE0E75}"/>
              </a:ext>
            </a:extLst>
          </p:cNvPr>
          <p:cNvSpPr/>
          <p:nvPr/>
        </p:nvSpPr>
        <p:spPr>
          <a:xfrm>
            <a:off x="2377440" y="678484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Avg Reward</a:t>
            </a:r>
            <a:endParaRPr lang="en-US" sz="900" dirty="0"/>
          </a:p>
        </p:txBody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3D014A3B-3BE4-554D-CFBF-E15BA30D51F0}"/>
              </a:ext>
            </a:extLst>
          </p:cNvPr>
          <p:cNvSpPr/>
          <p:nvPr/>
        </p:nvSpPr>
        <p:spPr>
          <a:xfrm>
            <a:off x="3886200" y="6784848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Win Rate</a:t>
            </a:r>
            <a:endParaRPr lang="en-US" sz="900" dirty="0"/>
          </a:p>
        </p:txBody>
      </p:sp>
      <p:sp>
        <p:nvSpPr>
          <p:cNvPr id="42" name="Text 22">
            <a:extLst>
              <a:ext uri="{FF2B5EF4-FFF2-40B4-BE49-F238E27FC236}">
                <a16:creationId xmlns:a16="http://schemas.microsoft.com/office/drawing/2014/main" id="{2E0FFCE0-0F9E-F2C2-2BC9-9A370031DC45}"/>
              </a:ext>
            </a:extLst>
          </p:cNvPr>
          <p:cNvSpPr/>
          <p:nvPr/>
        </p:nvSpPr>
        <p:spPr>
          <a:xfrm>
            <a:off x="3886200" y="7013448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0B981"/>
                </a:solidFill>
              </a:rPr>
              <a:t>46%</a:t>
            </a:r>
            <a:endParaRPr lang="en-US" sz="2000" dirty="0">
              <a:solidFill>
                <a:srgbClr val="10B981"/>
              </a:solidFill>
            </a:endParaRPr>
          </a:p>
        </p:txBody>
      </p:sp>
      <p:sp>
        <p:nvSpPr>
          <p:cNvPr id="43" name="Text 20">
            <a:extLst>
              <a:ext uri="{FF2B5EF4-FFF2-40B4-BE49-F238E27FC236}">
                <a16:creationId xmlns:a16="http://schemas.microsoft.com/office/drawing/2014/main" id="{04A3E716-F31F-CE31-7CEC-B6A6D5485E30}"/>
              </a:ext>
            </a:extLst>
          </p:cNvPr>
          <p:cNvSpPr/>
          <p:nvPr/>
        </p:nvSpPr>
        <p:spPr>
          <a:xfrm>
            <a:off x="2377440" y="7003161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0B981"/>
                </a:solidFill>
              </a:rPr>
              <a:t>−0.02</a:t>
            </a:r>
            <a:endParaRPr lang="en-US" sz="2000" dirty="0">
              <a:solidFill>
                <a:srgbClr val="10B981"/>
              </a:solidFill>
            </a:endParaRPr>
          </a:p>
        </p:txBody>
      </p:sp>
      <p:sp>
        <p:nvSpPr>
          <p:cNvPr id="44" name="Shape 23">
            <a:extLst>
              <a:ext uri="{FF2B5EF4-FFF2-40B4-BE49-F238E27FC236}">
                <a16:creationId xmlns:a16="http://schemas.microsoft.com/office/drawing/2014/main" id="{7F289233-5D18-8F6B-96F0-0A627BAC52B2}"/>
              </a:ext>
            </a:extLst>
          </p:cNvPr>
          <p:cNvSpPr/>
          <p:nvPr/>
        </p:nvSpPr>
        <p:spPr>
          <a:xfrm>
            <a:off x="5120640" y="7001256"/>
            <a:ext cx="3337560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6" name="Text 25">
            <a:extLst>
              <a:ext uri="{FF2B5EF4-FFF2-40B4-BE49-F238E27FC236}">
                <a16:creationId xmlns:a16="http://schemas.microsoft.com/office/drawing/2014/main" id="{5F04C539-F02E-9581-4F8F-742C7A82472A}"/>
              </a:ext>
            </a:extLst>
          </p:cNvPr>
          <p:cNvSpPr/>
          <p:nvPr/>
        </p:nvSpPr>
        <p:spPr>
          <a:xfrm>
            <a:off x="5120640" y="7338060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Aggressive </a:t>
            </a:r>
            <a:r>
              <a:rPr lang="en-US" sz="900" dirty="0" err="1">
                <a:solidFill>
                  <a:srgbClr val="64748B"/>
                </a:solidFill>
              </a:rPr>
              <a:t>Strategie</a:t>
            </a:r>
            <a:r>
              <a:rPr lang="en-US" sz="900" dirty="0">
                <a:solidFill>
                  <a:srgbClr val="64748B"/>
                </a:solidFill>
              </a:rPr>
              <a:t>, </a:t>
            </a:r>
            <a:r>
              <a:rPr lang="en-US" sz="900" dirty="0" err="1">
                <a:solidFill>
                  <a:srgbClr val="64748B"/>
                </a:solidFill>
              </a:rPr>
              <a:t>Optimale</a:t>
            </a:r>
            <a:r>
              <a:rPr lang="en-US" sz="900" dirty="0">
                <a:solidFill>
                  <a:srgbClr val="64748B"/>
                </a:solidFill>
              </a:rPr>
              <a:t> </a:t>
            </a:r>
            <a:r>
              <a:rPr lang="en-US" sz="900" dirty="0" err="1">
                <a:solidFill>
                  <a:srgbClr val="64748B"/>
                </a:solidFill>
              </a:rPr>
              <a:t>Blackjackentscheidungen</a:t>
            </a:r>
            <a:endParaRPr lang="en-US" sz="900" dirty="0"/>
          </a:p>
        </p:txBody>
      </p:sp>
      <p:sp>
        <p:nvSpPr>
          <p:cNvPr id="47" name="Text 18">
            <a:extLst>
              <a:ext uri="{FF2B5EF4-FFF2-40B4-BE49-F238E27FC236}">
                <a16:creationId xmlns:a16="http://schemas.microsoft.com/office/drawing/2014/main" id="{7F29C90A-89AB-732A-0EFE-3876FA80DEF0}"/>
              </a:ext>
            </a:extLst>
          </p:cNvPr>
          <p:cNvSpPr/>
          <p:nvPr/>
        </p:nvSpPr>
        <p:spPr>
          <a:xfrm>
            <a:off x="502920" y="7222236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</a:rPr>
              <a:t>Spieler-</a:t>
            </a:r>
            <a:r>
              <a:rPr lang="en-US" sz="900" dirty="0" err="1">
                <a:solidFill>
                  <a:srgbClr val="64748B"/>
                </a:solidFill>
              </a:rPr>
              <a:t>Vorteil</a:t>
            </a:r>
            <a:endParaRPr lang="en-US" sz="900" dirty="0"/>
          </a:p>
        </p:txBody>
      </p:sp>
      <p:sp>
        <p:nvSpPr>
          <p:cNvPr id="49" name="Shape 24">
            <a:extLst>
              <a:ext uri="{FF2B5EF4-FFF2-40B4-BE49-F238E27FC236}">
                <a16:creationId xmlns:a16="http://schemas.microsoft.com/office/drawing/2014/main" id="{6C4DA9C1-22B7-32F0-FC11-ED7A30574B97}"/>
              </a:ext>
            </a:extLst>
          </p:cNvPr>
          <p:cNvSpPr/>
          <p:nvPr/>
        </p:nvSpPr>
        <p:spPr>
          <a:xfrm>
            <a:off x="5120640" y="5809615"/>
            <a:ext cx="1521460" cy="20116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0" name="Shape 24">
            <a:extLst>
              <a:ext uri="{FF2B5EF4-FFF2-40B4-BE49-F238E27FC236}">
                <a16:creationId xmlns:a16="http://schemas.microsoft.com/office/drawing/2014/main" id="{5A6AF8FB-13E8-1CAD-76C9-EF32DCADCD69}"/>
              </a:ext>
            </a:extLst>
          </p:cNvPr>
          <p:cNvSpPr/>
          <p:nvPr/>
        </p:nvSpPr>
        <p:spPr>
          <a:xfrm>
            <a:off x="5120640" y="7002462"/>
            <a:ext cx="1737360" cy="19996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5" name="Shape 15">
            <a:extLst>
              <a:ext uri="{FF2B5EF4-FFF2-40B4-BE49-F238E27FC236}">
                <a16:creationId xmlns:a16="http://schemas.microsoft.com/office/drawing/2014/main" id="{A2B74486-AA63-6975-0E28-975C6468BA5E}"/>
              </a:ext>
            </a:extLst>
          </p:cNvPr>
          <p:cNvSpPr/>
          <p:nvPr/>
        </p:nvSpPr>
        <p:spPr>
          <a:xfrm>
            <a:off x="358936" y="1108191"/>
            <a:ext cx="8412480" cy="1078992"/>
          </a:xfrm>
          <a:prstGeom prst="roundRect">
            <a:avLst>
              <a:gd name="adj" fmla="val 10169"/>
            </a:avLst>
          </a:prstGeom>
          <a:solidFill>
            <a:srgbClr val="F1F5F9"/>
          </a:solidFill>
          <a:ln w="12700">
            <a:solidFill>
              <a:srgbClr val="F59E0B">
                <a:alpha val="5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31" name="Shape 16">
            <a:extLst>
              <a:ext uri="{FF2B5EF4-FFF2-40B4-BE49-F238E27FC236}">
                <a16:creationId xmlns:a16="http://schemas.microsoft.com/office/drawing/2014/main" id="{6F9FD1BE-439B-0016-3FD5-FEFA60FA39A8}"/>
              </a:ext>
            </a:extLst>
          </p:cNvPr>
          <p:cNvSpPr/>
          <p:nvPr/>
        </p:nvSpPr>
        <p:spPr>
          <a:xfrm>
            <a:off x="496096" y="1236207"/>
            <a:ext cx="1737360" cy="329184"/>
          </a:xfrm>
          <a:prstGeom prst="roundRect">
            <a:avLst>
              <a:gd name="adj" fmla="val 22222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3" name="Text 17">
            <a:extLst>
              <a:ext uri="{FF2B5EF4-FFF2-40B4-BE49-F238E27FC236}">
                <a16:creationId xmlns:a16="http://schemas.microsoft.com/office/drawing/2014/main" id="{758087FC-3A69-42F6-1EE0-978783C32729}"/>
              </a:ext>
            </a:extLst>
          </p:cNvPr>
          <p:cNvSpPr/>
          <p:nvPr/>
        </p:nvSpPr>
        <p:spPr>
          <a:xfrm>
            <a:off x="496096" y="1236207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TC neutral</a:t>
            </a:r>
            <a:endParaRPr lang="en-US" sz="1100" dirty="0"/>
          </a:p>
        </p:txBody>
      </p:sp>
      <p:sp>
        <p:nvSpPr>
          <p:cNvPr id="35" name="Text 18">
            <a:extLst>
              <a:ext uri="{FF2B5EF4-FFF2-40B4-BE49-F238E27FC236}">
                <a16:creationId xmlns:a16="http://schemas.microsoft.com/office/drawing/2014/main" id="{60F30038-40B7-459F-E70A-35700F32A673}"/>
              </a:ext>
            </a:extLst>
          </p:cNvPr>
          <p:cNvSpPr/>
          <p:nvPr/>
        </p:nvSpPr>
        <p:spPr>
          <a:xfrm>
            <a:off x="496096" y="1620255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</a:rPr>
              <a:t>Ausgeglichen</a:t>
            </a:r>
            <a:endParaRPr lang="en-US" sz="900" dirty="0"/>
          </a:p>
        </p:txBody>
      </p:sp>
      <p:sp>
        <p:nvSpPr>
          <p:cNvPr id="36" name="Text 19">
            <a:extLst>
              <a:ext uri="{FF2B5EF4-FFF2-40B4-BE49-F238E27FC236}">
                <a16:creationId xmlns:a16="http://schemas.microsoft.com/office/drawing/2014/main" id="{64939844-841A-632C-DF05-C785C3F1A10C}"/>
              </a:ext>
            </a:extLst>
          </p:cNvPr>
          <p:cNvSpPr/>
          <p:nvPr/>
        </p:nvSpPr>
        <p:spPr>
          <a:xfrm>
            <a:off x="2370616" y="1217919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Avg Reward</a:t>
            </a:r>
            <a:endParaRPr lang="en-US" sz="900" dirty="0"/>
          </a:p>
        </p:txBody>
      </p:sp>
      <p:sp>
        <p:nvSpPr>
          <p:cNvPr id="37" name="Text 20">
            <a:extLst>
              <a:ext uri="{FF2B5EF4-FFF2-40B4-BE49-F238E27FC236}">
                <a16:creationId xmlns:a16="http://schemas.microsoft.com/office/drawing/2014/main" id="{66DB8FB7-3335-23FE-07AC-97AB11699D38}"/>
              </a:ext>
            </a:extLst>
          </p:cNvPr>
          <p:cNvSpPr/>
          <p:nvPr/>
        </p:nvSpPr>
        <p:spPr>
          <a:xfrm>
            <a:off x="2370616" y="1455663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59E0B"/>
                </a:solidFill>
              </a:rPr>
              <a:t>−0.05</a:t>
            </a:r>
            <a:endParaRPr lang="en-US" sz="2000" dirty="0"/>
          </a:p>
        </p:txBody>
      </p:sp>
      <p:sp>
        <p:nvSpPr>
          <p:cNvPr id="38" name="Text 21">
            <a:extLst>
              <a:ext uri="{FF2B5EF4-FFF2-40B4-BE49-F238E27FC236}">
                <a16:creationId xmlns:a16="http://schemas.microsoft.com/office/drawing/2014/main" id="{82509C4C-9FE4-4562-69C3-74E22A9D7E33}"/>
              </a:ext>
            </a:extLst>
          </p:cNvPr>
          <p:cNvSpPr/>
          <p:nvPr/>
        </p:nvSpPr>
        <p:spPr>
          <a:xfrm>
            <a:off x="3879376" y="1217919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Win Rate</a:t>
            </a:r>
            <a:endParaRPr lang="en-US" sz="900" dirty="0"/>
          </a:p>
        </p:txBody>
      </p:sp>
      <p:sp>
        <p:nvSpPr>
          <p:cNvPr id="39" name="Text 22">
            <a:extLst>
              <a:ext uri="{FF2B5EF4-FFF2-40B4-BE49-F238E27FC236}">
                <a16:creationId xmlns:a16="http://schemas.microsoft.com/office/drawing/2014/main" id="{9BE99065-2368-5E97-42F0-56E1D671659F}"/>
              </a:ext>
            </a:extLst>
          </p:cNvPr>
          <p:cNvSpPr/>
          <p:nvPr/>
        </p:nvSpPr>
        <p:spPr>
          <a:xfrm>
            <a:off x="3879376" y="1455663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59E0B"/>
                </a:solidFill>
              </a:rPr>
              <a:t>43%</a:t>
            </a:r>
            <a:endParaRPr lang="en-US" sz="2000" dirty="0"/>
          </a:p>
        </p:txBody>
      </p:sp>
      <p:sp>
        <p:nvSpPr>
          <p:cNvPr id="40" name="Shape 23">
            <a:extLst>
              <a:ext uri="{FF2B5EF4-FFF2-40B4-BE49-F238E27FC236}">
                <a16:creationId xmlns:a16="http://schemas.microsoft.com/office/drawing/2014/main" id="{F3F246FF-C8A1-6F5F-5C16-BD0845AADEED}"/>
              </a:ext>
            </a:extLst>
          </p:cNvPr>
          <p:cNvSpPr/>
          <p:nvPr/>
        </p:nvSpPr>
        <p:spPr>
          <a:xfrm>
            <a:off x="5113816" y="1519671"/>
            <a:ext cx="3337560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1" name="Text 25">
            <a:extLst>
              <a:ext uri="{FF2B5EF4-FFF2-40B4-BE49-F238E27FC236}">
                <a16:creationId xmlns:a16="http://schemas.microsoft.com/office/drawing/2014/main" id="{258860B4-F848-0F9C-EFFF-E57F131AE232}"/>
              </a:ext>
            </a:extLst>
          </p:cNvPr>
          <p:cNvSpPr/>
          <p:nvPr/>
        </p:nvSpPr>
        <p:spPr>
          <a:xfrm>
            <a:off x="5113816" y="1793991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Standardstrategie, nah an Basic Strategy</a:t>
            </a:r>
            <a:endParaRPr lang="en-US" sz="900" dirty="0"/>
          </a:p>
        </p:txBody>
      </p:sp>
      <p:sp>
        <p:nvSpPr>
          <p:cNvPr id="45" name="Shape 24">
            <a:extLst>
              <a:ext uri="{FF2B5EF4-FFF2-40B4-BE49-F238E27FC236}">
                <a16:creationId xmlns:a16="http://schemas.microsoft.com/office/drawing/2014/main" id="{96D9E805-73F5-EF01-C138-522683A5EEDC}"/>
              </a:ext>
            </a:extLst>
          </p:cNvPr>
          <p:cNvSpPr/>
          <p:nvPr/>
        </p:nvSpPr>
        <p:spPr>
          <a:xfrm>
            <a:off x="5113816" y="1522846"/>
            <a:ext cx="1521460" cy="20116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pic>
        <p:nvPicPr>
          <p:cNvPr id="54" name="Grafik 53">
            <a:extLst>
              <a:ext uri="{FF2B5EF4-FFF2-40B4-BE49-F238E27FC236}">
                <a16:creationId xmlns:a16="http://schemas.microsoft.com/office/drawing/2014/main" id="{D9ABDA75-412A-DBE2-6E0F-3346A4AB7F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5848" y="2518445"/>
            <a:ext cx="2916655" cy="2187182"/>
          </a:xfrm>
          <a:prstGeom prst="rect">
            <a:avLst/>
          </a:prstGeom>
        </p:spPr>
      </p:pic>
      <p:pic>
        <p:nvPicPr>
          <p:cNvPr id="56" name="Grafik 55">
            <a:extLst>
              <a:ext uri="{FF2B5EF4-FFF2-40B4-BE49-F238E27FC236}">
                <a16:creationId xmlns:a16="http://schemas.microsoft.com/office/drawing/2014/main" id="{FB2606A7-E2C8-B41A-2416-EF736038AA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3510" y="2459208"/>
            <a:ext cx="3074642" cy="2305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689641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E1E732-9D57-968C-85F8-7065BE48C2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D4F937E-C83B-05E0-0AA5-DFACCE0E7FC3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B8259F5C-BD3E-1382-D29A-2E0DBF187A62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ABA2CF2C-2A66-C23B-CAC7-5FFF93E101B2}"/>
              </a:ext>
            </a:extLst>
          </p:cNvPr>
          <p:cNvSpPr/>
          <p:nvPr/>
        </p:nvSpPr>
        <p:spPr>
          <a:xfrm>
            <a:off x="457200" y="5486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14B8A6"/>
                </a:solidFill>
              </a:rPr>
              <a:t>FEATURE VALIDATION</a:t>
            </a:r>
            <a:endParaRPr lang="en-US" sz="9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15C7E1A9-6996-1160-A092-93F6CDB7918E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True-Count-Bucket Analysis</a:t>
            </a:r>
            <a:endParaRPr lang="en-US" sz="2600" dirty="0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05FCD7C5-700E-6787-A2A6-22E94BCE4F06}"/>
              </a:ext>
            </a:extLst>
          </p:cNvPr>
          <p:cNvSpPr/>
          <p:nvPr/>
        </p:nvSpPr>
        <p:spPr>
          <a:xfrm>
            <a:off x="365760" y="5394960"/>
            <a:ext cx="8412480" cy="1078992"/>
          </a:xfrm>
          <a:prstGeom prst="roundRect">
            <a:avLst>
              <a:gd name="adj" fmla="val 10169"/>
            </a:avLst>
          </a:prstGeom>
          <a:solidFill>
            <a:srgbClr val="F1F5F9"/>
          </a:solidFill>
          <a:ln w="12700">
            <a:solidFill>
              <a:srgbClr val="F59E0B">
                <a:alpha val="5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7FE1E87C-E78B-47C1-8AF8-682F335F44BA}"/>
              </a:ext>
            </a:extLst>
          </p:cNvPr>
          <p:cNvSpPr/>
          <p:nvPr/>
        </p:nvSpPr>
        <p:spPr>
          <a:xfrm>
            <a:off x="502920" y="5522976"/>
            <a:ext cx="1737360" cy="329184"/>
          </a:xfrm>
          <a:prstGeom prst="roundRect">
            <a:avLst>
              <a:gd name="adj" fmla="val 22222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75D53C2B-AAC0-3239-2A3D-5159D0753B67}"/>
              </a:ext>
            </a:extLst>
          </p:cNvPr>
          <p:cNvSpPr/>
          <p:nvPr/>
        </p:nvSpPr>
        <p:spPr>
          <a:xfrm>
            <a:off x="502920" y="5522976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TC neutral</a:t>
            </a:r>
            <a:endParaRPr lang="en-US" sz="1100" dirty="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9B1AADD4-5846-2B94-31AF-50E6A2F9F8F9}"/>
              </a:ext>
            </a:extLst>
          </p:cNvPr>
          <p:cNvSpPr/>
          <p:nvPr/>
        </p:nvSpPr>
        <p:spPr>
          <a:xfrm>
            <a:off x="502920" y="5907024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</a:rPr>
              <a:t>Ausgeglichen</a:t>
            </a:r>
            <a:endParaRPr lang="en-US" sz="900" dirty="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F2245C32-03CB-5145-FFB0-B610DDB9952C}"/>
              </a:ext>
            </a:extLst>
          </p:cNvPr>
          <p:cNvSpPr/>
          <p:nvPr/>
        </p:nvSpPr>
        <p:spPr>
          <a:xfrm>
            <a:off x="2377440" y="550468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Avg Reward</a:t>
            </a:r>
            <a:endParaRPr lang="en-US" sz="900" dirty="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B5FA5694-30CF-CDA3-C2AF-12354A6176D1}"/>
              </a:ext>
            </a:extLst>
          </p:cNvPr>
          <p:cNvSpPr/>
          <p:nvPr/>
        </p:nvSpPr>
        <p:spPr>
          <a:xfrm>
            <a:off x="2377440" y="5742432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59E0B"/>
                </a:solidFill>
              </a:rPr>
              <a:t>−0.05</a:t>
            </a:r>
            <a:endParaRPr lang="en-US" sz="2000" dirty="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D7BAD17F-576A-A7A8-774D-B97DEAA9EAE5}"/>
              </a:ext>
            </a:extLst>
          </p:cNvPr>
          <p:cNvSpPr/>
          <p:nvPr/>
        </p:nvSpPr>
        <p:spPr>
          <a:xfrm>
            <a:off x="3886200" y="5504688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Win Rate</a:t>
            </a:r>
            <a:endParaRPr lang="en-US" sz="900" dirty="0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02565788-FB87-73FB-0E3B-77CDA5B0E51D}"/>
              </a:ext>
            </a:extLst>
          </p:cNvPr>
          <p:cNvSpPr/>
          <p:nvPr/>
        </p:nvSpPr>
        <p:spPr>
          <a:xfrm>
            <a:off x="3886200" y="574243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59E0B"/>
                </a:solidFill>
              </a:rPr>
              <a:t>43%</a:t>
            </a:r>
            <a:endParaRPr lang="en-US" sz="2000" dirty="0"/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4E1BC233-BA3C-16C1-4CCF-A74A37A77C26}"/>
              </a:ext>
            </a:extLst>
          </p:cNvPr>
          <p:cNvSpPr/>
          <p:nvPr/>
        </p:nvSpPr>
        <p:spPr>
          <a:xfrm>
            <a:off x="5120640" y="5806440"/>
            <a:ext cx="3337560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4CC3146A-7715-DD64-0E4B-829EC0559518}"/>
              </a:ext>
            </a:extLst>
          </p:cNvPr>
          <p:cNvSpPr/>
          <p:nvPr/>
        </p:nvSpPr>
        <p:spPr>
          <a:xfrm>
            <a:off x="5120640" y="6080760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Standardstrategie, nah an Basic Strategy</a:t>
            </a:r>
            <a:endParaRPr lang="en-US" sz="900" dirty="0"/>
          </a:p>
        </p:txBody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92A69B6C-D333-7E8D-6729-A997AF01FC64}"/>
              </a:ext>
            </a:extLst>
          </p:cNvPr>
          <p:cNvSpPr/>
          <p:nvPr/>
        </p:nvSpPr>
        <p:spPr>
          <a:xfrm>
            <a:off x="365760" y="6675120"/>
            <a:ext cx="8412480" cy="1078992"/>
          </a:xfrm>
          <a:prstGeom prst="roundRect">
            <a:avLst>
              <a:gd name="adj" fmla="val 10169"/>
            </a:avLst>
          </a:prstGeom>
          <a:solidFill>
            <a:srgbClr val="F1F5F9"/>
          </a:solidFill>
          <a:ln w="12700">
            <a:solidFill>
              <a:srgbClr val="10B981">
                <a:alpha val="5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 dirty="0"/>
          </a:p>
        </p:txBody>
      </p:sp>
      <p:sp>
        <p:nvSpPr>
          <p:cNvPr id="29" name="Shape 27">
            <a:extLst>
              <a:ext uri="{FF2B5EF4-FFF2-40B4-BE49-F238E27FC236}">
                <a16:creationId xmlns:a16="http://schemas.microsoft.com/office/drawing/2014/main" id="{03329587-2F88-2D14-6C36-CB29AFFE9EBB}"/>
              </a:ext>
            </a:extLst>
          </p:cNvPr>
          <p:cNvSpPr/>
          <p:nvPr/>
        </p:nvSpPr>
        <p:spPr>
          <a:xfrm>
            <a:off x="502920" y="6803136"/>
            <a:ext cx="1737360" cy="329184"/>
          </a:xfrm>
          <a:prstGeom prst="roundRect">
            <a:avLst>
              <a:gd name="adj" fmla="val 22222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de-DE">
              <a:solidFill>
                <a:srgbClr val="10B981"/>
              </a:solidFill>
            </a:endParaRPr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3E27C455-86F8-BB15-F890-B197BDC0420D}"/>
              </a:ext>
            </a:extLst>
          </p:cNvPr>
          <p:cNvSpPr/>
          <p:nvPr/>
        </p:nvSpPr>
        <p:spPr>
          <a:xfrm>
            <a:off x="502920" y="6803136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TC ≥ +1</a:t>
            </a:r>
            <a:endParaRPr lang="en-US" sz="1100" dirty="0"/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409FC230-75F3-6504-6E2E-9317A4A2D484}"/>
              </a:ext>
            </a:extLst>
          </p:cNvPr>
          <p:cNvSpPr/>
          <p:nvPr/>
        </p:nvSpPr>
        <p:spPr>
          <a:xfrm>
            <a:off x="2377440" y="678484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Avg Reward</a:t>
            </a:r>
            <a:endParaRPr lang="en-US" sz="900" dirty="0"/>
          </a:p>
        </p:txBody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9B7F8222-2200-9635-7B55-5DA388E533AA}"/>
              </a:ext>
            </a:extLst>
          </p:cNvPr>
          <p:cNvSpPr/>
          <p:nvPr/>
        </p:nvSpPr>
        <p:spPr>
          <a:xfrm>
            <a:off x="3886200" y="6784848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Win Rate</a:t>
            </a:r>
            <a:endParaRPr lang="en-US" sz="900" dirty="0"/>
          </a:p>
        </p:txBody>
      </p:sp>
      <p:sp>
        <p:nvSpPr>
          <p:cNvPr id="42" name="Text 22">
            <a:extLst>
              <a:ext uri="{FF2B5EF4-FFF2-40B4-BE49-F238E27FC236}">
                <a16:creationId xmlns:a16="http://schemas.microsoft.com/office/drawing/2014/main" id="{D7D19830-6B4B-D2A1-415A-0B0DE43A4E3B}"/>
              </a:ext>
            </a:extLst>
          </p:cNvPr>
          <p:cNvSpPr/>
          <p:nvPr/>
        </p:nvSpPr>
        <p:spPr>
          <a:xfrm>
            <a:off x="3886200" y="7013448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0B981"/>
                </a:solidFill>
              </a:rPr>
              <a:t>46%</a:t>
            </a:r>
            <a:endParaRPr lang="en-US" sz="2000" dirty="0">
              <a:solidFill>
                <a:srgbClr val="10B981"/>
              </a:solidFill>
            </a:endParaRPr>
          </a:p>
        </p:txBody>
      </p:sp>
      <p:sp>
        <p:nvSpPr>
          <p:cNvPr id="43" name="Text 20">
            <a:extLst>
              <a:ext uri="{FF2B5EF4-FFF2-40B4-BE49-F238E27FC236}">
                <a16:creationId xmlns:a16="http://schemas.microsoft.com/office/drawing/2014/main" id="{20955125-B849-460F-6572-A5FE1B01C4E1}"/>
              </a:ext>
            </a:extLst>
          </p:cNvPr>
          <p:cNvSpPr/>
          <p:nvPr/>
        </p:nvSpPr>
        <p:spPr>
          <a:xfrm>
            <a:off x="2377440" y="7003161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0B981"/>
                </a:solidFill>
              </a:rPr>
              <a:t>−0.02</a:t>
            </a:r>
            <a:endParaRPr lang="en-US" sz="2000" dirty="0">
              <a:solidFill>
                <a:srgbClr val="10B981"/>
              </a:solidFill>
            </a:endParaRPr>
          </a:p>
        </p:txBody>
      </p:sp>
      <p:sp>
        <p:nvSpPr>
          <p:cNvPr id="44" name="Shape 23">
            <a:extLst>
              <a:ext uri="{FF2B5EF4-FFF2-40B4-BE49-F238E27FC236}">
                <a16:creationId xmlns:a16="http://schemas.microsoft.com/office/drawing/2014/main" id="{3673FF2D-C57A-F2BC-67AA-C931B5349E4B}"/>
              </a:ext>
            </a:extLst>
          </p:cNvPr>
          <p:cNvSpPr/>
          <p:nvPr/>
        </p:nvSpPr>
        <p:spPr>
          <a:xfrm>
            <a:off x="5120640" y="7001256"/>
            <a:ext cx="3337560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6" name="Text 25">
            <a:extLst>
              <a:ext uri="{FF2B5EF4-FFF2-40B4-BE49-F238E27FC236}">
                <a16:creationId xmlns:a16="http://schemas.microsoft.com/office/drawing/2014/main" id="{A983CBEC-D986-44CE-19E3-28BAD7F94D1E}"/>
              </a:ext>
            </a:extLst>
          </p:cNvPr>
          <p:cNvSpPr/>
          <p:nvPr/>
        </p:nvSpPr>
        <p:spPr>
          <a:xfrm>
            <a:off x="5120640" y="7338060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Aggressive </a:t>
            </a:r>
            <a:r>
              <a:rPr lang="en-US" sz="900" dirty="0" err="1">
                <a:solidFill>
                  <a:srgbClr val="64748B"/>
                </a:solidFill>
              </a:rPr>
              <a:t>Strategie</a:t>
            </a:r>
            <a:r>
              <a:rPr lang="en-US" sz="900" dirty="0">
                <a:solidFill>
                  <a:srgbClr val="64748B"/>
                </a:solidFill>
              </a:rPr>
              <a:t>, </a:t>
            </a:r>
            <a:r>
              <a:rPr lang="en-US" sz="900" dirty="0" err="1">
                <a:solidFill>
                  <a:srgbClr val="64748B"/>
                </a:solidFill>
              </a:rPr>
              <a:t>Optimale</a:t>
            </a:r>
            <a:r>
              <a:rPr lang="en-US" sz="900" dirty="0">
                <a:solidFill>
                  <a:srgbClr val="64748B"/>
                </a:solidFill>
              </a:rPr>
              <a:t> </a:t>
            </a:r>
            <a:r>
              <a:rPr lang="en-US" sz="900" dirty="0" err="1">
                <a:solidFill>
                  <a:srgbClr val="64748B"/>
                </a:solidFill>
              </a:rPr>
              <a:t>Blackjackentscheidungen</a:t>
            </a:r>
            <a:endParaRPr lang="en-US" sz="900" dirty="0"/>
          </a:p>
        </p:txBody>
      </p:sp>
      <p:sp>
        <p:nvSpPr>
          <p:cNvPr id="47" name="Text 18">
            <a:extLst>
              <a:ext uri="{FF2B5EF4-FFF2-40B4-BE49-F238E27FC236}">
                <a16:creationId xmlns:a16="http://schemas.microsoft.com/office/drawing/2014/main" id="{99ED1E9B-7652-65A9-422D-A60101A05650}"/>
              </a:ext>
            </a:extLst>
          </p:cNvPr>
          <p:cNvSpPr/>
          <p:nvPr/>
        </p:nvSpPr>
        <p:spPr>
          <a:xfrm>
            <a:off x="502920" y="7222236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</a:rPr>
              <a:t>Spieler-</a:t>
            </a:r>
            <a:r>
              <a:rPr lang="en-US" sz="900" dirty="0" err="1">
                <a:solidFill>
                  <a:srgbClr val="64748B"/>
                </a:solidFill>
              </a:rPr>
              <a:t>Vorteil</a:t>
            </a:r>
            <a:endParaRPr lang="en-US" sz="900" dirty="0"/>
          </a:p>
        </p:txBody>
      </p:sp>
      <p:sp>
        <p:nvSpPr>
          <p:cNvPr id="49" name="Shape 24">
            <a:extLst>
              <a:ext uri="{FF2B5EF4-FFF2-40B4-BE49-F238E27FC236}">
                <a16:creationId xmlns:a16="http://schemas.microsoft.com/office/drawing/2014/main" id="{1692A131-5F21-00F7-3137-11CC8620D8C2}"/>
              </a:ext>
            </a:extLst>
          </p:cNvPr>
          <p:cNvSpPr/>
          <p:nvPr/>
        </p:nvSpPr>
        <p:spPr>
          <a:xfrm>
            <a:off x="5120640" y="5809615"/>
            <a:ext cx="1521460" cy="20116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0" name="Shape 24">
            <a:extLst>
              <a:ext uri="{FF2B5EF4-FFF2-40B4-BE49-F238E27FC236}">
                <a16:creationId xmlns:a16="http://schemas.microsoft.com/office/drawing/2014/main" id="{958749B5-6F1F-5C04-F1B5-CBE2B717D83F}"/>
              </a:ext>
            </a:extLst>
          </p:cNvPr>
          <p:cNvSpPr/>
          <p:nvPr/>
        </p:nvSpPr>
        <p:spPr>
          <a:xfrm>
            <a:off x="5120640" y="7002462"/>
            <a:ext cx="1737360" cy="19996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6" name="Shape 26">
            <a:extLst>
              <a:ext uri="{FF2B5EF4-FFF2-40B4-BE49-F238E27FC236}">
                <a16:creationId xmlns:a16="http://schemas.microsoft.com/office/drawing/2014/main" id="{6E22AAC7-082F-BC58-C195-682180CF4C23}"/>
              </a:ext>
            </a:extLst>
          </p:cNvPr>
          <p:cNvSpPr/>
          <p:nvPr/>
        </p:nvSpPr>
        <p:spPr>
          <a:xfrm>
            <a:off x="358936" y="1119110"/>
            <a:ext cx="8412480" cy="1078992"/>
          </a:xfrm>
          <a:prstGeom prst="roundRect">
            <a:avLst>
              <a:gd name="adj" fmla="val 10169"/>
            </a:avLst>
          </a:prstGeom>
          <a:solidFill>
            <a:srgbClr val="F1F5F9"/>
          </a:solidFill>
          <a:ln w="12700">
            <a:solidFill>
              <a:srgbClr val="10B981">
                <a:alpha val="5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 dirty="0"/>
          </a:p>
        </p:txBody>
      </p:sp>
      <p:sp>
        <p:nvSpPr>
          <p:cNvPr id="7" name="Shape 27">
            <a:extLst>
              <a:ext uri="{FF2B5EF4-FFF2-40B4-BE49-F238E27FC236}">
                <a16:creationId xmlns:a16="http://schemas.microsoft.com/office/drawing/2014/main" id="{613EE559-DE7B-4563-AC40-44B0F34C771E}"/>
              </a:ext>
            </a:extLst>
          </p:cNvPr>
          <p:cNvSpPr/>
          <p:nvPr/>
        </p:nvSpPr>
        <p:spPr>
          <a:xfrm>
            <a:off x="496096" y="1247126"/>
            <a:ext cx="1737360" cy="329184"/>
          </a:xfrm>
          <a:prstGeom prst="roundRect">
            <a:avLst>
              <a:gd name="adj" fmla="val 22222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de-DE">
              <a:solidFill>
                <a:srgbClr val="10B981"/>
              </a:solidFill>
            </a:endParaRPr>
          </a:p>
        </p:txBody>
      </p:sp>
      <p:sp>
        <p:nvSpPr>
          <p:cNvPr id="8" name="Text 28">
            <a:extLst>
              <a:ext uri="{FF2B5EF4-FFF2-40B4-BE49-F238E27FC236}">
                <a16:creationId xmlns:a16="http://schemas.microsoft.com/office/drawing/2014/main" id="{CA3B2AEB-B2CD-E2F1-427E-F6FAA9626675}"/>
              </a:ext>
            </a:extLst>
          </p:cNvPr>
          <p:cNvSpPr/>
          <p:nvPr/>
        </p:nvSpPr>
        <p:spPr>
          <a:xfrm>
            <a:off x="496096" y="1247126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TC ≥ +1</a:t>
            </a:r>
            <a:endParaRPr lang="en-US" sz="1100" dirty="0"/>
          </a:p>
        </p:txBody>
      </p:sp>
      <p:sp>
        <p:nvSpPr>
          <p:cNvPr id="9" name="Text 30">
            <a:extLst>
              <a:ext uri="{FF2B5EF4-FFF2-40B4-BE49-F238E27FC236}">
                <a16:creationId xmlns:a16="http://schemas.microsoft.com/office/drawing/2014/main" id="{97E4CC9D-41CD-557C-C999-C708E3CC8F37}"/>
              </a:ext>
            </a:extLst>
          </p:cNvPr>
          <p:cNvSpPr/>
          <p:nvPr/>
        </p:nvSpPr>
        <p:spPr>
          <a:xfrm>
            <a:off x="2370616" y="122883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Avg Reward</a:t>
            </a:r>
            <a:endParaRPr lang="en-US" sz="900" dirty="0"/>
          </a:p>
        </p:txBody>
      </p:sp>
      <p:sp>
        <p:nvSpPr>
          <p:cNvPr id="10" name="Text 32">
            <a:extLst>
              <a:ext uri="{FF2B5EF4-FFF2-40B4-BE49-F238E27FC236}">
                <a16:creationId xmlns:a16="http://schemas.microsoft.com/office/drawing/2014/main" id="{9006ED8E-B062-CAA2-9FEB-206976E1EA7F}"/>
              </a:ext>
            </a:extLst>
          </p:cNvPr>
          <p:cNvSpPr/>
          <p:nvPr/>
        </p:nvSpPr>
        <p:spPr>
          <a:xfrm>
            <a:off x="3879376" y="1228838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Win Rate</a:t>
            </a:r>
            <a:endParaRPr lang="en-US" sz="900" dirty="0"/>
          </a:p>
        </p:txBody>
      </p:sp>
      <p:sp>
        <p:nvSpPr>
          <p:cNvPr id="11" name="Text 22">
            <a:extLst>
              <a:ext uri="{FF2B5EF4-FFF2-40B4-BE49-F238E27FC236}">
                <a16:creationId xmlns:a16="http://schemas.microsoft.com/office/drawing/2014/main" id="{E96EC797-7789-CEB7-92AD-489A41D96F18}"/>
              </a:ext>
            </a:extLst>
          </p:cNvPr>
          <p:cNvSpPr/>
          <p:nvPr/>
        </p:nvSpPr>
        <p:spPr>
          <a:xfrm>
            <a:off x="3879376" y="1457438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0B981"/>
                </a:solidFill>
              </a:rPr>
              <a:t>46%</a:t>
            </a:r>
            <a:endParaRPr lang="en-US" sz="2000" dirty="0">
              <a:solidFill>
                <a:srgbClr val="10B981"/>
              </a:solidFill>
            </a:endParaRPr>
          </a:p>
        </p:txBody>
      </p:sp>
      <p:sp>
        <p:nvSpPr>
          <p:cNvPr id="12" name="Text 20">
            <a:extLst>
              <a:ext uri="{FF2B5EF4-FFF2-40B4-BE49-F238E27FC236}">
                <a16:creationId xmlns:a16="http://schemas.microsoft.com/office/drawing/2014/main" id="{3B78D9E4-407E-F781-DC40-53490652E37E}"/>
              </a:ext>
            </a:extLst>
          </p:cNvPr>
          <p:cNvSpPr/>
          <p:nvPr/>
        </p:nvSpPr>
        <p:spPr>
          <a:xfrm>
            <a:off x="2370616" y="1447151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0B981"/>
                </a:solidFill>
              </a:rPr>
              <a:t>−0.02</a:t>
            </a:r>
            <a:endParaRPr lang="en-US" sz="2000" dirty="0">
              <a:solidFill>
                <a:srgbClr val="10B981"/>
              </a:solidFill>
            </a:endParaRPr>
          </a:p>
        </p:txBody>
      </p:sp>
      <p:sp>
        <p:nvSpPr>
          <p:cNvPr id="13" name="Shape 23">
            <a:extLst>
              <a:ext uri="{FF2B5EF4-FFF2-40B4-BE49-F238E27FC236}">
                <a16:creationId xmlns:a16="http://schemas.microsoft.com/office/drawing/2014/main" id="{BE0490B7-535C-4DC3-AB35-9ACDEF3C9217}"/>
              </a:ext>
            </a:extLst>
          </p:cNvPr>
          <p:cNvSpPr/>
          <p:nvPr/>
        </p:nvSpPr>
        <p:spPr>
          <a:xfrm>
            <a:off x="5113816" y="1527134"/>
            <a:ext cx="3337560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4" name="Text 25">
            <a:extLst>
              <a:ext uri="{FF2B5EF4-FFF2-40B4-BE49-F238E27FC236}">
                <a16:creationId xmlns:a16="http://schemas.microsoft.com/office/drawing/2014/main" id="{EDFED06F-86D2-8F53-F54D-FACC718F7F70}"/>
              </a:ext>
            </a:extLst>
          </p:cNvPr>
          <p:cNvSpPr/>
          <p:nvPr/>
        </p:nvSpPr>
        <p:spPr>
          <a:xfrm>
            <a:off x="5113816" y="1782050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Aggressive </a:t>
            </a:r>
            <a:r>
              <a:rPr lang="en-US" sz="900" dirty="0" err="1">
                <a:solidFill>
                  <a:srgbClr val="64748B"/>
                </a:solidFill>
              </a:rPr>
              <a:t>Strategie</a:t>
            </a:r>
            <a:r>
              <a:rPr lang="en-US" sz="900" dirty="0">
                <a:solidFill>
                  <a:srgbClr val="64748B"/>
                </a:solidFill>
              </a:rPr>
              <a:t>, </a:t>
            </a:r>
            <a:r>
              <a:rPr lang="en-US" sz="900" dirty="0" err="1">
                <a:solidFill>
                  <a:srgbClr val="64748B"/>
                </a:solidFill>
              </a:rPr>
              <a:t>Optimale</a:t>
            </a:r>
            <a:r>
              <a:rPr lang="en-US" sz="900" dirty="0">
                <a:solidFill>
                  <a:srgbClr val="64748B"/>
                </a:solidFill>
              </a:rPr>
              <a:t> </a:t>
            </a:r>
            <a:r>
              <a:rPr lang="en-US" sz="900" dirty="0" err="1">
                <a:solidFill>
                  <a:srgbClr val="64748B"/>
                </a:solidFill>
              </a:rPr>
              <a:t>Blackjackentscheidungen</a:t>
            </a:r>
            <a:endParaRPr lang="en-US" sz="900" dirty="0"/>
          </a:p>
        </p:txBody>
      </p:sp>
      <p:sp>
        <p:nvSpPr>
          <p:cNvPr id="16" name="Text 18">
            <a:extLst>
              <a:ext uri="{FF2B5EF4-FFF2-40B4-BE49-F238E27FC236}">
                <a16:creationId xmlns:a16="http://schemas.microsoft.com/office/drawing/2014/main" id="{DA13E672-0DC9-4374-DA82-4B37DEAA0B3C}"/>
              </a:ext>
            </a:extLst>
          </p:cNvPr>
          <p:cNvSpPr/>
          <p:nvPr/>
        </p:nvSpPr>
        <p:spPr>
          <a:xfrm>
            <a:off x="496096" y="1666226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</a:rPr>
              <a:t>Spieler-</a:t>
            </a:r>
            <a:r>
              <a:rPr lang="en-US" sz="900" dirty="0" err="1">
                <a:solidFill>
                  <a:srgbClr val="64748B"/>
                </a:solidFill>
              </a:rPr>
              <a:t>Vorteil</a:t>
            </a:r>
            <a:endParaRPr lang="en-US" sz="900" dirty="0"/>
          </a:p>
        </p:txBody>
      </p:sp>
      <p:sp>
        <p:nvSpPr>
          <p:cNvPr id="26" name="Shape 24">
            <a:extLst>
              <a:ext uri="{FF2B5EF4-FFF2-40B4-BE49-F238E27FC236}">
                <a16:creationId xmlns:a16="http://schemas.microsoft.com/office/drawing/2014/main" id="{87326C11-716C-9B55-21D3-E6E7FF04D23A}"/>
              </a:ext>
            </a:extLst>
          </p:cNvPr>
          <p:cNvSpPr/>
          <p:nvPr/>
        </p:nvSpPr>
        <p:spPr>
          <a:xfrm>
            <a:off x="5113816" y="1528340"/>
            <a:ext cx="1737360" cy="19996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pic>
        <p:nvPicPr>
          <p:cNvPr id="51" name="Grafik 50">
            <a:extLst>
              <a:ext uri="{FF2B5EF4-FFF2-40B4-BE49-F238E27FC236}">
                <a16:creationId xmlns:a16="http://schemas.microsoft.com/office/drawing/2014/main" id="{F49B67D1-B06B-3F5C-CEBB-47255403AD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9569" y="2342877"/>
            <a:ext cx="3467775" cy="2600464"/>
          </a:xfrm>
          <a:prstGeom prst="rect">
            <a:avLst/>
          </a:prstGeom>
        </p:spPr>
      </p:pic>
      <p:pic>
        <p:nvPicPr>
          <p:cNvPr id="53" name="Grafik 52">
            <a:extLst>
              <a:ext uri="{FF2B5EF4-FFF2-40B4-BE49-F238E27FC236}">
                <a16:creationId xmlns:a16="http://schemas.microsoft.com/office/drawing/2014/main" id="{5EB37E48-139F-319D-5F9D-A18F79493B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8744" y="2342877"/>
            <a:ext cx="3545688" cy="26588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95031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DDE4EE-12AF-3020-AC3E-DC6A15D49E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CF16FE0-60C2-9007-2EFF-BA9AE2C00BC9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196EFBE7-2EC1-3BC4-B742-D3553CF297DD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D815F543-1F0D-6BBD-29F9-A4D6A2043250}"/>
              </a:ext>
            </a:extLst>
          </p:cNvPr>
          <p:cNvSpPr/>
          <p:nvPr/>
        </p:nvSpPr>
        <p:spPr>
          <a:xfrm>
            <a:off x="457200" y="5486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14B8A6"/>
                </a:solidFill>
              </a:rPr>
              <a:t>FEATURE VALIDATION</a:t>
            </a:r>
            <a:endParaRPr lang="en-US" sz="9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A64A2860-B1F8-282B-6F07-6F3B1078F784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True-Count-Bucket Analysis</a:t>
            </a:r>
            <a:endParaRPr lang="en-US" sz="2600" dirty="0"/>
          </a:p>
        </p:txBody>
      </p:sp>
      <p:sp>
        <p:nvSpPr>
          <p:cNvPr id="37" name="Text 29">
            <a:extLst>
              <a:ext uri="{FF2B5EF4-FFF2-40B4-BE49-F238E27FC236}">
                <a16:creationId xmlns:a16="http://schemas.microsoft.com/office/drawing/2014/main" id="{52D5ED65-68A8-687E-2127-0AEC2AAAB723}"/>
              </a:ext>
            </a:extLst>
          </p:cNvPr>
          <p:cNvSpPr/>
          <p:nvPr/>
        </p:nvSpPr>
        <p:spPr>
          <a:xfrm>
            <a:off x="502920" y="533200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</a:rPr>
              <a:t>Spieler-Vorteil</a:t>
            </a:r>
            <a:endParaRPr lang="en-US" sz="900" dirty="0"/>
          </a:p>
        </p:txBody>
      </p:sp>
      <p:sp>
        <p:nvSpPr>
          <p:cNvPr id="38" name="Shape 34">
            <a:extLst>
              <a:ext uri="{FF2B5EF4-FFF2-40B4-BE49-F238E27FC236}">
                <a16:creationId xmlns:a16="http://schemas.microsoft.com/office/drawing/2014/main" id="{53359C2A-37A6-0A63-6395-2CD246B99FE0}"/>
              </a:ext>
            </a:extLst>
          </p:cNvPr>
          <p:cNvSpPr/>
          <p:nvPr/>
        </p:nvSpPr>
        <p:spPr>
          <a:xfrm>
            <a:off x="5120640" y="5231416"/>
            <a:ext cx="3337560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9" name="Shape 35">
            <a:extLst>
              <a:ext uri="{FF2B5EF4-FFF2-40B4-BE49-F238E27FC236}">
                <a16:creationId xmlns:a16="http://schemas.microsoft.com/office/drawing/2014/main" id="{14A5B82E-6F93-E822-BF73-22B2A91EF201}"/>
              </a:ext>
            </a:extLst>
          </p:cNvPr>
          <p:cNvSpPr/>
          <p:nvPr/>
        </p:nvSpPr>
        <p:spPr>
          <a:xfrm>
            <a:off x="5120640" y="5231416"/>
            <a:ext cx="3003804" cy="20116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0" name="Text 36">
            <a:extLst>
              <a:ext uri="{FF2B5EF4-FFF2-40B4-BE49-F238E27FC236}">
                <a16:creationId xmlns:a16="http://schemas.microsoft.com/office/drawing/2014/main" id="{F61E1EB4-A68F-4059-53FD-93B33684E30C}"/>
              </a:ext>
            </a:extLst>
          </p:cNvPr>
          <p:cNvSpPr/>
          <p:nvPr/>
        </p:nvSpPr>
        <p:spPr>
          <a:xfrm>
            <a:off x="5120640" y="5505736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Aggressive Hits · Mathematisch korrekt</a:t>
            </a:r>
            <a:endParaRPr lang="en-US" sz="900" dirty="0"/>
          </a:p>
        </p:txBody>
      </p:sp>
      <p:sp>
        <p:nvSpPr>
          <p:cNvPr id="41" name="Shape 37">
            <a:extLst>
              <a:ext uri="{FF2B5EF4-FFF2-40B4-BE49-F238E27FC236}">
                <a16:creationId xmlns:a16="http://schemas.microsoft.com/office/drawing/2014/main" id="{24CA64E3-5D8E-7951-C25C-F8A16D228BB8}"/>
              </a:ext>
            </a:extLst>
          </p:cNvPr>
          <p:cNvSpPr/>
          <p:nvPr/>
        </p:nvSpPr>
        <p:spPr>
          <a:xfrm>
            <a:off x="365760" y="5231416"/>
            <a:ext cx="8412480" cy="777240"/>
          </a:xfrm>
          <a:prstGeom prst="roundRect">
            <a:avLst>
              <a:gd name="adj" fmla="val 14118"/>
            </a:avLst>
          </a:prstGeom>
          <a:solidFill>
            <a:srgbClr val="1E293B"/>
          </a:solidFill>
          <a:ln w="12700">
            <a:solidFill>
              <a:srgbClr val="0D9488"/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45" name="Text 38">
            <a:extLst>
              <a:ext uri="{FF2B5EF4-FFF2-40B4-BE49-F238E27FC236}">
                <a16:creationId xmlns:a16="http://schemas.microsoft.com/office/drawing/2014/main" id="{80E41D01-AFBA-AE09-6F38-62700A331D53}"/>
              </a:ext>
            </a:extLst>
          </p:cNvPr>
          <p:cNvSpPr/>
          <p:nvPr/>
        </p:nvSpPr>
        <p:spPr>
          <a:xfrm>
            <a:off x="594360" y="53137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B8A6"/>
                </a:solidFill>
              </a:rPr>
              <a:t>✅ Kartenzählung funktioniert nachweisbar:</a:t>
            </a:r>
            <a:endParaRPr lang="en-US" sz="1100" dirty="0"/>
          </a:p>
        </p:txBody>
      </p:sp>
      <p:sp>
        <p:nvSpPr>
          <p:cNvPr id="48" name="Text 39">
            <a:extLst>
              <a:ext uri="{FF2B5EF4-FFF2-40B4-BE49-F238E27FC236}">
                <a16:creationId xmlns:a16="http://schemas.microsoft.com/office/drawing/2014/main" id="{103E1118-CEA4-2019-AB5D-82F3367A67D2}"/>
              </a:ext>
            </a:extLst>
          </p:cNvPr>
          <p:cNvSpPr/>
          <p:nvPr/>
        </p:nvSpPr>
        <p:spPr>
          <a:xfrm>
            <a:off x="594360" y="5569744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</a:rPr>
              <a:t>Der Counting Agent trifft bessere Entscheidungen bei hohem TC und verhält sich konservativer bei niedrigem TC.</a:t>
            </a:r>
            <a:endParaRPr lang="en-US" sz="1000" dirty="0"/>
          </a:p>
        </p:txBody>
      </p:sp>
      <p:pic>
        <p:nvPicPr>
          <p:cNvPr id="31" name="Grafik 30">
            <a:extLst>
              <a:ext uri="{FF2B5EF4-FFF2-40B4-BE49-F238E27FC236}">
                <a16:creationId xmlns:a16="http://schemas.microsoft.com/office/drawing/2014/main" id="{4CD7E350-95C1-DE10-14BA-8A9FFA5398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7341" y="1438378"/>
            <a:ext cx="3691689" cy="2760551"/>
          </a:xfrm>
          <a:prstGeom prst="rect">
            <a:avLst/>
          </a:prstGeom>
        </p:spPr>
      </p:pic>
      <p:pic>
        <p:nvPicPr>
          <p:cNvPr id="56" name="Grafik 55">
            <a:extLst>
              <a:ext uri="{FF2B5EF4-FFF2-40B4-BE49-F238E27FC236}">
                <a16:creationId xmlns:a16="http://schemas.microsoft.com/office/drawing/2014/main" id="{D78E336D-8661-3932-A9F0-F1A0B9ACC5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4971" y="1468502"/>
            <a:ext cx="3691689" cy="27605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103221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3599D7-D409-2B17-5D24-2F5AD079A8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91802CB-76BF-C557-5F7D-0EE2D86EAB99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125FEF98-BA73-BC3E-2072-CCF554EFE2C2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C1C8760-BD47-70D0-033B-36F01138DE64}"/>
              </a:ext>
            </a:extLst>
          </p:cNvPr>
          <p:cNvSpPr/>
          <p:nvPr/>
        </p:nvSpPr>
        <p:spPr>
          <a:xfrm>
            <a:off x="457200" y="5486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14B8A6"/>
                </a:solidFill>
              </a:rPr>
              <a:t>FEATURE VALIDATION</a:t>
            </a:r>
            <a:endParaRPr lang="en-US" sz="9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35D98239-53D8-B181-7BB2-8FB9E1D7FEF8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True-Count-Bucket Analysis</a:t>
            </a:r>
            <a:endParaRPr lang="en-US" sz="2600" dirty="0"/>
          </a:p>
        </p:txBody>
      </p:sp>
      <p:sp>
        <p:nvSpPr>
          <p:cNvPr id="37" name="Text 29">
            <a:extLst>
              <a:ext uri="{FF2B5EF4-FFF2-40B4-BE49-F238E27FC236}">
                <a16:creationId xmlns:a16="http://schemas.microsoft.com/office/drawing/2014/main" id="{18440CE5-E250-3E15-2090-E0585A6CEC1B}"/>
              </a:ext>
            </a:extLst>
          </p:cNvPr>
          <p:cNvSpPr/>
          <p:nvPr/>
        </p:nvSpPr>
        <p:spPr>
          <a:xfrm>
            <a:off x="502920" y="435618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</a:rPr>
              <a:t>Spieler-Vorteil</a:t>
            </a:r>
            <a:endParaRPr lang="en-US" sz="900" dirty="0"/>
          </a:p>
        </p:txBody>
      </p:sp>
      <p:sp>
        <p:nvSpPr>
          <p:cNvPr id="38" name="Shape 34">
            <a:extLst>
              <a:ext uri="{FF2B5EF4-FFF2-40B4-BE49-F238E27FC236}">
                <a16:creationId xmlns:a16="http://schemas.microsoft.com/office/drawing/2014/main" id="{2FAD2BC8-68F5-093C-F1F8-2AA3C79004A8}"/>
              </a:ext>
            </a:extLst>
          </p:cNvPr>
          <p:cNvSpPr/>
          <p:nvPr/>
        </p:nvSpPr>
        <p:spPr>
          <a:xfrm>
            <a:off x="5120640" y="4255598"/>
            <a:ext cx="3337560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9" name="Shape 35">
            <a:extLst>
              <a:ext uri="{FF2B5EF4-FFF2-40B4-BE49-F238E27FC236}">
                <a16:creationId xmlns:a16="http://schemas.microsoft.com/office/drawing/2014/main" id="{0FEC0E5A-C0C7-859B-0B7A-D06E372CF42E}"/>
              </a:ext>
            </a:extLst>
          </p:cNvPr>
          <p:cNvSpPr/>
          <p:nvPr/>
        </p:nvSpPr>
        <p:spPr>
          <a:xfrm>
            <a:off x="5120640" y="4255598"/>
            <a:ext cx="3003804" cy="20116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0" name="Text 36">
            <a:extLst>
              <a:ext uri="{FF2B5EF4-FFF2-40B4-BE49-F238E27FC236}">
                <a16:creationId xmlns:a16="http://schemas.microsoft.com/office/drawing/2014/main" id="{90836A7C-12BF-8A4E-AEF4-FCB07808CE6A}"/>
              </a:ext>
            </a:extLst>
          </p:cNvPr>
          <p:cNvSpPr/>
          <p:nvPr/>
        </p:nvSpPr>
        <p:spPr>
          <a:xfrm>
            <a:off x="5120640" y="4529918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Aggressive Hits · Mathematisch korrekt</a:t>
            </a:r>
            <a:endParaRPr lang="en-US" sz="900" dirty="0"/>
          </a:p>
        </p:txBody>
      </p:sp>
      <p:sp>
        <p:nvSpPr>
          <p:cNvPr id="41" name="Shape 37">
            <a:extLst>
              <a:ext uri="{FF2B5EF4-FFF2-40B4-BE49-F238E27FC236}">
                <a16:creationId xmlns:a16="http://schemas.microsoft.com/office/drawing/2014/main" id="{000F4312-1C3B-CDC6-282D-71653D3DA2DA}"/>
              </a:ext>
            </a:extLst>
          </p:cNvPr>
          <p:cNvSpPr/>
          <p:nvPr/>
        </p:nvSpPr>
        <p:spPr>
          <a:xfrm>
            <a:off x="365760" y="4255598"/>
            <a:ext cx="8412480" cy="777240"/>
          </a:xfrm>
          <a:prstGeom prst="roundRect">
            <a:avLst>
              <a:gd name="adj" fmla="val 14118"/>
            </a:avLst>
          </a:prstGeom>
          <a:solidFill>
            <a:srgbClr val="1E293B"/>
          </a:solidFill>
          <a:ln w="12700">
            <a:solidFill>
              <a:srgbClr val="0D9488"/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45" name="Text 38">
            <a:extLst>
              <a:ext uri="{FF2B5EF4-FFF2-40B4-BE49-F238E27FC236}">
                <a16:creationId xmlns:a16="http://schemas.microsoft.com/office/drawing/2014/main" id="{F315F43F-60D2-9C5C-8725-A6E63DB08319}"/>
              </a:ext>
            </a:extLst>
          </p:cNvPr>
          <p:cNvSpPr/>
          <p:nvPr/>
        </p:nvSpPr>
        <p:spPr>
          <a:xfrm>
            <a:off x="594360" y="433789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B8A6"/>
                </a:solidFill>
              </a:rPr>
              <a:t>✅ Kartenzählung funktioniert nachweisbar:</a:t>
            </a:r>
            <a:endParaRPr lang="en-US" sz="1100" dirty="0"/>
          </a:p>
        </p:txBody>
      </p:sp>
      <p:sp>
        <p:nvSpPr>
          <p:cNvPr id="48" name="Text 39">
            <a:extLst>
              <a:ext uri="{FF2B5EF4-FFF2-40B4-BE49-F238E27FC236}">
                <a16:creationId xmlns:a16="http://schemas.microsoft.com/office/drawing/2014/main" id="{B1645C2E-134E-78FD-B32F-0C811A3FAF22}"/>
              </a:ext>
            </a:extLst>
          </p:cNvPr>
          <p:cNvSpPr/>
          <p:nvPr/>
        </p:nvSpPr>
        <p:spPr>
          <a:xfrm>
            <a:off x="594360" y="4593926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</a:rPr>
              <a:t>Der Counting Agent trifft bessere Entscheidungen bei hohem TC und verhält sich konservativer bei niedrigem TC.</a:t>
            </a:r>
            <a:endParaRPr lang="en-US" sz="1000" dirty="0"/>
          </a:p>
        </p:txBody>
      </p:sp>
      <p:pic>
        <p:nvPicPr>
          <p:cNvPr id="31" name="Grafik 30">
            <a:extLst>
              <a:ext uri="{FF2B5EF4-FFF2-40B4-BE49-F238E27FC236}">
                <a16:creationId xmlns:a16="http://schemas.microsoft.com/office/drawing/2014/main" id="{CA7FF017-545B-0B6D-C3C2-AB8EEA60C6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7341" y="1158596"/>
            <a:ext cx="3691689" cy="2760551"/>
          </a:xfrm>
          <a:prstGeom prst="rect">
            <a:avLst/>
          </a:prstGeom>
        </p:spPr>
      </p:pic>
      <p:pic>
        <p:nvPicPr>
          <p:cNvPr id="56" name="Grafik 55">
            <a:extLst>
              <a:ext uri="{FF2B5EF4-FFF2-40B4-BE49-F238E27FC236}">
                <a16:creationId xmlns:a16="http://schemas.microsoft.com/office/drawing/2014/main" id="{B8966B49-AA42-C03D-1A4E-B87447DFA8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4971" y="1188720"/>
            <a:ext cx="3691689" cy="27605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1746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50B0488-23C3-5A0A-D364-55443C0B553C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pic>
        <p:nvPicPr>
          <p:cNvPr id="197" name="Google Shape;197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28625" y="3256881"/>
            <a:ext cx="4071938" cy="104421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8" name="Google Shape;198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43437" y="3256881"/>
            <a:ext cx="4071938" cy="104421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9" name="Google Shape;199;p2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714625" y="2256755"/>
            <a:ext cx="6000750" cy="285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0" name="Google Shape;200;p2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714625" y="2685380"/>
            <a:ext cx="6000750" cy="285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1" name="Google Shape;201;p20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714625" y="2256755"/>
            <a:ext cx="6000750" cy="285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2" name="Google Shape;202;p20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2714625" y="2685380"/>
            <a:ext cx="209959" cy="285750"/>
          </a:xfrm>
          <a:prstGeom prst="rect">
            <a:avLst/>
          </a:prstGeom>
          <a:noFill/>
          <a:ln>
            <a:noFill/>
          </a:ln>
        </p:spPr>
      </p:pic>
      <p:sp>
        <p:nvSpPr>
          <p:cNvPr id="203" name="Google Shape;203;p20"/>
          <p:cNvSpPr txBox="1"/>
          <p:nvPr/>
        </p:nvSpPr>
        <p:spPr>
          <a:xfrm>
            <a:off x="428625" y="1592387"/>
            <a:ext cx="8701088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b="1" dirty="0" err="1">
                <a:solidFill>
                  <a:srgbClr val="C5A059"/>
                </a:solidFill>
                <a:latin typeface="Cambria" panose="02040503050406030204" pitchFamily="18" charset="0"/>
                <a:ea typeface="Cambria" panose="02040503050406030204" pitchFamily="18" charset="0"/>
                <a:cs typeface="Poppins"/>
                <a:sym typeface="Poppins"/>
              </a:rPr>
              <a:t>Warum</a:t>
            </a:r>
            <a:r>
              <a:rPr lang="en-US" b="1" dirty="0">
                <a:solidFill>
                  <a:srgbClr val="C5A059"/>
                </a:solidFill>
                <a:latin typeface="Cambria" panose="02040503050406030204" pitchFamily="18" charset="0"/>
                <a:ea typeface="Cambria" panose="02040503050406030204" pitchFamily="18" charset="0"/>
                <a:cs typeface="Poppins"/>
                <a:sym typeface="Poppins"/>
              </a:rPr>
              <a:t> </a:t>
            </a:r>
            <a:r>
              <a:rPr lang="en-US" b="1" dirty="0" err="1">
                <a:solidFill>
                  <a:srgbClr val="C5A059"/>
                </a:solidFill>
                <a:latin typeface="Cambria" panose="02040503050406030204" pitchFamily="18" charset="0"/>
                <a:ea typeface="Cambria" panose="02040503050406030204" pitchFamily="18" charset="0"/>
                <a:cs typeface="Poppins"/>
                <a:sym typeface="Poppins"/>
              </a:rPr>
              <a:t>nur</a:t>
            </a:r>
            <a:r>
              <a:rPr lang="en-US" b="1" dirty="0">
                <a:solidFill>
                  <a:srgbClr val="C5A059"/>
                </a:solidFill>
                <a:latin typeface="Cambria" panose="02040503050406030204" pitchFamily="18" charset="0"/>
                <a:ea typeface="Cambria" panose="02040503050406030204" pitchFamily="18" charset="0"/>
                <a:cs typeface="Poppins"/>
                <a:sym typeface="Poppins"/>
              </a:rPr>
              <a:t> +3,5% </a:t>
            </a:r>
            <a:r>
              <a:rPr lang="en-US" b="1" dirty="0" err="1">
                <a:solidFill>
                  <a:srgbClr val="C5A059"/>
                </a:solidFill>
                <a:latin typeface="Cambria" panose="02040503050406030204" pitchFamily="18" charset="0"/>
                <a:ea typeface="Cambria" panose="02040503050406030204" pitchFamily="18" charset="0"/>
                <a:cs typeface="Poppins"/>
                <a:sym typeface="Poppins"/>
              </a:rPr>
              <a:t>Gewinn</a:t>
            </a:r>
            <a:r>
              <a:rPr lang="en-US" b="1" dirty="0">
                <a:solidFill>
                  <a:srgbClr val="C5A059"/>
                </a:solidFill>
                <a:latin typeface="Cambria" panose="02040503050406030204" pitchFamily="18" charset="0"/>
                <a:ea typeface="Cambria" panose="02040503050406030204" pitchFamily="18" charset="0"/>
                <a:cs typeface="Poppins"/>
                <a:sym typeface="Poppins"/>
              </a:rPr>
              <a:t> </a:t>
            </a:r>
            <a:r>
              <a:rPr lang="en-US" b="1" dirty="0" err="1">
                <a:solidFill>
                  <a:srgbClr val="C5A059"/>
                </a:solidFill>
                <a:latin typeface="Cambria" panose="02040503050406030204" pitchFamily="18" charset="0"/>
                <a:ea typeface="Cambria" panose="02040503050406030204" pitchFamily="18" charset="0"/>
                <a:cs typeface="Poppins"/>
                <a:sym typeface="Poppins"/>
              </a:rPr>
              <a:t>bei</a:t>
            </a:r>
            <a:r>
              <a:rPr lang="en-US" b="1" dirty="0">
                <a:solidFill>
                  <a:srgbClr val="C5A059"/>
                </a:solidFill>
                <a:latin typeface="Cambria" panose="02040503050406030204" pitchFamily="18" charset="0"/>
                <a:ea typeface="Cambria" panose="02040503050406030204" pitchFamily="18" charset="0"/>
                <a:cs typeface="Poppins"/>
                <a:sym typeface="Poppins"/>
              </a:rPr>
              <a:t> 406x </a:t>
            </a:r>
            <a:r>
              <a:rPr lang="en-US" b="1" dirty="0" err="1">
                <a:solidFill>
                  <a:srgbClr val="C5A059"/>
                </a:solidFill>
                <a:latin typeface="Cambria" panose="02040503050406030204" pitchFamily="18" charset="0"/>
                <a:ea typeface="Cambria" panose="02040503050406030204" pitchFamily="18" charset="0"/>
                <a:cs typeface="Poppins"/>
                <a:sym typeface="Poppins"/>
              </a:rPr>
              <a:t>größerer</a:t>
            </a:r>
            <a:r>
              <a:rPr lang="en-US" b="1" dirty="0">
                <a:solidFill>
                  <a:srgbClr val="C5A059"/>
                </a:solidFill>
                <a:latin typeface="Cambria" panose="02040503050406030204" pitchFamily="18" charset="0"/>
                <a:ea typeface="Cambria" panose="02040503050406030204" pitchFamily="18" charset="0"/>
                <a:cs typeface="Poppins"/>
                <a:sym typeface="Poppins"/>
              </a:rPr>
              <a:t> </a:t>
            </a:r>
            <a:r>
              <a:rPr lang="en-US" b="1" dirty="0" err="1">
                <a:solidFill>
                  <a:srgbClr val="C5A059"/>
                </a:solidFill>
                <a:latin typeface="Cambria" panose="02040503050406030204" pitchFamily="18" charset="0"/>
                <a:ea typeface="Cambria" panose="02040503050406030204" pitchFamily="18" charset="0"/>
                <a:cs typeface="Poppins"/>
                <a:sym typeface="Poppins"/>
              </a:rPr>
              <a:t>Tabelle</a:t>
            </a:r>
            <a:r>
              <a:rPr lang="en-US" b="1" dirty="0">
                <a:solidFill>
                  <a:srgbClr val="C5A059"/>
                </a:solidFill>
                <a:latin typeface="Cambria" panose="02040503050406030204" pitchFamily="18" charset="0"/>
                <a:ea typeface="Cambria" panose="02040503050406030204" pitchFamily="18" charset="0"/>
                <a:cs typeface="Poppins"/>
                <a:sym typeface="Poppins"/>
              </a:rPr>
              <a:t>?</a:t>
            </a:r>
            <a:endParaRPr sz="13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04" name="Google Shape;204;p20"/>
          <p:cNvSpPr txBox="1"/>
          <p:nvPr/>
        </p:nvSpPr>
        <p:spPr>
          <a:xfrm>
            <a:off x="428625" y="2331765"/>
            <a:ext cx="2143125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r"/>
            <a:r>
              <a:rPr lang="en-US" sz="900" b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Zustandsraum Komplexität</a:t>
            </a:r>
            <a:endParaRPr sz="1350"/>
          </a:p>
        </p:txBody>
      </p:sp>
      <p:sp>
        <p:nvSpPr>
          <p:cNvPr id="205" name="Google Shape;205;p20"/>
          <p:cNvSpPr txBox="1"/>
          <p:nvPr/>
        </p:nvSpPr>
        <p:spPr>
          <a:xfrm>
            <a:off x="428625" y="2760390"/>
            <a:ext cx="2143125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r"/>
            <a:r>
              <a:rPr lang="en-US" sz="900" b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Reward Verbesserung</a:t>
            </a:r>
            <a:endParaRPr sz="1350"/>
          </a:p>
        </p:txBody>
      </p:sp>
      <p:sp>
        <p:nvSpPr>
          <p:cNvPr id="206" name="Google Shape;206;p20"/>
          <p:cNvSpPr txBox="1"/>
          <p:nvPr/>
        </p:nvSpPr>
        <p:spPr>
          <a:xfrm>
            <a:off x="571500" y="3399755"/>
            <a:ext cx="3786188" cy="789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59929"/>
              </a:lnSpc>
            </a:pPr>
            <a:r>
              <a:rPr lang="en-US" sz="1069" b="1" dirty="0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Sample Efficiency Problem:</a:t>
            </a:r>
            <a:r>
              <a:rPr lang="en-US" sz="1069" dirty="0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 Bei </a:t>
            </a:r>
            <a:r>
              <a:rPr lang="en-US" sz="1069" dirty="0" err="1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gleicher</a:t>
            </a:r>
            <a:r>
              <a:rPr lang="en-US" sz="1069" dirty="0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 </a:t>
            </a:r>
            <a:r>
              <a:rPr lang="en-US" sz="1069" dirty="0" err="1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Episodenzahl</a:t>
            </a:r>
            <a:r>
              <a:rPr lang="en-US" sz="1069" dirty="0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 (100M) </a:t>
            </a:r>
            <a:r>
              <a:rPr lang="en-US" sz="1069" dirty="0" err="1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wird</a:t>
            </a:r>
            <a:r>
              <a:rPr lang="en-US" sz="1069" dirty="0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 </a:t>
            </a:r>
            <a:r>
              <a:rPr lang="en-US" sz="1069" dirty="0" err="1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jeder</a:t>
            </a:r>
            <a:r>
              <a:rPr lang="en-US" sz="1069" dirty="0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 </a:t>
            </a:r>
            <a:r>
              <a:rPr lang="en-US" sz="1069" dirty="0" err="1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spezifische</a:t>
            </a:r>
            <a:r>
              <a:rPr lang="en-US" sz="1069" dirty="0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 </a:t>
            </a:r>
            <a:r>
              <a:rPr lang="en-US" sz="1069" dirty="0" err="1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Zustand</a:t>
            </a:r>
            <a:r>
              <a:rPr lang="en-US" sz="1069" dirty="0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 </a:t>
            </a:r>
            <a:r>
              <a:rPr lang="en-US" sz="1069" dirty="0" err="1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im</a:t>
            </a:r>
            <a:r>
              <a:rPr lang="en-US" sz="1069" dirty="0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 </a:t>
            </a:r>
            <a:r>
              <a:rPr lang="en-US" sz="1069" dirty="0" err="1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großen</a:t>
            </a:r>
            <a:r>
              <a:rPr lang="en-US" sz="1069" dirty="0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 Raum </a:t>
            </a:r>
            <a:r>
              <a:rPr lang="en-US" sz="1069" dirty="0" err="1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drastisch</a:t>
            </a:r>
            <a:r>
              <a:rPr lang="en-US" sz="1069" dirty="0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 </a:t>
            </a:r>
            <a:r>
              <a:rPr lang="en-US" sz="1069" dirty="0" err="1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seltener</a:t>
            </a:r>
            <a:r>
              <a:rPr lang="en-US" sz="1069" dirty="0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 </a:t>
            </a:r>
            <a:r>
              <a:rPr lang="en-US" sz="1069" dirty="0" err="1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besucht</a:t>
            </a:r>
            <a:r>
              <a:rPr lang="en-US" sz="1069" dirty="0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.</a:t>
            </a:r>
            <a:endParaRPr sz="13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07" name="Google Shape;207;p20"/>
          <p:cNvSpPr txBox="1"/>
          <p:nvPr/>
        </p:nvSpPr>
        <p:spPr>
          <a:xfrm>
            <a:off x="4786312" y="3399755"/>
            <a:ext cx="3786188" cy="526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59929"/>
              </a:lnSpc>
            </a:pPr>
            <a:r>
              <a:rPr lang="en-US" sz="1069" b="1" dirty="0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Under-Training:</a:t>
            </a:r>
            <a:r>
              <a:rPr lang="en-US" sz="1069" dirty="0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 Checkpoint-</a:t>
            </a:r>
            <a:r>
              <a:rPr lang="en-US" sz="1069" dirty="0" err="1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Analysen</a:t>
            </a:r>
            <a:r>
              <a:rPr lang="en-US" sz="1069" dirty="0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 </a:t>
            </a:r>
            <a:r>
              <a:rPr lang="en-US" sz="1069" dirty="0" err="1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zeigen</a:t>
            </a:r>
            <a:r>
              <a:rPr lang="en-US" sz="1069" dirty="0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, </a:t>
            </a:r>
            <a:r>
              <a:rPr lang="en-US" sz="1069" dirty="0" err="1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dass</a:t>
            </a:r>
            <a:r>
              <a:rPr lang="en-US" sz="1069" dirty="0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 die Q-</a:t>
            </a:r>
            <a:r>
              <a:rPr lang="en-US" sz="1069" dirty="0" err="1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Werte</a:t>
            </a:r>
            <a:r>
              <a:rPr lang="en-US" sz="1069" dirty="0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 </a:t>
            </a:r>
            <a:r>
              <a:rPr lang="en-US" sz="1069" dirty="0" err="1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noch</a:t>
            </a:r>
            <a:r>
              <a:rPr lang="en-US" sz="1069" dirty="0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 </a:t>
            </a:r>
            <a:r>
              <a:rPr lang="en-US" sz="1069" dirty="0" err="1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wachsen</a:t>
            </a:r>
            <a:r>
              <a:rPr lang="en-US" sz="1069" dirty="0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. Der Agent hat die </a:t>
            </a:r>
            <a:r>
              <a:rPr lang="en-US" sz="1069" dirty="0" err="1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Konvergenz</a:t>
            </a:r>
            <a:r>
              <a:rPr lang="en-US" sz="1069" dirty="0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 </a:t>
            </a:r>
            <a:r>
              <a:rPr lang="en-US" sz="1069" dirty="0" err="1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noch</a:t>
            </a:r>
            <a:r>
              <a:rPr lang="en-US" sz="1069" dirty="0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 nicht </a:t>
            </a:r>
            <a:r>
              <a:rPr lang="en-US" sz="1069" dirty="0" err="1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erreicht</a:t>
            </a:r>
            <a:r>
              <a:rPr lang="en-US" sz="1069" dirty="0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.</a:t>
            </a:r>
            <a:endParaRPr sz="13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08" name="Google Shape;208;p20"/>
          <p:cNvSpPr txBox="1"/>
          <p:nvPr/>
        </p:nvSpPr>
        <p:spPr>
          <a:xfrm>
            <a:off x="428625" y="428625"/>
            <a:ext cx="8701088" cy="3808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2475" b="1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Poppins"/>
                <a:sym typeface="Poppins"/>
              </a:rPr>
              <a:t>Das </a:t>
            </a:r>
            <a:r>
              <a:rPr lang="en-US" sz="2475" b="1" dirty="0" err="1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Poppins"/>
                <a:sym typeface="Poppins"/>
              </a:rPr>
              <a:t>Skalierungs-Paradoxon</a:t>
            </a:r>
            <a:endParaRPr lang="en-US" sz="135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" name="Shape 37">
            <a:extLst>
              <a:ext uri="{FF2B5EF4-FFF2-40B4-BE49-F238E27FC236}">
                <a16:creationId xmlns:a16="http://schemas.microsoft.com/office/drawing/2014/main" id="{31728659-2E45-2513-5076-E1D6989F0E19}"/>
              </a:ext>
            </a:extLst>
          </p:cNvPr>
          <p:cNvSpPr/>
          <p:nvPr/>
        </p:nvSpPr>
        <p:spPr>
          <a:xfrm>
            <a:off x="590550" y="5339321"/>
            <a:ext cx="7591424" cy="731742"/>
          </a:xfrm>
          <a:prstGeom prst="roundRect">
            <a:avLst>
              <a:gd name="adj" fmla="val 14118"/>
            </a:avLst>
          </a:prstGeom>
          <a:solidFill>
            <a:srgbClr val="1E293B"/>
          </a:solidFill>
          <a:ln w="12700">
            <a:solidFill>
              <a:srgbClr val="0D9488"/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 dirty="0"/>
          </a:p>
        </p:txBody>
      </p:sp>
      <p:sp>
        <p:nvSpPr>
          <p:cNvPr id="7" name="Google Shape;217;p21">
            <a:extLst>
              <a:ext uri="{FF2B5EF4-FFF2-40B4-BE49-F238E27FC236}">
                <a16:creationId xmlns:a16="http://schemas.microsoft.com/office/drawing/2014/main" id="{241FCE7A-D42E-1A7A-9FE9-FB7C0F927B77}"/>
              </a:ext>
            </a:extLst>
          </p:cNvPr>
          <p:cNvSpPr txBox="1"/>
          <p:nvPr/>
        </p:nvSpPr>
        <p:spPr>
          <a:xfrm>
            <a:off x="1119663" y="5520941"/>
            <a:ext cx="7062311" cy="258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 dirty="0">
                <a:solidFill>
                  <a:schemeClr val="bg1"/>
                </a:solidFill>
                <a:latin typeface="Calibri "/>
                <a:ea typeface="Lato"/>
                <a:cs typeface="Lato"/>
                <a:sym typeface="Lato"/>
              </a:rPr>
              <a:t>Die 113k </a:t>
            </a:r>
            <a:r>
              <a:rPr lang="en-US" sz="1050" b="0" i="0" u="none" strike="noStrike" cap="none" dirty="0" err="1">
                <a:solidFill>
                  <a:schemeClr val="bg1"/>
                </a:solidFill>
                <a:latin typeface="Calibri "/>
                <a:ea typeface="Lato"/>
                <a:cs typeface="Lato"/>
                <a:sym typeface="Lato"/>
              </a:rPr>
              <a:t>Zustände</a:t>
            </a:r>
            <a:r>
              <a:rPr lang="en-US" sz="1050" b="0" i="0" u="none" strike="noStrike" cap="none" dirty="0">
                <a:solidFill>
                  <a:schemeClr val="bg1"/>
                </a:solidFill>
                <a:latin typeface="Calibri "/>
                <a:ea typeface="Lato"/>
                <a:cs typeface="Lato"/>
                <a:sym typeface="Lato"/>
              </a:rPr>
              <a:t> </a:t>
            </a:r>
            <a:r>
              <a:rPr lang="en-US" sz="1050" b="0" i="0" u="none" strike="noStrike" cap="none" dirty="0" err="1">
                <a:solidFill>
                  <a:schemeClr val="bg1"/>
                </a:solidFill>
                <a:latin typeface="Calibri "/>
                <a:ea typeface="Lato"/>
                <a:cs typeface="Lato"/>
                <a:sym typeface="Lato"/>
              </a:rPr>
              <a:t>erfordern</a:t>
            </a:r>
            <a:r>
              <a:rPr lang="en-US" sz="1050" b="0" i="0" u="none" strike="noStrike" cap="none" dirty="0">
                <a:solidFill>
                  <a:schemeClr val="bg1"/>
                </a:solidFill>
                <a:latin typeface="Calibri "/>
                <a:ea typeface="Lato"/>
                <a:cs typeface="Lato"/>
                <a:sym typeface="Lato"/>
              </a:rPr>
              <a:t> </a:t>
            </a:r>
            <a:r>
              <a:rPr lang="en-US" sz="1050" b="0" i="0" u="none" strike="noStrike" cap="none" dirty="0" err="1">
                <a:solidFill>
                  <a:schemeClr val="bg1"/>
                </a:solidFill>
                <a:latin typeface="Calibri "/>
                <a:ea typeface="Lato"/>
                <a:cs typeface="Lato"/>
                <a:sym typeface="Lato"/>
              </a:rPr>
              <a:t>deutlich</a:t>
            </a:r>
            <a:r>
              <a:rPr lang="en-US" sz="1050" b="0" i="0" u="none" strike="noStrike" cap="none" dirty="0">
                <a:solidFill>
                  <a:schemeClr val="bg1"/>
                </a:solidFill>
                <a:latin typeface="Calibri "/>
                <a:ea typeface="Lato"/>
                <a:cs typeface="Lato"/>
                <a:sym typeface="Lato"/>
              </a:rPr>
              <a:t> </a:t>
            </a:r>
            <a:r>
              <a:rPr lang="en-US" sz="1050" b="0" i="0" u="none" strike="noStrike" cap="none" dirty="0" err="1">
                <a:solidFill>
                  <a:schemeClr val="bg1"/>
                </a:solidFill>
                <a:latin typeface="Calibri "/>
                <a:ea typeface="Lato"/>
                <a:cs typeface="Lato"/>
                <a:sym typeface="Lato"/>
              </a:rPr>
              <a:t>mehr</a:t>
            </a:r>
            <a:r>
              <a:rPr lang="en-US" sz="1050" b="0" i="0" u="none" strike="noStrike" cap="none" dirty="0">
                <a:solidFill>
                  <a:schemeClr val="bg1"/>
                </a:solidFill>
                <a:latin typeface="Calibri "/>
                <a:ea typeface="Lato"/>
                <a:cs typeface="Lato"/>
                <a:sym typeface="Lato"/>
              </a:rPr>
              <a:t> </a:t>
            </a:r>
            <a:r>
              <a:rPr lang="en-US" sz="1050" b="0" i="0" u="none" strike="noStrike" cap="none" dirty="0" err="1">
                <a:solidFill>
                  <a:schemeClr val="bg1"/>
                </a:solidFill>
                <a:latin typeface="Calibri "/>
                <a:ea typeface="Lato"/>
                <a:cs typeface="Lato"/>
                <a:sym typeface="Lato"/>
              </a:rPr>
              <a:t>als</a:t>
            </a:r>
            <a:r>
              <a:rPr lang="en-US" sz="1050" b="0" i="0" u="none" strike="noStrike" cap="none" dirty="0">
                <a:solidFill>
                  <a:schemeClr val="bg1"/>
                </a:solidFill>
                <a:latin typeface="Calibri "/>
                <a:ea typeface="Lato"/>
                <a:cs typeface="Lato"/>
                <a:sym typeface="Lato"/>
              </a:rPr>
              <a:t> 100M </a:t>
            </a:r>
            <a:r>
              <a:rPr lang="en-US" sz="1050" b="0" i="0" u="none" strike="noStrike" cap="none" dirty="0" err="1">
                <a:solidFill>
                  <a:schemeClr val="bg1"/>
                </a:solidFill>
                <a:latin typeface="Calibri "/>
                <a:ea typeface="Lato"/>
                <a:cs typeface="Lato"/>
                <a:sym typeface="Lato"/>
              </a:rPr>
              <a:t>Episoden</a:t>
            </a:r>
            <a:r>
              <a:rPr lang="en-US" sz="1050" b="0" i="0" u="none" strike="noStrike" cap="none" dirty="0">
                <a:solidFill>
                  <a:schemeClr val="bg1"/>
                </a:solidFill>
                <a:latin typeface="Calibri "/>
                <a:ea typeface="Lato"/>
                <a:cs typeface="Lato"/>
                <a:sym typeface="Lato"/>
              </a:rPr>
              <a:t>. </a:t>
            </a:r>
            <a:r>
              <a:rPr lang="en-US" sz="1050" b="0" i="0" u="none" strike="noStrike" cap="none" dirty="0" err="1">
                <a:solidFill>
                  <a:schemeClr val="bg1"/>
                </a:solidFill>
                <a:latin typeface="Calibri "/>
                <a:ea typeface="Lato"/>
                <a:cs typeface="Lato"/>
                <a:sym typeface="Lato"/>
              </a:rPr>
              <a:t>Schätzungsweise</a:t>
            </a:r>
            <a:r>
              <a:rPr lang="en-US" sz="1050" b="0" i="0" u="none" strike="noStrike" cap="none" dirty="0">
                <a:solidFill>
                  <a:schemeClr val="bg1"/>
                </a:solidFill>
                <a:latin typeface="Calibri "/>
                <a:ea typeface="Lato"/>
                <a:cs typeface="Lato"/>
                <a:sym typeface="Lato"/>
              </a:rPr>
              <a:t> </a:t>
            </a:r>
            <a:r>
              <a:rPr lang="en-US" sz="1050" b="0" i="0" u="none" strike="noStrike" cap="none" dirty="0" err="1">
                <a:solidFill>
                  <a:schemeClr val="bg1"/>
                </a:solidFill>
                <a:latin typeface="Calibri "/>
                <a:ea typeface="Lato"/>
                <a:cs typeface="Lato"/>
                <a:sym typeface="Lato"/>
              </a:rPr>
              <a:t>wären</a:t>
            </a:r>
            <a:r>
              <a:rPr lang="en-US" sz="1050" b="0" i="0" u="none" strike="noStrike" cap="none" dirty="0">
                <a:solidFill>
                  <a:schemeClr val="bg1"/>
                </a:solidFill>
                <a:latin typeface="Calibri "/>
                <a:ea typeface="Lato"/>
                <a:cs typeface="Lato"/>
                <a:sym typeface="Lato"/>
              </a:rPr>
              <a:t> 500M+ </a:t>
            </a:r>
            <a:r>
              <a:rPr lang="en-US" sz="1050" b="0" i="0" u="none" strike="noStrike" cap="none" dirty="0" err="1">
                <a:solidFill>
                  <a:schemeClr val="bg1"/>
                </a:solidFill>
                <a:latin typeface="Calibri "/>
                <a:ea typeface="Lato"/>
                <a:cs typeface="Lato"/>
                <a:sym typeface="Lato"/>
              </a:rPr>
              <a:t>notwendig</a:t>
            </a:r>
            <a:r>
              <a:rPr lang="en-US" sz="1050" b="0" i="0" u="none" strike="noStrike" cap="none" dirty="0">
                <a:solidFill>
                  <a:schemeClr val="bg1"/>
                </a:solidFill>
                <a:latin typeface="Calibri "/>
                <a:ea typeface="Lato"/>
                <a:cs typeface="Lato"/>
                <a:sym typeface="Lato"/>
              </a:rPr>
              <a:t> für </a:t>
            </a:r>
            <a:r>
              <a:rPr lang="en-US" sz="1050" b="0" i="0" u="none" strike="noStrike" cap="none" dirty="0" err="1">
                <a:solidFill>
                  <a:schemeClr val="bg1"/>
                </a:solidFill>
                <a:latin typeface="Calibri "/>
                <a:ea typeface="Lato"/>
                <a:cs typeface="Lato"/>
                <a:sym typeface="Lato"/>
              </a:rPr>
              <a:t>volle</a:t>
            </a:r>
            <a:r>
              <a:rPr lang="en-US" sz="1050" b="0" i="0" u="none" strike="noStrike" cap="none" dirty="0">
                <a:solidFill>
                  <a:schemeClr val="bg1"/>
                </a:solidFill>
                <a:latin typeface="Calibri "/>
                <a:ea typeface="Lato"/>
                <a:cs typeface="Lato"/>
                <a:sym typeface="Lato"/>
              </a:rPr>
              <a:t> </a:t>
            </a:r>
            <a:r>
              <a:rPr lang="en-US" sz="1050" b="0" i="0" u="none" strike="noStrike" cap="none" dirty="0" err="1">
                <a:solidFill>
                  <a:schemeClr val="bg1"/>
                </a:solidFill>
                <a:latin typeface="Calibri "/>
                <a:ea typeface="Lato"/>
                <a:cs typeface="Lato"/>
                <a:sym typeface="Lato"/>
              </a:rPr>
              <a:t>Konvergenz</a:t>
            </a:r>
            <a:r>
              <a:rPr lang="en-US" sz="1050" b="0" i="0" u="none" strike="noStrike" cap="none" dirty="0">
                <a:solidFill>
                  <a:schemeClr val="bg1"/>
                </a:solidFill>
                <a:latin typeface="Calibri "/>
                <a:ea typeface="Lato"/>
                <a:cs typeface="Lato"/>
                <a:sym typeface="Lato"/>
              </a:rPr>
              <a:t>.</a:t>
            </a:r>
            <a:endParaRPr sz="1100" dirty="0">
              <a:solidFill>
                <a:schemeClr val="bg1"/>
              </a:solidFill>
              <a:latin typeface="Calibri "/>
            </a:endParaRPr>
          </a:p>
        </p:txBody>
      </p:sp>
      <p:pic>
        <p:nvPicPr>
          <p:cNvPr id="8" name="Google Shape;219;p21" descr="image.png">
            <a:extLst>
              <a:ext uri="{FF2B5EF4-FFF2-40B4-BE49-F238E27FC236}">
                <a16:creationId xmlns:a16="http://schemas.microsoft.com/office/drawing/2014/main" id="{D8FBCCD2-8E1D-2975-7091-353235F1809B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76275" y="5520941"/>
            <a:ext cx="257174" cy="331173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Shape 1">
            <a:extLst>
              <a:ext uri="{FF2B5EF4-FFF2-40B4-BE49-F238E27FC236}">
                <a16:creationId xmlns:a16="http://schemas.microsoft.com/office/drawing/2014/main" id="{6BFA9CF9-0227-1D01-D965-9C13FDC69F2A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22D5AE4-2A46-75B2-6B73-CC8804D08D12}"/>
              </a:ext>
            </a:extLst>
          </p:cNvPr>
          <p:cNvSpPr/>
          <p:nvPr/>
        </p:nvSpPr>
        <p:spPr>
          <a:xfrm>
            <a:off x="457200" y="5486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14B8A6"/>
                </a:solidFill>
              </a:rPr>
              <a:t>FEATURE VALIDATION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5">
          <a:extLst>
            <a:ext uri="{FF2B5EF4-FFF2-40B4-BE49-F238E27FC236}">
              <a16:creationId xmlns:a16="http://schemas.microsoft.com/office/drawing/2014/main" id="{196981A1-51CB-3086-F8CC-5C543F3CBD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0DA304B-BCEC-45AC-23C8-0E1E072A2218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pic>
        <p:nvPicPr>
          <p:cNvPr id="197" name="Google Shape;197;p20" descr="image.png">
            <a:extLst>
              <a:ext uri="{FF2B5EF4-FFF2-40B4-BE49-F238E27FC236}">
                <a16:creationId xmlns:a16="http://schemas.microsoft.com/office/drawing/2014/main" id="{8817E89B-0170-124E-99EF-2ED7C35633C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28625" y="3142581"/>
            <a:ext cx="4071938" cy="104421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8" name="Google Shape;198;p20" descr="image.png">
            <a:extLst>
              <a:ext uri="{FF2B5EF4-FFF2-40B4-BE49-F238E27FC236}">
                <a16:creationId xmlns:a16="http://schemas.microsoft.com/office/drawing/2014/main" id="{0F90376B-6F3F-AF6D-87AD-E187F20A9C67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43437" y="3142581"/>
            <a:ext cx="4071938" cy="104421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9" name="Google Shape;199;p20" descr="image.png">
            <a:extLst>
              <a:ext uri="{FF2B5EF4-FFF2-40B4-BE49-F238E27FC236}">
                <a16:creationId xmlns:a16="http://schemas.microsoft.com/office/drawing/2014/main" id="{CFD7A5B3-41BA-A00F-C0C4-09E9594D3B5C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714625" y="2256755"/>
            <a:ext cx="6000750" cy="285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0" name="Google Shape;200;p20" descr="image.png">
            <a:extLst>
              <a:ext uri="{FF2B5EF4-FFF2-40B4-BE49-F238E27FC236}">
                <a16:creationId xmlns:a16="http://schemas.microsoft.com/office/drawing/2014/main" id="{18CF86C0-CEB8-0056-C05F-AAF270D42B7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714625" y="2685380"/>
            <a:ext cx="6000750" cy="285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1" name="Google Shape;201;p20" descr="image.png">
            <a:extLst>
              <a:ext uri="{FF2B5EF4-FFF2-40B4-BE49-F238E27FC236}">
                <a16:creationId xmlns:a16="http://schemas.microsoft.com/office/drawing/2014/main" id="{8B8DA407-932E-FB04-8D73-9E2A2E90EAE0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714625" y="2256755"/>
            <a:ext cx="6000750" cy="285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2" name="Google Shape;202;p20" descr="image.png">
            <a:extLst>
              <a:ext uri="{FF2B5EF4-FFF2-40B4-BE49-F238E27FC236}">
                <a16:creationId xmlns:a16="http://schemas.microsoft.com/office/drawing/2014/main" id="{08E92FB9-F963-788E-D96F-1A372A322F9F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2714625" y="2685380"/>
            <a:ext cx="209959" cy="285750"/>
          </a:xfrm>
          <a:prstGeom prst="rect">
            <a:avLst/>
          </a:prstGeom>
          <a:noFill/>
          <a:ln>
            <a:noFill/>
          </a:ln>
        </p:spPr>
      </p:pic>
      <p:sp>
        <p:nvSpPr>
          <p:cNvPr id="203" name="Google Shape;203;p20">
            <a:extLst>
              <a:ext uri="{FF2B5EF4-FFF2-40B4-BE49-F238E27FC236}">
                <a16:creationId xmlns:a16="http://schemas.microsoft.com/office/drawing/2014/main" id="{EE210C59-7BF2-669D-9B96-8412EFCE677C}"/>
              </a:ext>
            </a:extLst>
          </p:cNvPr>
          <p:cNvSpPr txBox="1"/>
          <p:nvPr/>
        </p:nvSpPr>
        <p:spPr>
          <a:xfrm>
            <a:off x="428625" y="1592387"/>
            <a:ext cx="8701088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b="1" dirty="0" err="1">
                <a:solidFill>
                  <a:srgbClr val="C5A059"/>
                </a:solidFill>
                <a:latin typeface="Cambria" panose="02040503050406030204" pitchFamily="18" charset="0"/>
                <a:ea typeface="Cambria" panose="02040503050406030204" pitchFamily="18" charset="0"/>
                <a:cs typeface="Poppins"/>
                <a:sym typeface="Poppins"/>
              </a:rPr>
              <a:t>Warum</a:t>
            </a:r>
            <a:r>
              <a:rPr lang="en-US" b="1" dirty="0">
                <a:solidFill>
                  <a:srgbClr val="C5A059"/>
                </a:solidFill>
                <a:latin typeface="Cambria" panose="02040503050406030204" pitchFamily="18" charset="0"/>
                <a:ea typeface="Cambria" panose="02040503050406030204" pitchFamily="18" charset="0"/>
                <a:cs typeface="Poppins"/>
                <a:sym typeface="Poppins"/>
              </a:rPr>
              <a:t> </a:t>
            </a:r>
            <a:r>
              <a:rPr lang="en-US" b="1" dirty="0" err="1">
                <a:solidFill>
                  <a:srgbClr val="C5A059"/>
                </a:solidFill>
                <a:latin typeface="Cambria" panose="02040503050406030204" pitchFamily="18" charset="0"/>
                <a:ea typeface="Cambria" panose="02040503050406030204" pitchFamily="18" charset="0"/>
                <a:cs typeface="Poppins"/>
                <a:sym typeface="Poppins"/>
              </a:rPr>
              <a:t>nur</a:t>
            </a:r>
            <a:r>
              <a:rPr lang="en-US" b="1" dirty="0">
                <a:solidFill>
                  <a:srgbClr val="C5A059"/>
                </a:solidFill>
                <a:latin typeface="Cambria" panose="02040503050406030204" pitchFamily="18" charset="0"/>
                <a:ea typeface="Cambria" panose="02040503050406030204" pitchFamily="18" charset="0"/>
                <a:cs typeface="Poppins"/>
                <a:sym typeface="Poppins"/>
              </a:rPr>
              <a:t> +3,5% </a:t>
            </a:r>
            <a:r>
              <a:rPr lang="en-US" b="1" dirty="0" err="1">
                <a:solidFill>
                  <a:srgbClr val="C5A059"/>
                </a:solidFill>
                <a:latin typeface="Cambria" panose="02040503050406030204" pitchFamily="18" charset="0"/>
                <a:ea typeface="Cambria" panose="02040503050406030204" pitchFamily="18" charset="0"/>
                <a:cs typeface="Poppins"/>
                <a:sym typeface="Poppins"/>
              </a:rPr>
              <a:t>Gewinn</a:t>
            </a:r>
            <a:r>
              <a:rPr lang="en-US" b="1" dirty="0">
                <a:solidFill>
                  <a:srgbClr val="C5A059"/>
                </a:solidFill>
                <a:latin typeface="Cambria" panose="02040503050406030204" pitchFamily="18" charset="0"/>
                <a:ea typeface="Cambria" panose="02040503050406030204" pitchFamily="18" charset="0"/>
                <a:cs typeface="Poppins"/>
                <a:sym typeface="Poppins"/>
              </a:rPr>
              <a:t> </a:t>
            </a:r>
            <a:r>
              <a:rPr lang="en-US" b="1" dirty="0" err="1">
                <a:solidFill>
                  <a:srgbClr val="C5A059"/>
                </a:solidFill>
                <a:latin typeface="Cambria" panose="02040503050406030204" pitchFamily="18" charset="0"/>
                <a:ea typeface="Cambria" panose="02040503050406030204" pitchFamily="18" charset="0"/>
                <a:cs typeface="Poppins"/>
                <a:sym typeface="Poppins"/>
              </a:rPr>
              <a:t>bei</a:t>
            </a:r>
            <a:r>
              <a:rPr lang="en-US" b="1" dirty="0">
                <a:solidFill>
                  <a:srgbClr val="C5A059"/>
                </a:solidFill>
                <a:latin typeface="Cambria" panose="02040503050406030204" pitchFamily="18" charset="0"/>
                <a:ea typeface="Cambria" panose="02040503050406030204" pitchFamily="18" charset="0"/>
                <a:cs typeface="Poppins"/>
                <a:sym typeface="Poppins"/>
              </a:rPr>
              <a:t> 406x </a:t>
            </a:r>
            <a:r>
              <a:rPr lang="en-US" b="1" dirty="0" err="1">
                <a:solidFill>
                  <a:srgbClr val="C5A059"/>
                </a:solidFill>
                <a:latin typeface="Cambria" panose="02040503050406030204" pitchFamily="18" charset="0"/>
                <a:ea typeface="Cambria" panose="02040503050406030204" pitchFamily="18" charset="0"/>
                <a:cs typeface="Poppins"/>
                <a:sym typeface="Poppins"/>
              </a:rPr>
              <a:t>größerer</a:t>
            </a:r>
            <a:r>
              <a:rPr lang="en-US" b="1" dirty="0">
                <a:solidFill>
                  <a:srgbClr val="C5A059"/>
                </a:solidFill>
                <a:latin typeface="Cambria" panose="02040503050406030204" pitchFamily="18" charset="0"/>
                <a:ea typeface="Cambria" panose="02040503050406030204" pitchFamily="18" charset="0"/>
                <a:cs typeface="Poppins"/>
                <a:sym typeface="Poppins"/>
              </a:rPr>
              <a:t> </a:t>
            </a:r>
            <a:r>
              <a:rPr lang="en-US" b="1" dirty="0" err="1">
                <a:solidFill>
                  <a:srgbClr val="C5A059"/>
                </a:solidFill>
                <a:latin typeface="Cambria" panose="02040503050406030204" pitchFamily="18" charset="0"/>
                <a:ea typeface="Cambria" panose="02040503050406030204" pitchFamily="18" charset="0"/>
                <a:cs typeface="Poppins"/>
                <a:sym typeface="Poppins"/>
              </a:rPr>
              <a:t>Tabelle</a:t>
            </a:r>
            <a:r>
              <a:rPr lang="en-US" b="1" dirty="0">
                <a:solidFill>
                  <a:srgbClr val="C5A059"/>
                </a:solidFill>
                <a:latin typeface="Cambria" panose="02040503050406030204" pitchFamily="18" charset="0"/>
                <a:ea typeface="Cambria" panose="02040503050406030204" pitchFamily="18" charset="0"/>
                <a:cs typeface="Poppins"/>
                <a:sym typeface="Poppins"/>
              </a:rPr>
              <a:t>?</a:t>
            </a:r>
            <a:endParaRPr sz="13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04" name="Google Shape;204;p20">
            <a:extLst>
              <a:ext uri="{FF2B5EF4-FFF2-40B4-BE49-F238E27FC236}">
                <a16:creationId xmlns:a16="http://schemas.microsoft.com/office/drawing/2014/main" id="{3279CA62-34AA-D3C8-69BF-3F51625CCD31}"/>
              </a:ext>
            </a:extLst>
          </p:cNvPr>
          <p:cNvSpPr txBox="1"/>
          <p:nvPr/>
        </p:nvSpPr>
        <p:spPr>
          <a:xfrm>
            <a:off x="428625" y="2331765"/>
            <a:ext cx="2143125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r"/>
            <a:r>
              <a:rPr lang="en-US" sz="900" b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Zustandsraum Komplexität</a:t>
            </a:r>
            <a:endParaRPr sz="1350"/>
          </a:p>
        </p:txBody>
      </p:sp>
      <p:sp>
        <p:nvSpPr>
          <p:cNvPr id="205" name="Google Shape;205;p20">
            <a:extLst>
              <a:ext uri="{FF2B5EF4-FFF2-40B4-BE49-F238E27FC236}">
                <a16:creationId xmlns:a16="http://schemas.microsoft.com/office/drawing/2014/main" id="{0058BF2A-62BC-27E0-5C79-5D4AAAD41A79}"/>
              </a:ext>
            </a:extLst>
          </p:cNvPr>
          <p:cNvSpPr txBox="1"/>
          <p:nvPr/>
        </p:nvSpPr>
        <p:spPr>
          <a:xfrm>
            <a:off x="428625" y="2760390"/>
            <a:ext cx="2143125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r"/>
            <a:r>
              <a:rPr lang="en-US" sz="900" b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Reward Verbesserung</a:t>
            </a:r>
            <a:endParaRPr sz="1350"/>
          </a:p>
        </p:txBody>
      </p:sp>
      <p:sp>
        <p:nvSpPr>
          <p:cNvPr id="206" name="Google Shape;206;p20">
            <a:extLst>
              <a:ext uri="{FF2B5EF4-FFF2-40B4-BE49-F238E27FC236}">
                <a16:creationId xmlns:a16="http://schemas.microsoft.com/office/drawing/2014/main" id="{969E78B2-C4D7-CCA5-89A5-A3D49A2717E7}"/>
              </a:ext>
            </a:extLst>
          </p:cNvPr>
          <p:cNvSpPr txBox="1"/>
          <p:nvPr/>
        </p:nvSpPr>
        <p:spPr>
          <a:xfrm>
            <a:off x="571500" y="3285455"/>
            <a:ext cx="3786188" cy="789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59929"/>
              </a:lnSpc>
            </a:pPr>
            <a:r>
              <a:rPr lang="en-US" sz="1069" b="1" dirty="0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Sample Efficiency Problem:</a:t>
            </a:r>
            <a:r>
              <a:rPr lang="en-US" sz="1069" dirty="0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 Bei </a:t>
            </a:r>
            <a:r>
              <a:rPr lang="en-US" sz="1069" dirty="0" err="1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gleicher</a:t>
            </a:r>
            <a:r>
              <a:rPr lang="en-US" sz="1069" dirty="0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 </a:t>
            </a:r>
            <a:r>
              <a:rPr lang="en-US" sz="1069" dirty="0" err="1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Episodenzahl</a:t>
            </a:r>
            <a:r>
              <a:rPr lang="en-US" sz="1069" dirty="0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 (100M) </a:t>
            </a:r>
            <a:r>
              <a:rPr lang="en-US" sz="1069" dirty="0" err="1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wird</a:t>
            </a:r>
            <a:r>
              <a:rPr lang="en-US" sz="1069" dirty="0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 </a:t>
            </a:r>
            <a:r>
              <a:rPr lang="en-US" sz="1069" dirty="0" err="1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jeder</a:t>
            </a:r>
            <a:r>
              <a:rPr lang="en-US" sz="1069" dirty="0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 </a:t>
            </a:r>
            <a:r>
              <a:rPr lang="en-US" sz="1069" dirty="0" err="1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spezifische</a:t>
            </a:r>
            <a:r>
              <a:rPr lang="en-US" sz="1069" dirty="0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 </a:t>
            </a:r>
            <a:r>
              <a:rPr lang="en-US" sz="1069" dirty="0" err="1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Zustand</a:t>
            </a:r>
            <a:r>
              <a:rPr lang="en-US" sz="1069" dirty="0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 </a:t>
            </a:r>
            <a:r>
              <a:rPr lang="en-US" sz="1069" dirty="0" err="1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im</a:t>
            </a:r>
            <a:r>
              <a:rPr lang="en-US" sz="1069" dirty="0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 </a:t>
            </a:r>
            <a:r>
              <a:rPr lang="en-US" sz="1069" dirty="0" err="1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großen</a:t>
            </a:r>
            <a:r>
              <a:rPr lang="en-US" sz="1069" dirty="0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 Raum </a:t>
            </a:r>
            <a:r>
              <a:rPr lang="en-US" sz="1069" dirty="0" err="1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drastisch</a:t>
            </a:r>
            <a:r>
              <a:rPr lang="en-US" sz="1069" dirty="0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 </a:t>
            </a:r>
            <a:r>
              <a:rPr lang="en-US" sz="1069" dirty="0" err="1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seltener</a:t>
            </a:r>
            <a:r>
              <a:rPr lang="en-US" sz="1069" dirty="0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 </a:t>
            </a:r>
            <a:r>
              <a:rPr lang="en-US" sz="1069" dirty="0" err="1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besucht</a:t>
            </a:r>
            <a:r>
              <a:rPr lang="en-US" sz="1069" dirty="0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.</a:t>
            </a:r>
            <a:endParaRPr sz="13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07" name="Google Shape;207;p20">
            <a:extLst>
              <a:ext uri="{FF2B5EF4-FFF2-40B4-BE49-F238E27FC236}">
                <a16:creationId xmlns:a16="http://schemas.microsoft.com/office/drawing/2014/main" id="{3FE936CB-AA2E-7E8D-8224-2E4286148C00}"/>
              </a:ext>
            </a:extLst>
          </p:cNvPr>
          <p:cNvSpPr txBox="1"/>
          <p:nvPr/>
        </p:nvSpPr>
        <p:spPr>
          <a:xfrm>
            <a:off x="4786312" y="3285455"/>
            <a:ext cx="3786188" cy="526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59929"/>
              </a:lnSpc>
            </a:pPr>
            <a:r>
              <a:rPr lang="en-US" sz="1069" b="1" dirty="0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Under-Training:</a:t>
            </a:r>
            <a:r>
              <a:rPr lang="en-US" sz="1069" dirty="0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 Checkpoint-</a:t>
            </a:r>
            <a:r>
              <a:rPr lang="en-US" sz="1069" dirty="0" err="1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Analysen</a:t>
            </a:r>
            <a:r>
              <a:rPr lang="en-US" sz="1069" dirty="0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 </a:t>
            </a:r>
            <a:r>
              <a:rPr lang="en-US" sz="1069" dirty="0" err="1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zeigen</a:t>
            </a:r>
            <a:r>
              <a:rPr lang="en-US" sz="1069" dirty="0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, </a:t>
            </a:r>
            <a:r>
              <a:rPr lang="en-US" sz="1069" dirty="0" err="1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dass</a:t>
            </a:r>
            <a:r>
              <a:rPr lang="en-US" sz="1069" dirty="0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 die Q-</a:t>
            </a:r>
            <a:r>
              <a:rPr lang="en-US" sz="1069" dirty="0" err="1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Werte</a:t>
            </a:r>
            <a:r>
              <a:rPr lang="en-US" sz="1069" dirty="0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 </a:t>
            </a:r>
            <a:r>
              <a:rPr lang="en-US" sz="1069" dirty="0" err="1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noch</a:t>
            </a:r>
            <a:r>
              <a:rPr lang="en-US" sz="1069" dirty="0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 </a:t>
            </a:r>
            <a:r>
              <a:rPr lang="en-US" sz="1069" dirty="0" err="1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wachsen</a:t>
            </a:r>
            <a:r>
              <a:rPr lang="en-US" sz="1069" dirty="0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. Der Agent hat die </a:t>
            </a:r>
            <a:r>
              <a:rPr lang="en-US" sz="1069" dirty="0" err="1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Konvergenz</a:t>
            </a:r>
            <a:r>
              <a:rPr lang="en-US" sz="1069" dirty="0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 </a:t>
            </a:r>
            <a:r>
              <a:rPr lang="en-US" sz="1069" dirty="0" err="1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noch</a:t>
            </a:r>
            <a:r>
              <a:rPr lang="en-US" sz="1069" dirty="0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 nicht </a:t>
            </a:r>
            <a:r>
              <a:rPr lang="en-US" sz="1069" dirty="0" err="1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erreicht</a:t>
            </a:r>
            <a:r>
              <a:rPr lang="en-US" sz="1069" dirty="0">
                <a:solidFill>
                  <a:srgbClr val="333333"/>
                </a:solidFill>
                <a:latin typeface="Cambria" panose="02040503050406030204" pitchFamily="18" charset="0"/>
                <a:ea typeface="Cambria" panose="02040503050406030204" pitchFamily="18" charset="0"/>
                <a:cs typeface="Lato"/>
                <a:sym typeface="Lato"/>
              </a:rPr>
              <a:t>.</a:t>
            </a:r>
            <a:endParaRPr sz="13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08" name="Google Shape;208;p20">
            <a:extLst>
              <a:ext uri="{FF2B5EF4-FFF2-40B4-BE49-F238E27FC236}">
                <a16:creationId xmlns:a16="http://schemas.microsoft.com/office/drawing/2014/main" id="{69BCBFB9-9755-DC81-AD0E-616DC3DB1D1D}"/>
              </a:ext>
            </a:extLst>
          </p:cNvPr>
          <p:cNvSpPr txBox="1"/>
          <p:nvPr/>
        </p:nvSpPr>
        <p:spPr>
          <a:xfrm>
            <a:off x="428625" y="428625"/>
            <a:ext cx="8701088" cy="3808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2475" b="1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Poppins"/>
                <a:sym typeface="Poppins"/>
              </a:rPr>
              <a:t>Das </a:t>
            </a:r>
            <a:r>
              <a:rPr lang="en-US" sz="2475" b="1" dirty="0" err="1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Poppins"/>
                <a:sym typeface="Poppins"/>
              </a:rPr>
              <a:t>Skalierungs-Paradoxon</a:t>
            </a:r>
            <a:endParaRPr sz="135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" name="Shape 37">
            <a:extLst>
              <a:ext uri="{FF2B5EF4-FFF2-40B4-BE49-F238E27FC236}">
                <a16:creationId xmlns:a16="http://schemas.microsoft.com/office/drawing/2014/main" id="{EC15BE93-7BA0-616D-D1CA-F8003C330977}"/>
              </a:ext>
            </a:extLst>
          </p:cNvPr>
          <p:cNvSpPr/>
          <p:nvPr/>
        </p:nvSpPr>
        <p:spPr>
          <a:xfrm>
            <a:off x="590550" y="4301096"/>
            <a:ext cx="7591424" cy="731742"/>
          </a:xfrm>
          <a:prstGeom prst="roundRect">
            <a:avLst>
              <a:gd name="adj" fmla="val 14118"/>
            </a:avLst>
          </a:prstGeom>
          <a:solidFill>
            <a:srgbClr val="1E293B"/>
          </a:solidFill>
          <a:ln w="12700">
            <a:solidFill>
              <a:srgbClr val="0D9488"/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 dirty="0"/>
          </a:p>
        </p:txBody>
      </p:sp>
      <p:sp>
        <p:nvSpPr>
          <p:cNvPr id="4" name="Google Shape;217;p21">
            <a:extLst>
              <a:ext uri="{FF2B5EF4-FFF2-40B4-BE49-F238E27FC236}">
                <a16:creationId xmlns:a16="http://schemas.microsoft.com/office/drawing/2014/main" id="{DD822CB6-42A3-9870-5F01-238A893B4B8D}"/>
              </a:ext>
            </a:extLst>
          </p:cNvPr>
          <p:cNvSpPr txBox="1"/>
          <p:nvPr/>
        </p:nvSpPr>
        <p:spPr>
          <a:xfrm>
            <a:off x="1119663" y="4482716"/>
            <a:ext cx="7062311" cy="258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 dirty="0">
                <a:solidFill>
                  <a:schemeClr val="bg1"/>
                </a:solidFill>
                <a:latin typeface="Calibri "/>
                <a:ea typeface="Lato"/>
                <a:cs typeface="Lato"/>
                <a:sym typeface="Lato"/>
              </a:rPr>
              <a:t>Die 113k </a:t>
            </a:r>
            <a:r>
              <a:rPr lang="en-US" sz="1050" b="0" i="0" u="none" strike="noStrike" cap="none" dirty="0" err="1">
                <a:solidFill>
                  <a:schemeClr val="bg1"/>
                </a:solidFill>
                <a:latin typeface="Calibri "/>
                <a:ea typeface="Lato"/>
                <a:cs typeface="Lato"/>
                <a:sym typeface="Lato"/>
              </a:rPr>
              <a:t>Zustände</a:t>
            </a:r>
            <a:r>
              <a:rPr lang="en-US" sz="1050" b="0" i="0" u="none" strike="noStrike" cap="none" dirty="0">
                <a:solidFill>
                  <a:schemeClr val="bg1"/>
                </a:solidFill>
                <a:latin typeface="Calibri "/>
                <a:ea typeface="Lato"/>
                <a:cs typeface="Lato"/>
                <a:sym typeface="Lato"/>
              </a:rPr>
              <a:t> </a:t>
            </a:r>
            <a:r>
              <a:rPr lang="en-US" sz="1050" b="0" i="0" u="none" strike="noStrike" cap="none" dirty="0" err="1">
                <a:solidFill>
                  <a:schemeClr val="bg1"/>
                </a:solidFill>
                <a:latin typeface="Calibri "/>
                <a:ea typeface="Lato"/>
                <a:cs typeface="Lato"/>
                <a:sym typeface="Lato"/>
              </a:rPr>
              <a:t>erfordern</a:t>
            </a:r>
            <a:r>
              <a:rPr lang="en-US" sz="1050" b="0" i="0" u="none" strike="noStrike" cap="none" dirty="0">
                <a:solidFill>
                  <a:schemeClr val="bg1"/>
                </a:solidFill>
                <a:latin typeface="Calibri "/>
                <a:ea typeface="Lato"/>
                <a:cs typeface="Lato"/>
                <a:sym typeface="Lato"/>
              </a:rPr>
              <a:t> </a:t>
            </a:r>
            <a:r>
              <a:rPr lang="en-US" sz="1050" b="0" i="0" u="none" strike="noStrike" cap="none" dirty="0" err="1">
                <a:solidFill>
                  <a:schemeClr val="bg1"/>
                </a:solidFill>
                <a:latin typeface="Calibri "/>
                <a:ea typeface="Lato"/>
                <a:cs typeface="Lato"/>
                <a:sym typeface="Lato"/>
              </a:rPr>
              <a:t>deutlich</a:t>
            </a:r>
            <a:r>
              <a:rPr lang="en-US" sz="1050" b="0" i="0" u="none" strike="noStrike" cap="none" dirty="0">
                <a:solidFill>
                  <a:schemeClr val="bg1"/>
                </a:solidFill>
                <a:latin typeface="Calibri "/>
                <a:ea typeface="Lato"/>
                <a:cs typeface="Lato"/>
                <a:sym typeface="Lato"/>
              </a:rPr>
              <a:t> </a:t>
            </a:r>
            <a:r>
              <a:rPr lang="en-US" sz="1050" b="0" i="0" u="none" strike="noStrike" cap="none" dirty="0" err="1">
                <a:solidFill>
                  <a:schemeClr val="bg1"/>
                </a:solidFill>
                <a:latin typeface="Calibri "/>
                <a:ea typeface="Lato"/>
                <a:cs typeface="Lato"/>
                <a:sym typeface="Lato"/>
              </a:rPr>
              <a:t>mehr</a:t>
            </a:r>
            <a:r>
              <a:rPr lang="en-US" sz="1050" b="0" i="0" u="none" strike="noStrike" cap="none" dirty="0">
                <a:solidFill>
                  <a:schemeClr val="bg1"/>
                </a:solidFill>
                <a:latin typeface="Calibri "/>
                <a:ea typeface="Lato"/>
                <a:cs typeface="Lato"/>
                <a:sym typeface="Lato"/>
              </a:rPr>
              <a:t> </a:t>
            </a:r>
            <a:r>
              <a:rPr lang="en-US" sz="1050" b="0" i="0" u="none" strike="noStrike" cap="none" dirty="0" err="1">
                <a:solidFill>
                  <a:schemeClr val="bg1"/>
                </a:solidFill>
                <a:latin typeface="Calibri "/>
                <a:ea typeface="Lato"/>
                <a:cs typeface="Lato"/>
                <a:sym typeface="Lato"/>
              </a:rPr>
              <a:t>als</a:t>
            </a:r>
            <a:r>
              <a:rPr lang="en-US" sz="1050" b="0" i="0" u="none" strike="noStrike" cap="none" dirty="0">
                <a:solidFill>
                  <a:schemeClr val="bg1"/>
                </a:solidFill>
                <a:latin typeface="Calibri "/>
                <a:ea typeface="Lato"/>
                <a:cs typeface="Lato"/>
                <a:sym typeface="Lato"/>
              </a:rPr>
              <a:t> 100M </a:t>
            </a:r>
            <a:r>
              <a:rPr lang="en-US" sz="1050" b="0" i="0" u="none" strike="noStrike" cap="none" dirty="0" err="1">
                <a:solidFill>
                  <a:schemeClr val="bg1"/>
                </a:solidFill>
                <a:latin typeface="Calibri "/>
                <a:ea typeface="Lato"/>
                <a:cs typeface="Lato"/>
                <a:sym typeface="Lato"/>
              </a:rPr>
              <a:t>Episoden</a:t>
            </a:r>
            <a:r>
              <a:rPr lang="en-US" sz="1050" b="0" i="0" u="none" strike="noStrike" cap="none" dirty="0">
                <a:solidFill>
                  <a:schemeClr val="bg1"/>
                </a:solidFill>
                <a:latin typeface="Calibri "/>
                <a:ea typeface="Lato"/>
                <a:cs typeface="Lato"/>
                <a:sym typeface="Lato"/>
              </a:rPr>
              <a:t>. </a:t>
            </a:r>
            <a:r>
              <a:rPr lang="en-US" sz="1050" b="0" i="0" u="none" strike="noStrike" cap="none" dirty="0" err="1">
                <a:solidFill>
                  <a:schemeClr val="bg1"/>
                </a:solidFill>
                <a:latin typeface="Calibri "/>
                <a:ea typeface="Lato"/>
                <a:cs typeface="Lato"/>
                <a:sym typeface="Lato"/>
              </a:rPr>
              <a:t>Schätzungsweise</a:t>
            </a:r>
            <a:r>
              <a:rPr lang="en-US" sz="1050" b="0" i="0" u="none" strike="noStrike" cap="none" dirty="0">
                <a:solidFill>
                  <a:schemeClr val="bg1"/>
                </a:solidFill>
                <a:latin typeface="Calibri "/>
                <a:ea typeface="Lato"/>
                <a:cs typeface="Lato"/>
                <a:sym typeface="Lato"/>
              </a:rPr>
              <a:t> </a:t>
            </a:r>
            <a:r>
              <a:rPr lang="en-US" sz="1050" b="0" i="0" u="none" strike="noStrike" cap="none" dirty="0" err="1">
                <a:solidFill>
                  <a:schemeClr val="bg1"/>
                </a:solidFill>
                <a:latin typeface="Calibri "/>
                <a:ea typeface="Lato"/>
                <a:cs typeface="Lato"/>
                <a:sym typeface="Lato"/>
              </a:rPr>
              <a:t>wären</a:t>
            </a:r>
            <a:r>
              <a:rPr lang="en-US" sz="1050" b="0" i="0" u="none" strike="noStrike" cap="none" dirty="0">
                <a:solidFill>
                  <a:schemeClr val="bg1"/>
                </a:solidFill>
                <a:latin typeface="Calibri "/>
                <a:ea typeface="Lato"/>
                <a:cs typeface="Lato"/>
                <a:sym typeface="Lato"/>
              </a:rPr>
              <a:t> 500M+ </a:t>
            </a:r>
            <a:r>
              <a:rPr lang="en-US" sz="1050" b="0" i="0" u="none" strike="noStrike" cap="none" dirty="0" err="1">
                <a:solidFill>
                  <a:schemeClr val="bg1"/>
                </a:solidFill>
                <a:latin typeface="Calibri "/>
                <a:ea typeface="Lato"/>
                <a:cs typeface="Lato"/>
                <a:sym typeface="Lato"/>
              </a:rPr>
              <a:t>notwendig</a:t>
            </a:r>
            <a:r>
              <a:rPr lang="en-US" sz="1050" b="0" i="0" u="none" strike="noStrike" cap="none" dirty="0">
                <a:solidFill>
                  <a:schemeClr val="bg1"/>
                </a:solidFill>
                <a:latin typeface="Calibri "/>
                <a:ea typeface="Lato"/>
                <a:cs typeface="Lato"/>
                <a:sym typeface="Lato"/>
              </a:rPr>
              <a:t> für </a:t>
            </a:r>
            <a:r>
              <a:rPr lang="en-US" sz="1050" b="0" i="0" u="none" strike="noStrike" cap="none" dirty="0" err="1">
                <a:solidFill>
                  <a:schemeClr val="bg1"/>
                </a:solidFill>
                <a:latin typeface="Calibri "/>
                <a:ea typeface="Lato"/>
                <a:cs typeface="Lato"/>
                <a:sym typeface="Lato"/>
              </a:rPr>
              <a:t>volle</a:t>
            </a:r>
            <a:r>
              <a:rPr lang="en-US" sz="1050" b="0" i="0" u="none" strike="noStrike" cap="none" dirty="0">
                <a:solidFill>
                  <a:schemeClr val="bg1"/>
                </a:solidFill>
                <a:latin typeface="Calibri "/>
                <a:ea typeface="Lato"/>
                <a:cs typeface="Lato"/>
                <a:sym typeface="Lato"/>
              </a:rPr>
              <a:t> </a:t>
            </a:r>
            <a:r>
              <a:rPr lang="en-US" sz="1050" b="0" i="0" u="none" strike="noStrike" cap="none" dirty="0" err="1">
                <a:solidFill>
                  <a:schemeClr val="bg1"/>
                </a:solidFill>
                <a:latin typeface="Calibri "/>
                <a:ea typeface="Lato"/>
                <a:cs typeface="Lato"/>
                <a:sym typeface="Lato"/>
              </a:rPr>
              <a:t>Konvergenz</a:t>
            </a:r>
            <a:r>
              <a:rPr lang="en-US" sz="1050" b="0" i="0" u="none" strike="noStrike" cap="none" dirty="0">
                <a:solidFill>
                  <a:schemeClr val="bg1"/>
                </a:solidFill>
                <a:latin typeface="Calibri "/>
                <a:ea typeface="Lato"/>
                <a:cs typeface="Lato"/>
                <a:sym typeface="Lato"/>
              </a:rPr>
              <a:t>.</a:t>
            </a:r>
            <a:endParaRPr sz="1100" dirty="0">
              <a:solidFill>
                <a:schemeClr val="bg1"/>
              </a:solidFill>
              <a:latin typeface="Calibri "/>
            </a:endParaRPr>
          </a:p>
        </p:txBody>
      </p:sp>
      <p:pic>
        <p:nvPicPr>
          <p:cNvPr id="5" name="Google Shape;219;p21" descr="image.png">
            <a:extLst>
              <a:ext uri="{FF2B5EF4-FFF2-40B4-BE49-F238E27FC236}">
                <a16:creationId xmlns:a16="http://schemas.microsoft.com/office/drawing/2014/main" id="{2C0FB434-C67F-307E-4C8B-C889F6883379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76275" y="4482716"/>
            <a:ext cx="257174" cy="331173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Shape 1">
            <a:extLst>
              <a:ext uri="{FF2B5EF4-FFF2-40B4-BE49-F238E27FC236}">
                <a16:creationId xmlns:a16="http://schemas.microsoft.com/office/drawing/2014/main" id="{01523E4A-FC0C-74D3-021C-79A1C85076B5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73192638-F831-5836-38B1-32A1616BE347}"/>
              </a:ext>
            </a:extLst>
          </p:cNvPr>
          <p:cNvSpPr/>
          <p:nvPr/>
        </p:nvSpPr>
        <p:spPr>
          <a:xfrm>
            <a:off x="457200" y="5486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14B8A6"/>
                </a:solidFill>
              </a:rPr>
              <a:t>FEATURE VALIDATION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403624545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457200" y="1097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14B8A6"/>
                </a:solidFill>
              </a:rPr>
              <a:t>ROADMAP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Improvements &amp; Next Steps</a:t>
            </a:r>
            <a:endParaRPr lang="en-US" sz="2800" dirty="0"/>
          </a:p>
        </p:txBody>
      </p:sp>
      <p:sp>
        <p:nvSpPr>
          <p:cNvPr id="5" name="!!1"/>
          <p:cNvSpPr/>
          <p:nvPr/>
        </p:nvSpPr>
        <p:spPr>
          <a:xfrm>
            <a:off x="365760" y="1097280"/>
            <a:ext cx="3977640" cy="1572768"/>
          </a:xfrm>
          <a:prstGeom prst="roundRect">
            <a:avLst>
              <a:gd name="adj" fmla="val 8140"/>
            </a:avLst>
          </a:prstGeom>
          <a:solidFill>
            <a:srgbClr val="1E3A5F"/>
          </a:solidFill>
          <a:ln w="12700">
            <a:solidFill>
              <a:srgbClr val="0D9488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6" name="Shape 4"/>
          <p:cNvSpPr/>
          <p:nvPr/>
        </p:nvSpPr>
        <p:spPr>
          <a:xfrm>
            <a:off x="530352" y="1261872"/>
            <a:ext cx="594360" cy="59436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7" name="Text 5"/>
          <p:cNvSpPr/>
          <p:nvPr/>
        </p:nvSpPr>
        <p:spPr>
          <a:xfrm>
            <a:off x="530352" y="1261872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</a:rPr>
              <a:t>01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3291840" y="1325880"/>
            <a:ext cx="877824" cy="237744"/>
          </a:xfrm>
          <a:prstGeom prst="roundRect">
            <a:avLst>
              <a:gd name="adj" fmla="val 23077"/>
            </a:avLst>
          </a:prstGeom>
          <a:solidFill>
            <a:srgbClr val="0D9488">
              <a:alpha val="25000"/>
            </a:srgbClr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9" name="Text 7"/>
          <p:cNvSpPr/>
          <p:nvPr/>
        </p:nvSpPr>
        <p:spPr>
          <a:xfrm>
            <a:off x="3291840" y="1325880"/>
            <a:ext cx="8778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00" dirty="0">
                <a:solidFill>
                  <a:srgbClr val="0D9488"/>
                </a:solidFill>
              </a:rPr>
              <a:t>HOCH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1243584" y="128016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D9488"/>
                </a:solidFill>
              </a:rPr>
              <a:t>500M Episodes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30352" y="1993392"/>
            <a:ext cx="3657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</a:rPr>
              <a:t>Counting Agent vollständig konvergieren lassen – genügend Trainingszeit für stabilen Vergleich mit Baseline.</a:t>
            </a:r>
            <a:endParaRPr lang="en-US" sz="950" dirty="0"/>
          </a:p>
        </p:txBody>
      </p:sp>
      <p:sp>
        <p:nvSpPr>
          <p:cNvPr id="12" name="!!2"/>
          <p:cNvSpPr/>
          <p:nvPr/>
        </p:nvSpPr>
        <p:spPr>
          <a:xfrm>
            <a:off x="4663440" y="1097280"/>
            <a:ext cx="3977640" cy="1572768"/>
          </a:xfrm>
          <a:prstGeom prst="roundRect">
            <a:avLst>
              <a:gd name="adj" fmla="val 8140"/>
            </a:avLst>
          </a:prstGeom>
          <a:solidFill>
            <a:srgbClr val="1E3A5F"/>
          </a:solidFill>
          <a:ln w="12700">
            <a:solidFill>
              <a:srgbClr val="F59E0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3" name="Shape 11"/>
          <p:cNvSpPr/>
          <p:nvPr/>
        </p:nvSpPr>
        <p:spPr>
          <a:xfrm>
            <a:off x="4828032" y="1261872"/>
            <a:ext cx="594360" cy="59436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4" name="Text 12"/>
          <p:cNvSpPr/>
          <p:nvPr/>
        </p:nvSpPr>
        <p:spPr>
          <a:xfrm>
            <a:off x="4828032" y="1261872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</a:rPr>
              <a:t>02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589520" y="1325880"/>
            <a:ext cx="877824" cy="237744"/>
          </a:xfrm>
          <a:prstGeom prst="roundRect">
            <a:avLst>
              <a:gd name="adj" fmla="val 23077"/>
            </a:avLst>
          </a:prstGeom>
          <a:solidFill>
            <a:srgbClr val="F59E0B">
              <a:alpha val="25000"/>
            </a:srgbClr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6" name="Text 14"/>
          <p:cNvSpPr/>
          <p:nvPr/>
        </p:nvSpPr>
        <p:spPr>
          <a:xfrm>
            <a:off x="7589520" y="1325880"/>
            <a:ext cx="8778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00" dirty="0">
                <a:solidFill>
                  <a:srgbClr val="F59E0B"/>
                </a:solidFill>
              </a:rPr>
              <a:t>MITTEL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541264" y="128016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59E0B"/>
                </a:solidFill>
              </a:rPr>
              <a:t>Ablation Study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828032" y="1993392"/>
            <a:ext cx="3657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</a:rPr>
              <a:t>Welcher Feature trägt am meisten zur Performance-Verbesserung bei? Systematische Analyse.</a:t>
            </a:r>
            <a:endParaRPr lang="en-US" sz="950" dirty="0"/>
          </a:p>
        </p:txBody>
      </p:sp>
      <p:sp>
        <p:nvSpPr>
          <p:cNvPr id="19" name="!!3"/>
          <p:cNvSpPr/>
          <p:nvPr/>
        </p:nvSpPr>
        <p:spPr>
          <a:xfrm>
            <a:off x="365760" y="2926080"/>
            <a:ext cx="3977640" cy="1572768"/>
          </a:xfrm>
          <a:prstGeom prst="roundRect">
            <a:avLst>
              <a:gd name="adj" fmla="val 8140"/>
            </a:avLst>
          </a:prstGeom>
          <a:solidFill>
            <a:srgbClr val="1E3A5F"/>
          </a:solidFill>
          <a:ln w="12700">
            <a:solidFill>
              <a:srgbClr val="14B8A6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0" name="Shape 18"/>
          <p:cNvSpPr/>
          <p:nvPr/>
        </p:nvSpPr>
        <p:spPr>
          <a:xfrm>
            <a:off x="530352" y="3090672"/>
            <a:ext cx="594360" cy="594360"/>
          </a:xfrm>
          <a:prstGeom prst="ellipse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1" name="Text 19"/>
          <p:cNvSpPr/>
          <p:nvPr/>
        </p:nvSpPr>
        <p:spPr>
          <a:xfrm>
            <a:off x="530352" y="3090672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</a:rPr>
              <a:t>03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3291840" y="3154680"/>
            <a:ext cx="877824" cy="237744"/>
          </a:xfrm>
          <a:prstGeom prst="roundRect">
            <a:avLst>
              <a:gd name="adj" fmla="val 23077"/>
            </a:avLst>
          </a:prstGeom>
          <a:solidFill>
            <a:srgbClr val="14B8A6">
              <a:alpha val="25000"/>
            </a:srgbClr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3" name="Text 21"/>
          <p:cNvSpPr/>
          <p:nvPr/>
        </p:nvSpPr>
        <p:spPr>
          <a:xfrm>
            <a:off x="3291840" y="3154680"/>
            <a:ext cx="8778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00" dirty="0">
                <a:solidFill>
                  <a:srgbClr val="14B8A6"/>
                </a:solidFill>
              </a:rPr>
              <a:t>MITTEL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243584" y="310896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B8A6"/>
                </a:solidFill>
              </a:rPr>
              <a:t>Transfer Learning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530352" y="3822192"/>
            <a:ext cx="3657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</a:rPr>
              <a:t>Baseline-Weights als Initialisierung für Counting Agent – potenzielle Beschleunigung der Konvergenz.</a:t>
            </a:r>
            <a:endParaRPr lang="en-US" sz="950" dirty="0"/>
          </a:p>
        </p:txBody>
      </p:sp>
      <p:sp>
        <p:nvSpPr>
          <p:cNvPr id="26" name="!!4"/>
          <p:cNvSpPr/>
          <p:nvPr/>
        </p:nvSpPr>
        <p:spPr>
          <a:xfrm>
            <a:off x="4663440" y="2926080"/>
            <a:ext cx="3977640" cy="1572768"/>
          </a:xfrm>
          <a:prstGeom prst="roundRect">
            <a:avLst>
              <a:gd name="adj" fmla="val 8140"/>
            </a:avLst>
          </a:prstGeom>
          <a:solidFill>
            <a:srgbClr val="1E3A5F"/>
          </a:solidFill>
          <a:ln w="12700">
            <a:solidFill>
              <a:srgbClr val="10B981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7" name="Shape 25"/>
          <p:cNvSpPr/>
          <p:nvPr/>
        </p:nvSpPr>
        <p:spPr>
          <a:xfrm>
            <a:off x="4828032" y="3090672"/>
            <a:ext cx="594360" cy="59436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8" name="Text 26"/>
          <p:cNvSpPr/>
          <p:nvPr/>
        </p:nvSpPr>
        <p:spPr>
          <a:xfrm>
            <a:off x="4828032" y="3090672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</a:rPr>
              <a:t>04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7589520" y="3154680"/>
            <a:ext cx="877824" cy="237744"/>
          </a:xfrm>
          <a:prstGeom prst="roundRect">
            <a:avLst>
              <a:gd name="adj" fmla="val 23077"/>
            </a:avLst>
          </a:prstGeom>
          <a:solidFill>
            <a:srgbClr val="10B981">
              <a:alpha val="25000"/>
            </a:srgbClr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0" name="Text 28"/>
          <p:cNvSpPr/>
          <p:nvPr/>
        </p:nvSpPr>
        <p:spPr>
          <a:xfrm>
            <a:off x="7589520" y="3154680"/>
            <a:ext cx="8778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00" dirty="0">
                <a:solidFill>
                  <a:srgbClr val="10B981"/>
                </a:solidFill>
              </a:rPr>
              <a:t>VISION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5541264" y="310896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B981"/>
                </a:solidFill>
              </a:rPr>
              <a:t>Advanced Algorithms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4828032" y="3822192"/>
            <a:ext cx="3657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</a:rPr>
              <a:t>DQN und PPO für komplexere Policies – Funktionsapproximation statt Q-Table bei großen State Spaces.</a:t>
            </a:r>
            <a:endParaRPr lang="en-US" sz="95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" name="Text 2"/>
          <p:cNvSpPr/>
          <p:nvPr/>
        </p:nvSpPr>
        <p:spPr>
          <a:xfrm>
            <a:off x="457200" y="54864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14B8A6"/>
                </a:solidFill>
              </a:rPr>
              <a:t>SUMMARY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Takeaways</a:t>
            </a:r>
            <a:endParaRPr lang="en-US" sz="2800" dirty="0"/>
          </a:p>
        </p:txBody>
      </p:sp>
      <p:sp>
        <p:nvSpPr>
          <p:cNvPr id="6" name="!!1"/>
          <p:cNvSpPr/>
          <p:nvPr/>
        </p:nvSpPr>
        <p:spPr>
          <a:xfrm>
            <a:off x="365760" y="1051560"/>
            <a:ext cx="2606040" cy="2194560"/>
          </a:xfrm>
          <a:prstGeom prst="roundRect">
            <a:avLst>
              <a:gd name="adj" fmla="val 5833"/>
            </a:avLst>
          </a:prstGeom>
          <a:solidFill>
            <a:srgbClr val="1E293B"/>
          </a:solidFill>
          <a:ln w="12700">
            <a:solidFill>
              <a:srgbClr val="0D9488">
                <a:alpha val="45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7" name="Text 5"/>
          <p:cNvSpPr/>
          <p:nvPr/>
        </p:nvSpPr>
        <p:spPr>
          <a:xfrm>
            <a:off x="365760" y="118872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✅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493776" y="1874520"/>
            <a:ext cx="235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B8A6"/>
                </a:solidFill>
              </a:rPr>
              <a:t>Q-Learning funktioniert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93776" y="2304288"/>
            <a:ext cx="235000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</a:rPr>
              <a:t>Erfolgreich für Blackjack demonstriert und validiert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00400" y="1051560"/>
            <a:ext cx="2606040" cy="2194560"/>
          </a:xfrm>
          <a:prstGeom prst="roundRect">
            <a:avLst>
              <a:gd name="adj" fmla="val 5833"/>
            </a:avLst>
          </a:prstGeom>
          <a:solidFill>
            <a:srgbClr val="1E293B"/>
          </a:solidFill>
          <a:ln w="12700">
            <a:solidFill>
              <a:srgbClr val="0D9488">
                <a:alpha val="45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 dirty="0"/>
          </a:p>
        </p:txBody>
      </p:sp>
      <p:sp>
        <p:nvSpPr>
          <p:cNvPr id="11" name="Text 9"/>
          <p:cNvSpPr/>
          <p:nvPr/>
        </p:nvSpPr>
        <p:spPr>
          <a:xfrm>
            <a:off x="3200400" y="118872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🃏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3328416" y="1874520"/>
            <a:ext cx="235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B8A6"/>
                </a:solidFill>
              </a:rPr>
              <a:t>Card Counting wirkt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328416" y="2304288"/>
            <a:ext cx="235000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</a:rPr>
              <a:t>True-Count-Bucket Analyse zeigt klare, messbare Unterschiede</a:t>
            </a:r>
            <a:endParaRPr lang="en-US" sz="1000" dirty="0"/>
          </a:p>
        </p:txBody>
      </p:sp>
      <p:sp>
        <p:nvSpPr>
          <p:cNvPr id="14" name="!!2"/>
          <p:cNvSpPr/>
          <p:nvPr/>
        </p:nvSpPr>
        <p:spPr>
          <a:xfrm>
            <a:off x="6035040" y="1051560"/>
            <a:ext cx="2606040" cy="2194560"/>
          </a:xfrm>
          <a:prstGeom prst="roundRect">
            <a:avLst>
              <a:gd name="adj" fmla="val 5833"/>
            </a:avLst>
          </a:prstGeom>
          <a:solidFill>
            <a:srgbClr val="1E293B"/>
          </a:solidFill>
          <a:ln w="12700">
            <a:solidFill>
              <a:srgbClr val="0D9488">
                <a:alpha val="45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5" name="Text 13"/>
          <p:cNvSpPr/>
          <p:nvPr/>
        </p:nvSpPr>
        <p:spPr>
          <a:xfrm>
            <a:off x="6035040" y="118872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📈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6163056" y="1874520"/>
            <a:ext cx="235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B8A6"/>
                </a:solidFill>
              </a:rPr>
              <a:t>Seed-Stabilität steigt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163056" y="2304288"/>
            <a:ext cx="235000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</a:rPr>
              <a:t>Mehr Features → robusteres, konsistenteres Lernen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65760" y="3401568"/>
            <a:ext cx="4572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Metriken im Überblick</a:t>
            </a:r>
            <a:endParaRPr lang="en-US" sz="1400" dirty="0"/>
          </a:p>
        </p:txBody>
      </p:sp>
      <p:sp>
        <p:nvSpPr>
          <p:cNvPr id="19" name="!!3"/>
          <p:cNvSpPr/>
          <p:nvPr/>
        </p:nvSpPr>
        <p:spPr>
          <a:xfrm>
            <a:off x="365760" y="3840480"/>
            <a:ext cx="2606040" cy="1005840"/>
          </a:xfrm>
          <a:prstGeom prst="roundRect">
            <a:avLst>
              <a:gd name="adj" fmla="val 9091"/>
            </a:avLst>
          </a:prstGeom>
          <a:solidFill>
            <a:srgbClr val="F1F5F9"/>
          </a:solidFill>
          <a:ln w="12700">
            <a:solidFill>
              <a:srgbClr val="0D9488">
                <a:alpha val="45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0" name="Text 18"/>
          <p:cNvSpPr/>
          <p:nvPr/>
        </p:nvSpPr>
        <p:spPr>
          <a:xfrm>
            <a:off x="493776" y="3913632"/>
            <a:ext cx="23500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0D9488"/>
                </a:solidFill>
              </a:rPr>
              <a:t>BASELINE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493776" y="4133088"/>
            <a:ext cx="2350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</a:rPr>
              <a:t>−0.051565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93776" y="4480560"/>
            <a:ext cx="23500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280 States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200400" y="3840480"/>
            <a:ext cx="2606040" cy="1005840"/>
          </a:xfrm>
          <a:prstGeom prst="roundRect">
            <a:avLst>
              <a:gd name="adj" fmla="val 9091"/>
            </a:avLst>
          </a:prstGeom>
          <a:solidFill>
            <a:srgbClr val="F1F5F9"/>
          </a:solidFill>
          <a:ln w="12700">
            <a:solidFill>
              <a:srgbClr val="F59E0B">
                <a:alpha val="45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4" name="Text 22"/>
          <p:cNvSpPr/>
          <p:nvPr/>
        </p:nvSpPr>
        <p:spPr>
          <a:xfrm>
            <a:off x="3328416" y="3913632"/>
            <a:ext cx="23500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F59E0B"/>
                </a:solidFill>
              </a:rPr>
              <a:t>COUNTING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3328416" y="4133088"/>
            <a:ext cx="2350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</a:rPr>
              <a:t>−0.049736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3328416" y="4480560"/>
            <a:ext cx="23500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108k States</a:t>
            </a:r>
            <a:endParaRPr lang="en-US" sz="1000" dirty="0"/>
          </a:p>
        </p:txBody>
      </p:sp>
      <p:sp>
        <p:nvSpPr>
          <p:cNvPr id="27" name="!!4"/>
          <p:cNvSpPr/>
          <p:nvPr/>
        </p:nvSpPr>
        <p:spPr>
          <a:xfrm>
            <a:off x="6035040" y="3840480"/>
            <a:ext cx="2606040" cy="1005840"/>
          </a:xfrm>
          <a:prstGeom prst="roundRect">
            <a:avLst>
              <a:gd name="adj" fmla="val 9091"/>
            </a:avLst>
          </a:prstGeom>
          <a:solidFill>
            <a:srgbClr val="F1F5F9"/>
          </a:solidFill>
          <a:ln w="12700">
            <a:solidFill>
              <a:srgbClr val="10B981">
                <a:alpha val="45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8" name="Text 26"/>
          <p:cNvSpPr/>
          <p:nvPr/>
        </p:nvSpPr>
        <p:spPr>
          <a:xfrm>
            <a:off x="6163056" y="3913632"/>
            <a:ext cx="23500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10B981"/>
                </a:solidFill>
              </a:rPr>
              <a:t>WIN RATE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6163056" y="4133088"/>
            <a:ext cx="2350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</a:rPr>
              <a:t>+0.09% besser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163056" y="4480560"/>
            <a:ext cx="23500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mit 95%-CI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5198230-E57F-2307-F092-1CA6D110AC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1CD10B07-FDCE-CE3A-51C1-1807D7651DD1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79E84A3A-AF71-CD7A-F6C8-F73C25D7D13E}"/>
              </a:ext>
            </a:extLst>
          </p:cNvPr>
          <p:cNvSpPr/>
          <p:nvPr/>
        </p:nvSpPr>
        <p:spPr>
          <a:xfrm>
            <a:off x="5943600" y="457200"/>
            <a:ext cx="4572000" cy="4572000"/>
          </a:xfrm>
          <a:prstGeom prst="ellipse">
            <a:avLst/>
          </a:prstGeom>
          <a:solidFill>
            <a:srgbClr val="14B8A6">
              <a:alpha val="8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BF763431-8D0E-09FE-FA41-C52D6CEF53B7}"/>
              </a:ext>
            </a:extLst>
          </p:cNvPr>
          <p:cNvSpPr/>
          <p:nvPr/>
        </p:nvSpPr>
        <p:spPr>
          <a:xfrm>
            <a:off x="457200" y="1645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14B8A6"/>
                </a:solidFill>
              </a:rPr>
              <a:t>CONCLUSION</a:t>
            </a:r>
            <a:endParaRPr lang="en-US" sz="9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9290718-ED07-8E10-B227-5F2042D6E7BD}"/>
              </a:ext>
            </a:extLst>
          </p:cNvPr>
          <p:cNvSpPr/>
          <p:nvPr/>
        </p:nvSpPr>
        <p:spPr>
          <a:xfrm>
            <a:off x="457200" y="438912"/>
            <a:ext cx="73152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 &amp; Research Contribution</a:t>
            </a:r>
            <a:endParaRPr lang="en-US" sz="26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B851616B-0F14-CE4A-8C77-32EAC3377F0D}"/>
              </a:ext>
            </a:extLst>
          </p:cNvPr>
          <p:cNvSpPr/>
          <p:nvPr/>
        </p:nvSpPr>
        <p:spPr>
          <a:xfrm>
            <a:off x="365760" y="1298448"/>
            <a:ext cx="8229600" cy="960120"/>
          </a:xfrm>
          <a:prstGeom prst="roundRect">
            <a:avLst>
              <a:gd name="adj" fmla="val 11429"/>
            </a:avLst>
          </a:prstGeom>
          <a:solidFill>
            <a:srgbClr val="1E3A5F"/>
          </a:solidFill>
          <a:ln w="12700">
            <a:solidFill>
              <a:srgbClr val="0D9488">
                <a:alpha val="55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E51B084F-4384-B4EB-E3DD-60257DB44F02}"/>
              </a:ext>
            </a:extLst>
          </p:cNvPr>
          <p:cNvSpPr/>
          <p:nvPr/>
        </p:nvSpPr>
        <p:spPr>
          <a:xfrm>
            <a:off x="502920" y="1389888"/>
            <a:ext cx="914400" cy="274320"/>
          </a:xfrm>
          <a:prstGeom prst="roundRect">
            <a:avLst>
              <a:gd name="adj" fmla="val 2666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C4F32C37-A4CC-DFB2-3F86-C0B968FDEA5F}"/>
              </a:ext>
            </a:extLst>
          </p:cNvPr>
          <p:cNvSpPr/>
          <p:nvPr/>
        </p:nvSpPr>
        <p:spPr>
          <a:xfrm>
            <a:off x="502920" y="13898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172A"/>
                </a:solidFill>
              </a:rPr>
              <a:t>FQ 1 ✅</a:t>
            </a:r>
            <a:endParaRPr lang="en-US" sz="9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78CB7915-9119-DBDF-D914-3803A2774140}"/>
              </a:ext>
            </a:extLst>
          </p:cNvPr>
          <p:cNvSpPr/>
          <p:nvPr/>
        </p:nvSpPr>
        <p:spPr>
          <a:xfrm>
            <a:off x="1536192" y="138988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D9488"/>
                </a:solidFill>
              </a:rPr>
              <a:t>Kann Q-Learning Kartenzählung nutzen?</a:t>
            </a:r>
            <a:endParaRPr lang="en-US" sz="115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E4EAF3BA-B7E5-D7FD-5D1E-908EFB762C7C}"/>
              </a:ext>
            </a:extLst>
          </p:cNvPr>
          <p:cNvSpPr/>
          <p:nvPr/>
        </p:nvSpPr>
        <p:spPr>
          <a:xfrm>
            <a:off x="1536192" y="1709928"/>
            <a:ext cx="6858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</a:rPr>
              <a:t>Ja — der Counting Agent nutzt True-Count-Information aktiv, benötigt aber deutlich mehr Trainingszeit.</a:t>
            </a:r>
            <a:endParaRPr lang="en-US" sz="1000" dirty="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CC8ED723-732C-F88F-488C-997821D9DD06}"/>
              </a:ext>
            </a:extLst>
          </p:cNvPr>
          <p:cNvSpPr/>
          <p:nvPr/>
        </p:nvSpPr>
        <p:spPr>
          <a:xfrm>
            <a:off x="365760" y="2414016"/>
            <a:ext cx="8229600" cy="960120"/>
          </a:xfrm>
          <a:prstGeom prst="roundRect">
            <a:avLst>
              <a:gd name="adj" fmla="val 11429"/>
            </a:avLst>
          </a:prstGeom>
          <a:solidFill>
            <a:srgbClr val="1E3A5F"/>
          </a:solidFill>
          <a:ln w="12700">
            <a:solidFill>
              <a:srgbClr val="F59E0B">
                <a:alpha val="55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D20BDC96-D9F4-B987-0DE3-7BBF54C6CFE1}"/>
              </a:ext>
            </a:extLst>
          </p:cNvPr>
          <p:cNvSpPr/>
          <p:nvPr/>
        </p:nvSpPr>
        <p:spPr>
          <a:xfrm>
            <a:off x="502920" y="2505456"/>
            <a:ext cx="914400" cy="274320"/>
          </a:xfrm>
          <a:prstGeom prst="roundRect">
            <a:avLst>
              <a:gd name="adj" fmla="val 26667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BB6F1B82-3243-1E24-60B1-41E1B8DBAE27}"/>
              </a:ext>
            </a:extLst>
          </p:cNvPr>
          <p:cNvSpPr/>
          <p:nvPr/>
        </p:nvSpPr>
        <p:spPr>
          <a:xfrm>
            <a:off x="502920" y="250545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172A"/>
                </a:solidFill>
              </a:rPr>
              <a:t>FQ 2 ✅</a:t>
            </a:r>
            <a:endParaRPr lang="en-US" sz="900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458F18FB-2492-550B-C760-A8DC4963AC6C}"/>
              </a:ext>
            </a:extLst>
          </p:cNvPr>
          <p:cNvSpPr/>
          <p:nvPr/>
        </p:nvSpPr>
        <p:spPr>
          <a:xfrm>
            <a:off x="1536192" y="2505456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59E0B"/>
                </a:solidFill>
              </a:rPr>
              <a:t>Bessere Performance mit erweiterten Features?</a:t>
            </a:r>
            <a:endParaRPr lang="en-US" sz="1150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7F27F762-FC2A-8FE3-AF56-3CC503F42C5A}"/>
              </a:ext>
            </a:extLst>
          </p:cNvPr>
          <p:cNvSpPr/>
          <p:nvPr/>
        </p:nvSpPr>
        <p:spPr>
          <a:xfrm>
            <a:off x="1536192" y="2825496"/>
            <a:ext cx="6858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</a:rPr>
              <a:t>Bedingt — True-Count-Bucket Analyse belegt klare Unterschiede, aber Gesamtdifferenz bleibt marginal bei Q-Learning.</a:t>
            </a:r>
            <a:endParaRPr lang="en-US" sz="1000" dirty="0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0263D1E2-36CC-E40D-77F8-03C352E02C5F}"/>
              </a:ext>
            </a:extLst>
          </p:cNvPr>
          <p:cNvSpPr/>
          <p:nvPr/>
        </p:nvSpPr>
        <p:spPr>
          <a:xfrm>
            <a:off x="365760" y="3529584"/>
            <a:ext cx="8229600" cy="960120"/>
          </a:xfrm>
          <a:prstGeom prst="roundRect">
            <a:avLst>
              <a:gd name="adj" fmla="val 11429"/>
            </a:avLst>
          </a:prstGeom>
          <a:solidFill>
            <a:srgbClr val="1E3A5F"/>
          </a:solidFill>
          <a:ln w="12700">
            <a:solidFill>
              <a:srgbClr val="10B981">
                <a:alpha val="55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E19B76E7-D053-DA62-F000-D10D73AD4421}"/>
              </a:ext>
            </a:extLst>
          </p:cNvPr>
          <p:cNvSpPr/>
          <p:nvPr/>
        </p:nvSpPr>
        <p:spPr>
          <a:xfrm>
            <a:off x="502920" y="3621024"/>
            <a:ext cx="914400" cy="274320"/>
          </a:xfrm>
          <a:prstGeom prst="roundRect">
            <a:avLst>
              <a:gd name="adj" fmla="val 26667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6666CD30-FAE5-7121-F399-680CB084EB8E}"/>
              </a:ext>
            </a:extLst>
          </p:cNvPr>
          <p:cNvSpPr/>
          <p:nvPr/>
        </p:nvSpPr>
        <p:spPr>
          <a:xfrm>
            <a:off x="502920" y="362102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172A"/>
                </a:solidFill>
              </a:rPr>
              <a:t>FQ 3 ✅</a:t>
            </a:r>
            <a:endParaRPr lang="en-US" sz="900" dirty="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68A0E297-3895-1042-75A6-17CD1EB30342}"/>
              </a:ext>
            </a:extLst>
          </p:cNvPr>
          <p:cNvSpPr/>
          <p:nvPr/>
        </p:nvSpPr>
        <p:spPr>
          <a:xfrm>
            <a:off x="1536192" y="362102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0B981"/>
                </a:solidFill>
              </a:rPr>
              <a:t>Wie viele Episoden bis Konvergenz?</a:t>
            </a:r>
            <a:endParaRPr lang="en-US" sz="1150" dirty="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FFE2F024-36E6-6D07-B07D-B2CEA31403D2}"/>
              </a:ext>
            </a:extLst>
          </p:cNvPr>
          <p:cNvSpPr/>
          <p:nvPr/>
        </p:nvSpPr>
        <p:spPr>
          <a:xfrm>
            <a:off x="1536192" y="3941064"/>
            <a:ext cx="6858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</a:rPr>
              <a:t>Beide Agenten stabil bei 100M — Counting Agent σ = 0.00052, besser als Baseline.</a:t>
            </a:r>
            <a:endParaRPr lang="en-US" sz="1000" dirty="0"/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787A7F01-4136-5612-7C37-496D393F39DD}"/>
              </a:ext>
            </a:extLst>
          </p:cNvPr>
          <p:cNvSpPr/>
          <p:nvPr/>
        </p:nvSpPr>
        <p:spPr>
          <a:xfrm>
            <a:off x="365760" y="5391150"/>
            <a:ext cx="8412480" cy="658368"/>
          </a:xfrm>
          <a:prstGeom prst="roundRect">
            <a:avLst>
              <a:gd name="adj" fmla="val 1666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8064625F-04BD-BE36-2798-5F302E23E5CA}"/>
              </a:ext>
            </a:extLst>
          </p:cNvPr>
          <p:cNvSpPr/>
          <p:nvPr/>
        </p:nvSpPr>
        <p:spPr>
          <a:xfrm>
            <a:off x="594360" y="5391150"/>
            <a:ext cx="7955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Final Result @100M: Baseline ≈ Counting ≈ −0.050 avg reward · 42.8% Win Rate · Mission accomplished! 🎉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7748657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Shape 1"/>
          <p:cNvSpPr/>
          <p:nvPr/>
        </p:nvSpPr>
        <p:spPr>
          <a:xfrm>
            <a:off x="5943600" y="457200"/>
            <a:ext cx="4572000" cy="4572000"/>
          </a:xfrm>
          <a:prstGeom prst="ellipse">
            <a:avLst/>
          </a:prstGeom>
          <a:solidFill>
            <a:srgbClr val="14B8A6">
              <a:alpha val="8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" name="Text 2"/>
          <p:cNvSpPr/>
          <p:nvPr/>
        </p:nvSpPr>
        <p:spPr>
          <a:xfrm>
            <a:off x="457200" y="1645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14B8A6"/>
                </a:solidFill>
              </a:rPr>
              <a:t>CONCLUSION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438912"/>
            <a:ext cx="73152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 &amp; Research Contribution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1184148"/>
            <a:ext cx="8229600" cy="960120"/>
          </a:xfrm>
          <a:prstGeom prst="roundRect">
            <a:avLst>
              <a:gd name="adj" fmla="val 11429"/>
            </a:avLst>
          </a:prstGeom>
          <a:solidFill>
            <a:srgbClr val="1E3A5F"/>
          </a:solidFill>
          <a:ln w="12700">
            <a:solidFill>
              <a:srgbClr val="0D9488">
                <a:alpha val="55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7" name="Shape 5"/>
          <p:cNvSpPr/>
          <p:nvPr/>
        </p:nvSpPr>
        <p:spPr>
          <a:xfrm>
            <a:off x="502920" y="1275588"/>
            <a:ext cx="914400" cy="274320"/>
          </a:xfrm>
          <a:prstGeom prst="roundRect">
            <a:avLst>
              <a:gd name="adj" fmla="val 2666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Text 6"/>
          <p:cNvSpPr/>
          <p:nvPr/>
        </p:nvSpPr>
        <p:spPr>
          <a:xfrm>
            <a:off x="502920" y="12755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172A"/>
                </a:solidFill>
              </a:rPr>
              <a:t>FQ 1 ✅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536192" y="127558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D9488"/>
                </a:solidFill>
              </a:rPr>
              <a:t>Kann Q-Learning Kartenzählung nutzen?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1536192" y="1595628"/>
            <a:ext cx="6858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</a:rPr>
              <a:t>Ja — der Counting Agent nutzt True-Count-Information aktiv, benötigt aber deutlich mehr Trainingszeit.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65760" y="2252091"/>
            <a:ext cx="8229600" cy="960120"/>
          </a:xfrm>
          <a:prstGeom prst="roundRect">
            <a:avLst>
              <a:gd name="adj" fmla="val 11429"/>
            </a:avLst>
          </a:prstGeom>
          <a:solidFill>
            <a:srgbClr val="1E3A5F"/>
          </a:solidFill>
          <a:ln w="12700">
            <a:solidFill>
              <a:srgbClr val="F59E0B">
                <a:alpha val="55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2" name="Shape 10"/>
          <p:cNvSpPr/>
          <p:nvPr/>
        </p:nvSpPr>
        <p:spPr>
          <a:xfrm>
            <a:off x="502920" y="2343531"/>
            <a:ext cx="914400" cy="274320"/>
          </a:xfrm>
          <a:prstGeom prst="roundRect">
            <a:avLst>
              <a:gd name="adj" fmla="val 26667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3" name="Text 11"/>
          <p:cNvSpPr/>
          <p:nvPr/>
        </p:nvSpPr>
        <p:spPr>
          <a:xfrm>
            <a:off x="502920" y="2343531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172A"/>
                </a:solidFill>
              </a:rPr>
              <a:t>FQ 2 ✅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536192" y="2343531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59E0B"/>
                </a:solidFill>
              </a:rPr>
              <a:t>Bessere Performance mit erweiterten Features?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1536192" y="2663571"/>
            <a:ext cx="6858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</a:rPr>
              <a:t>Bedingt — True-Count-Bucket Analyse belegt klare Unterschiede, aber Gesamtdifferenz bleibt marginal bei Q-Learning.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5760" y="3339084"/>
            <a:ext cx="8229600" cy="960120"/>
          </a:xfrm>
          <a:prstGeom prst="roundRect">
            <a:avLst>
              <a:gd name="adj" fmla="val 11429"/>
            </a:avLst>
          </a:prstGeom>
          <a:solidFill>
            <a:srgbClr val="1E3A5F"/>
          </a:solidFill>
          <a:ln w="12700">
            <a:solidFill>
              <a:srgbClr val="10B981">
                <a:alpha val="55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7" name="Shape 15"/>
          <p:cNvSpPr/>
          <p:nvPr/>
        </p:nvSpPr>
        <p:spPr>
          <a:xfrm>
            <a:off x="502920" y="3430524"/>
            <a:ext cx="914400" cy="274320"/>
          </a:xfrm>
          <a:prstGeom prst="roundRect">
            <a:avLst>
              <a:gd name="adj" fmla="val 26667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8" name="Text 16"/>
          <p:cNvSpPr/>
          <p:nvPr/>
        </p:nvSpPr>
        <p:spPr>
          <a:xfrm>
            <a:off x="502920" y="343052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172A"/>
                </a:solidFill>
              </a:rPr>
              <a:t>FQ 3 ✅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536192" y="343052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0B981"/>
                </a:solidFill>
              </a:rPr>
              <a:t>Wie viele Episoden bis Konvergenz?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1536192" y="3750564"/>
            <a:ext cx="6858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</a:rPr>
              <a:t>Beide Agenten stabil bei 100M — Counting Agent σ = 0.00052, besser als Baseline.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4400550"/>
            <a:ext cx="8412480" cy="658368"/>
          </a:xfrm>
          <a:prstGeom prst="roundRect">
            <a:avLst>
              <a:gd name="adj" fmla="val 1666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2" name="Text 20"/>
          <p:cNvSpPr/>
          <p:nvPr/>
        </p:nvSpPr>
        <p:spPr>
          <a:xfrm>
            <a:off x="594360" y="4400550"/>
            <a:ext cx="7955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Final Result @100M: Baseline ≈ Counting ≈ −0.050 avg reward · 42.8% Win Rate · Mission accomplished! 🎉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1717</Words>
  <Application>Microsoft Office PowerPoint</Application>
  <PresentationFormat>Bildschirmpräsentation (16:9)</PresentationFormat>
  <Paragraphs>472</Paragraphs>
  <Slides>23</Slides>
  <Notes>23</Notes>
  <HiddenSlides>1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23</vt:i4>
      </vt:variant>
    </vt:vector>
  </HeadingPairs>
  <TitlesOfParts>
    <vt:vector size="30" baseType="lpstr">
      <vt:lpstr>Arial</vt:lpstr>
      <vt:lpstr>Calibri</vt:lpstr>
      <vt:lpstr>Calibri </vt:lpstr>
      <vt:lpstr>Cambria</vt:lpstr>
      <vt:lpstr>Courier New</vt:lpstr>
      <vt:lpstr>Lato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Reinforcement Learning für Blackjack-Agenten</dc:title>
  <dc:subject>PptxGenJS Presentation</dc:subject>
  <dc:creator>Arvid, Linus &amp; Tom</dc:creator>
  <cp:lastModifiedBy>Freese, Arvid</cp:lastModifiedBy>
  <cp:revision>12</cp:revision>
  <dcterms:created xsi:type="dcterms:W3CDTF">2026-06-10T08:25:46Z</dcterms:created>
  <dcterms:modified xsi:type="dcterms:W3CDTF">2026-06-12T16:34:04Z</dcterms:modified>
</cp:coreProperties>
</file>