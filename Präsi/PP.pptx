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7" r:id="rId9"/>
    <p:sldId id="262" r:id="rId10"/>
    <p:sldId id="264" r:id="rId11"/>
    <p:sldId id="285" r:id="rId12"/>
    <p:sldId id="273" r:id="rId13"/>
    <p:sldId id="278" r:id="rId14"/>
    <p:sldId id="279" r:id="rId15"/>
    <p:sldId id="281" r:id="rId16"/>
    <p:sldId id="282" r:id="rId17"/>
    <p:sldId id="283" r:id="rId18"/>
    <p:sldId id="263" r:id="rId19"/>
    <p:sldId id="287" r:id="rId20"/>
    <p:sldId id="268" r:id="rId21"/>
    <p:sldId id="269" r:id="rId22"/>
    <p:sldId id="284" r:id="rId23"/>
    <p:sldId id="27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19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E228A-1B19-CC3E-F8E2-2C3FF801E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8F403-D6A9-5F50-918C-92552A099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FB815-8B09-8546-D9B9-84385517B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FB58B-4595-E68B-C457-CAC7A1B87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82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83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48D71-F99F-F5DB-2902-44BBCE0C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D4A9A-53F8-80E3-AB57-1CC565913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0886F-979D-4B8F-1A35-BB2F85E62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ADEFA-D20D-918F-4710-ECD1D2365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5706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15E8-45F2-11DA-FBD3-DB4C68617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C7188-B303-8C24-BA8C-8D437DFBF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179C-02A5-EBBB-C804-0BCF3E814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A2503-FE41-67D4-6CB6-A60F1747CF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9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28266-E290-CE0C-FBBC-7F9E6D8CA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05ECD-C0C4-232F-ADC7-F0D50934F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36CE1-0A28-6C95-D757-10BDA25C6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CCBA9-1D47-DA7C-615F-52CF12991B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73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1354-B509-CB96-9A41-517841657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20E6A-A370-62A1-9FA6-EE27D6D76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9F650-3C2A-F1BA-AC9E-050B4DFA4D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3C659-9657-5D66-1AD7-0D863978E3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724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A86A3-A50F-489B-CB2F-3185BE62E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DCADC-2682-86CA-7F7A-97712AD37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6264F-26A1-FFDC-E033-50879DBF8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E4AAA-F0D1-3FA1-608F-8F087FCC18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9428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25E47-9376-662F-454E-E6EEEEE7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8F2DAF-4541-ED72-D808-F3857FA41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90EC8-FE27-5301-7648-92CF74CD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7A0F0-1888-6805-E299-5EB68F1512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5981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7AD01-EE8C-3A11-98AD-C73200A6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4F6AB-0B65-7F2F-9578-CDAE139E0B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FF1A6-5A36-564F-C733-67AD5C4BE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39DB1-6725-A2EA-1B4A-625BCF7D77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4508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>
          <a:extLst>
            <a:ext uri="{FF2B5EF4-FFF2-40B4-BE49-F238E27FC236}">
              <a16:creationId xmlns:a16="http://schemas.microsoft.com/office/drawing/2014/main" id="{F66A74F1-186F-A4F4-F11E-F2B1B7DC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>
            <a:extLst>
              <a:ext uri="{FF2B5EF4-FFF2-40B4-BE49-F238E27FC236}">
                <a16:creationId xmlns:a16="http://schemas.microsoft.com/office/drawing/2014/main" id="{99AD158C-D873-380D-0FD0-29E032F980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:notes">
            <a:extLst>
              <a:ext uri="{FF2B5EF4-FFF2-40B4-BE49-F238E27FC236}">
                <a16:creationId xmlns:a16="http://schemas.microsoft.com/office/drawing/2014/main" id="{4AFD012C-1B18-74B0-8A63-0180BA3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3534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32C2-A805-FB19-A551-979045FDF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3E700-A073-C9C6-300B-24D104538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00616-D428-3D83-D186-6A5AA62C1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FFCF2-FE74-9D63-207C-4B0E051E6F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147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35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BHH · MACHINE LEARNING · JUNI 2026</a:t>
              </a:r>
              <a:endParaRPr lang="en-US" sz="900" dirty="0"/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Reinforcement Learning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für Blackjack-Agenten</a:t>
            </a:r>
            <a:endParaRPr lang="en-US" sz="4000" dirty="0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Arvid · Linus · Tom</a:t>
              </a:r>
              <a:endParaRPr lang="en-US" sz="1600" dirty="0"/>
            </a:p>
          </p:txBody>
        </p:sp>
      </p:grpSp>
      <p:sp>
        <p:nvSpPr>
          <p:cNvPr id="11" name="!!1"/>
          <p:cNvSpPr/>
          <p:nvPr/>
        </p:nvSpPr>
        <p:spPr>
          <a:xfrm>
            <a:off x="457200" y="420624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100M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Episoden</a:t>
            </a:r>
            <a:endParaRPr lang="en-US" sz="900" dirty="0"/>
          </a:p>
        </p:txBody>
      </p:sp>
      <p:sp>
        <p:nvSpPr>
          <p:cNvPr id="14" name="!!2"/>
          <p:cNvSpPr/>
          <p:nvPr/>
        </p:nvSpPr>
        <p:spPr>
          <a:xfrm>
            <a:off x="2450592" y="420624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2450592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2 Agenten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450592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trainiert</a:t>
            </a:r>
            <a:endParaRPr lang="en-US" sz="900" dirty="0"/>
          </a:p>
        </p:txBody>
      </p: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E8FF366A-BC70-7BF2-5194-77A64FA004F5}"/>
              </a:ext>
            </a:extLst>
          </p:cNvPr>
          <p:cNvGrpSpPr/>
          <p:nvPr/>
        </p:nvGrpSpPr>
        <p:grpSpPr>
          <a:xfrm>
            <a:off x="4443984" y="4206240"/>
            <a:ext cx="3914140" cy="640080"/>
            <a:chOff x="4443984" y="4206240"/>
            <a:chExt cx="3914140" cy="640080"/>
          </a:xfrm>
        </p:grpSpPr>
        <p:sp>
          <p:nvSpPr>
            <p:cNvPr id="54" name="!!3">
              <a:extLst>
                <a:ext uri="{FF2B5EF4-FFF2-40B4-BE49-F238E27FC236}">
                  <a16:creationId xmlns:a16="http://schemas.microsoft.com/office/drawing/2014/main" id="{E89AA557-6F59-A596-65E5-1DDE01474E10}"/>
                </a:ext>
              </a:extLst>
            </p:cNvPr>
            <p:cNvSpPr/>
            <p:nvPr/>
          </p:nvSpPr>
          <p:spPr>
            <a:xfrm>
              <a:off x="6437884" y="4206240"/>
              <a:ext cx="1920240" cy="640080"/>
            </a:xfrm>
            <a:prstGeom prst="roundRect">
              <a:avLst>
                <a:gd name="adj" fmla="val 14286"/>
              </a:avLst>
            </a:prstGeom>
            <a:solidFill>
              <a:srgbClr val="1E3A5F"/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  <p:sp>
          <p:nvSpPr>
            <p:cNvPr id="17" name="!!3"/>
            <p:cNvSpPr/>
            <p:nvPr/>
          </p:nvSpPr>
          <p:spPr>
            <a:xfrm>
              <a:off x="4443984" y="4206240"/>
              <a:ext cx="1920240" cy="640080"/>
            </a:xfrm>
            <a:prstGeom prst="roundRect">
              <a:avLst>
                <a:gd name="adj" fmla="val 14286"/>
              </a:avLst>
            </a:prstGeom>
            <a:solidFill>
              <a:srgbClr val="1E3A5F"/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8" name="Text 16"/>
          <p:cNvSpPr/>
          <p:nvPr/>
        </p:nvSpPr>
        <p:spPr>
          <a:xfrm>
            <a:off x="4443984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42.8%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43984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Win Rate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37376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Q-Learning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37376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Algorithmus</a:t>
            </a:r>
            <a:endParaRPr lang="en-US" sz="900" dirty="0"/>
          </a:p>
        </p:txBody>
      </p:sp>
      <p:sp>
        <p:nvSpPr>
          <p:cNvPr id="32" name="!!6">
            <a:extLst>
              <a:ext uri="{FF2B5EF4-FFF2-40B4-BE49-F238E27FC236}">
                <a16:creationId xmlns:a16="http://schemas.microsoft.com/office/drawing/2014/main" id="{3204CAE5-0D7A-9786-BE7C-AFF3F2BBADFB}"/>
              </a:ext>
            </a:extLst>
          </p:cNvPr>
          <p:cNvSpPr>
            <a:spLocks/>
          </p:cNvSpPr>
          <p:nvPr/>
        </p:nvSpPr>
        <p:spPr>
          <a:xfrm>
            <a:off x="-4075614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3802B1F4-09E2-8006-7C40-859511BE66D1}"/>
              </a:ext>
            </a:extLst>
          </p:cNvPr>
          <p:cNvSpPr/>
          <p:nvPr/>
        </p:nvSpPr>
        <p:spPr>
          <a:xfrm>
            <a:off x="-3938454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4B8A6"/>
                </a:solidFill>
              </a:rPr>
              <a:t>Warum Blackjack?</a:t>
            </a:r>
            <a:endParaRPr lang="en-US" sz="1400" dirty="0"/>
          </a:p>
        </p:txBody>
      </p:sp>
      <p:sp>
        <p:nvSpPr>
          <p:cNvPr id="34" name="!!1">
            <a:extLst>
              <a:ext uri="{FF2B5EF4-FFF2-40B4-BE49-F238E27FC236}">
                <a16:creationId xmlns:a16="http://schemas.microsoft.com/office/drawing/2014/main" id="{A7DA01F3-049F-C09A-8F61-C6D9A8D5AC93}"/>
              </a:ext>
            </a:extLst>
          </p:cNvPr>
          <p:cNvSpPr/>
          <p:nvPr/>
        </p:nvSpPr>
        <p:spPr>
          <a:xfrm>
            <a:off x="-3938454" y="173736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6D1DA905-DB94-B070-53DC-48965D33A876}"/>
              </a:ext>
            </a:extLst>
          </p:cNvPr>
          <p:cNvSpPr/>
          <p:nvPr/>
        </p:nvSpPr>
        <p:spPr>
          <a:xfrm>
            <a:off x="-3847014" y="1783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Diskrete Zustandsräume</a:t>
            </a:r>
            <a:endParaRPr lang="en-US" sz="1100" dirty="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917BB9CD-C317-151E-20AC-5C8DC6794F5B}"/>
              </a:ext>
            </a:extLst>
          </p:cNvPr>
          <p:cNvSpPr/>
          <p:nvPr/>
        </p:nvSpPr>
        <p:spPr>
          <a:xfrm>
            <a:off x="-3847014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States &amp; Actions klar definiert – ideal für tabellarisches Q-Learning ohne Näherungsfunktionen.</a:t>
            </a:r>
            <a:endParaRPr lang="en-US" sz="950" dirty="0"/>
          </a:p>
        </p:txBody>
      </p:sp>
      <p:sp>
        <p:nvSpPr>
          <p:cNvPr id="37" name="!!2">
            <a:extLst>
              <a:ext uri="{FF2B5EF4-FFF2-40B4-BE49-F238E27FC236}">
                <a16:creationId xmlns:a16="http://schemas.microsoft.com/office/drawing/2014/main" id="{AA6F2A9C-9587-315A-16F4-D30AAFBC1E2C}"/>
              </a:ext>
            </a:extLst>
          </p:cNvPr>
          <p:cNvSpPr/>
          <p:nvPr/>
        </p:nvSpPr>
        <p:spPr>
          <a:xfrm>
            <a:off x="-3938454" y="269748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55E0039E-3922-7E7F-5049-4A51C019F784}"/>
              </a:ext>
            </a:extLst>
          </p:cNvPr>
          <p:cNvSpPr/>
          <p:nvPr/>
        </p:nvSpPr>
        <p:spPr>
          <a:xfrm>
            <a:off x="-3847014" y="2743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Bekannte Baseline</a:t>
            </a:r>
            <a:endParaRPr lang="en-US" sz="11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B3712B5C-AC69-1DEB-D60B-8E466BD60429}"/>
              </a:ext>
            </a:extLst>
          </p:cNvPr>
          <p:cNvSpPr/>
          <p:nvPr/>
        </p:nvSpPr>
        <p:spPr>
          <a:xfrm>
            <a:off x="-3847014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Basic Strategy als mathematisch optimale Vergleichsreferenz vorhanden.</a:t>
            </a:r>
            <a:endParaRPr lang="en-US" sz="950" dirty="0"/>
          </a:p>
        </p:txBody>
      </p:sp>
      <p:sp>
        <p:nvSpPr>
          <p:cNvPr id="40" name="!!3">
            <a:extLst>
              <a:ext uri="{FF2B5EF4-FFF2-40B4-BE49-F238E27FC236}">
                <a16:creationId xmlns:a16="http://schemas.microsoft.com/office/drawing/2014/main" id="{E4866376-A55A-833E-740D-0F60B6641A46}"/>
              </a:ext>
            </a:extLst>
          </p:cNvPr>
          <p:cNvSpPr/>
          <p:nvPr/>
        </p:nvSpPr>
        <p:spPr>
          <a:xfrm>
            <a:off x="-3938454" y="365760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8C1F25BE-9528-C4CD-E8ED-9EAE9A67285F}"/>
              </a:ext>
            </a:extLst>
          </p:cNvPr>
          <p:cNvSpPr/>
          <p:nvPr/>
        </p:nvSpPr>
        <p:spPr>
          <a:xfrm>
            <a:off x="-3847014" y="370332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Kartenzählung integrierbar</a:t>
            </a:r>
            <a:endParaRPr lang="en-US" sz="11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04E77EAF-97CD-821E-2E9B-382D4477D486}"/>
              </a:ext>
            </a:extLst>
          </p:cNvPr>
          <p:cNvSpPr/>
          <p:nvPr/>
        </p:nvSpPr>
        <p:spPr>
          <a:xfrm>
            <a:off x="-3847014" y="39319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True-Count-Information als erweiterter State-Feature testbar.</a:t>
            </a:r>
            <a:endParaRPr lang="en-US" sz="950" dirty="0"/>
          </a:p>
        </p:txBody>
      </p:sp>
      <p:sp>
        <p:nvSpPr>
          <p:cNvPr id="43" name="!!5">
            <a:extLst>
              <a:ext uri="{FF2B5EF4-FFF2-40B4-BE49-F238E27FC236}">
                <a16:creationId xmlns:a16="http://schemas.microsoft.com/office/drawing/2014/main" id="{2FF71E43-4AFE-670C-7DFC-76F30D0EB28E}"/>
              </a:ext>
            </a:extLst>
          </p:cNvPr>
          <p:cNvSpPr/>
          <p:nvPr/>
        </p:nvSpPr>
        <p:spPr>
          <a:xfrm>
            <a:off x="9525729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2D629A66-D22C-40DA-5A21-D3D584D90814}"/>
              </a:ext>
            </a:extLst>
          </p:cNvPr>
          <p:cNvSpPr/>
          <p:nvPr/>
        </p:nvSpPr>
        <p:spPr>
          <a:xfrm>
            <a:off x="9662889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Forschungsfragen</a:t>
            </a:r>
            <a:endParaRPr lang="en-US" sz="1400" dirty="0"/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A692901B-A18B-218C-2BC3-16FCBD79E8A6}"/>
              </a:ext>
            </a:extLst>
          </p:cNvPr>
          <p:cNvSpPr/>
          <p:nvPr/>
        </p:nvSpPr>
        <p:spPr>
          <a:xfrm>
            <a:off x="9662889" y="181051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6D60E8A1-74C6-1C49-67C9-82DA426E2657}"/>
              </a:ext>
            </a:extLst>
          </p:cNvPr>
          <p:cNvSpPr/>
          <p:nvPr/>
        </p:nvSpPr>
        <p:spPr>
          <a:xfrm>
            <a:off x="9662889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B78C5AA9-E60D-44F0-4FBB-26341D3C4BDF}"/>
              </a:ext>
            </a:extLst>
          </p:cNvPr>
          <p:cNvSpPr/>
          <p:nvPr/>
        </p:nvSpPr>
        <p:spPr>
          <a:xfrm>
            <a:off x="10120089" y="179679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Kann ein Q-Learning Agent Kartenzählung aktiv nutzen?</a:t>
            </a:r>
            <a:endParaRPr lang="en-US" sz="11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A325DCB5-41C8-E272-203E-CD752709FCBA}"/>
              </a:ext>
            </a:extLst>
          </p:cNvPr>
          <p:cNvSpPr/>
          <p:nvPr/>
        </p:nvSpPr>
        <p:spPr>
          <a:xfrm>
            <a:off x="9662889" y="277063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A407E1B5-0DD6-538A-704F-B843A2ADCF25}"/>
              </a:ext>
            </a:extLst>
          </p:cNvPr>
          <p:cNvSpPr/>
          <p:nvPr/>
        </p:nvSpPr>
        <p:spPr>
          <a:xfrm>
            <a:off x="9662889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FAA4D58A-72D0-1E8E-06F1-15C60D193D71}"/>
              </a:ext>
            </a:extLst>
          </p:cNvPr>
          <p:cNvSpPr/>
          <p:nvPr/>
        </p:nvSpPr>
        <p:spPr>
          <a:xfrm>
            <a:off x="10120089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Verbessert sich die Performance signifikant mit erweiterten State-Features?</a:t>
            </a:r>
            <a:endParaRPr lang="en-US" sz="1100" dirty="0"/>
          </a:p>
        </p:txBody>
      </p:sp>
      <p:sp>
        <p:nvSpPr>
          <p:cNvPr id="51" name="Shape 22">
            <a:extLst>
              <a:ext uri="{FF2B5EF4-FFF2-40B4-BE49-F238E27FC236}">
                <a16:creationId xmlns:a16="http://schemas.microsoft.com/office/drawing/2014/main" id="{A1338F8B-5826-A6FC-C2CA-E52106B704D0}"/>
              </a:ext>
            </a:extLst>
          </p:cNvPr>
          <p:cNvSpPr/>
          <p:nvPr/>
        </p:nvSpPr>
        <p:spPr>
          <a:xfrm>
            <a:off x="9662889" y="373075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0C0D3F35-EBEC-8C4D-E754-24B727A28833}"/>
              </a:ext>
            </a:extLst>
          </p:cNvPr>
          <p:cNvSpPr/>
          <p:nvPr/>
        </p:nvSpPr>
        <p:spPr>
          <a:xfrm>
            <a:off x="9662889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2E57173F-43E9-3D4D-5705-17D19C5514B1}"/>
              </a:ext>
            </a:extLst>
          </p:cNvPr>
          <p:cNvSpPr/>
          <p:nvPr/>
        </p:nvSpPr>
        <p:spPr>
          <a:xfrm>
            <a:off x="10120089" y="3798025"/>
            <a:ext cx="333756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Wie viele Episoden benötigt der Agent zur Konvergenz?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6"/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Forschungsfrage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4B8A6"/>
                </a:solidFill>
              </a:rPr>
              <a:t>Warum Blackjack?</a:t>
            </a:r>
            <a:endParaRPr lang="en-US" sz="1400" dirty="0"/>
          </a:p>
        </p:txBody>
      </p:sp>
      <p:sp>
        <p:nvSpPr>
          <p:cNvPr id="7" name="!!1"/>
          <p:cNvSpPr/>
          <p:nvPr/>
        </p:nvSpPr>
        <p:spPr>
          <a:xfrm>
            <a:off x="502920" y="173736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Diskrete Zustandsräume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States &amp; Actions klar definiert – ideal für tabellarisches Q-Learning ohne Näherungsfunktionen.</a:t>
            </a:r>
            <a:endParaRPr lang="en-US" sz="950" dirty="0"/>
          </a:p>
        </p:txBody>
      </p:sp>
      <p:sp>
        <p:nvSpPr>
          <p:cNvPr id="10" name="!!2"/>
          <p:cNvSpPr/>
          <p:nvPr/>
        </p:nvSpPr>
        <p:spPr>
          <a:xfrm>
            <a:off x="502920" y="269748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Bekannte Baseline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Basic Strategy als mathematisch optimale Vergleichsreferenz vorhanden.</a:t>
            </a:r>
            <a:endParaRPr lang="en-US" sz="950" dirty="0"/>
          </a:p>
        </p:txBody>
      </p:sp>
      <p:sp>
        <p:nvSpPr>
          <p:cNvPr id="13" name="!!3"/>
          <p:cNvSpPr/>
          <p:nvPr/>
        </p:nvSpPr>
        <p:spPr>
          <a:xfrm>
            <a:off x="502920" y="365760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94360" y="370332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Kartenzählung integrierbar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True-Count-Information als erweiterter State-Feature testbar.</a:t>
            </a:r>
            <a:endParaRPr lang="en-US" sz="950" dirty="0"/>
          </a:p>
        </p:txBody>
      </p:sp>
      <p:sp>
        <p:nvSpPr>
          <p:cNvPr id="16" name="!!5"/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Forschungsfragen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48006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57800" y="179679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Kann ein Q-Learning Agent Kartenzählung aktiv nutzen?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77063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8006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Verbessert sich die Performance signifikant mit erweiterten State-Features?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8006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57800" y="3798025"/>
            <a:ext cx="333756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Wie viele Episoden benötigt der Agent zur Konvergenz?</a:t>
            </a:r>
            <a:endParaRPr lang="en-US" sz="110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30F10107-D6D6-2C6D-3FBB-3EE6CEA17560}"/>
              </a:ext>
            </a:extLst>
          </p:cNvPr>
          <p:cNvSpPr/>
          <p:nvPr/>
        </p:nvSpPr>
        <p:spPr>
          <a:xfrm>
            <a:off x="365760" y="-1423843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988CD75-C725-C205-E8B0-844D5B96C763}"/>
              </a:ext>
            </a:extLst>
          </p:cNvPr>
          <p:cNvSpPr/>
          <p:nvPr/>
        </p:nvSpPr>
        <p:spPr>
          <a:xfrm>
            <a:off x="4617720" y="-1423843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UMGEBUNG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&amp; Action Space</a:t>
            </a:r>
            <a:endParaRPr lang="en-US" sz="2800" dirty="0"/>
          </a:p>
        </p:txBody>
      </p:sp>
      <p:sp>
        <p:nvSpPr>
          <p:cNvPr id="5" name="!!7"/>
          <p:cNvSpPr/>
          <p:nvPr/>
        </p:nvSpPr>
        <p:spPr>
          <a:xfrm>
            <a:off x="365760" y="10972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</a:rPr>
              <a:t>SHOE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 Decks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792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75% Penetration</a:t>
            </a:r>
            <a:endParaRPr lang="en-US" sz="1000" dirty="0"/>
          </a:p>
        </p:txBody>
      </p:sp>
      <p:sp>
        <p:nvSpPr>
          <p:cNvPr id="9" name="!!8"/>
          <p:cNvSpPr/>
          <p:nvPr/>
        </p:nvSpPr>
        <p:spPr>
          <a:xfrm>
            <a:off x="4617720" y="10972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78231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</a:rPr>
              <a:t>DEALER RULE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82312" y="1389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Stand on Soft 17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82312" y="1792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Standardregel</a:t>
            </a:r>
            <a:endParaRPr lang="en-US" sz="1000" dirty="0"/>
          </a:p>
        </p:txBody>
      </p:sp>
      <p:sp>
        <p:nvSpPr>
          <p:cNvPr id="13" name="!!6"/>
          <p:cNvSpPr/>
          <p:nvPr/>
        </p:nvSpPr>
        <p:spPr>
          <a:xfrm>
            <a:off x="365760" y="24688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14B8A6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4B8A6"/>
                </a:solidFill>
              </a:rPr>
              <a:t>ACTIONS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0352" y="2761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{ 0 = Stand, 1 = Hit }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316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Binärer Action Space</a:t>
            </a:r>
            <a:endParaRPr lang="en-US" sz="1000" dirty="0"/>
          </a:p>
        </p:txBody>
      </p:sp>
      <p:sp>
        <p:nvSpPr>
          <p:cNvPr id="17" name="!!5"/>
          <p:cNvSpPr/>
          <p:nvPr/>
        </p:nvSpPr>
        <p:spPr>
          <a:xfrm>
            <a:off x="4617720" y="24688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782312" y="2560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</a:rPr>
              <a:t>REWARD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82312" y="2761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+1 / −1 / 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82312" y="316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Win · Loss · Push</a:t>
            </a:r>
            <a:endParaRPr lang="en-US" sz="1000" dirty="0"/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57CA240-80C7-A49C-266B-2BCC61692BFB}"/>
              </a:ext>
            </a:extLst>
          </p:cNvPr>
          <p:cNvGrpSpPr/>
          <p:nvPr/>
        </p:nvGrpSpPr>
        <p:grpSpPr>
          <a:xfrm>
            <a:off x="365760" y="5205544"/>
            <a:ext cx="8412480" cy="804672"/>
            <a:chOff x="365760" y="5205544"/>
            <a:chExt cx="8412480" cy="804672"/>
          </a:xfrm>
        </p:grpSpPr>
        <p:sp>
          <p:nvSpPr>
            <p:cNvPr id="21" name="Shape 19"/>
            <p:cNvSpPr/>
            <p:nvPr/>
          </p:nvSpPr>
          <p:spPr>
            <a:xfrm>
              <a:off x="365760" y="5205544"/>
              <a:ext cx="8412480" cy="804672"/>
            </a:xfrm>
            <a:prstGeom prst="roundRect">
              <a:avLst>
                <a:gd name="adj" fmla="val 13636"/>
              </a:avLst>
            </a:prstGeom>
            <a:solidFill>
              <a:srgbClr val="0D9488">
                <a:alpha val="12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22" name="Text 20"/>
            <p:cNvSpPr/>
            <p:nvPr/>
          </p:nvSpPr>
          <p:spPr>
            <a:xfrm>
              <a:off x="594360" y="5296984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4B8A6"/>
                  </a:solidFill>
                </a:rPr>
                <a:t>Zentrale experimentelle Variable:</a:t>
              </a:r>
              <a:endParaRPr lang="en-US" sz="11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4360" y="5571304"/>
              <a:ext cx="7772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Der Counting Agent hat 385× mehr States als der Baseline Agent → Kernfrage der Studie</a:t>
              </a:r>
              <a:endParaRPr lang="en-US" sz="1050" dirty="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02408 L 0 -0.2345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9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59E0B"/>
                </a:solidFill>
              </a:rPr>
              <a:t>EVALUATION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Belohnungsfunktion &amp; Erfolgskriterien</a:t>
            </a:r>
            <a:endParaRPr lang="en-US" sz="2400" dirty="0"/>
          </a:p>
        </p:txBody>
      </p:sp>
      <p:sp>
        <p:nvSpPr>
          <p:cNvPr id="6" name="!!7"/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Gewinn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Agent gewinnt die Runde</a:t>
            </a:r>
            <a:endParaRPr lang="en-US" sz="950" dirty="0"/>
          </a:p>
        </p:txBody>
      </p:sp>
      <p:sp>
        <p:nvSpPr>
          <p:cNvPr id="10" name="!!10"/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Verlust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Agent verliert die Runde</a:t>
            </a:r>
            <a:endParaRPr lang="en-US" sz="950" dirty="0"/>
          </a:p>
        </p:txBody>
      </p:sp>
      <p:sp>
        <p:nvSpPr>
          <p:cNvPr id="14" name="!!8"/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Push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Unentschieden – kein Reward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Erfolgskriterien</a:t>
            </a:r>
            <a:endParaRPr lang="en-US" sz="1400" dirty="0"/>
          </a:p>
        </p:txBody>
      </p:sp>
      <p:sp>
        <p:nvSpPr>
          <p:cNvPr id="19" name="!!6"/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Avg. Reward &gt; −0.05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Signifikant besser als Zufallsstrategie</a:t>
            </a:r>
            <a:endParaRPr lang="en-US" sz="1000" dirty="0"/>
          </a:p>
        </p:txBody>
      </p:sp>
      <p:sp>
        <p:nvSpPr>
          <p:cNvPr id="24" name="!!11"/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Win Rate 42-45%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Casino House Edge überwunden</a:t>
            </a:r>
            <a:endParaRPr lang="en-US" sz="1000" dirty="0"/>
          </a:p>
        </p:txBody>
      </p:sp>
      <p:sp>
        <p:nvSpPr>
          <p:cNvPr id="29" name="!!5"/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CI &lt; ±0.003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Stabiles, konsistentes Lernen über Seeds</a:t>
            </a:r>
            <a:endParaRPr lang="en-US" sz="1000" dirty="0"/>
          </a:p>
        </p:txBody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C54ED0B8-C60C-36EC-F96D-A8D41938B292}"/>
              </a:ext>
            </a:extLst>
          </p:cNvPr>
          <p:cNvSpPr/>
          <p:nvPr/>
        </p:nvSpPr>
        <p:spPr>
          <a:xfrm>
            <a:off x="35623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AE136B5D-631A-7C30-C8CD-9BA6D105F210}"/>
              </a:ext>
            </a:extLst>
          </p:cNvPr>
          <p:cNvSpPr/>
          <p:nvPr/>
        </p:nvSpPr>
        <p:spPr>
          <a:xfrm>
            <a:off x="35623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endParaRPr lang="en-US" sz="240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CB72313E-2E68-73A7-4FC4-DF3A25F9AF86}"/>
              </a:ext>
            </a:extLst>
          </p:cNvPr>
          <p:cNvSpPr/>
          <p:nvPr/>
        </p:nvSpPr>
        <p:spPr>
          <a:xfrm>
            <a:off x="35623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0.01</a:t>
            </a:r>
            <a:endParaRPr lang="en-US" sz="120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515203A1-8035-DB62-CA74-872FD15CDC27}"/>
              </a:ext>
            </a:extLst>
          </p:cNvPr>
          <p:cNvSpPr/>
          <p:nvPr/>
        </p:nvSpPr>
        <p:spPr>
          <a:xfrm>
            <a:off x="46596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Learning Rate</a:t>
            </a:r>
            <a:endParaRPr lang="en-US" sz="95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51169989-B21A-94AD-994B-0EC9EB9A81F7}"/>
              </a:ext>
            </a:extLst>
          </p:cNvPr>
          <p:cNvSpPr/>
          <p:nvPr/>
        </p:nvSpPr>
        <p:spPr>
          <a:xfrm>
            <a:off x="46596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Schrittweite der Updates</a:t>
            </a:r>
            <a:endParaRPr lang="en-US" sz="85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327A8C89-3DB2-4257-007A-8D8BF5EC5141}"/>
              </a:ext>
            </a:extLst>
          </p:cNvPr>
          <p:cNvSpPr/>
          <p:nvPr/>
        </p:nvSpPr>
        <p:spPr>
          <a:xfrm>
            <a:off x="319087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B59A079A-EC29-7350-AFF6-38FB59511D5E}"/>
              </a:ext>
            </a:extLst>
          </p:cNvPr>
          <p:cNvSpPr/>
          <p:nvPr/>
        </p:nvSpPr>
        <p:spPr>
          <a:xfrm>
            <a:off x="319087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endParaRPr lang="en-US" sz="2400" dirty="0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D6B7BC3B-F47A-7113-547B-4475CC306D83}"/>
              </a:ext>
            </a:extLst>
          </p:cNvPr>
          <p:cNvSpPr/>
          <p:nvPr/>
        </p:nvSpPr>
        <p:spPr>
          <a:xfrm>
            <a:off x="319087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0.99</a:t>
            </a: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4A76D85C-B821-594B-C747-013AA84AD11B}"/>
              </a:ext>
            </a:extLst>
          </p:cNvPr>
          <p:cNvSpPr/>
          <p:nvPr/>
        </p:nvSpPr>
        <p:spPr>
          <a:xfrm>
            <a:off x="330060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Discount Factor</a:t>
            </a:r>
            <a:endParaRPr lang="en-US" sz="95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8FAFE602-031E-6EC1-682D-2739E21599E6}"/>
              </a:ext>
            </a:extLst>
          </p:cNvPr>
          <p:cNvSpPr/>
          <p:nvPr/>
        </p:nvSpPr>
        <p:spPr>
          <a:xfrm>
            <a:off x="330060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Gewichtung zukünftiger Rewards</a:t>
            </a:r>
            <a:endParaRPr lang="en-US" sz="850" dirty="0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650ED8EB-BC03-68B0-69FC-258B3D63DB49}"/>
              </a:ext>
            </a:extLst>
          </p:cNvPr>
          <p:cNvSpPr/>
          <p:nvPr/>
        </p:nvSpPr>
        <p:spPr>
          <a:xfrm>
            <a:off x="602551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A144AE83-AEBF-1CE7-2BF1-698CF3537126}"/>
              </a:ext>
            </a:extLst>
          </p:cNvPr>
          <p:cNvSpPr/>
          <p:nvPr/>
        </p:nvSpPr>
        <p:spPr>
          <a:xfrm>
            <a:off x="602551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4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184F99EE-C16E-42EC-57C2-CBCBF3F691CF}"/>
              </a:ext>
            </a:extLst>
          </p:cNvPr>
          <p:cNvSpPr/>
          <p:nvPr/>
        </p:nvSpPr>
        <p:spPr>
          <a:xfrm>
            <a:off x="602551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+1/−1/0</a:t>
            </a:r>
            <a:endParaRPr lang="en-US" sz="1200" dirty="0"/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9C12F242-EEA1-FCF5-6B2A-DADE7BFFC2AF}"/>
              </a:ext>
            </a:extLst>
          </p:cNvPr>
          <p:cNvSpPr/>
          <p:nvPr/>
        </p:nvSpPr>
        <p:spPr>
          <a:xfrm>
            <a:off x="613524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Immediate Reward</a:t>
            </a:r>
            <a:endParaRPr lang="en-US" sz="95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2005F07D-4606-944C-7DAA-213CEE266EE9}"/>
              </a:ext>
            </a:extLst>
          </p:cNvPr>
          <p:cNvSpPr/>
          <p:nvPr/>
        </p:nvSpPr>
        <p:spPr>
          <a:xfrm>
            <a:off x="613524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Direktes Feedback der Umgebung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METHODIK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Reinforcement Learning – Q-Learning</a:t>
            </a:r>
            <a:endParaRPr lang="en-US" sz="2600" dirty="0"/>
          </a:p>
        </p:txBody>
      </p:sp>
      <p:sp>
        <p:nvSpPr>
          <p:cNvPr id="5" name="!!10"/>
          <p:cNvSpPr/>
          <p:nvPr/>
        </p:nvSpPr>
        <p:spPr>
          <a:xfrm>
            <a:off x="365760" y="100584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Algorithmus: Q-Learning (Off-Policy TD Learning)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898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</a:rPr>
              <a:t>Bewährt für diskrete Action Spaces · Interpretierbar · Kein Neural Network erforderlich</a:t>
            </a:r>
            <a:endParaRPr lang="en-US" sz="1050" dirty="0"/>
          </a:p>
        </p:txBody>
      </p:sp>
      <p:sp>
        <p:nvSpPr>
          <p:cNvPr id="8" name="!!11"/>
          <p:cNvSpPr/>
          <p:nvPr/>
        </p:nvSpPr>
        <p:spPr>
          <a:xfrm>
            <a:off x="365760" y="1920240"/>
            <a:ext cx="841248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943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59E0B"/>
                </a:solidFill>
              </a:rPr>
              <a:t>Bellman Update-Gleichung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Q(s,a) ← Q(s,a) + α · [ r + γ · max Q(s',a') − Q(s,a) 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6576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576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Learning Rate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Schrittweite der Updates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320040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0040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0.99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1012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Discount Factor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Gewichtung zukünftiger Rewards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3504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603504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03504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+1/−1/0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4476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Immediate Reward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4476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Direktes Feedback der Umgebung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352B3-AE23-B804-2716-D5A557E27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508FF5-087F-3053-F239-6FC5CB3BB86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B0EA357-E090-B01A-A6EC-250BD6BFCA9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C58A44-3B8E-0E0C-327C-2B4DE37FD1EF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HYPERPARAMETER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E9CCC9-1B77-EA14-97A4-83A55A21258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Hyperparameter-Optimierung</a:t>
            </a:r>
            <a:endParaRPr lang="en-US" sz="2600" dirty="0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8EF9404F-8D14-CEFF-75D0-07E3FA805309}"/>
              </a:ext>
            </a:extLst>
          </p:cNvPr>
          <p:cNvGrpSpPr/>
          <p:nvPr/>
        </p:nvGrpSpPr>
        <p:grpSpPr>
          <a:xfrm>
            <a:off x="365760" y="1051560"/>
            <a:ext cx="3840480" cy="384048"/>
            <a:chOff x="365760" y="1051560"/>
            <a:chExt cx="3840480" cy="38404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30706C3-EC22-96FE-9AAE-C2D5FA45CB06}"/>
                </a:ext>
              </a:extLst>
            </p:cNvPr>
            <p:cNvSpPr/>
            <p:nvPr/>
          </p:nvSpPr>
          <p:spPr>
            <a:xfrm>
              <a:off x="365760" y="1051560"/>
              <a:ext cx="3840480" cy="384048"/>
            </a:xfrm>
            <a:prstGeom prst="roundRect">
              <a:avLst>
                <a:gd name="adj" fmla="val 23810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E558A069-A64A-E4C9-D5FA-99B10E79F97A}"/>
                </a:ext>
              </a:extLst>
            </p:cNvPr>
            <p:cNvSpPr/>
            <p:nvPr/>
          </p:nvSpPr>
          <p:spPr>
            <a:xfrm>
              <a:off x="365760" y="105156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</a:rPr>
                <a:t>Finale Konfiguration: c05_long_default</a:t>
              </a:r>
              <a:endParaRPr lang="en-US" sz="1100" dirty="0"/>
            </a:p>
          </p:txBody>
        </p:sp>
      </p:grpSp>
      <p:sp>
        <p:nvSpPr>
          <p:cNvPr id="8" name="Shape 6">
            <a:extLst>
              <a:ext uri="{FF2B5EF4-FFF2-40B4-BE49-F238E27FC236}">
                <a16:creationId xmlns:a16="http://schemas.microsoft.com/office/drawing/2014/main" id="{1E163C01-BE47-24C0-35CB-868FCEA221BD}"/>
              </a:ext>
            </a:extLst>
          </p:cNvPr>
          <p:cNvSpPr/>
          <p:nvPr/>
        </p:nvSpPr>
        <p:spPr>
          <a:xfrm>
            <a:off x="365760" y="1600200"/>
            <a:ext cx="749808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0E0BE37-B32B-396A-BB5A-F48E67ACA103}"/>
              </a:ext>
            </a:extLst>
          </p:cNvPr>
          <p:cNvSpPr/>
          <p:nvPr/>
        </p:nvSpPr>
        <p:spPr>
          <a:xfrm>
            <a:off x="457200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PARAMETER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4E9B87-319C-FE24-0650-B81CE02F9D0E}"/>
              </a:ext>
            </a:extLst>
          </p:cNvPr>
          <p:cNvSpPr/>
          <p:nvPr/>
        </p:nvSpPr>
        <p:spPr>
          <a:xfrm>
            <a:off x="3017520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WERT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12660C-5098-5A68-E4E0-E9CFBDD66086}"/>
              </a:ext>
            </a:extLst>
          </p:cNvPr>
          <p:cNvSpPr/>
          <p:nvPr/>
        </p:nvSpPr>
        <p:spPr>
          <a:xfrm>
            <a:off x="4114800" y="1600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BEGRÜNDUNG</a:t>
            </a:r>
            <a:endParaRPr lang="en-US" sz="9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6D5B7A7-09FC-5E5A-38D1-2715F68D4A70}"/>
              </a:ext>
            </a:extLst>
          </p:cNvPr>
          <p:cNvSpPr/>
          <p:nvPr/>
        </p:nvSpPr>
        <p:spPr>
          <a:xfrm>
            <a:off x="365760" y="1984248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557A113-B7A8-BA6E-8FB1-C3074662B819}"/>
              </a:ext>
            </a:extLst>
          </p:cNvPr>
          <p:cNvSpPr/>
          <p:nvPr/>
        </p:nvSpPr>
        <p:spPr>
          <a:xfrm>
            <a:off x="457200" y="198424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Learning Rate α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FE101CF-02F0-8DCE-1D7D-F0B2D9536E5D}"/>
              </a:ext>
            </a:extLst>
          </p:cNvPr>
          <p:cNvSpPr/>
          <p:nvPr/>
        </p:nvSpPr>
        <p:spPr>
          <a:xfrm>
            <a:off x="3017520" y="198424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0.01</a:t>
            </a:r>
            <a:endParaRPr lang="en-US" sz="11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DBA1BA-DA97-9137-B434-CB64297F205A}"/>
              </a:ext>
            </a:extLst>
          </p:cNvPr>
          <p:cNvSpPr/>
          <p:nvPr/>
        </p:nvSpPr>
        <p:spPr>
          <a:xfrm>
            <a:off x="4114800" y="198424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Stabilität &amp; Speed</a:t>
            </a: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33DF736-5955-DA1A-FD40-0838AF39203D}"/>
              </a:ext>
            </a:extLst>
          </p:cNvPr>
          <p:cNvSpPr/>
          <p:nvPr/>
        </p:nvSpPr>
        <p:spPr>
          <a:xfrm>
            <a:off x="365760" y="2404872"/>
            <a:ext cx="749808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D04FBF1-0551-5A8B-BEB6-1E557E6E7AA2}"/>
              </a:ext>
            </a:extLst>
          </p:cNvPr>
          <p:cNvSpPr/>
          <p:nvPr/>
        </p:nvSpPr>
        <p:spPr>
          <a:xfrm>
            <a:off x="457200" y="240487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Discount Factor γ</a:t>
            </a:r>
            <a:endParaRPr lang="en-US" sz="11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CCF6548-1AC4-80AF-9396-855A93A73349}"/>
              </a:ext>
            </a:extLst>
          </p:cNvPr>
          <p:cNvSpPr/>
          <p:nvPr/>
        </p:nvSpPr>
        <p:spPr>
          <a:xfrm>
            <a:off x="3017520" y="240487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0.99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42F9E89-4CD6-2576-A910-15874296B7AC}"/>
              </a:ext>
            </a:extLst>
          </p:cNvPr>
          <p:cNvSpPr/>
          <p:nvPr/>
        </p:nvSpPr>
        <p:spPr>
          <a:xfrm>
            <a:off x="4114800" y="240487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Lange Foresight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1B8E6CA-F6F3-7936-2CF2-28F30DF6D802}"/>
              </a:ext>
            </a:extLst>
          </p:cNvPr>
          <p:cNvSpPr/>
          <p:nvPr/>
        </p:nvSpPr>
        <p:spPr>
          <a:xfrm>
            <a:off x="365760" y="2825496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F6B5886-987A-27AC-9DBC-242A5A06BF4D}"/>
              </a:ext>
            </a:extLst>
          </p:cNvPr>
          <p:cNvSpPr/>
          <p:nvPr/>
        </p:nvSpPr>
        <p:spPr>
          <a:xfrm>
            <a:off x="457200" y="282549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Initial ε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A2AEFA-EB41-2764-9F44-75AB1FEB74AB}"/>
              </a:ext>
            </a:extLst>
          </p:cNvPr>
          <p:cNvSpPr/>
          <p:nvPr/>
        </p:nvSpPr>
        <p:spPr>
          <a:xfrm>
            <a:off x="3017520" y="282549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1.0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E7FB917-5B80-DF46-1DD3-C4CF2074D456}"/>
              </a:ext>
            </a:extLst>
          </p:cNvPr>
          <p:cNvSpPr/>
          <p:nvPr/>
        </p:nvSpPr>
        <p:spPr>
          <a:xfrm>
            <a:off x="4114800" y="28254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Vollständige Exploration zu Beginn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9095843-D131-49C8-2591-B3A321A08834}"/>
              </a:ext>
            </a:extLst>
          </p:cNvPr>
          <p:cNvSpPr/>
          <p:nvPr/>
        </p:nvSpPr>
        <p:spPr>
          <a:xfrm>
            <a:off x="365760" y="3246120"/>
            <a:ext cx="749808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B6A739-A870-A079-0FF8-594A5FEB29DE}"/>
              </a:ext>
            </a:extLst>
          </p:cNvPr>
          <p:cNvSpPr/>
          <p:nvPr/>
        </p:nvSpPr>
        <p:spPr>
          <a:xfrm>
            <a:off x="457200" y="324612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ε Decay</a:t>
            </a: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297F026-B516-8B5B-816F-35B6791ADCCF}"/>
              </a:ext>
            </a:extLst>
          </p:cNvPr>
          <p:cNvSpPr/>
          <p:nvPr/>
        </p:nvSpPr>
        <p:spPr>
          <a:xfrm>
            <a:off x="3017520" y="324612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0.90</a:t>
            </a:r>
            <a:endParaRPr lang="en-US" sz="11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9A4AD1D-3036-7C91-440E-A31CC22A67AD}"/>
              </a:ext>
            </a:extLst>
          </p:cNvPr>
          <p:cNvSpPr/>
          <p:nvPr/>
        </p:nvSpPr>
        <p:spPr>
          <a:xfrm>
            <a:off x="4114800" y="324612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Langsame, schrittweise Reduktion</a:t>
            </a:r>
            <a:endParaRPr lang="en-US" sz="11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08B6B49-6A40-1503-212B-4827E581D19C}"/>
              </a:ext>
            </a:extLst>
          </p:cNvPr>
          <p:cNvSpPr/>
          <p:nvPr/>
        </p:nvSpPr>
        <p:spPr>
          <a:xfrm>
            <a:off x="365760" y="3666744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EFC9B84-F798-51EC-F8A2-8E24BC764942}"/>
              </a:ext>
            </a:extLst>
          </p:cNvPr>
          <p:cNvSpPr/>
          <p:nvPr/>
        </p:nvSpPr>
        <p:spPr>
          <a:xfrm>
            <a:off x="457200" y="366674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ε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378CBD9-AF87-F009-08EC-1A279A43DE73}"/>
              </a:ext>
            </a:extLst>
          </p:cNvPr>
          <p:cNvSpPr/>
          <p:nvPr/>
        </p:nvSpPr>
        <p:spPr>
          <a:xfrm>
            <a:off x="3017520" y="36667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0.10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EEBE25A-0AA7-F1C8-E226-E62C09687B98}"/>
              </a:ext>
            </a:extLst>
          </p:cNvPr>
          <p:cNvSpPr/>
          <p:nvPr/>
        </p:nvSpPr>
        <p:spPr>
          <a:xfrm>
            <a:off x="4114800" y="366674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Residuale Exploration am Ende</a:t>
            </a:r>
            <a:endParaRPr lang="en-US" sz="1100" dirty="0"/>
          </a:p>
        </p:txBody>
      </p:sp>
      <p:sp>
        <p:nvSpPr>
          <p:cNvPr id="48" name="Shape 30">
            <a:extLst>
              <a:ext uri="{FF2B5EF4-FFF2-40B4-BE49-F238E27FC236}">
                <a16:creationId xmlns:a16="http://schemas.microsoft.com/office/drawing/2014/main" id="{34740335-7364-6DDD-D98B-62FC3C7EAAFE}"/>
              </a:ext>
            </a:extLst>
          </p:cNvPr>
          <p:cNvSpPr/>
          <p:nvPr/>
        </p:nvSpPr>
        <p:spPr>
          <a:xfrm>
            <a:off x="9371057" y="105537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31">
            <a:extLst>
              <a:ext uri="{FF2B5EF4-FFF2-40B4-BE49-F238E27FC236}">
                <a16:creationId xmlns:a16="http://schemas.microsoft.com/office/drawing/2014/main" id="{EB990D4A-4582-42BE-1D84-821FC8622E70}"/>
              </a:ext>
            </a:extLst>
          </p:cNvPr>
          <p:cNvSpPr/>
          <p:nvPr/>
        </p:nvSpPr>
        <p:spPr>
          <a:xfrm>
            <a:off x="9986344" y="119253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</a:rPr>
              <a:t>Optimierungsprozess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13918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HYPERPARAMETER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Hyperparameter-Optimierung</a:t>
            </a:r>
            <a:endParaRPr lang="en-US" sz="2600" dirty="0"/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389EDD42-C256-79CC-3E53-C6E6448B5E07}"/>
              </a:ext>
            </a:extLst>
          </p:cNvPr>
          <p:cNvGrpSpPr/>
          <p:nvPr/>
        </p:nvGrpSpPr>
        <p:grpSpPr>
          <a:xfrm>
            <a:off x="365760" y="1051560"/>
            <a:ext cx="3840480" cy="384048"/>
            <a:chOff x="365760" y="1051560"/>
            <a:chExt cx="3840480" cy="384048"/>
          </a:xfrm>
        </p:grpSpPr>
        <p:sp>
          <p:nvSpPr>
            <p:cNvPr id="6" name="Shape 4"/>
            <p:cNvSpPr/>
            <p:nvPr/>
          </p:nvSpPr>
          <p:spPr>
            <a:xfrm>
              <a:off x="365760" y="1051560"/>
              <a:ext cx="3840480" cy="384048"/>
            </a:xfrm>
            <a:prstGeom prst="roundRect">
              <a:avLst>
                <a:gd name="adj" fmla="val 23810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 5"/>
            <p:cNvSpPr/>
            <p:nvPr/>
          </p:nvSpPr>
          <p:spPr>
            <a:xfrm>
              <a:off x="365760" y="105156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</a:rPr>
                <a:t>Finale Konfiguration: c05_long_default</a:t>
              </a:r>
              <a:endParaRPr lang="en-US" sz="1100" dirty="0"/>
            </a:p>
          </p:txBody>
        </p:sp>
      </p:grpSp>
      <p:sp>
        <p:nvSpPr>
          <p:cNvPr id="8" name="Shape 6"/>
          <p:cNvSpPr/>
          <p:nvPr/>
        </p:nvSpPr>
        <p:spPr>
          <a:xfrm>
            <a:off x="356235" y="1600200"/>
            <a:ext cx="579476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47675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PARAMETER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07995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WERT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0" y="1600200"/>
            <a:ext cx="31737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BEGRÜNDUNG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6235" y="1984248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47675" y="198424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Learning Rate 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07995" y="198424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5275" y="1984248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Stabilität &amp; Speed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235" y="2404872"/>
            <a:ext cx="579476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47675" y="240487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Discount Factor 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7995" y="240487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05275" y="2404872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Lange Foresight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6235" y="2825496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47675" y="282549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Initial 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07995" y="282549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1.0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05275" y="2825496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Vollständige Exploration zu Beginn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6235" y="3246120"/>
            <a:ext cx="579476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47675" y="324612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ε Decay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07995" y="324612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5275" y="3246120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Langsame, schrittweise Reduktion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235" y="3666744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447675" y="366674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ε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007995" y="36667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05275" y="3666744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Residuale Exploration am Ende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84957" y="105537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6900244" y="119253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</a:rPr>
              <a:t>Optimierungsprozess</a:t>
            </a:r>
            <a:endParaRPr lang="en-US" sz="1200" dirty="0"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1D29F4E-AE1A-03CF-FCEB-70AAED10A935}"/>
              </a:ext>
            </a:extLst>
          </p:cNvPr>
          <p:cNvGrpSpPr/>
          <p:nvPr/>
        </p:nvGrpSpPr>
        <p:grpSpPr>
          <a:xfrm>
            <a:off x="6900244" y="1649730"/>
            <a:ext cx="548640" cy="548640"/>
            <a:chOff x="6900244" y="1649730"/>
            <a:chExt cx="548640" cy="548640"/>
          </a:xfrm>
        </p:grpSpPr>
        <p:sp>
          <p:nvSpPr>
            <p:cNvPr id="34" name="Shape 32"/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35" name="Text 33"/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16</a:t>
              </a:r>
              <a:endParaRPr lang="en-US" sz="1600" dirty="0"/>
            </a:p>
          </p:txBody>
        </p:sp>
      </p:grpSp>
      <p:sp>
        <p:nvSpPr>
          <p:cNvPr id="36" name="Text 34"/>
          <p:cNvSpPr/>
          <p:nvPr/>
        </p:nvSpPr>
        <p:spPr>
          <a:xfrm>
            <a:off x="7567756" y="168630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67756" y="195148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1: Breite Suche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174564" y="224409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DBDD54B-9E6F-2353-1470-1CE822BFEE08}"/>
              </a:ext>
            </a:extLst>
          </p:cNvPr>
          <p:cNvGrpSpPr/>
          <p:nvPr/>
        </p:nvGrpSpPr>
        <p:grpSpPr>
          <a:xfrm>
            <a:off x="6900244" y="2637282"/>
            <a:ext cx="548640" cy="548640"/>
            <a:chOff x="6900244" y="2637282"/>
            <a:chExt cx="548640" cy="548640"/>
          </a:xfrm>
        </p:grpSpPr>
        <p:sp>
          <p:nvSpPr>
            <p:cNvPr id="39" name="Shape 37"/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0" name="Text 38"/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8</a:t>
              </a:r>
              <a:endParaRPr lang="en-US" sz="160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7567756" y="267385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67756" y="293903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2: Eingrenzung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174564" y="323164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19D73659-1393-FB99-F24C-5E7F8114497F}"/>
              </a:ext>
            </a:extLst>
          </p:cNvPr>
          <p:cNvGrpSpPr/>
          <p:nvPr/>
        </p:nvGrpSpPr>
        <p:grpSpPr>
          <a:xfrm>
            <a:off x="6900244" y="3624834"/>
            <a:ext cx="548640" cy="548640"/>
            <a:chOff x="6900244" y="3624834"/>
            <a:chExt cx="548640" cy="548640"/>
          </a:xfrm>
        </p:grpSpPr>
        <p:sp>
          <p:nvSpPr>
            <p:cNvPr id="44" name="Shape 42"/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5" name="Text 43"/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4</a:t>
              </a:r>
              <a:endParaRPr lang="en-US" sz="1600" dirty="0"/>
            </a:p>
          </p:txBody>
        </p:sp>
      </p:grpSp>
      <p:sp>
        <p:nvSpPr>
          <p:cNvPr id="46" name="Text 44"/>
          <p:cNvSpPr/>
          <p:nvPr/>
        </p:nvSpPr>
        <p:spPr>
          <a:xfrm>
            <a:off x="7567756" y="366141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7756" y="392658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3: Finale Tests</a:t>
            </a:r>
            <a:endParaRPr lang="en-US" sz="95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7E77DE95-D2D1-04F1-EF06-40DBF1374421}"/>
              </a:ext>
            </a:extLst>
          </p:cNvPr>
          <p:cNvSpPr/>
          <p:nvPr/>
        </p:nvSpPr>
        <p:spPr>
          <a:xfrm>
            <a:off x="36576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5" name="Shape 21">
            <a:extLst>
              <a:ext uri="{FF2B5EF4-FFF2-40B4-BE49-F238E27FC236}">
                <a16:creationId xmlns:a16="http://schemas.microsoft.com/office/drawing/2014/main" id="{2C074194-5255-8124-D92C-1338405D068C}"/>
              </a:ext>
            </a:extLst>
          </p:cNvPr>
          <p:cNvSpPr/>
          <p:nvPr/>
        </p:nvSpPr>
        <p:spPr>
          <a:xfrm>
            <a:off x="47548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F7113883-AFDB-914F-34EC-40707B0548EB}"/>
              </a:ext>
            </a:extLst>
          </p:cNvPr>
          <p:cNvSpPr/>
          <p:nvPr/>
        </p:nvSpPr>
        <p:spPr>
          <a:xfrm>
            <a:off x="47548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D8EDF746-9B04-C938-D5D9-EDE6A9576BC2}"/>
              </a:ext>
            </a:extLst>
          </p:cNvPr>
          <p:cNvSpPr/>
          <p:nvPr/>
        </p:nvSpPr>
        <p:spPr>
          <a:xfrm>
            <a:off x="82296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c04_aggressive</a:t>
            </a:r>
            <a:endParaRPr lang="en-US" sz="105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FACAAEF6-0FCC-C4FB-C7DA-EF57C2CDFC97}"/>
              </a:ext>
            </a:extLst>
          </p:cNvPr>
          <p:cNvSpPr/>
          <p:nvPr/>
        </p:nvSpPr>
        <p:spPr>
          <a:xfrm>
            <a:off x="53035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lr=0.04 → zu noisy, instabil</a:t>
            </a:r>
            <a:endParaRPr lang="en-US" sz="950" dirty="0"/>
          </a:p>
        </p:txBody>
      </p:sp>
      <p:sp>
        <p:nvSpPr>
          <p:cNvPr id="59" name="Shape 25">
            <a:extLst>
              <a:ext uri="{FF2B5EF4-FFF2-40B4-BE49-F238E27FC236}">
                <a16:creationId xmlns:a16="http://schemas.microsoft.com/office/drawing/2014/main" id="{FD15DFCB-ED2A-1D5E-26F6-C8B9E823E594}"/>
              </a:ext>
            </a:extLst>
          </p:cNvPr>
          <p:cNvSpPr/>
          <p:nvPr/>
        </p:nvSpPr>
        <p:spPr>
          <a:xfrm>
            <a:off x="320040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4EF2DF11-68C4-FD7F-E9D0-9C3507B9AFBC}"/>
              </a:ext>
            </a:extLst>
          </p:cNvPr>
          <p:cNvSpPr/>
          <p:nvPr/>
        </p:nvSpPr>
        <p:spPr>
          <a:xfrm>
            <a:off x="331012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147C1820-ADCD-FC44-68EC-BADEB85EF190}"/>
              </a:ext>
            </a:extLst>
          </p:cNvPr>
          <p:cNvSpPr/>
          <p:nvPr/>
        </p:nvSpPr>
        <p:spPr>
          <a:xfrm>
            <a:off x="331012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FEB00BBB-9E5E-82A8-655C-5992A193CAD9}"/>
              </a:ext>
            </a:extLst>
          </p:cNvPr>
          <p:cNvSpPr/>
          <p:nvPr/>
        </p:nvSpPr>
        <p:spPr>
          <a:xfrm>
            <a:off x="365760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c02_very_stable</a:t>
            </a:r>
            <a:endParaRPr lang="en-US" sz="1050" dirty="0"/>
          </a:p>
        </p:txBody>
      </p:sp>
      <p:sp>
        <p:nvSpPr>
          <p:cNvPr id="63" name="Text 29">
            <a:extLst>
              <a:ext uri="{FF2B5EF4-FFF2-40B4-BE49-F238E27FC236}">
                <a16:creationId xmlns:a16="http://schemas.microsoft.com/office/drawing/2014/main" id="{25EAAB64-954F-92F9-8C22-8A699B25062F}"/>
              </a:ext>
            </a:extLst>
          </p:cNvPr>
          <p:cNvSpPr/>
          <p:nvPr/>
        </p:nvSpPr>
        <p:spPr>
          <a:xfrm>
            <a:off x="336499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lr=0.0025 → zu langsam</a:t>
            </a:r>
            <a:endParaRPr lang="en-US" sz="950" dirty="0"/>
          </a:p>
        </p:txBody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1F0B9FDA-3726-840E-FAA5-73EA3B832B3B}"/>
              </a:ext>
            </a:extLst>
          </p:cNvPr>
          <p:cNvSpPr/>
          <p:nvPr/>
        </p:nvSpPr>
        <p:spPr>
          <a:xfrm>
            <a:off x="603504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C7118242-3809-A0BD-15F5-3524FEBC2A98}"/>
              </a:ext>
            </a:extLst>
          </p:cNvPr>
          <p:cNvSpPr/>
          <p:nvPr/>
        </p:nvSpPr>
        <p:spPr>
          <a:xfrm>
            <a:off x="614476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11BDE702-2158-80A4-35AF-8E0435B0E6C2}"/>
              </a:ext>
            </a:extLst>
          </p:cNvPr>
          <p:cNvSpPr/>
          <p:nvPr/>
        </p:nvSpPr>
        <p:spPr>
          <a:xfrm>
            <a:off x="614476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67" name="Text 33">
            <a:extLst>
              <a:ext uri="{FF2B5EF4-FFF2-40B4-BE49-F238E27FC236}">
                <a16:creationId xmlns:a16="http://schemas.microsoft.com/office/drawing/2014/main" id="{1D17BBC0-71CE-88B1-DB06-DEABAD9328FF}"/>
              </a:ext>
            </a:extLst>
          </p:cNvPr>
          <p:cNvSpPr/>
          <p:nvPr/>
        </p:nvSpPr>
        <p:spPr>
          <a:xfrm>
            <a:off x="649224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c14_fast_low_eps</a:t>
            </a:r>
            <a:endParaRPr lang="en-US" sz="1050" dirty="0"/>
          </a:p>
        </p:txBody>
      </p:sp>
      <p:sp>
        <p:nvSpPr>
          <p:cNvPr id="68" name="Text 34">
            <a:extLst>
              <a:ext uri="{FF2B5EF4-FFF2-40B4-BE49-F238E27FC236}">
                <a16:creationId xmlns:a16="http://schemas.microsoft.com/office/drawing/2014/main" id="{5FAEAC8C-A38C-E253-F801-88CBF85B8340}"/>
              </a:ext>
            </a:extLst>
          </p:cNvPr>
          <p:cNvSpPr/>
          <p:nvPr/>
        </p:nvSpPr>
        <p:spPr>
          <a:xfrm>
            <a:off x="619963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Konvergiert zu früh, Exploration unzureichend</a:t>
            </a:r>
            <a:endParaRPr lang="en-US" sz="950" dirty="0"/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AEF3274F-F8B6-3DDD-6B8E-3382B3F839B8}"/>
              </a:ext>
            </a:extLst>
          </p:cNvPr>
          <p:cNvSpPr/>
          <p:nvPr/>
        </p:nvSpPr>
        <p:spPr>
          <a:xfrm>
            <a:off x="36576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0" name="!!Test">
            <a:extLst>
              <a:ext uri="{FF2B5EF4-FFF2-40B4-BE49-F238E27FC236}">
                <a16:creationId xmlns:a16="http://schemas.microsoft.com/office/drawing/2014/main" id="{6CC8DECC-D162-ECF2-E625-B24CB6EA79A2}"/>
              </a:ext>
            </a:extLst>
          </p:cNvPr>
          <p:cNvSpPr>
            <a:spLocks/>
          </p:cNvSpPr>
          <p:nvPr/>
        </p:nvSpPr>
        <p:spPr>
          <a:xfrm>
            <a:off x="49377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BAD4AC87-8044-477C-82E5-5D0C6ABDBB4F}"/>
              </a:ext>
            </a:extLst>
          </p:cNvPr>
          <p:cNvSpPr/>
          <p:nvPr/>
        </p:nvSpPr>
        <p:spPr>
          <a:xfrm>
            <a:off x="49377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OPTIMAL</a:t>
            </a:r>
            <a:endParaRPr lang="en-US" sz="90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0D7F7261-3B7F-8173-44FA-A4FB6F1515D3}"/>
              </a:ext>
            </a:extLst>
          </p:cNvPr>
          <p:cNvSpPr/>
          <p:nvPr/>
        </p:nvSpPr>
        <p:spPr>
          <a:xfrm>
            <a:off x="49377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LR = 0.01</a:t>
            </a:r>
            <a:endParaRPr lang="en-US" sz="2200" dirty="0"/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33B275B4-0BBB-F902-CDC4-0C66DBF3C9DB}"/>
              </a:ext>
            </a:extLst>
          </p:cNvPr>
          <p:cNvSpPr/>
          <p:nvPr/>
        </p:nvSpPr>
        <p:spPr>
          <a:xfrm>
            <a:off x="49377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LR 0.02 zu instabil, LR 0.005 zu langsam – 0.01 ist der Sweet Spot.</a:t>
            </a:r>
            <a:endParaRPr lang="en-US" sz="950" dirty="0"/>
          </a:p>
        </p:txBody>
      </p:sp>
      <p:sp>
        <p:nvSpPr>
          <p:cNvPr id="74" name="Shape 9">
            <a:extLst>
              <a:ext uri="{FF2B5EF4-FFF2-40B4-BE49-F238E27FC236}">
                <a16:creationId xmlns:a16="http://schemas.microsoft.com/office/drawing/2014/main" id="{9FA1DAB8-9523-5883-BE97-E038639E2584}"/>
              </a:ext>
            </a:extLst>
          </p:cNvPr>
          <p:cNvSpPr/>
          <p:nvPr/>
        </p:nvSpPr>
        <p:spPr>
          <a:xfrm>
            <a:off x="320040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5" name="Shape 10">
            <a:extLst>
              <a:ext uri="{FF2B5EF4-FFF2-40B4-BE49-F238E27FC236}">
                <a16:creationId xmlns:a16="http://schemas.microsoft.com/office/drawing/2014/main" id="{49970275-0F60-EC75-66EB-2E467035C87A}"/>
              </a:ext>
            </a:extLst>
          </p:cNvPr>
          <p:cNvSpPr/>
          <p:nvPr/>
        </p:nvSpPr>
        <p:spPr>
          <a:xfrm>
            <a:off x="332841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6" name="Text 11">
            <a:extLst>
              <a:ext uri="{FF2B5EF4-FFF2-40B4-BE49-F238E27FC236}">
                <a16:creationId xmlns:a16="http://schemas.microsoft.com/office/drawing/2014/main" id="{1C98C4D2-3D15-ED15-ED60-8C99E5007B5F}"/>
              </a:ext>
            </a:extLst>
          </p:cNvPr>
          <p:cNvSpPr/>
          <p:nvPr/>
        </p:nvSpPr>
        <p:spPr>
          <a:xfrm>
            <a:off x="332841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BEST</a:t>
            </a:r>
            <a:endParaRPr lang="en-US" sz="900" dirty="0"/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F03692CB-BC1A-475F-AFCD-5C1F8EAA85A3}"/>
              </a:ext>
            </a:extLst>
          </p:cNvPr>
          <p:cNvSpPr/>
          <p:nvPr/>
        </p:nvSpPr>
        <p:spPr>
          <a:xfrm>
            <a:off x="332841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0.99</a:t>
            </a:r>
            <a:endParaRPr lang="en-US" sz="2200" dirty="0"/>
          </a:p>
        </p:txBody>
      </p:sp>
      <p:sp>
        <p:nvSpPr>
          <p:cNvPr id="78" name="Text 13">
            <a:extLst>
              <a:ext uri="{FF2B5EF4-FFF2-40B4-BE49-F238E27FC236}">
                <a16:creationId xmlns:a16="http://schemas.microsoft.com/office/drawing/2014/main" id="{99CA8099-FD36-79FB-D054-AF3B02B0B56E}"/>
              </a:ext>
            </a:extLst>
          </p:cNvPr>
          <p:cNvSpPr/>
          <p:nvPr/>
        </p:nvSpPr>
        <p:spPr>
          <a:xfrm>
            <a:off x="332841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Sowohl γ = 1.0 als auch γ = 0.98 lieferten schlechtere Ergebnisse.</a:t>
            </a:r>
            <a:endParaRPr lang="en-US" sz="950" dirty="0"/>
          </a:p>
        </p:txBody>
      </p:sp>
      <p:sp>
        <p:nvSpPr>
          <p:cNvPr id="79" name="Shape 14">
            <a:extLst>
              <a:ext uri="{FF2B5EF4-FFF2-40B4-BE49-F238E27FC236}">
                <a16:creationId xmlns:a16="http://schemas.microsoft.com/office/drawing/2014/main" id="{2BB2494B-0363-508F-F5EA-97E25CC9B61F}"/>
              </a:ext>
            </a:extLst>
          </p:cNvPr>
          <p:cNvSpPr/>
          <p:nvPr/>
        </p:nvSpPr>
        <p:spPr>
          <a:xfrm>
            <a:off x="603504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0" name="Shape 15">
            <a:extLst>
              <a:ext uri="{FF2B5EF4-FFF2-40B4-BE49-F238E27FC236}">
                <a16:creationId xmlns:a16="http://schemas.microsoft.com/office/drawing/2014/main" id="{ECB773EF-FF95-886B-EDDB-C8AF339091B1}"/>
              </a:ext>
            </a:extLst>
          </p:cNvPr>
          <p:cNvSpPr/>
          <p:nvPr/>
        </p:nvSpPr>
        <p:spPr>
          <a:xfrm>
            <a:off x="616305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A5018999-AF24-646F-FBBC-157E1A752996}"/>
              </a:ext>
            </a:extLst>
          </p:cNvPr>
          <p:cNvSpPr/>
          <p:nvPr/>
        </p:nvSpPr>
        <p:spPr>
          <a:xfrm>
            <a:off x="616305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LANGER SCHEDULE</a:t>
            </a:r>
            <a:endParaRPr lang="en-US" sz="900" dirty="0"/>
          </a:p>
        </p:txBody>
      </p:sp>
      <p:sp>
        <p:nvSpPr>
          <p:cNvPr id="82" name="Text 17">
            <a:extLst>
              <a:ext uri="{FF2B5EF4-FFF2-40B4-BE49-F238E27FC236}">
                <a16:creationId xmlns:a16="http://schemas.microsoft.com/office/drawing/2014/main" id="{7DBC49B3-62F2-EDAD-B3DE-B2B06B124A81}"/>
              </a:ext>
            </a:extLst>
          </p:cNvPr>
          <p:cNvSpPr/>
          <p:nvPr/>
        </p:nvSpPr>
        <p:spPr>
          <a:xfrm>
            <a:off x="616305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</a:t>
            </a:r>
            <a:endParaRPr lang="en-US" sz="2200" dirty="0"/>
          </a:p>
        </p:txBody>
      </p:sp>
      <p:sp>
        <p:nvSpPr>
          <p:cNvPr id="83" name="Text 18">
            <a:extLst>
              <a:ext uri="{FF2B5EF4-FFF2-40B4-BE49-F238E27FC236}">
                <a16:creationId xmlns:a16="http://schemas.microsoft.com/office/drawing/2014/main" id="{A9D592B0-AF13-C024-2AD7-B177CF2F3689}"/>
              </a:ext>
            </a:extLst>
          </p:cNvPr>
          <p:cNvSpPr/>
          <p:nvPr/>
        </p:nvSpPr>
        <p:spPr>
          <a:xfrm>
            <a:off x="616305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Kurzer Schedule konvergiert zu früh – vollständige Exploration zu Beginn entscheidend.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6" grpId="0" animBg="1"/>
      <p:bldP spid="4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59E0B"/>
                </a:solidFill>
              </a:rPr>
              <a:t>SENSITIVITY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Sensitivity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!!Test"/>
          <p:cNvSpPr>
            <a:spLocks/>
          </p:cNvSpPr>
          <p:nvPr/>
        </p:nvSpPr>
        <p:spPr>
          <a:xfrm>
            <a:off x="49377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9377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OPTIMAL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377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LR = 0.01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377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LR 0.02 zu instabil, LR 0.005 zu langsam – 0.01 ist der Sweet Spot.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32841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2841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BEST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841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0.99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2841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Sowohl γ = 1.0 als auch γ = 0.98 lieferten schlechtere Ergebnisse.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616305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16305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LANGER SCHEDULE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6305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6305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Kurzer Schedule konvergiert zu früh – vollständige Exploration zu Beginn entscheidend.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312724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Abgelehnte Konfigurationen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7548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7548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c04_aggressive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035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lr=0.04 → zu noisy, instabil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31012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331012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c02_very_stable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lr=0.0025 → zu langsam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614476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614476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c14_fast_low_eps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9963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Konvergiert zu früh, Exploration unzureichend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6734416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TRAINING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Trainingsprozess &amp; Hardware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0D9488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</a:rPr>
              <a:t>ε-greedy Aktion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96596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10312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F59E0B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210312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</a:rPr>
              <a:t>Umgebung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384048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14B8A6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84048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Bellman-Update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4068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557784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10B981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557784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Q-Tabelle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7804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726948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F59E0B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26948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</a:rPr>
              <a:t>Epsilon-Decay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1920240"/>
            <a:ext cx="8503920" cy="256032"/>
          </a:xfrm>
          <a:prstGeom prst="roundRect">
            <a:avLst>
              <a:gd name="adj" fmla="val 28571"/>
            </a:avLst>
          </a:prstGeom>
          <a:solidFill>
            <a:srgbClr val="0D9488">
              <a:alpha val="1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292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Dieser Loop wiederholt sich für jede der 100 Millionen Episoden mit kontinuierlicher Q-Table-Aktualisierung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33172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14B8A6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2496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4B8A6"/>
                </a:solidFill>
              </a:rPr>
              <a:t>CPU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234440" y="275234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Intel® Core™ Ultra 7 155U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63440" y="233172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754880" y="233172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32120" y="2496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</a:rPr>
              <a:t>DAUER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32120" y="275234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~12–14 Stunden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65760" y="361188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457200" y="361188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34440" y="37764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0B981"/>
                </a:solidFill>
              </a:rPr>
              <a:t>CHECKPOINTING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234440" y="403250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alle 5M Episoden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61188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4754880" y="361188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532120" y="37764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</a:rPr>
              <a:t>EVALUATION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32120" y="403250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1M greedy Ep. / Checkpoint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</a:rPr>
              <a:t>100M EPISODES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Performance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75488" y="1005840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</a:rPr>
              <a:t>METRIC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44368" y="10058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</a:rPr>
              <a:t>BASELINE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73168" y="10058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</a:rPr>
              <a:t>COUNTING AGENT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01968" y="1005840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</a:rPr>
              <a:t>DIFF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40817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475488" y="140817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Avg Reward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44368" y="140817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−0.051565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−0.049736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01968" y="140817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+0.001829 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184708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475488" y="184708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Win Rate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44368" y="184708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42.74%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73168" y="184708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42.83%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01968" y="1847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+0.09%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228600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75488" y="228600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Loss Rate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944368" y="228600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47.90%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73168" y="228600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47.80%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01968" y="228600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−0.1%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5760" y="2724912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75488" y="272491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Push Rate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944368" y="272491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9.35%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272491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9.35%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01968" y="272491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Same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63824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75488" y="316382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Q-States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944368" y="316382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280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73168" y="316382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113,744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01968" y="316382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406× larger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65760" y="3602736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4"/>
          <p:cNvSpPr/>
          <p:nvPr/>
        </p:nvSpPr>
        <p:spPr>
          <a:xfrm>
            <a:off x="475488" y="360273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Seed Stability (σ)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944368" y="360273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0.00138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773168" y="360273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0.00052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01968" y="360273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Better ✅</a:t>
            </a:r>
            <a:endParaRPr lang="en-US" sz="1150" dirty="0"/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F51ADEB4-DC91-7688-914B-646760B46B21}"/>
              </a:ext>
            </a:extLst>
          </p:cNvPr>
          <p:cNvGrpSpPr/>
          <p:nvPr/>
        </p:nvGrpSpPr>
        <p:grpSpPr>
          <a:xfrm>
            <a:off x="365760" y="5316855"/>
            <a:ext cx="7492365" cy="804672"/>
            <a:chOff x="365760" y="4183380"/>
            <a:chExt cx="8412480" cy="804672"/>
          </a:xfrm>
        </p:grpSpPr>
        <p:sp>
          <p:nvSpPr>
            <p:cNvPr id="40" name="Shape 38"/>
            <p:cNvSpPr/>
            <p:nvPr/>
          </p:nvSpPr>
          <p:spPr>
            <a:xfrm>
              <a:off x="365760" y="4183380"/>
              <a:ext cx="8412480" cy="804672"/>
            </a:xfrm>
            <a:prstGeom prst="roundRect">
              <a:avLst>
                <a:gd name="adj" fmla="val 13636"/>
              </a:avLst>
            </a:prstGeom>
            <a:solidFill>
              <a:srgbClr val="10B981">
                <a:alpha val="12000"/>
              </a:srgbClr>
            </a:solidFill>
            <a:ln w="1270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1" name="Text 39"/>
            <p:cNvSpPr/>
            <p:nvPr/>
          </p:nvSpPr>
          <p:spPr>
            <a:xfrm>
              <a:off x="795528" y="4256532"/>
              <a:ext cx="795528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Counting Agent führt — stabiler über Seeds, 406× mehr State-Information. </a:t>
              </a:r>
              <a:endParaRPr lang="en-US" sz="1050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1.60494E-6 L -2.77778E-6 -0.212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68292A-A32C-0968-A43C-4484775C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>
            <a:extLst>
              <a:ext uri="{FF2B5EF4-FFF2-40B4-BE49-F238E27FC236}">
                <a16:creationId xmlns:a16="http://schemas.microsoft.com/office/drawing/2014/main" id="{C21325FB-0B89-AF90-3050-B983E45D2370}"/>
              </a:ext>
            </a:extLst>
          </p:cNvPr>
          <p:cNvSpPr/>
          <p:nvPr/>
        </p:nvSpPr>
        <p:spPr>
          <a:xfrm>
            <a:off x="-9525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1" name="Shape 1">
            <a:extLst>
              <a:ext uri="{FF2B5EF4-FFF2-40B4-BE49-F238E27FC236}">
                <a16:creationId xmlns:a16="http://schemas.microsoft.com/office/drawing/2014/main" id="{23148629-93F8-9D68-3CC6-24E585FB65A3}"/>
              </a:ext>
            </a:extLst>
          </p:cNvPr>
          <p:cNvSpPr/>
          <p:nvPr/>
        </p:nvSpPr>
        <p:spPr>
          <a:xfrm>
            <a:off x="-9525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7DDE123-3207-3F76-88A6-D8D0354A548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74D60F-25B2-FD28-415F-21FE80E10281}"/>
              </a:ext>
            </a:extLst>
          </p:cNvPr>
          <p:cNvSpPr/>
          <p:nvPr/>
        </p:nvSpPr>
        <p:spPr>
          <a:xfrm>
            <a:off x="457200" y="109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</a:rPr>
              <a:t>100M EPISODES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9E0893-0496-2B4A-B5CD-735B0D558F8B}"/>
              </a:ext>
            </a:extLst>
          </p:cNvPr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Seed-Variabilität &amp; t-Test</a:t>
            </a:r>
            <a:endParaRPr lang="en-US" sz="28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4" name="Google Shape;164;p18" descr="image.png">
            <a:extLst>
              <a:ext uri="{FF2B5EF4-FFF2-40B4-BE49-F238E27FC236}">
                <a16:creationId xmlns:a16="http://schemas.microsoft.com/office/drawing/2014/main" id="{A06979E2-2213-245D-8FD5-515ADA8DC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2" y="1969274"/>
            <a:ext cx="2562227" cy="5942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165;p18" descr="image.png">
            <a:extLst>
              <a:ext uri="{FF2B5EF4-FFF2-40B4-BE49-F238E27FC236}">
                <a16:creationId xmlns:a16="http://schemas.microsoft.com/office/drawing/2014/main" id="{327A693E-BB63-C132-C982-34CCD49706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77440" y="3123129"/>
            <a:ext cx="6400800" cy="157147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167;p18">
            <a:extLst>
              <a:ext uri="{FF2B5EF4-FFF2-40B4-BE49-F238E27FC236}">
                <a16:creationId xmlns:a16="http://schemas.microsoft.com/office/drawing/2014/main" id="{B9F2DFEF-D2FE-E918-578F-3B11715C1414}"/>
              </a:ext>
            </a:extLst>
          </p:cNvPr>
          <p:cNvSpPr txBox="1"/>
          <p:nvPr/>
        </p:nvSpPr>
        <p:spPr>
          <a:xfrm>
            <a:off x="-738190" y="1213255"/>
            <a:ext cx="42672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59929"/>
              </a:lnSpc>
            </a:pPr>
            <a:r>
              <a:rPr lang="en-US" sz="1425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0,153</a:t>
            </a:r>
            <a:endParaRPr lang="en-US" sz="1425" b="1" i="0" u="none" strike="noStrike" cap="none" dirty="0">
              <a:solidFill>
                <a:srgbClr val="333333"/>
              </a:solidFill>
              <a:latin typeface="Cambria" panose="02040503050406030204" pitchFamily="18" charset="0"/>
              <a:ea typeface="Cambria" panose="02040503050406030204" pitchFamily="18" charset="0"/>
              <a:cs typeface="Lato"/>
              <a:sym typeface="Lato"/>
            </a:endParaRPr>
          </a:p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p-Wert (t-Test)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Google Shape;168;p18">
            <a:extLst>
              <a:ext uri="{FF2B5EF4-FFF2-40B4-BE49-F238E27FC236}">
                <a16:creationId xmlns:a16="http://schemas.microsoft.com/office/drawing/2014/main" id="{F3B45279-628E-E522-E198-13A708F7BE47}"/>
              </a:ext>
            </a:extLst>
          </p:cNvPr>
          <p:cNvSpPr txBox="1"/>
          <p:nvPr/>
        </p:nvSpPr>
        <p:spPr>
          <a:xfrm>
            <a:off x="3467100" y="1092306"/>
            <a:ext cx="67208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Variabilität</a:t>
            </a:r>
            <a:r>
              <a:rPr lang="en-US" sz="2400" b="1" i="0" u="none" strike="noStrike" cap="none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über</a:t>
            </a:r>
            <a:r>
              <a:rPr lang="en-US" sz="2400" b="1" i="0" u="none" strike="noStrike" cap="none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Trainingsläufe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Google Shape;169;p18">
            <a:extLst>
              <a:ext uri="{FF2B5EF4-FFF2-40B4-BE49-F238E27FC236}">
                <a16:creationId xmlns:a16="http://schemas.microsoft.com/office/drawing/2014/main" id="{5397BCA9-C6C8-35BC-88C5-AC1768E4D257}"/>
              </a:ext>
            </a:extLst>
          </p:cNvPr>
          <p:cNvSpPr txBox="1"/>
          <p:nvPr/>
        </p:nvSpPr>
        <p:spPr>
          <a:xfrm>
            <a:off x="470294" y="2081656"/>
            <a:ext cx="2216946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C53030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NICHT SIGNIFIKANT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Google Shape;171;p18">
            <a:extLst>
              <a:ext uri="{FF2B5EF4-FFF2-40B4-BE49-F238E27FC236}">
                <a16:creationId xmlns:a16="http://schemas.microsoft.com/office/drawing/2014/main" id="{05B8DC11-E50E-B07C-6569-7F7CFEF1168D}"/>
              </a:ext>
            </a:extLst>
          </p:cNvPr>
          <p:cNvSpPr txBox="1"/>
          <p:nvPr/>
        </p:nvSpPr>
        <p:spPr>
          <a:xfrm>
            <a:off x="3467100" y="1571073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Seed 1: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+0.002516 (Reward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Differenz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)</a:t>
            </a:r>
            <a:endParaRPr dirty="0">
              <a:latin typeface="Calibri "/>
            </a:endParaRPr>
          </a:p>
        </p:txBody>
      </p:sp>
      <p:sp>
        <p:nvSpPr>
          <p:cNvPr id="83" name="Google Shape;173;p18">
            <a:extLst>
              <a:ext uri="{FF2B5EF4-FFF2-40B4-BE49-F238E27FC236}">
                <a16:creationId xmlns:a16="http://schemas.microsoft.com/office/drawing/2014/main" id="{51F3161F-16D3-776E-934C-A413794D084A}"/>
              </a:ext>
            </a:extLst>
          </p:cNvPr>
          <p:cNvSpPr txBox="1"/>
          <p:nvPr/>
        </p:nvSpPr>
        <p:spPr>
          <a:xfrm>
            <a:off x="3467100" y="1860544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Seed 42: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+0.002662 (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Maximaler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Vorteil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)</a:t>
            </a:r>
            <a:endParaRPr dirty="0">
              <a:latin typeface="Calibri "/>
            </a:endParaRPr>
          </a:p>
        </p:txBody>
      </p:sp>
      <p:sp>
        <p:nvSpPr>
          <p:cNvPr id="85" name="Google Shape;175;p18">
            <a:extLst>
              <a:ext uri="{FF2B5EF4-FFF2-40B4-BE49-F238E27FC236}">
                <a16:creationId xmlns:a16="http://schemas.microsoft.com/office/drawing/2014/main" id="{A608BD00-6706-6069-263B-22FF7C97D916}"/>
              </a:ext>
            </a:extLst>
          </p:cNvPr>
          <p:cNvSpPr txBox="1"/>
          <p:nvPr/>
        </p:nvSpPr>
        <p:spPr>
          <a:xfrm>
            <a:off x="3467100" y="2150015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Seed 123:</a:t>
            </a:r>
            <a:r>
              <a:rPr lang="en-US" sz="1425" b="0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 +0.000205 (Fast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ea typeface="Lato"/>
                <a:cs typeface="Lato"/>
                <a:sym typeface="Lato"/>
              </a:rPr>
              <a:t>kein</a:t>
            </a:r>
            <a:r>
              <a:rPr lang="en-US" sz="1425" b="0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 Benefit)</a:t>
            </a:r>
            <a:endParaRPr dirty="0"/>
          </a:p>
        </p:txBody>
      </p:sp>
      <p:sp>
        <p:nvSpPr>
          <p:cNvPr id="86" name="Google Shape;176;p18">
            <a:extLst>
              <a:ext uri="{FF2B5EF4-FFF2-40B4-BE49-F238E27FC236}">
                <a16:creationId xmlns:a16="http://schemas.microsoft.com/office/drawing/2014/main" id="{584AEAD1-6126-37AB-6C80-5F5109FEF407}"/>
              </a:ext>
            </a:extLst>
          </p:cNvPr>
          <p:cNvSpPr txBox="1"/>
          <p:nvPr/>
        </p:nvSpPr>
        <p:spPr>
          <a:xfrm>
            <a:off x="2615565" y="3313629"/>
            <a:ext cx="5972175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95% </a:t>
            </a:r>
            <a:r>
              <a:rPr lang="en-US" sz="1425" b="1" i="0" u="none" strike="noStrike" cap="none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Konfidenzintervall</a:t>
            </a: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Google Shape;177;p18">
            <a:extLst>
              <a:ext uri="{FF2B5EF4-FFF2-40B4-BE49-F238E27FC236}">
                <a16:creationId xmlns:a16="http://schemas.microsoft.com/office/drawing/2014/main" id="{FDC5D7C0-7EC0-F2E0-17B3-6B15D92763C1}"/>
              </a:ext>
            </a:extLst>
          </p:cNvPr>
          <p:cNvSpPr txBox="1"/>
          <p:nvPr/>
        </p:nvSpPr>
        <p:spPr>
          <a:xfrm>
            <a:off x="2615565" y="4117450"/>
            <a:ext cx="5972175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Der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Vorteil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ist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zu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klein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und die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Stichprobe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(n=3)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unzureichend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belastbare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Aussagen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dirty="0">
              <a:latin typeface="Calibri "/>
            </a:endParaRPr>
          </a:p>
        </p:txBody>
      </p:sp>
      <p:pic>
        <p:nvPicPr>
          <p:cNvPr id="88" name="Google Shape;178;p18" descr="image.png">
            <a:extLst>
              <a:ext uri="{FF2B5EF4-FFF2-40B4-BE49-F238E27FC236}">
                <a16:creationId xmlns:a16="http://schemas.microsoft.com/office/drawing/2014/main" id="{D0332ED7-23FD-A67E-CA63-D61F7C2EEB4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17297" y="2133448"/>
            <a:ext cx="305994" cy="265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179;p18" descr="image.png">
            <a:extLst>
              <a:ext uri="{FF2B5EF4-FFF2-40B4-BE49-F238E27FC236}">
                <a16:creationId xmlns:a16="http://schemas.microsoft.com/office/drawing/2014/main" id="{4C36A6AD-B6F1-EFB8-E349-47F45734CF5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615565" y="3822175"/>
            <a:ext cx="2587525" cy="190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4227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26F6-14FD-43E2-CC68-9AAF48E0E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F2EFF2-D3FB-2417-D396-84512ECC5FF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49A71F-E6F4-AEDE-9A8F-EFAE7B7CC59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E4B88F-9EB3-C60A-CD29-FB91DB7790B9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76675C-410A-D2ED-2F5C-9A481B960CF9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E1868E-326E-465A-CA9B-8CD6C11FE10E}"/>
              </a:ext>
            </a:extLst>
          </p:cNvPr>
          <p:cNvSpPr/>
          <p:nvPr/>
        </p:nvSpPr>
        <p:spPr>
          <a:xfrm>
            <a:off x="365760" y="109728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EF4444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221A2B4-314E-B72E-DCAD-EEB6DBBFC5B2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02F226B-3EE2-218F-96FA-903AAC3123E6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&lt; −1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896CC7-1C65-4A67-BF9C-758FB832CFA0}"/>
              </a:ext>
            </a:extLst>
          </p:cNvPr>
          <p:cNvSpPr/>
          <p:nvPr/>
        </p:nvSpPr>
        <p:spPr>
          <a:xfrm>
            <a:off x="50292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Dealer-Vorteil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246FC68-B387-4E50-670B-76B269C9C061}"/>
              </a:ext>
            </a:extLst>
          </p:cNvPr>
          <p:cNvSpPr/>
          <p:nvPr/>
        </p:nvSpPr>
        <p:spPr>
          <a:xfrm>
            <a:off x="2377440" y="1207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95F4557-09D3-BF33-AD24-AB6D0F4A4FCF}"/>
              </a:ext>
            </a:extLst>
          </p:cNvPr>
          <p:cNvSpPr/>
          <p:nvPr/>
        </p:nvSpPr>
        <p:spPr>
          <a:xfrm>
            <a:off x="237744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−0.08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154EAAF-396B-7A5A-EAD3-3AA1E9962B19}"/>
              </a:ext>
            </a:extLst>
          </p:cNvPr>
          <p:cNvSpPr/>
          <p:nvPr/>
        </p:nvSpPr>
        <p:spPr>
          <a:xfrm>
            <a:off x="3886200" y="12070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00E76A9-C38A-16E0-BD5B-F6BC318BB013}"/>
              </a:ext>
            </a:extLst>
          </p:cNvPr>
          <p:cNvSpPr/>
          <p:nvPr/>
        </p:nvSpPr>
        <p:spPr>
          <a:xfrm>
            <a:off x="3886200" y="1444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38%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40FF2C1-C8B5-58AC-8E8A-ACA6F089AF34}"/>
              </a:ext>
            </a:extLst>
          </p:cNvPr>
          <p:cNvSpPr/>
          <p:nvPr/>
        </p:nvSpPr>
        <p:spPr>
          <a:xfrm>
            <a:off x="5120640" y="150876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1EBA13A-3597-31A3-FCD9-D442ED4A6147}"/>
              </a:ext>
            </a:extLst>
          </p:cNvPr>
          <p:cNvSpPr/>
          <p:nvPr/>
        </p:nvSpPr>
        <p:spPr>
          <a:xfrm>
            <a:off x="51206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Konservative Strategie · Implizites Surrender</a:t>
            </a:r>
            <a:endParaRPr lang="en-US" sz="9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05B53C6-4C3F-AE21-F744-CBFB559EE77F}"/>
              </a:ext>
            </a:extLst>
          </p:cNvPr>
          <p:cNvSpPr/>
          <p:nvPr/>
        </p:nvSpPr>
        <p:spPr>
          <a:xfrm>
            <a:off x="365760" y="237744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00BA520-9094-2BA1-0C50-55C8562F015E}"/>
              </a:ext>
            </a:extLst>
          </p:cNvPr>
          <p:cNvSpPr/>
          <p:nvPr/>
        </p:nvSpPr>
        <p:spPr>
          <a:xfrm>
            <a:off x="502920" y="250545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3367B08-EC69-E477-169A-8DD05F9D167C}"/>
              </a:ext>
            </a:extLst>
          </p:cNvPr>
          <p:cNvSpPr/>
          <p:nvPr/>
        </p:nvSpPr>
        <p:spPr>
          <a:xfrm>
            <a:off x="502920" y="250545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769BAD9-03F7-94E5-05D4-2E34BEACC8B9}"/>
              </a:ext>
            </a:extLst>
          </p:cNvPr>
          <p:cNvSpPr/>
          <p:nvPr/>
        </p:nvSpPr>
        <p:spPr>
          <a:xfrm>
            <a:off x="502920" y="28895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99202C3-6F4D-9FDF-BB1D-49C6EC18E4CE}"/>
              </a:ext>
            </a:extLst>
          </p:cNvPr>
          <p:cNvSpPr/>
          <p:nvPr/>
        </p:nvSpPr>
        <p:spPr>
          <a:xfrm>
            <a:off x="2377440" y="24871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B42B8D4-BBD6-2481-E1E8-5FA6C71D7C43}"/>
              </a:ext>
            </a:extLst>
          </p:cNvPr>
          <p:cNvSpPr/>
          <p:nvPr/>
        </p:nvSpPr>
        <p:spPr>
          <a:xfrm>
            <a:off x="2377440" y="2724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0540965-B618-AC72-1C80-309E4626C2E1}"/>
              </a:ext>
            </a:extLst>
          </p:cNvPr>
          <p:cNvSpPr/>
          <p:nvPr/>
        </p:nvSpPr>
        <p:spPr>
          <a:xfrm>
            <a:off x="3886200" y="24871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8A2F207-0098-9677-7DB5-9CE5CC3A7B13}"/>
              </a:ext>
            </a:extLst>
          </p:cNvPr>
          <p:cNvSpPr/>
          <p:nvPr/>
        </p:nvSpPr>
        <p:spPr>
          <a:xfrm>
            <a:off x="3886200" y="27249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3C3F575-4FD8-04FC-F5D7-8647F8DBD291}"/>
              </a:ext>
            </a:extLst>
          </p:cNvPr>
          <p:cNvSpPr/>
          <p:nvPr/>
        </p:nvSpPr>
        <p:spPr>
          <a:xfrm>
            <a:off x="5120640" y="278892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53EAFF9-85B1-A763-A62A-96247BB2047D}"/>
              </a:ext>
            </a:extLst>
          </p:cNvPr>
          <p:cNvSpPr/>
          <p:nvPr/>
        </p:nvSpPr>
        <p:spPr>
          <a:xfrm>
            <a:off x="5120640" y="30632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78103A91-5A83-D984-493A-3F1DBACC8A5A}"/>
              </a:ext>
            </a:extLst>
          </p:cNvPr>
          <p:cNvSpPr/>
          <p:nvPr/>
        </p:nvSpPr>
        <p:spPr>
          <a:xfrm>
            <a:off x="365760" y="365760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B9D9E2A-69D5-BACF-B53C-313977176288}"/>
              </a:ext>
            </a:extLst>
          </p:cNvPr>
          <p:cNvSpPr/>
          <p:nvPr/>
        </p:nvSpPr>
        <p:spPr>
          <a:xfrm>
            <a:off x="502920" y="378561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FA94680-4EE0-5856-0320-231620484A75}"/>
              </a:ext>
            </a:extLst>
          </p:cNvPr>
          <p:cNvSpPr/>
          <p:nvPr/>
        </p:nvSpPr>
        <p:spPr>
          <a:xfrm>
            <a:off x="502920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857B0C9-D3F0-AE1A-930F-92CCDB22C86E}"/>
              </a:ext>
            </a:extLst>
          </p:cNvPr>
          <p:cNvSpPr/>
          <p:nvPr/>
        </p:nvSpPr>
        <p:spPr>
          <a:xfrm>
            <a:off x="502920" y="532218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D8F698A-648A-9800-18BB-74A35CCD5F8C}"/>
              </a:ext>
            </a:extLst>
          </p:cNvPr>
          <p:cNvSpPr/>
          <p:nvPr/>
        </p:nvSpPr>
        <p:spPr>
          <a:xfrm>
            <a:off x="2377440" y="37673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CE41B2F-B1EC-A8B8-F540-F21805B4F9FA}"/>
              </a:ext>
            </a:extLst>
          </p:cNvPr>
          <p:cNvSpPr/>
          <p:nvPr/>
        </p:nvSpPr>
        <p:spPr>
          <a:xfrm>
            <a:off x="2377440" y="5157597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6F25303-4E6C-9D6B-D47E-7F45A07988D4}"/>
              </a:ext>
            </a:extLst>
          </p:cNvPr>
          <p:cNvSpPr/>
          <p:nvPr/>
        </p:nvSpPr>
        <p:spPr>
          <a:xfrm>
            <a:off x="3886200" y="37673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E3BECBC4-D222-4201-D700-8C1D08497C7B}"/>
              </a:ext>
            </a:extLst>
          </p:cNvPr>
          <p:cNvSpPr/>
          <p:nvPr/>
        </p:nvSpPr>
        <p:spPr>
          <a:xfrm>
            <a:off x="3886200" y="51575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2649CD7-4E51-8B2D-6299-FBF208DAFF4D}"/>
              </a:ext>
            </a:extLst>
          </p:cNvPr>
          <p:cNvSpPr/>
          <p:nvPr/>
        </p:nvSpPr>
        <p:spPr>
          <a:xfrm>
            <a:off x="5120640" y="522160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FE98CD1-4C4F-1451-1DD8-E2DEC8F0107E}"/>
              </a:ext>
            </a:extLst>
          </p:cNvPr>
          <p:cNvSpPr/>
          <p:nvPr/>
        </p:nvSpPr>
        <p:spPr>
          <a:xfrm>
            <a:off x="5120640" y="522160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9869D371-CAFF-3383-D9BF-EC0FC6E115C9}"/>
              </a:ext>
            </a:extLst>
          </p:cNvPr>
          <p:cNvSpPr/>
          <p:nvPr/>
        </p:nvSpPr>
        <p:spPr>
          <a:xfrm>
            <a:off x="5120640" y="549592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3E2A1D-5FB8-0109-FC62-8ED9EF3B8348}"/>
              </a:ext>
            </a:extLst>
          </p:cNvPr>
          <p:cNvSpPr/>
          <p:nvPr/>
        </p:nvSpPr>
        <p:spPr>
          <a:xfrm>
            <a:off x="365760" y="522160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58D80D2-2221-2F91-0933-FB88FD39F3AD}"/>
              </a:ext>
            </a:extLst>
          </p:cNvPr>
          <p:cNvSpPr/>
          <p:nvPr/>
        </p:nvSpPr>
        <p:spPr>
          <a:xfrm>
            <a:off x="594360" y="530390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47848AAD-FAAC-C869-3EAB-B4201C24A302}"/>
              </a:ext>
            </a:extLst>
          </p:cNvPr>
          <p:cNvSpPr/>
          <p:nvPr/>
        </p:nvSpPr>
        <p:spPr>
          <a:xfrm>
            <a:off x="594360" y="555993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77A7E0D9-CE79-30FF-F995-5274D70F6D54}"/>
              </a:ext>
            </a:extLst>
          </p:cNvPr>
          <p:cNvSpPr/>
          <p:nvPr/>
        </p:nvSpPr>
        <p:spPr>
          <a:xfrm>
            <a:off x="3886200" y="39959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CCD09FEF-6DDB-0FFE-6C26-4435B43B4A16}"/>
              </a:ext>
            </a:extLst>
          </p:cNvPr>
          <p:cNvSpPr/>
          <p:nvPr/>
        </p:nvSpPr>
        <p:spPr>
          <a:xfrm>
            <a:off x="2377440" y="398564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247ADEC9-C714-A116-53E0-30CB49B8CF8F}"/>
              </a:ext>
            </a:extLst>
          </p:cNvPr>
          <p:cNvSpPr/>
          <p:nvPr/>
        </p:nvSpPr>
        <p:spPr>
          <a:xfrm>
            <a:off x="5120640" y="398373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71B9DC01-9717-28E6-A561-F319EC6FBFDB}"/>
              </a:ext>
            </a:extLst>
          </p:cNvPr>
          <p:cNvSpPr/>
          <p:nvPr/>
        </p:nvSpPr>
        <p:spPr>
          <a:xfrm>
            <a:off x="5120640" y="43205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D3507EF6-418B-A01E-842B-234986E728C4}"/>
              </a:ext>
            </a:extLst>
          </p:cNvPr>
          <p:cNvSpPr/>
          <p:nvPr/>
        </p:nvSpPr>
        <p:spPr>
          <a:xfrm>
            <a:off x="502920" y="420471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ED91D57A-E81A-29A4-E96D-66E105E779DF}"/>
              </a:ext>
            </a:extLst>
          </p:cNvPr>
          <p:cNvSpPr/>
          <p:nvPr/>
        </p:nvSpPr>
        <p:spPr>
          <a:xfrm>
            <a:off x="5120640" y="1502410"/>
            <a:ext cx="1335024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D7E8A361-AB3F-07B2-A983-FC1FE786F686}"/>
              </a:ext>
            </a:extLst>
          </p:cNvPr>
          <p:cNvSpPr/>
          <p:nvPr/>
        </p:nvSpPr>
        <p:spPr>
          <a:xfrm>
            <a:off x="5120640" y="279209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9BF48160-D930-7563-A3C0-D47DA6BD4140}"/>
              </a:ext>
            </a:extLst>
          </p:cNvPr>
          <p:cNvSpPr/>
          <p:nvPr/>
        </p:nvSpPr>
        <p:spPr>
          <a:xfrm>
            <a:off x="5120640" y="398494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7038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13B92-8B70-DE68-ACB6-D76DF226D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8263899-B1BA-148D-16E6-C1BBC72569F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35F811D-DAC8-9177-F471-2096840ADB9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67370C-D62E-AFA9-0718-5226545EDE71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7D7E73-4049-3D76-016A-D7283BBEFCF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C149777-B0D9-9619-4B4B-A8EBA0B6D632}"/>
              </a:ext>
            </a:extLst>
          </p:cNvPr>
          <p:cNvSpPr/>
          <p:nvPr/>
        </p:nvSpPr>
        <p:spPr>
          <a:xfrm>
            <a:off x="365760" y="109728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EF4444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D735FB1-944C-4DF6-0019-EE8E86255B45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B4C3B40-1D81-8733-98C8-634CD55207C7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&lt; −1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52FEDE-0C61-F023-F025-AEC9529D90B2}"/>
              </a:ext>
            </a:extLst>
          </p:cNvPr>
          <p:cNvSpPr/>
          <p:nvPr/>
        </p:nvSpPr>
        <p:spPr>
          <a:xfrm>
            <a:off x="50292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Dealer-Vorteil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6692CF4-A2AD-0414-5B1B-8DB8B0BB7EED}"/>
              </a:ext>
            </a:extLst>
          </p:cNvPr>
          <p:cNvSpPr/>
          <p:nvPr/>
        </p:nvSpPr>
        <p:spPr>
          <a:xfrm>
            <a:off x="2377440" y="1207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B791CCF-7F29-6C8C-1512-9310D60B982D}"/>
              </a:ext>
            </a:extLst>
          </p:cNvPr>
          <p:cNvSpPr/>
          <p:nvPr/>
        </p:nvSpPr>
        <p:spPr>
          <a:xfrm>
            <a:off x="237744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−0.08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F305F1A-8DD1-235E-F167-1A3FC927670C}"/>
              </a:ext>
            </a:extLst>
          </p:cNvPr>
          <p:cNvSpPr/>
          <p:nvPr/>
        </p:nvSpPr>
        <p:spPr>
          <a:xfrm>
            <a:off x="3886200" y="12070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D84FF7D-60B6-0FED-3816-FC7E8DD5370F}"/>
              </a:ext>
            </a:extLst>
          </p:cNvPr>
          <p:cNvSpPr/>
          <p:nvPr/>
        </p:nvSpPr>
        <p:spPr>
          <a:xfrm>
            <a:off x="3886200" y="1444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38%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C2EC4DC-91F8-79FE-0A69-7B6E678A0486}"/>
              </a:ext>
            </a:extLst>
          </p:cNvPr>
          <p:cNvSpPr/>
          <p:nvPr/>
        </p:nvSpPr>
        <p:spPr>
          <a:xfrm>
            <a:off x="5120640" y="150876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267CC06-1B16-BC60-AA95-88D76F91ECAD}"/>
              </a:ext>
            </a:extLst>
          </p:cNvPr>
          <p:cNvSpPr/>
          <p:nvPr/>
        </p:nvSpPr>
        <p:spPr>
          <a:xfrm>
            <a:off x="51206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Konservative Strategie · Implizites Surrender</a:t>
            </a:r>
            <a:endParaRPr lang="en-US" sz="9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110AA45-991E-6347-6795-F8308BB0AE25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98EF841-44AB-D630-B197-4887DB8AD62F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D218FD-E949-B708-3840-80CDCED2E809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0956A7D-0AB5-98BB-4108-D6CCD6D835E0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5FAB23D-C20E-AE0A-C7AF-A178EB795F26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5B968AB-4655-E45E-C9D3-F7E4681023C1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18A1247-32B5-ED24-C825-B442066A508D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7EB57B0-C0BA-8477-BAC3-B3C04B09208F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E35ACE7-0C97-86C5-04E7-C5A41DC854AA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492ADE4-7646-B3AD-8C26-FDCFD5DACDC6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65D10DD-E88C-29B7-C698-83C85757F973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7D5A689-3F80-1CB6-1F42-58FCCF2DCB76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586C2B7-9206-D417-EA3A-4200076E6D28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10E8889-AC4B-ADDF-9948-55FD5BE716FF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7B5DA80-1600-384B-5B31-5D3A71BE82AC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D7D6A13F-D505-E4FE-1679-D68196FCE8E1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C2C155B-92A5-A60A-2EF7-C4B0BE07F926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B34AB5C9-576C-27CF-AF0F-B734EED53DD7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14CBF1C9-3294-3FFD-B9BB-3CA702332E97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4093C48B-F9BA-4E5A-C907-4405C8CFEC82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0CC2FEBD-0E70-CFC1-2151-25A5E74F8306}"/>
              </a:ext>
            </a:extLst>
          </p:cNvPr>
          <p:cNvSpPr/>
          <p:nvPr/>
        </p:nvSpPr>
        <p:spPr>
          <a:xfrm>
            <a:off x="5120640" y="1502410"/>
            <a:ext cx="1335024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386E9FB7-FBC4-B424-09E0-B1E53ED7CA39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7DBE8BED-3FC5-CDB9-7643-CE30AB36F629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C872828-D18B-CF3D-CD6C-DC43ADABA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30" y="2462022"/>
            <a:ext cx="2987462" cy="2240280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EADA4957-5B19-1B64-33DB-E529633564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492" y="2470133"/>
            <a:ext cx="2989179" cy="2241568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574DDBF5-0746-39E1-10D1-45EADB6E9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5293" y="2481072"/>
            <a:ext cx="2963603" cy="221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5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8A90-90FB-414E-F96D-877AC4A7C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D15860-0F68-B5D1-CCC2-3E6CE0F4F24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00E50-A24F-1812-E230-10B8BC0D1E0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3C32905-A3CA-F4F0-79CC-C48A4919C8DA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91FDC1-1A09-F1E5-A9ED-DC6ACD1F02B9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994C7CB-318C-DBFD-C459-B38515854057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22D0F80-7F71-1403-38D4-C17AD9B7F0EE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0EAE043-F2B8-2404-8EC8-1AD22385AAAF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5D2E51-85E1-6312-B751-6267D2D126A1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5879724-EFD1-9586-DE67-9D9FD83BA396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8006E6E-3405-85D2-DE98-4C27A9D61670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DE3CC5A-2888-4B15-F58A-A4AD81E7AED5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0F7FD3A-0EB9-9387-EA02-7E4C282FD1E7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E49CD5B-7A77-A55A-F35B-213086DD5BFC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238344-D22D-755A-1F92-73C2CB988535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BCCE8CC-0225-36ED-D6F8-D2C62406B7D6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B800BF2-9AFA-732A-59E6-EE9179407D23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F3111A2-6762-C6D4-8B86-A2AD4C0442A4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605C4D65-7DCC-46EB-B055-AC0661EE0E75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014A3B-3BE4-554D-CFBF-E15BA30D51F0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2E0FFCE0-0F9E-F2C2-2BC9-9A370031DC45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4A3E716-F31F-CE31-7CEC-B6A6D5485E30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7F289233-5D18-8F6B-96F0-0A627BAC52B2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5F04C539-F02E-9581-4F8F-742C7A82472A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7F29C90A-89AB-732A-0EFE-3876FA80DEF0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6C4DA9C1-22B7-32F0-FC11-ED7A30574B97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5A6AF8FB-13E8-1CAD-76C9-EF32DCADCD69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A2B74486-AA63-6975-0E28-975C6468BA5E}"/>
              </a:ext>
            </a:extLst>
          </p:cNvPr>
          <p:cNvSpPr/>
          <p:nvPr/>
        </p:nvSpPr>
        <p:spPr>
          <a:xfrm>
            <a:off x="358936" y="1108191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6F9FD1BE-439B-0016-3FD5-FEFA60FA39A8}"/>
              </a:ext>
            </a:extLst>
          </p:cNvPr>
          <p:cNvSpPr/>
          <p:nvPr/>
        </p:nvSpPr>
        <p:spPr>
          <a:xfrm>
            <a:off x="496096" y="1236207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758087FC-3A69-42F6-1EE0-978783C32729}"/>
              </a:ext>
            </a:extLst>
          </p:cNvPr>
          <p:cNvSpPr/>
          <p:nvPr/>
        </p:nvSpPr>
        <p:spPr>
          <a:xfrm>
            <a:off x="496096" y="123620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60F30038-40B7-459F-E70A-35700F32A673}"/>
              </a:ext>
            </a:extLst>
          </p:cNvPr>
          <p:cNvSpPr/>
          <p:nvPr/>
        </p:nvSpPr>
        <p:spPr>
          <a:xfrm>
            <a:off x="496096" y="162025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4939844-841A-632C-DF05-C785C3F1A10C}"/>
              </a:ext>
            </a:extLst>
          </p:cNvPr>
          <p:cNvSpPr/>
          <p:nvPr/>
        </p:nvSpPr>
        <p:spPr>
          <a:xfrm>
            <a:off x="2370616" y="1217919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66DB8FB7-3335-23FE-07AC-97AB11699D38}"/>
              </a:ext>
            </a:extLst>
          </p:cNvPr>
          <p:cNvSpPr/>
          <p:nvPr/>
        </p:nvSpPr>
        <p:spPr>
          <a:xfrm>
            <a:off x="2370616" y="1455663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82509C4C-9FE4-4562-69C3-74E22A9D7E33}"/>
              </a:ext>
            </a:extLst>
          </p:cNvPr>
          <p:cNvSpPr/>
          <p:nvPr/>
        </p:nvSpPr>
        <p:spPr>
          <a:xfrm>
            <a:off x="3879376" y="1217919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9BE99065-2368-5E97-42F0-56E1D671659F}"/>
              </a:ext>
            </a:extLst>
          </p:cNvPr>
          <p:cNvSpPr/>
          <p:nvPr/>
        </p:nvSpPr>
        <p:spPr>
          <a:xfrm>
            <a:off x="3879376" y="1455663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40" name="Shape 23">
            <a:extLst>
              <a:ext uri="{FF2B5EF4-FFF2-40B4-BE49-F238E27FC236}">
                <a16:creationId xmlns:a16="http://schemas.microsoft.com/office/drawing/2014/main" id="{F3F246FF-C8A1-6F5F-5C16-BD0845AADEED}"/>
              </a:ext>
            </a:extLst>
          </p:cNvPr>
          <p:cNvSpPr/>
          <p:nvPr/>
        </p:nvSpPr>
        <p:spPr>
          <a:xfrm>
            <a:off x="5113816" y="1519671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258860B4-F848-0F9C-EFFF-E57F131AE232}"/>
              </a:ext>
            </a:extLst>
          </p:cNvPr>
          <p:cNvSpPr/>
          <p:nvPr/>
        </p:nvSpPr>
        <p:spPr>
          <a:xfrm>
            <a:off x="5113816" y="1793991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45" name="Shape 24">
            <a:extLst>
              <a:ext uri="{FF2B5EF4-FFF2-40B4-BE49-F238E27FC236}">
                <a16:creationId xmlns:a16="http://schemas.microsoft.com/office/drawing/2014/main" id="{96D9E805-73F5-EF01-C138-522683A5EEDC}"/>
              </a:ext>
            </a:extLst>
          </p:cNvPr>
          <p:cNvSpPr/>
          <p:nvPr/>
        </p:nvSpPr>
        <p:spPr>
          <a:xfrm>
            <a:off x="5113816" y="1522846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4" name="Grafik 53">
            <a:extLst>
              <a:ext uri="{FF2B5EF4-FFF2-40B4-BE49-F238E27FC236}">
                <a16:creationId xmlns:a16="http://schemas.microsoft.com/office/drawing/2014/main" id="{D9ABDA75-412A-DBE2-6E0F-3346A4AB7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48" y="2518445"/>
            <a:ext cx="2916655" cy="2187182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FB2606A7-E2C8-B41A-2416-EF736038A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510" y="2459208"/>
            <a:ext cx="3074642" cy="230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896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1E732-9D57-968C-85F8-7065BE48C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4F937E-C83B-05E0-0AA5-DFACCE0E7FC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259F5C-BD3E-1382-D29A-2E0DBF187A62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A2CF2C-2A66-C23B-CAC7-5FFF93E101B2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C7E1A9-6996-1160-A092-93F6CDB7918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5FCD7C5-700E-6787-A2A6-22E94BCE4F06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FE1E87C-E78B-47C1-8AF8-682F335F44BA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5D53C2B-AAC0-3239-2A3D-5159D0753B67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B1AADD4-5846-2B94-31AF-50E6A2F9F8F9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2245C32-03CB-5145-FFB0-B610DDB9952C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5FA5694-30CF-CDA3-C2AF-12354A6176D1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7BAD17F-576A-A7A8-774D-B97DEAA9EAE5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2565788-FB87-73FB-0E3B-77CDA5B0E51D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E1BC233-BA3C-16C1-4CCF-A74A37A77C26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CC3146A-7715-DD64-0E4B-829EC0559518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2A69B6C-D333-7E8D-6729-A997AF01FC64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03329587-2F88-2D14-6C36-CB29AFFE9EBB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E27C455-86F8-BB15-F890-B197BDC0420D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09FC230-75F3-6504-6E2E-9317A4A2D484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B7F8222-2200-9635-7B55-5DA388E533AA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D7D19830-6B4B-D2A1-415A-0B0DE43A4E3B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20955125-B849-460F-6572-A5FE1B01C4E1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3673FF2D-C57A-F2BC-67AA-C931B5349E4B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A983CBEC-D986-44CE-19E3-28BAD7F94D1E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99ED1E9B-7652-65A9-422D-A60101A05650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1692A131-5F21-00F7-3137-11CC8620D8C2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958749B5-6F1F-5C04-F1B5-CBE2B717D83F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26">
            <a:extLst>
              <a:ext uri="{FF2B5EF4-FFF2-40B4-BE49-F238E27FC236}">
                <a16:creationId xmlns:a16="http://schemas.microsoft.com/office/drawing/2014/main" id="{6E22AAC7-082F-BC58-C195-682180CF4C23}"/>
              </a:ext>
            </a:extLst>
          </p:cNvPr>
          <p:cNvSpPr/>
          <p:nvPr/>
        </p:nvSpPr>
        <p:spPr>
          <a:xfrm>
            <a:off x="358936" y="111911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Shape 27">
            <a:extLst>
              <a:ext uri="{FF2B5EF4-FFF2-40B4-BE49-F238E27FC236}">
                <a16:creationId xmlns:a16="http://schemas.microsoft.com/office/drawing/2014/main" id="{613EE559-DE7B-4563-AC40-44B0F34C771E}"/>
              </a:ext>
            </a:extLst>
          </p:cNvPr>
          <p:cNvSpPr/>
          <p:nvPr/>
        </p:nvSpPr>
        <p:spPr>
          <a:xfrm>
            <a:off x="496096" y="124712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8" name="Text 28">
            <a:extLst>
              <a:ext uri="{FF2B5EF4-FFF2-40B4-BE49-F238E27FC236}">
                <a16:creationId xmlns:a16="http://schemas.microsoft.com/office/drawing/2014/main" id="{CA3B2AEB-B2CD-E2F1-427E-F6FAA9626675}"/>
              </a:ext>
            </a:extLst>
          </p:cNvPr>
          <p:cNvSpPr/>
          <p:nvPr/>
        </p:nvSpPr>
        <p:spPr>
          <a:xfrm>
            <a:off x="496096" y="124712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9" name="Text 30">
            <a:extLst>
              <a:ext uri="{FF2B5EF4-FFF2-40B4-BE49-F238E27FC236}">
                <a16:creationId xmlns:a16="http://schemas.microsoft.com/office/drawing/2014/main" id="{97E4CC9D-41CD-557C-C999-C708E3CC8F37}"/>
              </a:ext>
            </a:extLst>
          </p:cNvPr>
          <p:cNvSpPr/>
          <p:nvPr/>
        </p:nvSpPr>
        <p:spPr>
          <a:xfrm>
            <a:off x="2370616" y="122883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9006ED8E-B062-CAA2-9FEB-206976E1EA7F}"/>
              </a:ext>
            </a:extLst>
          </p:cNvPr>
          <p:cNvSpPr/>
          <p:nvPr/>
        </p:nvSpPr>
        <p:spPr>
          <a:xfrm>
            <a:off x="3879376" y="122883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1" name="Text 22">
            <a:extLst>
              <a:ext uri="{FF2B5EF4-FFF2-40B4-BE49-F238E27FC236}">
                <a16:creationId xmlns:a16="http://schemas.microsoft.com/office/drawing/2014/main" id="{E96EC797-7789-CEB7-92AD-489A41D96F18}"/>
              </a:ext>
            </a:extLst>
          </p:cNvPr>
          <p:cNvSpPr/>
          <p:nvPr/>
        </p:nvSpPr>
        <p:spPr>
          <a:xfrm>
            <a:off x="3879376" y="145743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3B78D9E4-407E-F781-DC40-53490652E37E}"/>
              </a:ext>
            </a:extLst>
          </p:cNvPr>
          <p:cNvSpPr/>
          <p:nvPr/>
        </p:nvSpPr>
        <p:spPr>
          <a:xfrm>
            <a:off x="2370616" y="144715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13" name="Shape 23">
            <a:extLst>
              <a:ext uri="{FF2B5EF4-FFF2-40B4-BE49-F238E27FC236}">
                <a16:creationId xmlns:a16="http://schemas.microsoft.com/office/drawing/2014/main" id="{BE0490B7-535C-4DC3-AB35-9ACDEF3C9217}"/>
              </a:ext>
            </a:extLst>
          </p:cNvPr>
          <p:cNvSpPr/>
          <p:nvPr/>
        </p:nvSpPr>
        <p:spPr>
          <a:xfrm>
            <a:off x="5113816" y="152713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25">
            <a:extLst>
              <a:ext uri="{FF2B5EF4-FFF2-40B4-BE49-F238E27FC236}">
                <a16:creationId xmlns:a16="http://schemas.microsoft.com/office/drawing/2014/main" id="{EDFED06F-86D2-8F53-F54D-FACC718F7F70}"/>
              </a:ext>
            </a:extLst>
          </p:cNvPr>
          <p:cNvSpPr/>
          <p:nvPr/>
        </p:nvSpPr>
        <p:spPr>
          <a:xfrm>
            <a:off x="5113816" y="178205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DA13E672-0DC9-4374-DA82-4B37DEAA0B3C}"/>
              </a:ext>
            </a:extLst>
          </p:cNvPr>
          <p:cNvSpPr/>
          <p:nvPr/>
        </p:nvSpPr>
        <p:spPr>
          <a:xfrm>
            <a:off x="496096" y="166622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7326C11-716C-9B55-21D3-E6E7FF04D23A}"/>
              </a:ext>
            </a:extLst>
          </p:cNvPr>
          <p:cNvSpPr/>
          <p:nvPr/>
        </p:nvSpPr>
        <p:spPr>
          <a:xfrm>
            <a:off x="5113816" y="1528340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1" name="Grafik 50">
            <a:extLst>
              <a:ext uri="{FF2B5EF4-FFF2-40B4-BE49-F238E27FC236}">
                <a16:creationId xmlns:a16="http://schemas.microsoft.com/office/drawing/2014/main" id="{F49B67D1-B06B-3F5C-CEBB-47255403A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69" y="2342877"/>
            <a:ext cx="3467775" cy="2600464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5EB37E48-139F-319D-5F9D-A18F79493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744" y="2342877"/>
            <a:ext cx="3545688" cy="265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03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DE4EE-12AF-3020-AC3E-DC6A15D49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16FE0-60C2-9007-2EFF-BA9AE2C00BC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96EFBE7-2EC1-3BC4-B742-D3553CF297D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815F543-1F0D-6BBD-29F9-A4D6A2043250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64A2860-B1F8-282B-6F07-6F3B1078F78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52D5ED65-68A8-687E-2127-0AEC2AAAB72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53359C2A-37A6-0A63-6395-2CD246B99FE0}"/>
              </a:ext>
            </a:extLst>
          </p:cNvPr>
          <p:cNvSpPr/>
          <p:nvPr/>
        </p:nvSpPr>
        <p:spPr>
          <a:xfrm>
            <a:off x="5120640" y="523141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14A5B82E-6F93-E822-BF73-22B2A91EF201}"/>
              </a:ext>
            </a:extLst>
          </p:cNvPr>
          <p:cNvSpPr/>
          <p:nvPr/>
        </p:nvSpPr>
        <p:spPr>
          <a:xfrm>
            <a:off x="5120640" y="5231416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F61E1EB4-A68F-4059-53FD-93B33684E30C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24CA64E3-5D8E-7951-C25C-F8A16D228BB8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80E41D01-AFBA-AE09-6F38-62700A331D53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103E1118-CEA4-2019-AB5D-82F3367A67D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4CD7E350-95C1-DE10-14BA-8A9FFA53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D78E336D-8661-3932-A9F0-F1A0B9ACC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3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599D7-D409-2B17-5D24-2F5AD079A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1802CB-76BF-C557-5F7D-0EE2D86EAB9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25FEF98-BA73-BC3E-2072-CCF554EFE2C2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1C8760-BD47-70D0-033B-36F01138DE64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5D98239-53D8-B181-7BB2-8FB9E1D7FEF8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18440CE5-E250-3E15-2090-E0585A6CEC1B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2FAD2BC8-68F5-093C-F1F8-2AA3C79004A8}"/>
              </a:ext>
            </a:extLst>
          </p:cNvPr>
          <p:cNvSpPr/>
          <p:nvPr/>
        </p:nvSpPr>
        <p:spPr>
          <a:xfrm>
            <a:off x="5120640" y="4255598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0FEC0E5A-C0C7-859B-0B7A-D06E372CF42E}"/>
              </a:ext>
            </a:extLst>
          </p:cNvPr>
          <p:cNvSpPr/>
          <p:nvPr/>
        </p:nvSpPr>
        <p:spPr>
          <a:xfrm>
            <a:off x="5120640" y="4255598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90836A7C-12BF-8A4E-AEF4-FCB07808CE6A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00F4312-1C3B-CDC6-282D-71653D3DA2DA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F315F43F-60D2-9C5C-8725-A6E63DB08319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B1645C2E-134E-78FD-B32F-0C811A3FAF22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CA7FF017-545B-0B6D-C3C2-AB8EEA60C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B8966B49-AA42-C03D-1A4E-B87447DFA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4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0B0488-23C3-5A0A-D364-55443C0B553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625" y="32568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43437" y="32568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685380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14625" y="2685380"/>
            <a:ext cx="20995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428625" y="1592387"/>
            <a:ext cx="870108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Warum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nur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+3,5%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Gewinn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bei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406x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größerer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Tabelle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?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428625" y="2331765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Zustandsraum Komplexität</a:t>
            </a:r>
            <a:endParaRPr sz="1350"/>
          </a:p>
        </p:txBody>
      </p:sp>
      <p:sp>
        <p:nvSpPr>
          <p:cNvPr id="205" name="Google Shape;205;p20"/>
          <p:cNvSpPr txBox="1"/>
          <p:nvPr/>
        </p:nvSpPr>
        <p:spPr>
          <a:xfrm>
            <a:off x="428625" y="2760390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Reward Verbesserung</a:t>
            </a:r>
            <a:endParaRPr sz="1350"/>
          </a:p>
        </p:txBody>
      </p:sp>
      <p:sp>
        <p:nvSpPr>
          <p:cNvPr id="206" name="Google Shape;206;p20"/>
          <p:cNvSpPr txBox="1"/>
          <p:nvPr/>
        </p:nvSpPr>
        <p:spPr>
          <a:xfrm>
            <a:off x="571500" y="3399755"/>
            <a:ext cx="3786188" cy="789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Sample Efficiency Problem: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Bei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gleicher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Episodenzahl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(100M)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wird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jeder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spezifische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Zustand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im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großen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Raum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drastisch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seltener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besucht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786312" y="3399755"/>
            <a:ext cx="3786188" cy="526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Under-Training: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Checkpoint-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Analysen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zeigen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,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dass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die Q-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Werte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wachsen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 Der Agent hat die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Konvergenz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nicht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erreicht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8" name="Google Shape;208;p20"/>
          <p:cNvSpPr txBox="1"/>
          <p:nvPr/>
        </p:nvSpPr>
        <p:spPr>
          <a:xfrm>
            <a:off x="428625" y="428625"/>
            <a:ext cx="8701088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475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DAS SKALIERUNGS-PARADOXON</a:t>
            </a:r>
            <a:endParaRPr sz="135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7">
            <a:extLst>
              <a:ext uri="{FF2B5EF4-FFF2-40B4-BE49-F238E27FC236}">
                <a16:creationId xmlns:a16="http://schemas.microsoft.com/office/drawing/2014/main" id="{31728659-2E45-2513-5076-E1D6989F0E19}"/>
              </a:ext>
            </a:extLst>
          </p:cNvPr>
          <p:cNvSpPr/>
          <p:nvPr/>
        </p:nvSpPr>
        <p:spPr>
          <a:xfrm>
            <a:off x="590550" y="5339321"/>
            <a:ext cx="7591424" cy="731742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Google Shape;217;p21">
            <a:extLst>
              <a:ext uri="{FF2B5EF4-FFF2-40B4-BE49-F238E27FC236}">
                <a16:creationId xmlns:a16="http://schemas.microsoft.com/office/drawing/2014/main" id="{241FCE7A-D42E-1A7A-9FE9-FB7C0F927B77}"/>
              </a:ext>
            </a:extLst>
          </p:cNvPr>
          <p:cNvSpPr txBox="1"/>
          <p:nvPr/>
        </p:nvSpPr>
        <p:spPr>
          <a:xfrm>
            <a:off x="1119663" y="5520941"/>
            <a:ext cx="706231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Die 113k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Zustände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erfordern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deutlich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mehr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als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100M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Episoden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Schätzungsweise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wären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500M+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notwendig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volle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Konvergenz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sz="1100" dirty="0">
              <a:solidFill>
                <a:schemeClr val="bg1"/>
              </a:solidFill>
              <a:latin typeface="Calibri "/>
            </a:endParaRPr>
          </a:p>
        </p:txBody>
      </p:sp>
      <p:pic>
        <p:nvPicPr>
          <p:cNvPr id="8" name="Google Shape;219;p21" descr="image.png">
            <a:extLst>
              <a:ext uri="{FF2B5EF4-FFF2-40B4-BE49-F238E27FC236}">
                <a16:creationId xmlns:a16="http://schemas.microsoft.com/office/drawing/2014/main" id="{D8FBCCD2-8E1D-2975-7091-353235F1809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6275" y="5520941"/>
            <a:ext cx="257174" cy="331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196981A1-51CB-3086-F8CC-5C543F3CB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DA304B-BCEC-45AC-23C8-0E1E072A221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7" name="Google Shape;197;p20" descr="image.png">
            <a:extLst>
              <a:ext uri="{FF2B5EF4-FFF2-40B4-BE49-F238E27FC236}">
                <a16:creationId xmlns:a16="http://schemas.microsoft.com/office/drawing/2014/main" id="{8817E89B-0170-124E-99EF-2ED7C35633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625" y="31425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>
            <a:extLst>
              <a:ext uri="{FF2B5EF4-FFF2-40B4-BE49-F238E27FC236}">
                <a16:creationId xmlns:a16="http://schemas.microsoft.com/office/drawing/2014/main" id="{0F90376B-6F3F-AF6D-87AD-E187F20A9C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43437" y="31425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>
            <a:extLst>
              <a:ext uri="{FF2B5EF4-FFF2-40B4-BE49-F238E27FC236}">
                <a16:creationId xmlns:a16="http://schemas.microsoft.com/office/drawing/2014/main" id="{CFD7A5B3-41BA-A00F-C0C4-09E9594D3B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>
            <a:extLst>
              <a:ext uri="{FF2B5EF4-FFF2-40B4-BE49-F238E27FC236}">
                <a16:creationId xmlns:a16="http://schemas.microsoft.com/office/drawing/2014/main" id="{18CF86C0-CEB8-0056-C05F-AAF270D42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685380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>
            <a:extLst>
              <a:ext uri="{FF2B5EF4-FFF2-40B4-BE49-F238E27FC236}">
                <a16:creationId xmlns:a16="http://schemas.microsoft.com/office/drawing/2014/main" id="{8B8DA407-932E-FB04-8D73-9E2A2E90EAE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>
            <a:extLst>
              <a:ext uri="{FF2B5EF4-FFF2-40B4-BE49-F238E27FC236}">
                <a16:creationId xmlns:a16="http://schemas.microsoft.com/office/drawing/2014/main" id="{08E92FB9-F963-788E-D96F-1A372A322F9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14625" y="2685380"/>
            <a:ext cx="20995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>
            <a:extLst>
              <a:ext uri="{FF2B5EF4-FFF2-40B4-BE49-F238E27FC236}">
                <a16:creationId xmlns:a16="http://schemas.microsoft.com/office/drawing/2014/main" id="{EE210C59-7BF2-669D-9B96-8412EFCE677C}"/>
              </a:ext>
            </a:extLst>
          </p:cNvPr>
          <p:cNvSpPr txBox="1"/>
          <p:nvPr/>
        </p:nvSpPr>
        <p:spPr>
          <a:xfrm>
            <a:off x="428625" y="1592387"/>
            <a:ext cx="870108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Warum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nur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+3,5%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Gewinn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bei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406x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größerer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Tabelle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?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4" name="Google Shape;204;p20">
            <a:extLst>
              <a:ext uri="{FF2B5EF4-FFF2-40B4-BE49-F238E27FC236}">
                <a16:creationId xmlns:a16="http://schemas.microsoft.com/office/drawing/2014/main" id="{3279CA62-34AA-D3C8-69BF-3F51625CCD31}"/>
              </a:ext>
            </a:extLst>
          </p:cNvPr>
          <p:cNvSpPr txBox="1"/>
          <p:nvPr/>
        </p:nvSpPr>
        <p:spPr>
          <a:xfrm>
            <a:off x="428625" y="2331765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Zustandsraum Komplexität</a:t>
            </a:r>
            <a:endParaRPr sz="1350"/>
          </a:p>
        </p:txBody>
      </p:sp>
      <p:sp>
        <p:nvSpPr>
          <p:cNvPr id="205" name="Google Shape;205;p20">
            <a:extLst>
              <a:ext uri="{FF2B5EF4-FFF2-40B4-BE49-F238E27FC236}">
                <a16:creationId xmlns:a16="http://schemas.microsoft.com/office/drawing/2014/main" id="{0058BF2A-62BC-27E0-5C79-5D4AAAD41A79}"/>
              </a:ext>
            </a:extLst>
          </p:cNvPr>
          <p:cNvSpPr txBox="1"/>
          <p:nvPr/>
        </p:nvSpPr>
        <p:spPr>
          <a:xfrm>
            <a:off x="428625" y="2760390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Reward Verbesserung</a:t>
            </a:r>
            <a:endParaRPr sz="1350"/>
          </a:p>
        </p:txBody>
      </p:sp>
      <p:sp>
        <p:nvSpPr>
          <p:cNvPr id="206" name="Google Shape;206;p20">
            <a:extLst>
              <a:ext uri="{FF2B5EF4-FFF2-40B4-BE49-F238E27FC236}">
                <a16:creationId xmlns:a16="http://schemas.microsoft.com/office/drawing/2014/main" id="{969E78B2-C4D7-CCA5-89A5-A3D49A2717E7}"/>
              </a:ext>
            </a:extLst>
          </p:cNvPr>
          <p:cNvSpPr txBox="1"/>
          <p:nvPr/>
        </p:nvSpPr>
        <p:spPr>
          <a:xfrm>
            <a:off x="571500" y="3285455"/>
            <a:ext cx="3786188" cy="789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Sample Efficiency Problem: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Bei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gleicher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Episodenzahl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(100M)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wird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jeder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spezifische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Zustand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im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großen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Raum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drastisch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seltener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besucht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7" name="Google Shape;207;p20">
            <a:extLst>
              <a:ext uri="{FF2B5EF4-FFF2-40B4-BE49-F238E27FC236}">
                <a16:creationId xmlns:a16="http://schemas.microsoft.com/office/drawing/2014/main" id="{3FE936CB-AA2E-7E8D-8224-2E4286148C00}"/>
              </a:ext>
            </a:extLst>
          </p:cNvPr>
          <p:cNvSpPr txBox="1"/>
          <p:nvPr/>
        </p:nvSpPr>
        <p:spPr>
          <a:xfrm>
            <a:off x="4786312" y="3285455"/>
            <a:ext cx="3786188" cy="526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Under-Training: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Checkpoint-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Analysen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zeigen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,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dass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die Q-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Werte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wachsen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 Der Agent hat die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Konvergenz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nicht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erreicht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8" name="Google Shape;208;p20">
            <a:extLst>
              <a:ext uri="{FF2B5EF4-FFF2-40B4-BE49-F238E27FC236}">
                <a16:creationId xmlns:a16="http://schemas.microsoft.com/office/drawing/2014/main" id="{69BCBFB9-9755-DC81-AD0E-616DC3DB1D1D}"/>
              </a:ext>
            </a:extLst>
          </p:cNvPr>
          <p:cNvSpPr txBox="1"/>
          <p:nvPr/>
        </p:nvSpPr>
        <p:spPr>
          <a:xfrm>
            <a:off x="428625" y="428625"/>
            <a:ext cx="8701088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475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DAS SKALIERUNGS-PARADOXON</a:t>
            </a:r>
            <a:endParaRPr sz="135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37">
            <a:extLst>
              <a:ext uri="{FF2B5EF4-FFF2-40B4-BE49-F238E27FC236}">
                <a16:creationId xmlns:a16="http://schemas.microsoft.com/office/drawing/2014/main" id="{EC15BE93-7BA0-616D-D1CA-F8003C330977}"/>
              </a:ext>
            </a:extLst>
          </p:cNvPr>
          <p:cNvSpPr/>
          <p:nvPr/>
        </p:nvSpPr>
        <p:spPr>
          <a:xfrm>
            <a:off x="590550" y="4301096"/>
            <a:ext cx="7591424" cy="731742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4" name="Google Shape;217;p21">
            <a:extLst>
              <a:ext uri="{FF2B5EF4-FFF2-40B4-BE49-F238E27FC236}">
                <a16:creationId xmlns:a16="http://schemas.microsoft.com/office/drawing/2014/main" id="{DD822CB6-42A3-9870-5F01-238A893B4B8D}"/>
              </a:ext>
            </a:extLst>
          </p:cNvPr>
          <p:cNvSpPr txBox="1"/>
          <p:nvPr/>
        </p:nvSpPr>
        <p:spPr>
          <a:xfrm>
            <a:off x="1119663" y="4482716"/>
            <a:ext cx="706231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Die 113k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Zustände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erfordern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deutlich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mehr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als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100M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Episoden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Schätzungsweise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wären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500M+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notwendig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volle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Konvergenz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sz="1100" dirty="0">
              <a:solidFill>
                <a:schemeClr val="bg1"/>
              </a:solidFill>
              <a:latin typeface="Calibri "/>
            </a:endParaRPr>
          </a:p>
        </p:txBody>
      </p:sp>
      <p:pic>
        <p:nvPicPr>
          <p:cNvPr id="5" name="Google Shape;219;p21" descr="image.png">
            <a:extLst>
              <a:ext uri="{FF2B5EF4-FFF2-40B4-BE49-F238E27FC236}">
                <a16:creationId xmlns:a16="http://schemas.microsoft.com/office/drawing/2014/main" id="{2C0FB434-C67F-307E-4C8B-C889F688337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6275" y="4482716"/>
            <a:ext cx="257174" cy="3311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62454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Improvements &amp; Next Steps</a:t>
            </a:r>
            <a:endParaRPr lang="en-US" sz="2800" dirty="0"/>
          </a:p>
        </p:txBody>
      </p:sp>
      <p:sp>
        <p:nvSpPr>
          <p:cNvPr id="5" name="!!1"/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0D9488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</a:rPr>
              <a:t>HOCH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</a:rPr>
              <a:t>500M Episodes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Counting Agent vollständig konvergieren lassen – genügend Trainingszeit für stabilen Vergleich mit Baseline.</a:t>
            </a:r>
            <a:endParaRPr lang="en-US" sz="950" dirty="0"/>
          </a:p>
        </p:txBody>
      </p:sp>
      <p:sp>
        <p:nvSpPr>
          <p:cNvPr id="12" name="!!2"/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</a:rPr>
              <a:t>MITTEL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</a:rPr>
              <a:t>Ablation Study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Welcher Feature trägt am meisten zur Performance-Verbesserung bei? Systematische Analyse.</a:t>
            </a:r>
            <a:endParaRPr lang="en-US" sz="950" dirty="0"/>
          </a:p>
        </p:txBody>
      </p:sp>
      <p:sp>
        <p:nvSpPr>
          <p:cNvPr id="19" name="!!3"/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4B8A6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</a:rPr>
              <a:t>MITTEL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Transfer Learning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Baseline-Weights als Initialisierung für Counting Agent – potenzielle Beschleunigung der Konvergenz.</a:t>
            </a:r>
            <a:endParaRPr lang="en-US" sz="950" dirty="0"/>
          </a:p>
        </p:txBody>
      </p:sp>
      <p:sp>
        <p:nvSpPr>
          <p:cNvPr id="26" name="!!4"/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</a:rPr>
              <a:t>VISION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</a:rPr>
              <a:t>Advanced Algorithms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DQN und PPO für komplexere Policies – Funktionsapproximation statt Q-Table bei großen State Spaces.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6" name="!!1"/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Q-Learning funktioniert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Erfolgreich für Blackjack demonstriert und validiert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🃏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Card Counting wirkt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True-Count-Bucket Analyse zeigt klare, messbare Unterschiede</a:t>
            </a:r>
            <a:endParaRPr lang="en-US" sz="1000" dirty="0"/>
          </a:p>
        </p:txBody>
      </p:sp>
      <p:sp>
        <p:nvSpPr>
          <p:cNvPr id="14" name="!!2"/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Seed-Stabilität steigt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Mehr Features → robusteres, konsistenteres Lernen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Metriken im Überblick</a:t>
            </a:r>
            <a:endParaRPr lang="en-US" sz="1400" dirty="0"/>
          </a:p>
        </p:txBody>
      </p:sp>
      <p:sp>
        <p:nvSpPr>
          <p:cNvPr id="19" name="!!3"/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</a:rPr>
              <a:t>BASELINE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−0.051565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280 States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</a:rPr>
              <a:t>COUNTING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−0.049736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108k States</a:t>
            </a:r>
            <a:endParaRPr lang="en-US" sz="1000" dirty="0"/>
          </a:p>
        </p:txBody>
      </p:sp>
      <p:sp>
        <p:nvSpPr>
          <p:cNvPr id="27" name="!!4"/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</a:rPr>
              <a:t>WIN RATE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+0.09% besser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mit 95%-CI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198230-E57F-2307-F092-1CA6D110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D10B07-FDCE-CE3A-51C1-1807D7651DD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E84A3A-AF71-CD7A-F6C8-F73C25D7D13E}"/>
              </a:ext>
            </a:extLst>
          </p:cNvPr>
          <p:cNvSpPr/>
          <p:nvPr/>
        </p:nvSpPr>
        <p:spPr>
          <a:xfrm>
            <a:off x="5943600" y="4572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763431-8D0E-09FE-FA41-C52D6CEF53B7}"/>
              </a:ext>
            </a:extLst>
          </p:cNvPr>
          <p:cNvSpPr/>
          <p:nvPr/>
        </p:nvSpPr>
        <p:spPr>
          <a:xfrm>
            <a:off x="457200" y="164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CONCLUSION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290718-ED07-8E10-B227-5F2042D6E7BD}"/>
              </a:ext>
            </a:extLst>
          </p:cNvPr>
          <p:cNvSpPr/>
          <p:nvPr/>
        </p:nvSpPr>
        <p:spPr>
          <a:xfrm>
            <a:off x="457200" y="438912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Research Contribution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851616B-0F14-CE4A-8C77-32EAC3377F0D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0D9488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51B084F-4384-B4EB-E3DD-60257DB44F02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4F32C37-A4CC-DFB2-3F86-C0B968FDEA5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1 ✅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CB7915-9119-DBDF-D914-3803A2774140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Kann Q-Learning Kartenzählung nutzen?</a:t>
            </a:r>
            <a:endParaRPr lang="en-US" sz="11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4EAF3BA-B7E5-D7FD-5D1E-908EFB762C7C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Ja — der Counting Agent nutzt True-Count-Information aktiv, benötigt aber deutlich mehr Trainingszeit.</a:t>
            </a:r>
            <a:endParaRPr lang="en-US" sz="1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C8ED723-732C-F88F-488C-997821D9DD06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F59E0B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20BDC96-D9F4-B987-0DE3-7BBF54C6CFE1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B6F1B82-3243-1E24-60B1-41E1B8DBAE27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2 ✅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58F18FB-2492-550B-C760-A8DC4963AC6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Bessere Performance mit erweiterten Features?</a:t>
            </a:r>
            <a:endParaRPr lang="en-US" sz="11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F27F762-FC2A-8FE3-AF56-3CC503F42C5A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Bedingt — True-Count-Bucket Analyse belegt klare Unterschiede, aber Gesamtdifferenz bleibt marginal bei Q-Learning.</a:t>
            </a:r>
            <a:endParaRPr lang="en-US" sz="1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263D1E2-36CC-E40D-77F8-03C352E02C5F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10B981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19B76E7-D053-DA62-F000-D10D73AD4421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666CD30-FAE5-7121-F399-680CB084EB8E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3 ✅</a:t>
            </a:r>
            <a:endParaRPr lang="en-US" sz="9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8A0E297-3895-1042-75A6-17CD1EB30342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Wie viele Episoden bis Konvergenz?</a:t>
            </a:r>
            <a:endParaRPr lang="en-US" sz="11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FE2F024-36E6-6D07-B07D-B2CEA31403D2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Beide Agenten stabil bei 100M — Counting Agent σ = 0.00052, besser als Baseline.</a:t>
            </a:r>
            <a:endParaRPr lang="en-US" sz="10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87A7F01-4136-5612-7C37-496D393F39DD}"/>
              </a:ext>
            </a:extLst>
          </p:cNvPr>
          <p:cNvSpPr/>
          <p:nvPr/>
        </p:nvSpPr>
        <p:spPr>
          <a:xfrm>
            <a:off x="365760" y="5391150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064625F-04BD-BE36-2798-5F302E23E5CA}"/>
              </a:ext>
            </a:extLst>
          </p:cNvPr>
          <p:cNvSpPr/>
          <p:nvPr/>
        </p:nvSpPr>
        <p:spPr>
          <a:xfrm>
            <a:off x="594360" y="53911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Final Result @100M: Baseline ≈ Counting ≈ −0.050 avg reward · 42.8% Win Rate · Mission accomplished! 🎉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7486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5943600" y="4572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CONCLUSION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Research Contribution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0D9488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1 ✅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Kann Q-Learning Kartenzählung nutzen?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Ja — der Counting Agent nutzt True-Count-Information aktiv, benötigt aber deutlich mehr Trainingszeit.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F59E0B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2 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Bessere Performance mit erweiterten Features?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Bedingt — True-Count-Bucket Analyse belegt klare Unterschiede, aber Gesamtdifferenz bleibt marginal bei Q-Learning.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10B981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3 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Wie viele Episoden bis Konvergenz?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Beide Agenten stabil bei 100M — Counting Agent σ = 0.00052, besser als Baseline.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400550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Final Result @100M: Baseline ≈ Counting ≈ −0.050 avg reward · 42.8% Win Rate · Mission accomplished! 🎉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1713</Words>
  <Application>Microsoft Office PowerPoint</Application>
  <PresentationFormat>Bildschirmpräsentation (16:9)</PresentationFormat>
  <Paragraphs>470</Paragraphs>
  <Slides>23</Slides>
  <Notes>23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</vt:lpstr>
      <vt:lpstr>Cambria</vt:lpstr>
      <vt:lpstr>Courier New</vt:lpstr>
      <vt:lpstr>Lato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Freese, Arvid</cp:lastModifiedBy>
  <cp:revision>10</cp:revision>
  <dcterms:created xsi:type="dcterms:W3CDTF">2026-06-10T08:25:46Z</dcterms:created>
  <dcterms:modified xsi:type="dcterms:W3CDTF">2026-06-12T14:03:56Z</dcterms:modified>
</cp:coreProperties>
</file>