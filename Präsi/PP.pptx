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7" r:id="rId9"/>
    <p:sldId id="262" r:id="rId10"/>
    <p:sldId id="264" r:id="rId11"/>
    <p:sldId id="273" r:id="rId12"/>
    <p:sldId id="278" r:id="rId13"/>
    <p:sldId id="279" r:id="rId14"/>
    <p:sldId id="281" r:id="rId15"/>
    <p:sldId id="282" r:id="rId16"/>
    <p:sldId id="283" r:id="rId17"/>
    <p:sldId id="268" r:id="rId18"/>
    <p:sldId id="269" r:id="rId19"/>
    <p:sldId id="284" r:id="rId20"/>
    <p:sldId id="270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72A"/>
    <a:srgbClr val="10B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2634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7222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E228A-1B19-CC3E-F8E2-2C3FF801E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48F403-D6A9-5F50-918C-92552A099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BFB815-8B09-8546-D9B9-84385517B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FB58B-4595-E68B-C457-CAC7A1B87A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382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083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C15E8-45F2-11DA-FBD3-DB4C68617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C7188-B303-8C24-BA8C-8D437DFBF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7A179C-02A5-EBBB-C804-0BCF3E814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A2503-FE41-67D4-6CB6-A60F1747CF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190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28266-E290-CE0C-FBBC-7F9E6D8CA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005ECD-C0C4-232F-ADC7-F0D50934FA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36CE1-0A28-6C95-D757-10BDA25C6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CCBA9-1D47-DA7C-615F-52CF12991B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5733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81354-B509-CB96-9A41-517841657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120E6A-A370-62A1-9FA6-EE27D6D76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39F650-3C2A-F1BA-AC9E-050B4DFA4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3C659-9657-5D66-1AD7-0D863978E3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724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A86A3-A50F-489B-CB2F-3185BE62E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BDCADC-2682-86CA-7F7A-97712AD37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6264F-26A1-FFDC-E033-50879DBF8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E4AAA-F0D1-3FA1-608F-8F087FCC18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9428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25E47-9376-662F-454E-E6EEEEE79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8F2DAF-4541-ED72-D808-F3857FA41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190EC8-FE27-5301-7648-92CF74CD4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7A0F0-1888-6805-E299-5EB68F1512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981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7AD01-EE8C-3A11-98AD-C73200A69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4F6AB-0B65-7F2F-9578-CDAE139E0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8FF1A6-5A36-564F-C733-67AD5C4BE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39DB1-6725-A2EA-1B4A-625BCF7D77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4508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932C2-A805-FB19-A551-979045FDF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3E700-A073-C9C6-300B-24D1045384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C00616-D428-3D83-D186-6A5AA62C1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FFCF2-FE74-9D63-207C-4B0E051E6F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147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C8A818B2-C3A5-B80D-DA75-B1318A3367F8}"/>
              </a:ext>
            </a:extLst>
          </p:cNvPr>
          <p:cNvGrpSpPr/>
          <p:nvPr/>
        </p:nvGrpSpPr>
        <p:grpSpPr>
          <a:xfrm>
            <a:off x="6217920" y="-1097280"/>
            <a:ext cx="5029200" cy="5029200"/>
            <a:chOff x="6217920" y="-1097280"/>
            <a:chExt cx="5029200" cy="5029200"/>
          </a:xfrm>
        </p:grpSpPr>
        <p:sp>
          <p:nvSpPr>
            <p:cNvPr id="3" name="Shape 1"/>
            <p:cNvSpPr/>
            <p:nvPr/>
          </p:nvSpPr>
          <p:spPr>
            <a:xfrm>
              <a:off x="6217920" y="-1097280"/>
              <a:ext cx="5029200" cy="5029200"/>
            </a:xfrm>
            <a:prstGeom prst="ellipse">
              <a:avLst/>
            </a:prstGeom>
            <a:solidFill>
              <a:srgbClr val="14B8A6">
                <a:alpha val="12000"/>
              </a:srgbClr>
            </a:solidFill>
            <a:ln w="12700">
              <a:solidFill>
                <a:srgbClr val="0D9488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Shape 2"/>
            <p:cNvSpPr/>
            <p:nvPr/>
          </p:nvSpPr>
          <p:spPr>
            <a:xfrm>
              <a:off x="6766560" y="-548640"/>
              <a:ext cx="3474720" cy="3474720"/>
            </a:xfrm>
            <a:prstGeom prst="ellipse">
              <a:avLst/>
            </a:prstGeom>
            <a:solidFill>
              <a:srgbClr val="14B8A6">
                <a:alpha val="18000"/>
              </a:srgbClr>
            </a:solidFill>
            <a:ln w="12700">
              <a:solidFill>
                <a:srgbClr val="0D9488">
                  <a:alpha val="40000"/>
                </a:srgbClr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BCF9396-4B3A-1777-E4F2-DC8C0EFFB817}"/>
              </a:ext>
            </a:extLst>
          </p:cNvPr>
          <p:cNvGrpSpPr/>
          <p:nvPr/>
        </p:nvGrpSpPr>
        <p:grpSpPr>
          <a:xfrm>
            <a:off x="548640" y="1005840"/>
            <a:ext cx="2926080" cy="347472"/>
            <a:chOff x="548640" y="1005840"/>
            <a:chExt cx="2926080" cy="347472"/>
          </a:xfrm>
        </p:grpSpPr>
        <p:sp>
          <p:nvSpPr>
            <p:cNvPr id="5" name="Shape 3"/>
            <p:cNvSpPr/>
            <p:nvPr/>
          </p:nvSpPr>
          <p:spPr>
            <a:xfrm>
              <a:off x="548640" y="1005840"/>
              <a:ext cx="2926080" cy="347472"/>
            </a:xfrm>
            <a:prstGeom prst="roundRect">
              <a:avLst>
                <a:gd name="adj" fmla="val 21053"/>
              </a:avLst>
            </a:prstGeom>
            <a:solidFill>
              <a:srgbClr val="0D9488">
                <a:alpha val="85000"/>
              </a:srgbClr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" name="Text 4"/>
            <p:cNvSpPr/>
            <p:nvPr/>
          </p:nvSpPr>
          <p:spPr>
            <a:xfrm>
              <a:off x="548640" y="1005840"/>
              <a:ext cx="29260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</a:rPr>
                <a:t>BHH · MACHINE LEARNING · JUNI 2026</a:t>
              </a:r>
              <a:endParaRPr lang="en-US" sz="900" dirty="0"/>
            </a:p>
          </p:txBody>
        </p:sp>
      </p:grpSp>
      <p:sp>
        <p:nvSpPr>
          <p:cNvPr id="7" name="Text 5"/>
          <p:cNvSpPr/>
          <p:nvPr/>
        </p:nvSpPr>
        <p:spPr>
          <a:xfrm>
            <a:off x="548640" y="157276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Learning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2340864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für Blackjack-Agenten</a:t>
            </a:r>
            <a:endParaRPr lang="en-US" sz="4000" dirty="0"/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002FD12B-9FF9-A621-05B6-00EB51A9F880}"/>
              </a:ext>
            </a:extLst>
          </p:cNvPr>
          <p:cNvGrpSpPr/>
          <p:nvPr/>
        </p:nvGrpSpPr>
        <p:grpSpPr>
          <a:xfrm>
            <a:off x="548640" y="3200400"/>
            <a:ext cx="5486400" cy="612648"/>
            <a:chOff x="548640" y="3200400"/>
            <a:chExt cx="5486400" cy="612648"/>
          </a:xfrm>
        </p:grpSpPr>
        <p:sp>
          <p:nvSpPr>
            <p:cNvPr id="9" name="Shape 7"/>
            <p:cNvSpPr/>
            <p:nvPr/>
          </p:nvSpPr>
          <p:spPr>
            <a:xfrm>
              <a:off x="548640" y="3200400"/>
              <a:ext cx="2194560" cy="36576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" name="Text 8"/>
            <p:cNvSpPr/>
            <p:nvPr/>
          </p:nvSpPr>
          <p:spPr>
            <a:xfrm>
              <a:off x="548640" y="3401568"/>
              <a:ext cx="54864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Arvid · Linus · Tom</a:t>
              </a:r>
              <a:endParaRPr lang="en-US" sz="1600" dirty="0"/>
            </a:p>
          </p:txBody>
        </p:sp>
      </p:grpSp>
      <p:sp>
        <p:nvSpPr>
          <p:cNvPr id="11" name="!!1"/>
          <p:cNvSpPr/>
          <p:nvPr/>
        </p:nvSpPr>
        <p:spPr>
          <a:xfrm>
            <a:off x="457200" y="420624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57200" y="42428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B8A6"/>
                </a:solidFill>
              </a:rPr>
              <a:t>100M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5537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Episoden</a:t>
            </a:r>
            <a:endParaRPr lang="en-US" sz="900" dirty="0"/>
          </a:p>
        </p:txBody>
      </p:sp>
      <p:sp>
        <p:nvSpPr>
          <p:cNvPr id="14" name="!!2"/>
          <p:cNvSpPr/>
          <p:nvPr/>
        </p:nvSpPr>
        <p:spPr>
          <a:xfrm>
            <a:off x="2450592" y="420624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2450592" y="42428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B8A6"/>
                </a:solidFill>
              </a:rPr>
              <a:t>2 Agenten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450592" y="45537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trainiert</a:t>
            </a:r>
            <a:endParaRPr lang="en-US" sz="900" dirty="0"/>
          </a:p>
        </p:txBody>
      </p: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E8FF366A-BC70-7BF2-5194-77A64FA004F5}"/>
              </a:ext>
            </a:extLst>
          </p:cNvPr>
          <p:cNvGrpSpPr/>
          <p:nvPr/>
        </p:nvGrpSpPr>
        <p:grpSpPr>
          <a:xfrm>
            <a:off x="4443984" y="4206240"/>
            <a:ext cx="3914140" cy="640080"/>
            <a:chOff x="4443984" y="4206240"/>
            <a:chExt cx="3914140" cy="640080"/>
          </a:xfrm>
        </p:grpSpPr>
        <p:sp>
          <p:nvSpPr>
            <p:cNvPr id="54" name="!!3">
              <a:extLst>
                <a:ext uri="{FF2B5EF4-FFF2-40B4-BE49-F238E27FC236}">
                  <a16:creationId xmlns:a16="http://schemas.microsoft.com/office/drawing/2014/main" id="{E89AA557-6F59-A596-65E5-1DDE01474E10}"/>
                </a:ext>
              </a:extLst>
            </p:cNvPr>
            <p:cNvSpPr/>
            <p:nvPr/>
          </p:nvSpPr>
          <p:spPr>
            <a:xfrm>
              <a:off x="6437884" y="4206240"/>
              <a:ext cx="1920240" cy="640080"/>
            </a:xfrm>
            <a:prstGeom prst="roundRect">
              <a:avLst>
                <a:gd name="adj" fmla="val 14286"/>
              </a:avLst>
            </a:prstGeom>
            <a:solidFill>
              <a:srgbClr val="1E3A5F"/>
            </a:solidFill>
            <a:ln w="12700">
              <a:solidFill>
                <a:srgbClr val="0D9488">
                  <a:alpha val="40000"/>
                </a:srgbClr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17" name="!!3"/>
            <p:cNvSpPr/>
            <p:nvPr/>
          </p:nvSpPr>
          <p:spPr>
            <a:xfrm>
              <a:off x="4443984" y="4206240"/>
              <a:ext cx="1920240" cy="640080"/>
            </a:xfrm>
            <a:prstGeom prst="roundRect">
              <a:avLst>
                <a:gd name="adj" fmla="val 14286"/>
              </a:avLst>
            </a:prstGeom>
            <a:solidFill>
              <a:srgbClr val="1E3A5F"/>
            </a:solidFill>
            <a:ln w="12700">
              <a:solidFill>
                <a:srgbClr val="0D9488">
                  <a:alpha val="40000"/>
                </a:srgbClr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8" name="Text 16"/>
          <p:cNvSpPr/>
          <p:nvPr/>
        </p:nvSpPr>
        <p:spPr>
          <a:xfrm>
            <a:off x="4443984" y="42428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B8A6"/>
                </a:solidFill>
              </a:rPr>
              <a:t>42.8%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43984" y="45537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Win Rate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37376" y="42428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B8A6"/>
                </a:solidFill>
              </a:rPr>
              <a:t>Q-Learning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37376" y="45537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Algorithmus</a:t>
            </a:r>
            <a:endParaRPr lang="en-US" sz="900" dirty="0"/>
          </a:p>
        </p:txBody>
      </p:sp>
      <p:sp>
        <p:nvSpPr>
          <p:cNvPr id="32" name="!!6">
            <a:extLst>
              <a:ext uri="{FF2B5EF4-FFF2-40B4-BE49-F238E27FC236}">
                <a16:creationId xmlns:a16="http://schemas.microsoft.com/office/drawing/2014/main" id="{3204CAE5-0D7A-9786-BE7C-AFF3F2BBADFB}"/>
              </a:ext>
            </a:extLst>
          </p:cNvPr>
          <p:cNvSpPr>
            <a:spLocks/>
          </p:cNvSpPr>
          <p:nvPr/>
        </p:nvSpPr>
        <p:spPr>
          <a:xfrm>
            <a:off x="-4075614" y="1097280"/>
            <a:ext cx="3931920" cy="347472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3802B1F4-09E2-8006-7C40-859511BE66D1}"/>
              </a:ext>
            </a:extLst>
          </p:cNvPr>
          <p:cNvSpPr/>
          <p:nvPr/>
        </p:nvSpPr>
        <p:spPr>
          <a:xfrm>
            <a:off x="-3938454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4B8A6"/>
                </a:solidFill>
              </a:rPr>
              <a:t>Warum Blackjack?</a:t>
            </a:r>
            <a:endParaRPr lang="en-US" sz="1400" dirty="0"/>
          </a:p>
        </p:txBody>
      </p:sp>
      <p:sp>
        <p:nvSpPr>
          <p:cNvPr id="34" name="!!1">
            <a:extLst>
              <a:ext uri="{FF2B5EF4-FFF2-40B4-BE49-F238E27FC236}">
                <a16:creationId xmlns:a16="http://schemas.microsoft.com/office/drawing/2014/main" id="{A7DA01F3-049F-C09A-8F61-C6D9A8D5AC93}"/>
              </a:ext>
            </a:extLst>
          </p:cNvPr>
          <p:cNvSpPr/>
          <p:nvPr/>
        </p:nvSpPr>
        <p:spPr>
          <a:xfrm>
            <a:off x="-3938454" y="1737360"/>
            <a:ext cx="3611880" cy="777240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6D1DA905-DB94-B070-53DC-48965D33A876}"/>
              </a:ext>
            </a:extLst>
          </p:cNvPr>
          <p:cNvSpPr/>
          <p:nvPr/>
        </p:nvSpPr>
        <p:spPr>
          <a:xfrm>
            <a:off x="-3847014" y="178308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Diskrete Zustandsräume</a:t>
            </a:r>
            <a:endParaRPr lang="en-US" sz="1100" dirty="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917BB9CD-C317-151E-20AC-5C8DC6794F5B}"/>
              </a:ext>
            </a:extLst>
          </p:cNvPr>
          <p:cNvSpPr/>
          <p:nvPr/>
        </p:nvSpPr>
        <p:spPr>
          <a:xfrm>
            <a:off x="-3847014" y="20116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States &amp; Actions klar definiert – ideal für tabellarisches Q-Learning ohne Näherungsfunktionen.</a:t>
            </a:r>
            <a:endParaRPr lang="en-US" sz="950" dirty="0"/>
          </a:p>
        </p:txBody>
      </p:sp>
      <p:sp>
        <p:nvSpPr>
          <p:cNvPr id="37" name="!!2">
            <a:extLst>
              <a:ext uri="{FF2B5EF4-FFF2-40B4-BE49-F238E27FC236}">
                <a16:creationId xmlns:a16="http://schemas.microsoft.com/office/drawing/2014/main" id="{AA6F2A9C-9587-315A-16F4-D30AAFBC1E2C}"/>
              </a:ext>
            </a:extLst>
          </p:cNvPr>
          <p:cNvSpPr/>
          <p:nvPr/>
        </p:nvSpPr>
        <p:spPr>
          <a:xfrm>
            <a:off x="-3938454" y="2697480"/>
            <a:ext cx="3611880" cy="777240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55E0039E-3922-7E7F-5049-4A51C019F784}"/>
              </a:ext>
            </a:extLst>
          </p:cNvPr>
          <p:cNvSpPr/>
          <p:nvPr/>
        </p:nvSpPr>
        <p:spPr>
          <a:xfrm>
            <a:off x="-3847014" y="27432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Bekannte Baseline</a:t>
            </a:r>
            <a:endParaRPr lang="en-US" sz="110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B3712B5C-AC69-1DEB-D60B-8E466BD60429}"/>
              </a:ext>
            </a:extLst>
          </p:cNvPr>
          <p:cNvSpPr/>
          <p:nvPr/>
        </p:nvSpPr>
        <p:spPr>
          <a:xfrm>
            <a:off x="-3847014" y="29718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Basic Strategy als mathematisch optimale Vergleichsreferenz vorhanden.</a:t>
            </a:r>
            <a:endParaRPr lang="en-US" sz="950" dirty="0"/>
          </a:p>
        </p:txBody>
      </p:sp>
      <p:sp>
        <p:nvSpPr>
          <p:cNvPr id="40" name="!!3">
            <a:extLst>
              <a:ext uri="{FF2B5EF4-FFF2-40B4-BE49-F238E27FC236}">
                <a16:creationId xmlns:a16="http://schemas.microsoft.com/office/drawing/2014/main" id="{E4866376-A55A-833E-740D-0F60B6641A46}"/>
              </a:ext>
            </a:extLst>
          </p:cNvPr>
          <p:cNvSpPr/>
          <p:nvPr/>
        </p:nvSpPr>
        <p:spPr>
          <a:xfrm>
            <a:off x="-3938454" y="3657600"/>
            <a:ext cx="3611880" cy="777240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8C1F25BE-9528-C4CD-E8ED-9EAE9A67285F}"/>
              </a:ext>
            </a:extLst>
          </p:cNvPr>
          <p:cNvSpPr/>
          <p:nvPr/>
        </p:nvSpPr>
        <p:spPr>
          <a:xfrm>
            <a:off x="-3847014" y="370332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Kartenzählung integrierbar</a:t>
            </a:r>
            <a:endParaRPr lang="en-US" sz="1100" dirty="0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04E77EAF-97CD-821E-2E9B-382D4477D486}"/>
              </a:ext>
            </a:extLst>
          </p:cNvPr>
          <p:cNvSpPr/>
          <p:nvPr/>
        </p:nvSpPr>
        <p:spPr>
          <a:xfrm>
            <a:off x="-3847014" y="39319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True-Count-Information als erweiterter State-Feature testbar.</a:t>
            </a:r>
            <a:endParaRPr lang="en-US" sz="950" dirty="0"/>
          </a:p>
        </p:txBody>
      </p:sp>
      <p:sp>
        <p:nvSpPr>
          <p:cNvPr id="43" name="!!5">
            <a:extLst>
              <a:ext uri="{FF2B5EF4-FFF2-40B4-BE49-F238E27FC236}">
                <a16:creationId xmlns:a16="http://schemas.microsoft.com/office/drawing/2014/main" id="{2FF71E43-4AFE-670C-7DFC-76F30D0EB28E}"/>
              </a:ext>
            </a:extLst>
          </p:cNvPr>
          <p:cNvSpPr/>
          <p:nvPr/>
        </p:nvSpPr>
        <p:spPr>
          <a:xfrm>
            <a:off x="9525729" y="1097280"/>
            <a:ext cx="4114800" cy="347472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2D629A66-D22C-40DA-5A21-D3D584D90814}"/>
              </a:ext>
            </a:extLst>
          </p:cNvPr>
          <p:cNvSpPr/>
          <p:nvPr/>
        </p:nvSpPr>
        <p:spPr>
          <a:xfrm>
            <a:off x="9662889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</a:rPr>
              <a:t>Forschungsfragen</a:t>
            </a:r>
            <a:endParaRPr lang="en-US" sz="1400" dirty="0"/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A692901B-A18B-218C-2BC3-16FCBD79E8A6}"/>
              </a:ext>
            </a:extLst>
          </p:cNvPr>
          <p:cNvSpPr/>
          <p:nvPr/>
        </p:nvSpPr>
        <p:spPr>
          <a:xfrm>
            <a:off x="9662889" y="1810512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6D60E8A1-74C6-1C49-67C9-82DA426E2657}"/>
              </a:ext>
            </a:extLst>
          </p:cNvPr>
          <p:cNvSpPr/>
          <p:nvPr/>
        </p:nvSpPr>
        <p:spPr>
          <a:xfrm>
            <a:off x="9662889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B78C5AA9-E60D-44F0-4FBB-26341D3C4BDF}"/>
              </a:ext>
            </a:extLst>
          </p:cNvPr>
          <p:cNvSpPr/>
          <p:nvPr/>
        </p:nvSpPr>
        <p:spPr>
          <a:xfrm>
            <a:off x="10120089" y="179679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Kann ein Q-Learning Agent Kartenzählung aktiv nutzen?</a:t>
            </a:r>
            <a:endParaRPr lang="en-US" sz="1100" dirty="0"/>
          </a:p>
        </p:txBody>
      </p:sp>
      <p:sp>
        <p:nvSpPr>
          <p:cNvPr id="48" name="Shape 19">
            <a:extLst>
              <a:ext uri="{FF2B5EF4-FFF2-40B4-BE49-F238E27FC236}">
                <a16:creationId xmlns:a16="http://schemas.microsoft.com/office/drawing/2014/main" id="{A325DCB5-41C8-E272-203E-CD752709FCBA}"/>
              </a:ext>
            </a:extLst>
          </p:cNvPr>
          <p:cNvSpPr/>
          <p:nvPr/>
        </p:nvSpPr>
        <p:spPr>
          <a:xfrm>
            <a:off x="9662889" y="2770632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A407E1B5-0DD6-538A-704F-B843A2ADCF25}"/>
              </a:ext>
            </a:extLst>
          </p:cNvPr>
          <p:cNvSpPr/>
          <p:nvPr/>
        </p:nvSpPr>
        <p:spPr>
          <a:xfrm>
            <a:off x="9662889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FAA4D58A-72D0-1E8E-06F1-15C60D193D71}"/>
              </a:ext>
            </a:extLst>
          </p:cNvPr>
          <p:cNvSpPr/>
          <p:nvPr/>
        </p:nvSpPr>
        <p:spPr>
          <a:xfrm>
            <a:off x="10120089" y="274320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Verbessert sich die Performance signifikant mit erweiterten State-Features?</a:t>
            </a:r>
            <a:endParaRPr lang="en-US" sz="1100" dirty="0"/>
          </a:p>
        </p:txBody>
      </p:sp>
      <p:sp>
        <p:nvSpPr>
          <p:cNvPr id="51" name="Shape 22">
            <a:extLst>
              <a:ext uri="{FF2B5EF4-FFF2-40B4-BE49-F238E27FC236}">
                <a16:creationId xmlns:a16="http://schemas.microsoft.com/office/drawing/2014/main" id="{A1338F8B-5826-A6FC-C2CA-E52106B704D0}"/>
              </a:ext>
            </a:extLst>
          </p:cNvPr>
          <p:cNvSpPr/>
          <p:nvPr/>
        </p:nvSpPr>
        <p:spPr>
          <a:xfrm>
            <a:off x="9662889" y="3730752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0C0D3F35-EBEC-8C4D-E754-24B727A28833}"/>
              </a:ext>
            </a:extLst>
          </p:cNvPr>
          <p:cNvSpPr/>
          <p:nvPr/>
        </p:nvSpPr>
        <p:spPr>
          <a:xfrm>
            <a:off x="9662889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2E57173F-43E9-3D4D-5705-17D19C5514B1}"/>
              </a:ext>
            </a:extLst>
          </p:cNvPr>
          <p:cNvSpPr/>
          <p:nvPr/>
        </p:nvSpPr>
        <p:spPr>
          <a:xfrm>
            <a:off x="10120089" y="3798025"/>
            <a:ext cx="3337560" cy="222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Wie viele Episoden benötigt der Agent zur Konvergenz?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!!6"/>
          <p:cNvSpPr>
            <a:spLocks/>
          </p:cNvSpPr>
          <p:nvPr/>
        </p:nvSpPr>
        <p:spPr>
          <a:xfrm>
            <a:off x="365760" y="1097280"/>
            <a:ext cx="3931920" cy="347472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&amp; Forschungsfrage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4B8A6"/>
                </a:solidFill>
              </a:rPr>
              <a:t>Warum Blackjack?</a:t>
            </a:r>
            <a:endParaRPr lang="en-US" sz="1400" dirty="0"/>
          </a:p>
        </p:txBody>
      </p:sp>
      <p:sp>
        <p:nvSpPr>
          <p:cNvPr id="7" name="!!1"/>
          <p:cNvSpPr/>
          <p:nvPr/>
        </p:nvSpPr>
        <p:spPr>
          <a:xfrm>
            <a:off x="502920" y="1737360"/>
            <a:ext cx="3611880" cy="777240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Diskrete Zustandsräume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States &amp; Actions klar definiert – ideal für tabellarisches Q-Learning ohne Näherungsfunktionen.</a:t>
            </a:r>
            <a:endParaRPr lang="en-US" sz="950" dirty="0"/>
          </a:p>
        </p:txBody>
      </p:sp>
      <p:sp>
        <p:nvSpPr>
          <p:cNvPr id="10" name="!!2"/>
          <p:cNvSpPr/>
          <p:nvPr/>
        </p:nvSpPr>
        <p:spPr>
          <a:xfrm>
            <a:off x="502920" y="2697480"/>
            <a:ext cx="3611880" cy="777240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94360" y="27432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Bekannte Baseline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9718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Basic Strategy als mathematisch optimale Vergleichsreferenz vorhanden.</a:t>
            </a:r>
            <a:endParaRPr lang="en-US" sz="950" dirty="0"/>
          </a:p>
        </p:txBody>
      </p:sp>
      <p:sp>
        <p:nvSpPr>
          <p:cNvPr id="13" name="!!3"/>
          <p:cNvSpPr/>
          <p:nvPr/>
        </p:nvSpPr>
        <p:spPr>
          <a:xfrm>
            <a:off x="502920" y="3657600"/>
            <a:ext cx="3611880" cy="777240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94360" y="370332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Kartenzählung integrierbar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9319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True-Count-Information als erweiterter State-Feature testbar.</a:t>
            </a:r>
            <a:endParaRPr lang="en-US" sz="950" dirty="0"/>
          </a:p>
        </p:txBody>
      </p:sp>
      <p:sp>
        <p:nvSpPr>
          <p:cNvPr id="16" name="!!5"/>
          <p:cNvSpPr/>
          <p:nvPr/>
        </p:nvSpPr>
        <p:spPr>
          <a:xfrm>
            <a:off x="4663440" y="1097280"/>
            <a:ext cx="4114800" cy="347472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80060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</a:rPr>
              <a:t>Forschungsfragen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00600" y="1810512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480060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57800" y="179679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Kann ein Q-Learning Agent Kartenzählung aktiv nutzen?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770632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800600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274320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Verbessert sich die Performance signifikant mit erweiterten State-Features?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730752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4800600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57800" y="3798025"/>
            <a:ext cx="3337560" cy="222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Wie viele Episoden benötigt der Agent zur Konvergenz?</a:t>
            </a:r>
            <a:endParaRPr lang="en-US" sz="1100" dirty="0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30F10107-D6D6-2C6D-3FBB-3EE6CEA17560}"/>
              </a:ext>
            </a:extLst>
          </p:cNvPr>
          <p:cNvSpPr/>
          <p:nvPr/>
        </p:nvSpPr>
        <p:spPr>
          <a:xfrm>
            <a:off x="365760" y="-1423843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1E3A5F"/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4988CD75-C725-C205-E8B0-844D5B96C763}"/>
              </a:ext>
            </a:extLst>
          </p:cNvPr>
          <p:cNvSpPr/>
          <p:nvPr/>
        </p:nvSpPr>
        <p:spPr>
          <a:xfrm>
            <a:off x="4617720" y="-1423843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1E3A5F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UMGEBUNG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&amp; Action Space</a:t>
            </a:r>
            <a:endParaRPr lang="en-US" sz="2800" dirty="0"/>
          </a:p>
        </p:txBody>
      </p:sp>
      <p:sp>
        <p:nvSpPr>
          <p:cNvPr id="5" name="!!7"/>
          <p:cNvSpPr/>
          <p:nvPr/>
        </p:nvSpPr>
        <p:spPr>
          <a:xfrm>
            <a:off x="365760" y="1097280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1E3A5F"/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30352" y="1188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</a:rPr>
              <a:t>SHOE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0352" y="13898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 Decks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792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75% Penetration</a:t>
            </a:r>
            <a:endParaRPr lang="en-US" sz="1000" dirty="0"/>
          </a:p>
        </p:txBody>
      </p:sp>
      <p:sp>
        <p:nvSpPr>
          <p:cNvPr id="9" name="!!8"/>
          <p:cNvSpPr/>
          <p:nvPr/>
        </p:nvSpPr>
        <p:spPr>
          <a:xfrm>
            <a:off x="4617720" y="1097280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1E3A5F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782312" y="1188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9E0B"/>
                </a:solidFill>
              </a:rPr>
              <a:t>DEALER RULE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82312" y="13898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Stand on Soft 17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82312" y="1792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Standardregel</a:t>
            </a:r>
            <a:endParaRPr lang="en-US" sz="1000" dirty="0"/>
          </a:p>
        </p:txBody>
      </p:sp>
      <p:sp>
        <p:nvSpPr>
          <p:cNvPr id="13" name="!!6"/>
          <p:cNvSpPr/>
          <p:nvPr/>
        </p:nvSpPr>
        <p:spPr>
          <a:xfrm>
            <a:off x="365760" y="2468880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1E3A5F"/>
          </a:solidFill>
          <a:ln w="12700">
            <a:solidFill>
              <a:srgbClr val="14B8A6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30352" y="2560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4B8A6"/>
                </a:solidFill>
              </a:rPr>
              <a:t>ACTIONS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0352" y="27614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{ 0 = Stand, 1 = Hit }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352" y="3163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Binärer Action Space</a:t>
            </a:r>
            <a:endParaRPr lang="en-US" sz="1000" dirty="0"/>
          </a:p>
        </p:txBody>
      </p:sp>
      <p:sp>
        <p:nvSpPr>
          <p:cNvPr id="17" name="!!5"/>
          <p:cNvSpPr/>
          <p:nvPr/>
        </p:nvSpPr>
        <p:spPr>
          <a:xfrm>
            <a:off x="4617720" y="2468880"/>
            <a:ext cx="3931920" cy="1143000"/>
          </a:xfrm>
          <a:prstGeom prst="roundRect">
            <a:avLst>
              <a:gd name="adj" fmla="val 9600"/>
            </a:avLst>
          </a:prstGeom>
          <a:solidFill>
            <a:srgbClr val="1E3A5F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782312" y="2560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0B981"/>
                </a:solidFill>
              </a:rPr>
              <a:t>REWARD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82312" y="27614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+1 / −1 / 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82312" y="3163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Win · Loss · Push</a:t>
            </a:r>
            <a:endParaRPr lang="en-US" sz="1000" dirty="0"/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857CA240-80C7-A49C-266B-2BCC61692BFB}"/>
              </a:ext>
            </a:extLst>
          </p:cNvPr>
          <p:cNvGrpSpPr/>
          <p:nvPr/>
        </p:nvGrpSpPr>
        <p:grpSpPr>
          <a:xfrm>
            <a:off x="365760" y="5205544"/>
            <a:ext cx="8412480" cy="804672"/>
            <a:chOff x="365760" y="5205544"/>
            <a:chExt cx="8412480" cy="804672"/>
          </a:xfrm>
        </p:grpSpPr>
        <p:sp>
          <p:nvSpPr>
            <p:cNvPr id="21" name="Shape 19"/>
            <p:cNvSpPr/>
            <p:nvPr/>
          </p:nvSpPr>
          <p:spPr>
            <a:xfrm>
              <a:off x="365760" y="5205544"/>
              <a:ext cx="8412480" cy="804672"/>
            </a:xfrm>
            <a:prstGeom prst="roundRect">
              <a:avLst>
                <a:gd name="adj" fmla="val 13636"/>
              </a:avLst>
            </a:prstGeom>
            <a:solidFill>
              <a:srgbClr val="0D9488">
                <a:alpha val="12000"/>
              </a:srgbClr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2" name="Text 20"/>
            <p:cNvSpPr/>
            <p:nvPr/>
          </p:nvSpPr>
          <p:spPr>
            <a:xfrm>
              <a:off x="594360" y="5296984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4B8A6"/>
                  </a:solidFill>
                </a:rPr>
                <a:t>Zentrale experimentelle Variable:</a:t>
              </a:r>
              <a:endParaRPr lang="en-US" sz="11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94360" y="5571304"/>
              <a:ext cx="7772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FFFFFF"/>
                  </a:solidFill>
                </a:rPr>
                <a:t>Der Counting Agent hat 385× mehr States als der Baseline Agent → Kernfrage der Studie</a:t>
              </a:r>
              <a:endParaRPr lang="en-US" sz="1050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02408 L 0 -0.2345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9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54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</a:rPr>
              <a:t>EVALUATION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Belohnungsfunktion &amp; Erfolgskriterien</a:t>
            </a:r>
            <a:endParaRPr lang="en-US" sz="2400" dirty="0"/>
          </a:p>
        </p:txBody>
      </p:sp>
      <p:sp>
        <p:nvSpPr>
          <p:cNvPr id="6" name="!!7"/>
          <p:cNvSpPr/>
          <p:nvPr/>
        </p:nvSpPr>
        <p:spPr>
          <a:xfrm>
            <a:off x="365760" y="1097280"/>
            <a:ext cx="2606040" cy="146304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18105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Gewinn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Agent gewinnt die Runde</a:t>
            </a:r>
            <a:endParaRPr lang="en-US" sz="950" dirty="0"/>
          </a:p>
        </p:txBody>
      </p:sp>
      <p:sp>
        <p:nvSpPr>
          <p:cNvPr id="10" name="!!10"/>
          <p:cNvSpPr/>
          <p:nvPr/>
        </p:nvSpPr>
        <p:spPr>
          <a:xfrm>
            <a:off x="3200400" y="1097280"/>
            <a:ext cx="2606040" cy="146304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EF4444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200400" y="1188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200400" y="18105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Verlust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Agent verliert die Runde</a:t>
            </a:r>
            <a:endParaRPr lang="en-US" sz="950" dirty="0"/>
          </a:p>
        </p:txBody>
      </p:sp>
      <p:sp>
        <p:nvSpPr>
          <p:cNvPr id="14" name="!!8"/>
          <p:cNvSpPr/>
          <p:nvPr/>
        </p:nvSpPr>
        <p:spPr>
          <a:xfrm>
            <a:off x="6035040" y="1097280"/>
            <a:ext cx="2606040" cy="146304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64748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035040" y="1188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035040" y="18105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Push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44768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Unentschieden – kein Reward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28346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Erfolgskriterien</a:t>
            </a:r>
            <a:endParaRPr lang="en-US" sz="1400" dirty="0"/>
          </a:p>
        </p:txBody>
      </p:sp>
      <p:sp>
        <p:nvSpPr>
          <p:cNvPr id="19" name="!!6"/>
          <p:cNvSpPr/>
          <p:nvPr/>
        </p:nvSpPr>
        <p:spPr>
          <a:xfrm>
            <a:off x="365760" y="32461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502920" y="338328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0292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33649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Avg. Reward &gt; −0.05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" y="3749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Signifikant besser als Zufallsstrategie</a:t>
            </a:r>
            <a:endParaRPr lang="en-US" sz="1000" dirty="0"/>
          </a:p>
        </p:txBody>
      </p:sp>
      <p:sp>
        <p:nvSpPr>
          <p:cNvPr id="24" name="!!11"/>
          <p:cNvSpPr/>
          <p:nvPr/>
        </p:nvSpPr>
        <p:spPr>
          <a:xfrm>
            <a:off x="3200400" y="32461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3337560" y="338328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333756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49040" y="33649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Win Rate 42-45%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64992" y="3749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Casino House Edge überwunden</a:t>
            </a:r>
            <a:endParaRPr lang="en-US" sz="1000" dirty="0"/>
          </a:p>
        </p:txBody>
      </p:sp>
      <p:sp>
        <p:nvSpPr>
          <p:cNvPr id="29" name="!!5"/>
          <p:cNvSpPr/>
          <p:nvPr/>
        </p:nvSpPr>
        <p:spPr>
          <a:xfrm>
            <a:off x="6035040" y="32461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6172200" y="338328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617220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33649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CI &lt; ±0.003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99632" y="3749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Stabiles, konsistentes Lernen über Seeds</a:t>
            </a:r>
            <a:endParaRPr lang="en-US" sz="1000" dirty="0"/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C54ED0B8-C60C-36EC-F96D-A8D41938B292}"/>
              </a:ext>
            </a:extLst>
          </p:cNvPr>
          <p:cNvSpPr/>
          <p:nvPr/>
        </p:nvSpPr>
        <p:spPr>
          <a:xfrm>
            <a:off x="356235" y="5262372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E3A5F"/>
          </a:solidFill>
          <a:ln w="12700">
            <a:solidFill>
              <a:srgbClr val="0D9488">
                <a:alpha val="3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AE136B5D-631A-7C30-C8CD-9BA6D105F210}"/>
              </a:ext>
            </a:extLst>
          </p:cNvPr>
          <p:cNvSpPr/>
          <p:nvPr/>
        </p:nvSpPr>
        <p:spPr>
          <a:xfrm>
            <a:off x="356235" y="53263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</a:t>
            </a:r>
            <a:endParaRPr lang="en-US" sz="240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CB72313E-2E68-73A7-4FC4-DF3A25F9AF86}"/>
              </a:ext>
            </a:extLst>
          </p:cNvPr>
          <p:cNvSpPr/>
          <p:nvPr/>
        </p:nvSpPr>
        <p:spPr>
          <a:xfrm>
            <a:off x="356235" y="57104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0.01</a:t>
            </a:r>
            <a:endParaRPr lang="en-US" sz="1200" dirty="0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515203A1-8035-DB62-CA74-872FD15CDC27}"/>
              </a:ext>
            </a:extLst>
          </p:cNvPr>
          <p:cNvSpPr/>
          <p:nvPr/>
        </p:nvSpPr>
        <p:spPr>
          <a:xfrm>
            <a:off x="465963" y="60121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Learning Rate</a:t>
            </a:r>
            <a:endParaRPr lang="en-US" sz="950" dirty="0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51169989-B21A-94AD-994B-0EC9EB9A81F7}"/>
              </a:ext>
            </a:extLst>
          </p:cNvPr>
          <p:cNvSpPr/>
          <p:nvPr/>
        </p:nvSpPr>
        <p:spPr>
          <a:xfrm>
            <a:off x="465963" y="62133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Schrittweite der Updates</a:t>
            </a:r>
            <a:endParaRPr lang="en-US" sz="850" dirty="0"/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327A8C89-3DB2-4257-007A-8D8BF5EC5141}"/>
              </a:ext>
            </a:extLst>
          </p:cNvPr>
          <p:cNvSpPr/>
          <p:nvPr/>
        </p:nvSpPr>
        <p:spPr>
          <a:xfrm>
            <a:off x="3190875" y="5262372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E3A5F"/>
          </a:solidFill>
          <a:ln w="12700">
            <a:solidFill>
              <a:srgbClr val="0D9488">
                <a:alpha val="3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B59A079A-EC29-7350-AFF6-38FB59511D5E}"/>
              </a:ext>
            </a:extLst>
          </p:cNvPr>
          <p:cNvSpPr/>
          <p:nvPr/>
        </p:nvSpPr>
        <p:spPr>
          <a:xfrm>
            <a:off x="3190875" y="53263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</a:t>
            </a:r>
            <a:endParaRPr lang="en-US" sz="2400" dirty="0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D6B7BC3B-F47A-7113-547B-4475CC306D83}"/>
              </a:ext>
            </a:extLst>
          </p:cNvPr>
          <p:cNvSpPr/>
          <p:nvPr/>
        </p:nvSpPr>
        <p:spPr>
          <a:xfrm>
            <a:off x="3190875" y="57104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0.99</a:t>
            </a:r>
            <a:endParaRPr lang="en-US" sz="1200" dirty="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4A76D85C-B821-594B-C747-013AA84AD11B}"/>
              </a:ext>
            </a:extLst>
          </p:cNvPr>
          <p:cNvSpPr/>
          <p:nvPr/>
        </p:nvSpPr>
        <p:spPr>
          <a:xfrm>
            <a:off x="3300603" y="60121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Discount Factor</a:t>
            </a:r>
            <a:endParaRPr lang="en-US" sz="950" dirty="0"/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8FAFE602-031E-6EC1-682D-2739E21599E6}"/>
              </a:ext>
            </a:extLst>
          </p:cNvPr>
          <p:cNvSpPr/>
          <p:nvPr/>
        </p:nvSpPr>
        <p:spPr>
          <a:xfrm>
            <a:off x="3300603" y="62133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Gewichtung zukünftiger Rewards</a:t>
            </a:r>
            <a:endParaRPr lang="en-US" sz="850" dirty="0"/>
          </a:p>
        </p:txBody>
      </p:sp>
      <p:sp>
        <p:nvSpPr>
          <p:cNvPr id="45" name="Shape 19">
            <a:extLst>
              <a:ext uri="{FF2B5EF4-FFF2-40B4-BE49-F238E27FC236}">
                <a16:creationId xmlns:a16="http://schemas.microsoft.com/office/drawing/2014/main" id="{650ED8EB-BC03-68B0-69FC-258B3D63DB49}"/>
              </a:ext>
            </a:extLst>
          </p:cNvPr>
          <p:cNvSpPr/>
          <p:nvPr/>
        </p:nvSpPr>
        <p:spPr>
          <a:xfrm>
            <a:off x="6025515" y="5262372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E3A5F"/>
          </a:solidFill>
          <a:ln w="12700">
            <a:solidFill>
              <a:srgbClr val="0D9488">
                <a:alpha val="3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A144AE83-AEBF-1CE7-2BF1-698CF3537126}"/>
              </a:ext>
            </a:extLst>
          </p:cNvPr>
          <p:cNvSpPr/>
          <p:nvPr/>
        </p:nvSpPr>
        <p:spPr>
          <a:xfrm>
            <a:off x="6025515" y="53263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400" dirty="0"/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184F99EE-C16E-42EC-57C2-CBCBF3F691CF}"/>
              </a:ext>
            </a:extLst>
          </p:cNvPr>
          <p:cNvSpPr/>
          <p:nvPr/>
        </p:nvSpPr>
        <p:spPr>
          <a:xfrm>
            <a:off x="6025515" y="57104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+1/−1/0</a:t>
            </a:r>
            <a:endParaRPr lang="en-US" sz="1200" dirty="0"/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9C12F242-EEA1-FCF5-6B2A-DADE7BFFC2AF}"/>
              </a:ext>
            </a:extLst>
          </p:cNvPr>
          <p:cNvSpPr/>
          <p:nvPr/>
        </p:nvSpPr>
        <p:spPr>
          <a:xfrm>
            <a:off x="6135243" y="60121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Immediate Reward</a:t>
            </a:r>
            <a:endParaRPr lang="en-US" sz="950" dirty="0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2005F07D-4606-944C-7DAA-213CEE266EE9}"/>
              </a:ext>
            </a:extLst>
          </p:cNvPr>
          <p:cNvSpPr/>
          <p:nvPr/>
        </p:nvSpPr>
        <p:spPr>
          <a:xfrm>
            <a:off x="6135243" y="62133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Direktes Feedback der Umgebung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METHODIK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Learning – Q-Learning</a:t>
            </a:r>
            <a:endParaRPr lang="en-US" sz="2600" dirty="0"/>
          </a:p>
        </p:txBody>
      </p:sp>
      <p:sp>
        <p:nvSpPr>
          <p:cNvPr id="5" name="!!10"/>
          <p:cNvSpPr/>
          <p:nvPr/>
        </p:nvSpPr>
        <p:spPr>
          <a:xfrm>
            <a:off x="365760" y="1005840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1E3A5F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Algorithmus: Q-Learning (Off-Policy TD Learning)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Bewährt für diskrete Action Spaces · Interpretierbar · Kein Neural Network erforderlich</a:t>
            </a:r>
            <a:endParaRPr lang="en-US" sz="1050" dirty="0"/>
          </a:p>
        </p:txBody>
      </p:sp>
      <p:sp>
        <p:nvSpPr>
          <p:cNvPr id="8" name="!!11"/>
          <p:cNvSpPr/>
          <p:nvPr/>
        </p:nvSpPr>
        <p:spPr>
          <a:xfrm>
            <a:off x="365760" y="1920240"/>
            <a:ext cx="8412480" cy="146304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94360" y="2029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9E0B"/>
                </a:solidFill>
              </a:rPr>
              <a:t>Bellman Update-Gleichung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Q(s,a) ← Q(s,a) + α · [ r + γ · max Q(s',a') − Q(s,a) ]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" y="3547872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E3A5F"/>
          </a:solidFill>
          <a:ln w="12700">
            <a:solidFill>
              <a:srgbClr val="0D9488">
                <a:alpha val="3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65760" y="3611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65760" y="39959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0.01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42976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Learning Rate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44988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Schrittweite der Updates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0" y="3547872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E3A5F"/>
          </a:solidFill>
          <a:ln w="12700">
            <a:solidFill>
              <a:srgbClr val="0D9488">
                <a:alpha val="3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3200400" y="3611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200400" y="39959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0.99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10128" y="42976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Discount Factor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10128" y="44988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Gewichtung zukünftiger Rewards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35040" y="3547872"/>
            <a:ext cx="2606040" cy="1280160"/>
          </a:xfrm>
          <a:prstGeom prst="roundRect">
            <a:avLst>
              <a:gd name="adj" fmla="val 8571"/>
            </a:avLst>
          </a:prstGeom>
          <a:solidFill>
            <a:srgbClr val="1E3A5F"/>
          </a:solidFill>
          <a:ln w="12700">
            <a:solidFill>
              <a:srgbClr val="0D9488">
                <a:alpha val="3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6035040" y="3611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035040" y="39959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+1/−1/0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44768" y="42976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Immediate Reward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44768" y="44988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Direktes Feedback der Umgebung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352B3-AE23-B804-2716-D5A557E27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508FF5-087F-3053-F239-6FC5CB3BB869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B0EA357-E090-B01A-A6EC-250BD6BFCA95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5C58A44-3B8E-0E0C-327C-2B4DE37FD1EF}"/>
              </a:ext>
            </a:extLst>
          </p:cNvPr>
          <p:cNvSpPr/>
          <p:nvPr/>
        </p:nvSpPr>
        <p:spPr>
          <a:xfrm>
            <a:off x="457200" y="548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HYPERPARAMETER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3E9CCC9-1B77-EA14-97A4-83A55A212585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Hyperparameter-Optimierung</a:t>
            </a:r>
            <a:endParaRPr lang="en-US" sz="2600" dirty="0"/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8EF9404F-8D14-CEFF-75D0-07E3FA805309}"/>
              </a:ext>
            </a:extLst>
          </p:cNvPr>
          <p:cNvGrpSpPr/>
          <p:nvPr/>
        </p:nvGrpSpPr>
        <p:grpSpPr>
          <a:xfrm>
            <a:off x="365760" y="1051560"/>
            <a:ext cx="3840480" cy="384048"/>
            <a:chOff x="365760" y="1051560"/>
            <a:chExt cx="3840480" cy="384048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930706C3-EC22-96FE-9AAE-C2D5FA45CB06}"/>
                </a:ext>
              </a:extLst>
            </p:cNvPr>
            <p:cNvSpPr/>
            <p:nvPr/>
          </p:nvSpPr>
          <p:spPr>
            <a:xfrm>
              <a:off x="365760" y="1051560"/>
              <a:ext cx="3840480" cy="384048"/>
            </a:xfrm>
            <a:prstGeom prst="roundRect">
              <a:avLst>
                <a:gd name="adj" fmla="val 23810"/>
              </a:avLst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E558A069-A64A-E4C9-D5FA-99B10E79F97A}"/>
                </a:ext>
              </a:extLst>
            </p:cNvPr>
            <p:cNvSpPr/>
            <p:nvPr/>
          </p:nvSpPr>
          <p:spPr>
            <a:xfrm>
              <a:off x="365760" y="1051560"/>
              <a:ext cx="38404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Finale Konfiguration: c05_long_default</a:t>
              </a:r>
              <a:endParaRPr lang="en-US" sz="1100" dirty="0"/>
            </a:p>
          </p:txBody>
        </p:sp>
      </p:grpSp>
      <p:sp>
        <p:nvSpPr>
          <p:cNvPr id="8" name="Shape 6">
            <a:extLst>
              <a:ext uri="{FF2B5EF4-FFF2-40B4-BE49-F238E27FC236}">
                <a16:creationId xmlns:a16="http://schemas.microsoft.com/office/drawing/2014/main" id="{1E163C01-BE47-24C0-35CB-868FCEA221BD}"/>
              </a:ext>
            </a:extLst>
          </p:cNvPr>
          <p:cNvSpPr/>
          <p:nvPr/>
        </p:nvSpPr>
        <p:spPr>
          <a:xfrm>
            <a:off x="365760" y="1600200"/>
            <a:ext cx="74980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0E0BE37-B32B-396A-BB5A-F48E67ACA103}"/>
              </a:ext>
            </a:extLst>
          </p:cNvPr>
          <p:cNvSpPr/>
          <p:nvPr/>
        </p:nvSpPr>
        <p:spPr>
          <a:xfrm>
            <a:off x="45720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4B8A6"/>
                </a:solidFill>
              </a:rPr>
              <a:t>PARAMETER</a:t>
            </a:r>
            <a:endParaRPr lang="en-US" sz="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E4E9B87-319C-FE24-0650-B81CE02F9D0E}"/>
              </a:ext>
            </a:extLst>
          </p:cNvPr>
          <p:cNvSpPr/>
          <p:nvPr/>
        </p:nvSpPr>
        <p:spPr>
          <a:xfrm>
            <a:off x="3017520" y="16002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4B8A6"/>
                </a:solidFill>
              </a:rPr>
              <a:t>WERT</a:t>
            </a: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912660C-5098-5A68-E4E0-E9CFBDD66086}"/>
              </a:ext>
            </a:extLst>
          </p:cNvPr>
          <p:cNvSpPr/>
          <p:nvPr/>
        </p:nvSpPr>
        <p:spPr>
          <a:xfrm>
            <a:off x="4114800" y="1600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4B8A6"/>
                </a:solidFill>
              </a:rPr>
              <a:t>BEGRÜNDUNG</a:t>
            </a:r>
            <a:endParaRPr lang="en-US" sz="9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6D5B7A7-09FC-5E5A-38D1-2715F68D4A70}"/>
              </a:ext>
            </a:extLst>
          </p:cNvPr>
          <p:cNvSpPr/>
          <p:nvPr/>
        </p:nvSpPr>
        <p:spPr>
          <a:xfrm>
            <a:off x="365760" y="1984248"/>
            <a:ext cx="74980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557A113-B7A8-BA6E-8FB1-C3074662B819}"/>
              </a:ext>
            </a:extLst>
          </p:cNvPr>
          <p:cNvSpPr/>
          <p:nvPr/>
        </p:nvSpPr>
        <p:spPr>
          <a:xfrm>
            <a:off x="457200" y="198424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Learning Rate α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FE101CF-02F0-8DCE-1D7D-F0B2D9536E5D}"/>
              </a:ext>
            </a:extLst>
          </p:cNvPr>
          <p:cNvSpPr/>
          <p:nvPr/>
        </p:nvSpPr>
        <p:spPr>
          <a:xfrm>
            <a:off x="3017520" y="198424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0.01</a:t>
            </a: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4DBA1BA-DA97-9137-B434-CB64297F205A}"/>
              </a:ext>
            </a:extLst>
          </p:cNvPr>
          <p:cNvSpPr/>
          <p:nvPr/>
        </p:nvSpPr>
        <p:spPr>
          <a:xfrm>
            <a:off x="4114800" y="19842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Stabilität &amp; Speed</a:t>
            </a:r>
            <a:endParaRPr lang="en-US" sz="11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33DF736-5955-DA1A-FD40-0838AF39203D}"/>
              </a:ext>
            </a:extLst>
          </p:cNvPr>
          <p:cNvSpPr/>
          <p:nvPr/>
        </p:nvSpPr>
        <p:spPr>
          <a:xfrm>
            <a:off x="365760" y="2404872"/>
            <a:ext cx="7498080" cy="42062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D04FBF1-0551-5A8B-BEB6-1E557E6E7AA2}"/>
              </a:ext>
            </a:extLst>
          </p:cNvPr>
          <p:cNvSpPr/>
          <p:nvPr/>
        </p:nvSpPr>
        <p:spPr>
          <a:xfrm>
            <a:off x="457200" y="240487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Discount Factor γ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CCF6548-1AC4-80AF-9396-855A93A73349}"/>
              </a:ext>
            </a:extLst>
          </p:cNvPr>
          <p:cNvSpPr/>
          <p:nvPr/>
        </p:nvSpPr>
        <p:spPr>
          <a:xfrm>
            <a:off x="3017520" y="24048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0.99</a:t>
            </a: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42F9E89-4CD6-2576-A910-15874296B7AC}"/>
              </a:ext>
            </a:extLst>
          </p:cNvPr>
          <p:cNvSpPr/>
          <p:nvPr/>
        </p:nvSpPr>
        <p:spPr>
          <a:xfrm>
            <a:off x="4114800" y="240487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Lange Foresight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1B8E6CA-F6F3-7936-2CF2-28F30DF6D802}"/>
              </a:ext>
            </a:extLst>
          </p:cNvPr>
          <p:cNvSpPr/>
          <p:nvPr/>
        </p:nvSpPr>
        <p:spPr>
          <a:xfrm>
            <a:off x="365760" y="2825496"/>
            <a:ext cx="74980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F6B5886-987A-27AC-9DBC-242A5A06BF4D}"/>
              </a:ext>
            </a:extLst>
          </p:cNvPr>
          <p:cNvSpPr/>
          <p:nvPr/>
        </p:nvSpPr>
        <p:spPr>
          <a:xfrm>
            <a:off x="457200" y="282549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Initial ε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2A2AEFA-EB41-2764-9F44-75AB1FEB74AB}"/>
              </a:ext>
            </a:extLst>
          </p:cNvPr>
          <p:cNvSpPr/>
          <p:nvPr/>
        </p:nvSpPr>
        <p:spPr>
          <a:xfrm>
            <a:off x="3017520" y="282549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1.0</a:t>
            </a: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E7FB917-5B80-DF46-1DD3-C4CF2074D456}"/>
              </a:ext>
            </a:extLst>
          </p:cNvPr>
          <p:cNvSpPr/>
          <p:nvPr/>
        </p:nvSpPr>
        <p:spPr>
          <a:xfrm>
            <a:off x="4114800" y="282549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Vollständige Exploration zu Beginn</a:t>
            </a:r>
            <a:endParaRPr lang="en-US" sz="11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19095843-D131-49C8-2591-B3A321A08834}"/>
              </a:ext>
            </a:extLst>
          </p:cNvPr>
          <p:cNvSpPr/>
          <p:nvPr/>
        </p:nvSpPr>
        <p:spPr>
          <a:xfrm>
            <a:off x="365760" y="3246120"/>
            <a:ext cx="7498080" cy="42062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AB6A739-A870-A079-0FF8-594A5FEB29DE}"/>
              </a:ext>
            </a:extLst>
          </p:cNvPr>
          <p:cNvSpPr/>
          <p:nvPr/>
        </p:nvSpPr>
        <p:spPr>
          <a:xfrm>
            <a:off x="457200" y="324612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ε Decay</a:t>
            </a: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297F026-B516-8B5B-816F-35B6791ADCCF}"/>
              </a:ext>
            </a:extLst>
          </p:cNvPr>
          <p:cNvSpPr/>
          <p:nvPr/>
        </p:nvSpPr>
        <p:spPr>
          <a:xfrm>
            <a:off x="3017520" y="324612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0.90</a:t>
            </a: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9A4AD1D-3036-7C91-440E-A31CC22A67AD}"/>
              </a:ext>
            </a:extLst>
          </p:cNvPr>
          <p:cNvSpPr/>
          <p:nvPr/>
        </p:nvSpPr>
        <p:spPr>
          <a:xfrm>
            <a:off x="4114800" y="324612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Langsame, schrittweise Reduktion</a:t>
            </a:r>
            <a:endParaRPr lang="en-US" sz="11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108B6B49-6A40-1503-212B-4827E581D19C}"/>
              </a:ext>
            </a:extLst>
          </p:cNvPr>
          <p:cNvSpPr/>
          <p:nvPr/>
        </p:nvSpPr>
        <p:spPr>
          <a:xfrm>
            <a:off x="365760" y="3666744"/>
            <a:ext cx="74980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EFC9B84-F798-51EC-F8A2-8E24BC764942}"/>
              </a:ext>
            </a:extLst>
          </p:cNvPr>
          <p:cNvSpPr/>
          <p:nvPr/>
        </p:nvSpPr>
        <p:spPr>
          <a:xfrm>
            <a:off x="457200" y="366674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Final ε</a:t>
            </a:r>
            <a:endParaRPr lang="en-US" sz="11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378CBD9-AF87-F009-08EC-1A279A43DE73}"/>
              </a:ext>
            </a:extLst>
          </p:cNvPr>
          <p:cNvSpPr/>
          <p:nvPr/>
        </p:nvSpPr>
        <p:spPr>
          <a:xfrm>
            <a:off x="3017520" y="366674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0.10</a:t>
            </a:r>
            <a:endParaRPr lang="en-US" sz="11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EEBE25A-0AA7-F1C8-E226-E62C09687B98}"/>
              </a:ext>
            </a:extLst>
          </p:cNvPr>
          <p:cNvSpPr/>
          <p:nvPr/>
        </p:nvSpPr>
        <p:spPr>
          <a:xfrm>
            <a:off x="4114800" y="366674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Residuale Exploration am Ende</a:t>
            </a:r>
            <a:endParaRPr lang="en-US" sz="1100" dirty="0"/>
          </a:p>
        </p:txBody>
      </p:sp>
      <p:sp>
        <p:nvSpPr>
          <p:cNvPr id="48" name="Shape 30">
            <a:extLst>
              <a:ext uri="{FF2B5EF4-FFF2-40B4-BE49-F238E27FC236}">
                <a16:creationId xmlns:a16="http://schemas.microsoft.com/office/drawing/2014/main" id="{34740335-7364-6DDD-D98B-62FC3C7EAAFE}"/>
              </a:ext>
            </a:extLst>
          </p:cNvPr>
          <p:cNvSpPr/>
          <p:nvPr/>
        </p:nvSpPr>
        <p:spPr>
          <a:xfrm>
            <a:off x="9371057" y="1055370"/>
            <a:ext cx="2750458" cy="3611880"/>
          </a:xfrm>
          <a:prstGeom prst="roundRect">
            <a:avLst>
              <a:gd name="adj" fmla="val 3544"/>
            </a:avLst>
          </a:prstGeom>
          <a:solidFill>
            <a:srgbClr val="1E293B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9" name="Text 31">
            <a:extLst>
              <a:ext uri="{FF2B5EF4-FFF2-40B4-BE49-F238E27FC236}">
                <a16:creationId xmlns:a16="http://schemas.microsoft.com/office/drawing/2014/main" id="{EB990D4A-4582-42BE-1D84-821FC8622E70}"/>
              </a:ext>
            </a:extLst>
          </p:cNvPr>
          <p:cNvSpPr/>
          <p:nvPr/>
        </p:nvSpPr>
        <p:spPr>
          <a:xfrm>
            <a:off x="9986344" y="119253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Optimierungsprozess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13918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548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HYPERPARAMETER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Hyperparameter-Optimierung</a:t>
            </a:r>
            <a:endParaRPr lang="en-US" sz="2600" dirty="0"/>
          </a:p>
        </p:txBody>
      </p: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389EDD42-C256-79CC-3E53-C6E6448B5E07}"/>
              </a:ext>
            </a:extLst>
          </p:cNvPr>
          <p:cNvGrpSpPr/>
          <p:nvPr/>
        </p:nvGrpSpPr>
        <p:grpSpPr>
          <a:xfrm>
            <a:off x="365760" y="1051560"/>
            <a:ext cx="3840480" cy="384048"/>
            <a:chOff x="365760" y="1051560"/>
            <a:chExt cx="3840480" cy="384048"/>
          </a:xfrm>
        </p:grpSpPr>
        <p:sp>
          <p:nvSpPr>
            <p:cNvPr id="6" name="Shape 4"/>
            <p:cNvSpPr/>
            <p:nvPr/>
          </p:nvSpPr>
          <p:spPr>
            <a:xfrm>
              <a:off x="365760" y="1051560"/>
              <a:ext cx="3840480" cy="384048"/>
            </a:xfrm>
            <a:prstGeom prst="roundRect">
              <a:avLst>
                <a:gd name="adj" fmla="val 23810"/>
              </a:avLst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 5"/>
            <p:cNvSpPr/>
            <p:nvPr/>
          </p:nvSpPr>
          <p:spPr>
            <a:xfrm>
              <a:off x="365760" y="1051560"/>
              <a:ext cx="38404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</a:rPr>
                <a:t>Finale Konfiguration: c05_long_default</a:t>
              </a:r>
              <a:endParaRPr lang="en-US" sz="1100" dirty="0"/>
            </a:p>
          </p:txBody>
        </p:sp>
      </p:grpSp>
      <p:sp>
        <p:nvSpPr>
          <p:cNvPr id="8" name="Shape 6"/>
          <p:cNvSpPr/>
          <p:nvPr/>
        </p:nvSpPr>
        <p:spPr>
          <a:xfrm>
            <a:off x="356235" y="1600200"/>
            <a:ext cx="579476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47675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4B8A6"/>
                </a:solidFill>
              </a:rPr>
              <a:t>PARAMETER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07995" y="16002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4B8A6"/>
                </a:solidFill>
              </a:rPr>
              <a:t>WERT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0" y="1600200"/>
            <a:ext cx="31737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4B8A6"/>
                </a:solidFill>
              </a:rPr>
              <a:t>BEGRÜNDUNG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6235" y="1984248"/>
            <a:ext cx="579476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47675" y="198424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Learning Rate α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07995" y="198424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0.01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05275" y="1984248"/>
            <a:ext cx="31737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Stabilität &amp; Speed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6235" y="2404872"/>
            <a:ext cx="5794760" cy="42062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47675" y="240487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Discount Factor γ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07995" y="24048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0.99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05275" y="2404872"/>
            <a:ext cx="31737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Lange Foresight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6235" y="2825496"/>
            <a:ext cx="579476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447675" y="282549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Initial ε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07995" y="282549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1.0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05275" y="2825496"/>
            <a:ext cx="31737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Vollständige Exploration zu Beginn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6235" y="3246120"/>
            <a:ext cx="5794760" cy="42062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447675" y="324612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ε Decay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07995" y="324612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0.90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05275" y="3246120"/>
            <a:ext cx="31737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Langsame, schrittweise Reduktion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6235" y="3666744"/>
            <a:ext cx="579476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447675" y="366674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Final ε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07995" y="366674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0.10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05275" y="3666744"/>
            <a:ext cx="31737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Residuale Exploration am Ende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84957" y="1055370"/>
            <a:ext cx="2750458" cy="3611880"/>
          </a:xfrm>
          <a:prstGeom prst="roundRect">
            <a:avLst>
              <a:gd name="adj" fmla="val 3544"/>
            </a:avLst>
          </a:prstGeom>
          <a:solidFill>
            <a:srgbClr val="1E293B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6900244" y="119253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Optimierungsprozess</a:t>
            </a:r>
            <a:endParaRPr lang="en-US" sz="1200" dirty="0"/>
          </a:p>
        </p:txBody>
      </p: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B1D29F4E-AE1A-03CF-FCEB-70AAED10A935}"/>
              </a:ext>
            </a:extLst>
          </p:cNvPr>
          <p:cNvGrpSpPr/>
          <p:nvPr/>
        </p:nvGrpSpPr>
        <p:grpSpPr>
          <a:xfrm>
            <a:off x="6900244" y="1649730"/>
            <a:ext cx="548640" cy="548640"/>
            <a:chOff x="6900244" y="1649730"/>
            <a:chExt cx="548640" cy="548640"/>
          </a:xfrm>
        </p:grpSpPr>
        <p:sp>
          <p:nvSpPr>
            <p:cNvPr id="34" name="Shape 32"/>
            <p:cNvSpPr/>
            <p:nvPr/>
          </p:nvSpPr>
          <p:spPr>
            <a:xfrm>
              <a:off x="6900244" y="1649730"/>
              <a:ext cx="548640" cy="548640"/>
            </a:xfrm>
            <a:prstGeom prst="ellipse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5" name="Text 33"/>
            <p:cNvSpPr/>
            <p:nvPr/>
          </p:nvSpPr>
          <p:spPr>
            <a:xfrm>
              <a:off x="6900244" y="1649730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16</a:t>
              </a:r>
              <a:endParaRPr lang="en-US" sz="1600" dirty="0"/>
            </a:p>
          </p:txBody>
        </p:sp>
      </p:grpSp>
      <p:sp>
        <p:nvSpPr>
          <p:cNvPr id="36" name="Text 34"/>
          <p:cNvSpPr/>
          <p:nvPr/>
        </p:nvSpPr>
        <p:spPr>
          <a:xfrm>
            <a:off x="7567756" y="168630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Konfigurationen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567756" y="195148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Stage 1: Breite Suche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174564" y="2244090"/>
            <a:ext cx="0" cy="36576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3DBDD54B-9E6F-2353-1470-1CE822BFEE08}"/>
              </a:ext>
            </a:extLst>
          </p:cNvPr>
          <p:cNvGrpSpPr/>
          <p:nvPr/>
        </p:nvGrpSpPr>
        <p:grpSpPr>
          <a:xfrm>
            <a:off x="6900244" y="2637282"/>
            <a:ext cx="548640" cy="548640"/>
            <a:chOff x="6900244" y="2637282"/>
            <a:chExt cx="548640" cy="548640"/>
          </a:xfrm>
        </p:grpSpPr>
        <p:sp>
          <p:nvSpPr>
            <p:cNvPr id="39" name="Shape 37"/>
            <p:cNvSpPr/>
            <p:nvPr/>
          </p:nvSpPr>
          <p:spPr>
            <a:xfrm>
              <a:off x="6900244" y="2637282"/>
              <a:ext cx="548640" cy="548640"/>
            </a:xfrm>
            <a:prstGeom prst="ellipse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Text 38"/>
            <p:cNvSpPr/>
            <p:nvPr/>
          </p:nvSpPr>
          <p:spPr>
            <a:xfrm>
              <a:off x="6900244" y="2637282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8</a:t>
              </a:r>
              <a:endParaRPr lang="en-US" sz="1600" dirty="0"/>
            </a:p>
          </p:txBody>
        </p:sp>
      </p:grpSp>
      <p:sp>
        <p:nvSpPr>
          <p:cNvPr id="41" name="Text 39"/>
          <p:cNvSpPr/>
          <p:nvPr/>
        </p:nvSpPr>
        <p:spPr>
          <a:xfrm>
            <a:off x="7567756" y="267385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Konfigurationen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567756" y="293903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Stage 2: Eingrenzung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174564" y="3231642"/>
            <a:ext cx="0" cy="36576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19D73659-1393-FB99-F24C-5E7F8114497F}"/>
              </a:ext>
            </a:extLst>
          </p:cNvPr>
          <p:cNvGrpSpPr/>
          <p:nvPr/>
        </p:nvGrpSpPr>
        <p:grpSpPr>
          <a:xfrm>
            <a:off x="6900244" y="3624834"/>
            <a:ext cx="548640" cy="548640"/>
            <a:chOff x="6900244" y="3624834"/>
            <a:chExt cx="548640" cy="548640"/>
          </a:xfrm>
        </p:grpSpPr>
        <p:sp>
          <p:nvSpPr>
            <p:cNvPr id="44" name="Shape 42"/>
            <p:cNvSpPr/>
            <p:nvPr/>
          </p:nvSpPr>
          <p:spPr>
            <a:xfrm>
              <a:off x="6900244" y="3624834"/>
              <a:ext cx="548640" cy="548640"/>
            </a:xfrm>
            <a:prstGeom prst="ellipse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5" name="Text 43"/>
            <p:cNvSpPr/>
            <p:nvPr/>
          </p:nvSpPr>
          <p:spPr>
            <a:xfrm>
              <a:off x="6900244" y="3624834"/>
              <a:ext cx="5486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</a:rPr>
                <a:t>4</a:t>
              </a:r>
              <a:endParaRPr lang="en-US" sz="1600" dirty="0"/>
            </a:p>
          </p:txBody>
        </p:sp>
      </p:grpSp>
      <p:sp>
        <p:nvSpPr>
          <p:cNvPr id="46" name="Text 44"/>
          <p:cNvSpPr/>
          <p:nvPr/>
        </p:nvSpPr>
        <p:spPr>
          <a:xfrm>
            <a:off x="7567756" y="366141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Konfigurationen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567756" y="392658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Stage 3: Finale Tests</a:t>
            </a:r>
            <a:endParaRPr lang="en-US" sz="950" dirty="0"/>
          </a:p>
        </p:txBody>
      </p:sp>
      <p:sp>
        <p:nvSpPr>
          <p:cNvPr id="54" name="Shape 20">
            <a:extLst>
              <a:ext uri="{FF2B5EF4-FFF2-40B4-BE49-F238E27FC236}">
                <a16:creationId xmlns:a16="http://schemas.microsoft.com/office/drawing/2014/main" id="{7E77DE95-D2D1-04F1-EF06-40DBF1374421}"/>
              </a:ext>
            </a:extLst>
          </p:cNvPr>
          <p:cNvSpPr/>
          <p:nvPr/>
        </p:nvSpPr>
        <p:spPr>
          <a:xfrm>
            <a:off x="365760" y="5300472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EF4444">
                <a:alpha val="3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5" name="Shape 21">
            <a:extLst>
              <a:ext uri="{FF2B5EF4-FFF2-40B4-BE49-F238E27FC236}">
                <a16:creationId xmlns:a16="http://schemas.microsoft.com/office/drawing/2014/main" id="{2C074194-5255-8124-D92C-1338405D068C}"/>
              </a:ext>
            </a:extLst>
          </p:cNvPr>
          <p:cNvSpPr/>
          <p:nvPr/>
        </p:nvSpPr>
        <p:spPr>
          <a:xfrm>
            <a:off x="475488" y="5373624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" name="Text 22">
            <a:extLst>
              <a:ext uri="{FF2B5EF4-FFF2-40B4-BE49-F238E27FC236}">
                <a16:creationId xmlns:a16="http://schemas.microsoft.com/office/drawing/2014/main" id="{F7113883-AFDB-914F-34EC-40707B0548EB}"/>
              </a:ext>
            </a:extLst>
          </p:cNvPr>
          <p:cNvSpPr/>
          <p:nvPr/>
        </p:nvSpPr>
        <p:spPr>
          <a:xfrm>
            <a:off x="475488" y="5373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57" name="Text 23">
            <a:extLst>
              <a:ext uri="{FF2B5EF4-FFF2-40B4-BE49-F238E27FC236}">
                <a16:creationId xmlns:a16="http://schemas.microsoft.com/office/drawing/2014/main" id="{D8EDF746-9B04-C938-D5D9-EDE6A9576BC2}"/>
              </a:ext>
            </a:extLst>
          </p:cNvPr>
          <p:cNvSpPr/>
          <p:nvPr/>
        </p:nvSpPr>
        <p:spPr>
          <a:xfrm>
            <a:off x="822960" y="53553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c04_aggressive</a:t>
            </a:r>
            <a:endParaRPr lang="en-US" sz="1050" dirty="0"/>
          </a:p>
        </p:txBody>
      </p:sp>
      <p:sp>
        <p:nvSpPr>
          <p:cNvPr id="58" name="Text 24">
            <a:extLst>
              <a:ext uri="{FF2B5EF4-FFF2-40B4-BE49-F238E27FC236}">
                <a16:creationId xmlns:a16="http://schemas.microsoft.com/office/drawing/2014/main" id="{FACAAEF6-0FCC-C4FB-C7DA-EF57C2CDFC97}"/>
              </a:ext>
            </a:extLst>
          </p:cNvPr>
          <p:cNvSpPr/>
          <p:nvPr/>
        </p:nvSpPr>
        <p:spPr>
          <a:xfrm>
            <a:off x="530352" y="566623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lr=0.04 → zu noisy, instabil</a:t>
            </a:r>
            <a:endParaRPr lang="en-US" sz="950" dirty="0"/>
          </a:p>
        </p:txBody>
      </p:sp>
      <p:sp>
        <p:nvSpPr>
          <p:cNvPr id="59" name="Shape 25">
            <a:extLst>
              <a:ext uri="{FF2B5EF4-FFF2-40B4-BE49-F238E27FC236}">
                <a16:creationId xmlns:a16="http://schemas.microsoft.com/office/drawing/2014/main" id="{FD15DFCB-ED2A-1D5E-26F6-C8B9E823E594}"/>
              </a:ext>
            </a:extLst>
          </p:cNvPr>
          <p:cNvSpPr/>
          <p:nvPr/>
        </p:nvSpPr>
        <p:spPr>
          <a:xfrm>
            <a:off x="3200400" y="5300472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EF4444">
                <a:alpha val="3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0" name="Shape 26">
            <a:extLst>
              <a:ext uri="{FF2B5EF4-FFF2-40B4-BE49-F238E27FC236}">
                <a16:creationId xmlns:a16="http://schemas.microsoft.com/office/drawing/2014/main" id="{4EF2DF11-68C4-FD7F-E9D0-9C3507B9AFBC}"/>
              </a:ext>
            </a:extLst>
          </p:cNvPr>
          <p:cNvSpPr/>
          <p:nvPr/>
        </p:nvSpPr>
        <p:spPr>
          <a:xfrm>
            <a:off x="3310128" y="5373624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1" name="Text 27">
            <a:extLst>
              <a:ext uri="{FF2B5EF4-FFF2-40B4-BE49-F238E27FC236}">
                <a16:creationId xmlns:a16="http://schemas.microsoft.com/office/drawing/2014/main" id="{147C1820-ADCD-FC44-68EC-BADEB85EF190}"/>
              </a:ext>
            </a:extLst>
          </p:cNvPr>
          <p:cNvSpPr/>
          <p:nvPr/>
        </p:nvSpPr>
        <p:spPr>
          <a:xfrm>
            <a:off x="3310128" y="5373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62" name="Text 28">
            <a:extLst>
              <a:ext uri="{FF2B5EF4-FFF2-40B4-BE49-F238E27FC236}">
                <a16:creationId xmlns:a16="http://schemas.microsoft.com/office/drawing/2014/main" id="{FEB00BBB-9E5E-82A8-655C-5992A193CAD9}"/>
              </a:ext>
            </a:extLst>
          </p:cNvPr>
          <p:cNvSpPr/>
          <p:nvPr/>
        </p:nvSpPr>
        <p:spPr>
          <a:xfrm>
            <a:off x="3657600" y="53553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c02_very_stable</a:t>
            </a:r>
            <a:endParaRPr lang="en-US" sz="1050" dirty="0"/>
          </a:p>
        </p:txBody>
      </p:sp>
      <p:sp>
        <p:nvSpPr>
          <p:cNvPr id="63" name="Text 29">
            <a:extLst>
              <a:ext uri="{FF2B5EF4-FFF2-40B4-BE49-F238E27FC236}">
                <a16:creationId xmlns:a16="http://schemas.microsoft.com/office/drawing/2014/main" id="{25EAAB64-954F-92F9-8C22-8A699B25062F}"/>
              </a:ext>
            </a:extLst>
          </p:cNvPr>
          <p:cNvSpPr/>
          <p:nvPr/>
        </p:nvSpPr>
        <p:spPr>
          <a:xfrm>
            <a:off x="3364992" y="566623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lr=0.0025 → zu langsam</a:t>
            </a:r>
            <a:endParaRPr lang="en-US" sz="950" dirty="0"/>
          </a:p>
        </p:txBody>
      </p:sp>
      <p:sp>
        <p:nvSpPr>
          <p:cNvPr id="64" name="Shape 30">
            <a:extLst>
              <a:ext uri="{FF2B5EF4-FFF2-40B4-BE49-F238E27FC236}">
                <a16:creationId xmlns:a16="http://schemas.microsoft.com/office/drawing/2014/main" id="{1F0B9FDA-3726-840E-FAA5-73EA3B832B3B}"/>
              </a:ext>
            </a:extLst>
          </p:cNvPr>
          <p:cNvSpPr/>
          <p:nvPr/>
        </p:nvSpPr>
        <p:spPr>
          <a:xfrm>
            <a:off x="6035040" y="5300472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EF4444">
                <a:alpha val="3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5" name="Shape 31">
            <a:extLst>
              <a:ext uri="{FF2B5EF4-FFF2-40B4-BE49-F238E27FC236}">
                <a16:creationId xmlns:a16="http://schemas.microsoft.com/office/drawing/2014/main" id="{C7118242-3809-A0BD-15F5-3524FEBC2A98}"/>
              </a:ext>
            </a:extLst>
          </p:cNvPr>
          <p:cNvSpPr/>
          <p:nvPr/>
        </p:nvSpPr>
        <p:spPr>
          <a:xfrm>
            <a:off x="6144768" y="5373624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6" name="Text 32">
            <a:extLst>
              <a:ext uri="{FF2B5EF4-FFF2-40B4-BE49-F238E27FC236}">
                <a16:creationId xmlns:a16="http://schemas.microsoft.com/office/drawing/2014/main" id="{11BDE702-2158-80A4-35AF-8E0435B0E6C2}"/>
              </a:ext>
            </a:extLst>
          </p:cNvPr>
          <p:cNvSpPr/>
          <p:nvPr/>
        </p:nvSpPr>
        <p:spPr>
          <a:xfrm>
            <a:off x="6144768" y="5373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67" name="Text 33">
            <a:extLst>
              <a:ext uri="{FF2B5EF4-FFF2-40B4-BE49-F238E27FC236}">
                <a16:creationId xmlns:a16="http://schemas.microsoft.com/office/drawing/2014/main" id="{1D17BBC0-71CE-88B1-DB06-DEABAD9328FF}"/>
              </a:ext>
            </a:extLst>
          </p:cNvPr>
          <p:cNvSpPr/>
          <p:nvPr/>
        </p:nvSpPr>
        <p:spPr>
          <a:xfrm>
            <a:off x="6492240" y="53553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c14_fast_low_eps</a:t>
            </a:r>
            <a:endParaRPr lang="en-US" sz="1050" dirty="0"/>
          </a:p>
        </p:txBody>
      </p:sp>
      <p:sp>
        <p:nvSpPr>
          <p:cNvPr id="68" name="Text 34">
            <a:extLst>
              <a:ext uri="{FF2B5EF4-FFF2-40B4-BE49-F238E27FC236}">
                <a16:creationId xmlns:a16="http://schemas.microsoft.com/office/drawing/2014/main" id="{5FAEAC8C-A38C-E253-F801-88CBF85B8340}"/>
              </a:ext>
            </a:extLst>
          </p:cNvPr>
          <p:cNvSpPr/>
          <p:nvPr/>
        </p:nvSpPr>
        <p:spPr>
          <a:xfrm>
            <a:off x="6199632" y="566623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Konvergiert zu früh, Exploration unzureichend</a:t>
            </a:r>
            <a:endParaRPr lang="en-US" sz="950" dirty="0"/>
          </a:p>
        </p:txBody>
      </p:sp>
      <p:sp>
        <p:nvSpPr>
          <p:cNvPr id="69" name="Shape 4">
            <a:extLst>
              <a:ext uri="{FF2B5EF4-FFF2-40B4-BE49-F238E27FC236}">
                <a16:creationId xmlns:a16="http://schemas.microsoft.com/office/drawing/2014/main" id="{AEF3274F-F8B6-3DDD-6B8E-3382B3F839B8}"/>
              </a:ext>
            </a:extLst>
          </p:cNvPr>
          <p:cNvSpPr/>
          <p:nvPr/>
        </p:nvSpPr>
        <p:spPr>
          <a:xfrm>
            <a:off x="365760" y="-202692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0" name="!!Test">
            <a:extLst>
              <a:ext uri="{FF2B5EF4-FFF2-40B4-BE49-F238E27FC236}">
                <a16:creationId xmlns:a16="http://schemas.microsoft.com/office/drawing/2014/main" id="{6CC8DECC-D162-ECF2-E625-B24CB6EA79A2}"/>
              </a:ext>
            </a:extLst>
          </p:cNvPr>
          <p:cNvSpPr>
            <a:spLocks/>
          </p:cNvSpPr>
          <p:nvPr/>
        </p:nvSpPr>
        <p:spPr>
          <a:xfrm>
            <a:off x="493776" y="-1917192"/>
            <a:ext cx="2350008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1" name="Text 6">
            <a:extLst>
              <a:ext uri="{FF2B5EF4-FFF2-40B4-BE49-F238E27FC236}">
                <a16:creationId xmlns:a16="http://schemas.microsoft.com/office/drawing/2014/main" id="{BAD4AC87-8044-477C-82E5-5D0C6ABDBB4F}"/>
              </a:ext>
            </a:extLst>
          </p:cNvPr>
          <p:cNvSpPr/>
          <p:nvPr/>
        </p:nvSpPr>
        <p:spPr>
          <a:xfrm>
            <a:off x="493776" y="-1917192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OPTIMAL</a:t>
            </a:r>
            <a:endParaRPr lang="en-US" sz="900" dirty="0"/>
          </a:p>
        </p:txBody>
      </p:sp>
      <p:sp>
        <p:nvSpPr>
          <p:cNvPr id="72" name="Text 7">
            <a:extLst>
              <a:ext uri="{FF2B5EF4-FFF2-40B4-BE49-F238E27FC236}">
                <a16:creationId xmlns:a16="http://schemas.microsoft.com/office/drawing/2014/main" id="{0D7F7261-3B7F-8173-44FA-A4FB6F1515D3}"/>
              </a:ext>
            </a:extLst>
          </p:cNvPr>
          <p:cNvSpPr/>
          <p:nvPr/>
        </p:nvSpPr>
        <p:spPr>
          <a:xfrm>
            <a:off x="493776" y="-149656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LR = 0.01</a:t>
            </a:r>
            <a:endParaRPr lang="en-US" sz="2200" dirty="0"/>
          </a:p>
        </p:txBody>
      </p:sp>
      <p:sp>
        <p:nvSpPr>
          <p:cNvPr id="73" name="Text 8">
            <a:extLst>
              <a:ext uri="{FF2B5EF4-FFF2-40B4-BE49-F238E27FC236}">
                <a16:creationId xmlns:a16="http://schemas.microsoft.com/office/drawing/2014/main" id="{33B275B4-0BBB-F902-CDC4-0C66DBF3C9DB}"/>
              </a:ext>
            </a:extLst>
          </p:cNvPr>
          <p:cNvSpPr/>
          <p:nvPr/>
        </p:nvSpPr>
        <p:spPr>
          <a:xfrm>
            <a:off x="493776" y="-984504"/>
            <a:ext cx="2350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LR 0.02 zu instabil, LR 0.005 zu langsam – 0.01 ist der Sweet Spot.</a:t>
            </a:r>
            <a:endParaRPr lang="en-US" sz="950" dirty="0"/>
          </a:p>
        </p:txBody>
      </p:sp>
      <p:sp>
        <p:nvSpPr>
          <p:cNvPr id="74" name="Shape 9">
            <a:extLst>
              <a:ext uri="{FF2B5EF4-FFF2-40B4-BE49-F238E27FC236}">
                <a16:creationId xmlns:a16="http://schemas.microsoft.com/office/drawing/2014/main" id="{9FA1DAB8-9523-5883-BE97-E038639E2584}"/>
              </a:ext>
            </a:extLst>
          </p:cNvPr>
          <p:cNvSpPr/>
          <p:nvPr/>
        </p:nvSpPr>
        <p:spPr>
          <a:xfrm>
            <a:off x="3200400" y="-202692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5" name="Shape 10">
            <a:extLst>
              <a:ext uri="{FF2B5EF4-FFF2-40B4-BE49-F238E27FC236}">
                <a16:creationId xmlns:a16="http://schemas.microsoft.com/office/drawing/2014/main" id="{49970275-0F60-EC75-66EB-2E467035C87A}"/>
              </a:ext>
            </a:extLst>
          </p:cNvPr>
          <p:cNvSpPr/>
          <p:nvPr/>
        </p:nvSpPr>
        <p:spPr>
          <a:xfrm>
            <a:off x="3328416" y="-1917192"/>
            <a:ext cx="2350008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6" name="Text 11">
            <a:extLst>
              <a:ext uri="{FF2B5EF4-FFF2-40B4-BE49-F238E27FC236}">
                <a16:creationId xmlns:a16="http://schemas.microsoft.com/office/drawing/2014/main" id="{1C98C4D2-3D15-ED15-ED60-8C99E5007B5F}"/>
              </a:ext>
            </a:extLst>
          </p:cNvPr>
          <p:cNvSpPr/>
          <p:nvPr/>
        </p:nvSpPr>
        <p:spPr>
          <a:xfrm>
            <a:off x="3328416" y="-1917192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BEST</a:t>
            </a:r>
            <a:endParaRPr lang="en-US" sz="900" dirty="0"/>
          </a:p>
        </p:txBody>
      </p:sp>
      <p:sp>
        <p:nvSpPr>
          <p:cNvPr id="77" name="Text 12">
            <a:extLst>
              <a:ext uri="{FF2B5EF4-FFF2-40B4-BE49-F238E27FC236}">
                <a16:creationId xmlns:a16="http://schemas.microsoft.com/office/drawing/2014/main" id="{F03692CB-BC1A-475F-AFCD-5C1F8EAA85A3}"/>
              </a:ext>
            </a:extLst>
          </p:cNvPr>
          <p:cNvSpPr/>
          <p:nvPr/>
        </p:nvSpPr>
        <p:spPr>
          <a:xfrm>
            <a:off x="3328416" y="-149656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 = 0.99</a:t>
            </a:r>
            <a:endParaRPr lang="en-US" sz="2200" dirty="0"/>
          </a:p>
        </p:txBody>
      </p:sp>
      <p:sp>
        <p:nvSpPr>
          <p:cNvPr id="78" name="Text 13">
            <a:extLst>
              <a:ext uri="{FF2B5EF4-FFF2-40B4-BE49-F238E27FC236}">
                <a16:creationId xmlns:a16="http://schemas.microsoft.com/office/drawing/2014/main" id="{99CA8099-FD36-79FB-D054-AF3B02B0B56E}"/>
              </a:ext>
            </a:extLst>
          </p:cNvPr>
          <p:cNvSpPr/>
          <p:nvPr/>
        </p:nvSpPr>
        <p:spPr>
          <a:xfrm>
            <a:off x="3328416" y="-984504"/>
            <a:ext cx="2350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Sowohl γ = 1.0 als auch γ = 0.98 lieferten schlechtere Ergebnisse.</a:t>
            </a:r>
            <a:endParaRPr lang="en-US" sz="950" dirty="0"/>
          </a:p>
        </p:txBody>
      </p:sp>
      <p:sp>
        <p:nvSpPr>
          <p:cNvPr id="79" name="Shape 14">
            <a:extLst>
              <a:ext uri="{FF2B5EF4-FFF2-40B4-BE49-F238E27FC236}">
                <a16:creationId xmlns:a16="http://schemas.microsoft.com/office/drawing/2014/main" id="{2BB2494B-0363-508F-F5EA-97E25CC9B61F}"/>
              </a:ext>
            </a:extLst>
          </p:cNvPr>
          <p:cNvSpPr/>
          <p:nvPr/>
        </p:nvSpPr>
        <p:spPr>
          <a:xfrm>
            <a:off x="6035040" y="-202692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0" name="Shape 15">
            <a:extLst>
              <a:ext uri="{FF2B5EF4-FFF2-40B4-BE49-F238E27FC236}">
                <a16:creationId xmlns:a16="http://schemas.microsoft.com/office/drawing/2014/main" id="{ECB773EF-FF95-886B-EDDB-C8AF339091B1}"/>
              </a:ext>
            </a:extLst>
          </p:cNvPr>
          <p:cNvSpPr/>
          <p:nvPr/>
        </p:nvSpPr>
        <p:spPr>
          <a:xfrm>
            <a:off x="6163056" y="-1917192"/>
            <a:ext cx="2350008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A5018999-AF24-646F-FBBC-157E1A752996}"/>
              </a:ext>
            </a:extLst>
          </p:cNvPr>
          <p:cNvSpPr/>
          <p:nvPr/>
        </p:nvSpPr>
        <p:spPr>
          <a:xfrm>
            <a:off x="6163056" y="-1917192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LANGER SCHEDULE</a:t>
            </a:r>
            <a:endParaRPr lang="en-US" sz="900" dirty="0"/>
          </a:p>
        </p:txBody>
      </p:sp>
      <p:sp>
        <p:nvSpPr>
          <p:cNvPr id="82" name="Text 17">
            <a:extLst>
              <a:ext uri="{FF2B5EF4-FFF2-40B4-BE49-F238E27FC236}">
                <a16:creationId xmlns:a16="http://schemas.microsoft.com/office/drawing/2014/main" id="{7DBC49B3-62F2-EDAD-B3DE-B2B06B124A81}"/>
              </a:ext>
            </a:extLst>
          </p:cNvPr>
          <p:cNvSpPr/>
          <p:nvPr/>
        </p:nvSpPr>
        <p:spPr>
          <a:xfrm>
            <a:off x="6163056" y="-1496568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</a:t>
            </a:r>
            <a:endParaRPr lang="en-US" sz="2200" dirty="0"/>
          </a:p>
        </p:txBody>
      </p:sp>
      <p:sp>
        <p:nvSpPr>
          <p:cNvPr id="83" name="Text 18">
            <a:extLst>
              <a:ext uri="{FF2B5EF4-FFF2-40B4-BE49-F238E27FC236}">
                <a16:creationId xmlns:a16="http://schemas.microsoft.com/office/drawing/2014/main" id="{A9D592B0-AF13-C024-2AD7-B177CF2F3689}"/>
              </a:ext>
            </a:extLst>
          </p:cNvPr>
          <p:cNvSpPr/>
          <p:nvPr/>
        </p:nvSpPr>
        <p:spPr>
          <a:xfrm>
            <a:off x="6163056" y="-984504"/>
            <a:ext cx="2350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Kurzer Schedule konvergiert zu früh – vollständige Exploration zu Beginn entscheidend.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41" grpId="0" animBg="1"/>
      <p:bldP spid="42" grpId="0" animBg="1"/>
      <p:bldP spid="43" grpId="0" animBg="1"/>
      <p:bldP spid="46" grpId="0" animBg="1"/>
      <p:bldP spid="4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548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</a:rPr>
              <a:t>SENSITIVITY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Sensitivity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!!Test"/>
          <p:cNvSpPr>
            <a:spLocks/>
          </p:cNvSpPr>
          <p:nvPr/>
        </p:nvSpPr>
        <p:spPr>
          <a:xfrm>
            <a:off x="493776" y="1207008"/>
            <a:ext cx="2350008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93776" y="1207008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OPTIMAL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3776" y="162763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LR = 0.01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3776" y="2139696"/>
            <a:ext cx="2350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LR 0.02 zu instabil, LR 0.005 zu langsam – 0.01 ist der Sweet Spot.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3328416" y="1207008"/>
            <a:ext cx="2350008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3328416" y="1207008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BEST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28416" y="162763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 = 0.99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28416" y="2139696"/>
            <a:ext cx="2350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Sowohl γ = 1.0 als auch γ = 0.98 lieferten schlechtere Ergebnisse.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097280"/>
            <a:ext cx="2606040" cy="182880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6163056" y="1207008"/>
            <a:ext cx="2350008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163056" y="1207008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LANGER SCHEDULE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63056" y="162763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63056" y="2139696"/>
            <a:ext cx="2350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Kurzer Schedule konvergiert zu früh – vollständige Exploration zu Beginn entscheidend.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312724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Abgelehnte Konfigurationen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3547872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EF4444">
                <a:alpha val="3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475488" y="3621024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475488" y="3621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36027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c04_aggressive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0352" y="391363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lr=0.04 → zu noisy, instabil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0" y="3547872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EF4444">
                <a:alpha val="3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3310128" y="3621024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3310128" y="3621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0" y="36027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c02_very_stable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64992" y="391363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lr=0.0025 → zu langsam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35040" y="3547872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EF4444">
                <a:alpha val="3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6144768" y="3621024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6144768" y="3621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36027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c14_fast_low_eps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99632" y="391363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Konvergiert zu früh, Exploration unzureichend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673441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TRAINING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Trainingsprozess &amp; Hardware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1E3A5F"/>
          </a:solidFill>
          <a:ln w="12700">
            <a:solidFill>
              <a:srgbClr val="0D9488">
                <a:alpha val="7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16002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</a:rPr>
              <a:t>ε-greedy Aktion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65960" y="1426464"/>
            <a:ext cx="5029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103120" y="109728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1E3A5F"/>
          </a:solidFill>
          <a:ln w="12700">
            <a:solidFill>
              <a:srgbClr val="F59E0B">
                <a:alpha val="7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2103120" y="1097280"/>
            <a:ext cx="16002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Umgebung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03320" y="1426464"/>
            <a:ext cx="5029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3840480" y="109728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1E3A5F"/>
          </a:solidFill>
          <a:ln w="12700">
            <a:solidFill>
              <a:srgbClr val="14B8A6">
                <a:alpha val="7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840480" y="1097280"/>
            <a:ext cx="16002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</a:rPr>
              <a:t>Bellman-Update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40680" y="1426464"/>
            <a:ext cx="5029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5577840" y="109728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1E3A5F"/>
          </a:solidFill>
          <a:ln w="12700">
            <a:solidFill>
              <a:srgbClr val="10B981">
                <a:alpha val="7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577840" y="1097280"/>
            <a:ext cx="16002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</a:rPr>
              <a:t>Q-Tabelle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178040" y="1426464"/>
            <a:ext cx="5029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7269480" y="1097280"/>
            <a:ext cx="1600200" cy="658368"/>
          </a:xfrm>
          <a:prstGeom prst="roundRect">
            <a:avLst>
              <a:gd name="adj" fmla="val 13889"/>
            </a:avLst>
          </a:prstGeom>
          <a:solidFill>
            <a:srgbClr val="1E3A5F"/>
          </a:solidFill>
          <a:ln w="12700">
            <a:solidFill>
              <a:srgbClr val="F59E0B">
                <a:alpha val="7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269480" y="1097280"/>
            <a:ext cx="16002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Epsilon-Decay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1920240"/>
            <a:ext cx="8503920" cy="256032"/>
          </a:xfrm>
          <a:prstGeom prst="roundRect">
            <a:avLst>
              <a:gd name="adj" fmla="val 28571"/>
            </a:avLst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02920" y="1920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Dieser Loop wiederholt sich für jede der 100 Millionen Episoden mit kontinuierlicher Q-Table-Aktualisierung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331720"/>
            <a:ext cx="3977640" cy="1078992"/>
          </a:xfrm>
          <a:prstGeom prst="roundRect">
            <a:avLst>
              <a:gd name="adj" fmla="val 10169"/>
            </a:avLst>
          </a:prstGeom>
          <a:solidFill>
            <a:srgbClr val="1E3A5F"/>
          </a:solidFill>
          <a:ln w="12700">
            <a:solidFill>
              <a:srgbClr val="14B8A6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57200" y="2331720"/>
            <a:ext cx="731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34440" y="24963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4B8A6"/>
                </a:solidFill>
              </a:rPr>
              <a:t>CPU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34440" y="275234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Intel® Core™ Ultra 7 155U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2331720"/>
            <a:ext cx="3977640" cy="1078992"/>
          </a:xfrm>
          <a:prstGeom prst="roundRect">
            <a:avLst>
              <a:gd name="adj" fmla="val 10169"/>
            </a:avLst>
          </a:prstGeom>
          <a:solidFill>
            <a:srgbClr val="1E3A5F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754880" y="2331720"/>
            <a:ext cx="731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32120" y="24963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</a:rPr>
              <a:t>DAUER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32120" y="275234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~12–14 Stunden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65760" y="3611880"/>
            <a:ext cx="3977640" cy="1078992"/>
          </a:xfrm>
          <a:prstGeom prst="roundRect">
            <a:avLst>
              <a:gd name="adj" fmla="val 10169"/>
            </a:avLst>
          </a:prstGeom>
          <a:solidFill>
            <a:srgbClr val="1E3A5F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457200" y="3611880"/>
            <a:ext cx="731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234440" y="37764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0B981"/>
                </a:solidFill>
              </a:rPr>
              <a:t>CHECKPOINTING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234440" y="403250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alle 5M Episoden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663440" y="3611880"/>
            <a:ext cx="3977640" cy="1078992"/>
          </a:xfrm>
          <a:prstGeom prst="roundRect">
            <a:avLst>
              <a:gd name="adj" fmla="val 10169"/>
            </a:avLst>
          </a:prstGeom>
          <a:solidFill>
            <a:srgbClr val="1E3A5F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4754880" y="3611880"/>
            <a:ext cx="731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532120" y="37764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</a:rPr>
              <a:t>EVALUATION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32120" y="403250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1M greedy Ep. / Checkpoint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</a:rPr>
              <a:t>100M EPISODES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Performance Metrics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77724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75488" y="1005840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4A3B8"/>
                </a:solidFill>
              </a:rPr>
              <a:t>METRIC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44368" y="1005840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D9488"/>
                </a:solidFill>
              </a:rPr>
              <a:t>BASELINE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73168" y="1005840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59E0B"/>
                </a:solidFill>
              </a:rPr>
              <a:t>COUNTING AGENT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01968" y="1005840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0B981"/>
                </a:solidFill>
              </a:rPr>
              <a:t>DIFF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408176"/>
            <a:ext cx="77724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75488" y="140817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Avg Reward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44368" y="140817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−0.051565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73168" y="140817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−0.049736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01968" y="1408176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</a:rPr>
              <a:t>+0.001829 ✅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1847088"/>
            <a:ext cx="77724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475488" y="184708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Win Rate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944368" y="184708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42.74%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73168" y="1847088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42.83%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01968" y="1847088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</a:rPr>
              <a:t>+0.09%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2286000"/>
            <a:ext cx="77724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475488" y="2286000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Loss Rate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944368" y="228600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47.90%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73168" y="2286000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47.80%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01968" y="2286000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</a:rPr>
              <a:t>−0.1%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2724912"/>
            <a:ext cx="77724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75488" y="2724912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Push Rate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944368" y="2724912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9.35%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73168" y="2724912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9.35%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601968" y="2724912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</a:rPr>
              <a:t>Same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5760" y="3163824"/>
            <a:ext cx="77724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475488" y="3163824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Q-States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944368" y="3163824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280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73168" y="3163824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113,744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601968" y="3163824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</a:rPr>
              <a:t>388× larger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65760" y="3602736"/>
            <a:ext cx="777240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475488" y="360273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</a:rPr>
              <a:t>Seed Stability (σ)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944368" y="360273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0.00138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773168" y="3602736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0.00052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601968" y="3602736"/>
            <a:ext cx="1536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</a:rPr>
              <a:t>Better ✅</a:t>
            </a:r>
            <a:endParaRPr lang="en-US" sz="1150" dirty="0"/>
          </a:p>
        </p:txBody>
      </p: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F51ADEB4-DC91-7688-914B-646760B46B21}"/>
              </a:ext>
            </a:extLst>
          </p:cNvPr>
          <p:cNvGrpSpPr/>
          <p:nvPr/>
        </p:nvGrpSpPr>
        <p:grpSpPr>
          <a:xfrm>
            <a:off x="365760" y="5316855"/>
            <a:ext cx="8412480" cy="804672"/>
            <a:chOff x="365760" y="4183380"/>
            <a:chExt cx="8412480" cy="804672"/>
          </a:xfrm>
        </p:grpSpPr>
        <p:sp>
          <p:nvSpPr>
            <p:cNvPr id="40" name="Shape 38"/>
            <p:cNvSpPr/>
            <p:nvPr/>
          </p:nvSpPr>
          <p:spPr>
            <a:xfrm>
              <a:off x="365760" y="4183380"/>
              <a:ext cx="8412480" cy="804672"/>
            </a:xfrm>
            <a:prstGeom prst="roundRect">
              <a:avLst>
                <a:gd name="adj" fmla="val 13636"/>
              </a:avLst>
            </a:prstGeom>
            <a:solidFill>
              <a:srgbClr val="10B981">
                <a:alpha val="12000"/>
              </a:srgbClr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1" name="Text 39"/>
            <p:cNvSpPr/>
            <p:nvPr/>
          </p:nvSpPr>
          <p:spPr>
            <a:xfrm>
              <a:off x="594360" y="4229100"/>
              <a:ext cx="795528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FFFFFF"/>
                  </a:solidFill>
                </a:rPr>
                <a:t>Counting Agent führt — stabiler über Seeds, 388× mehr State-Information. Für finale Konvergenz empfohlen: 500M+ Episoden.</a:t>
              </a:r>
              <a:endParaRPr lang="en-US" sz="105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60494E-6 L 0 -0.2129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A26F6-14FD-43E2-CC68-9AAF48E0E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6F2EFF2-D3FB-2417-D396-84512ECC5FFD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449A71F-E6F4-AEDE-9A8F-EFAE7B7CC591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7E4B88F-9EB3-C60A-CD29-FB91DB7790B9}"/>
              </a:ext>
            </a:extLst>
          </p:cNvPr>
          <p:cNvSpPr/>
          <p:nvPr/>
        </p:nvSpPr>
        <p:spPr>
          <a:xfrm>
            <a:off x="457200" y="548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FEATURE VALIDATION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376675C-410A-D2ED-2F5C-9A481B960CF9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True-Count-Bucket Analysis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2E1868E-326E-465A-CA9B-8CD6C11FE10E}"/>
              </a:ext>
            </a:extLst>
          </p:cNvPr>
          <p:cNvSpPr/>
          <p:nvPr/>
        </p:nvSpPr>
        <p:spPr>
          <a:xfrm>
            <a:off x="365760" y="1097280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F1F5F9"/>
          </a:solidFill>
          <a:ln w="12700">
            <a:solidFill>
              <a:srgbClr val="EF4444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221A2B4-314E-B72E-DCAD-EEB6DBBFC5B2}"/>
              </a:ext>
            </a:extLst>
          </p:cNvPr>
          <p:cNvSpPr/>
          <p:nvPr/>
        </p:nvSpPr>
        <p:spPr>
          <a:xfrm>
            <a:off x="502920" y="1225296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02F226B-3EE2-218F-96FA-903AAC3123E6}"/>
              </a:ext>
            </a:extLst>
          </p:cNvPr>
          <p:cNvSpPr/>
          <p:nvPr/>
        </p:nvSpPr>
        <p:spPr>
          <a:xfrm>
            <a:off x="502920" y="12252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TC &lt; −1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E896CC7-1C65-4A67-BF9C-758FB832CFA0}"/>
              </a:ext>
            </a:extLst>
          </p:cNvPr>
          <p:cNvSpPr/>
          <p:nvPr/>
        </p:nvSpPr>
        <p:spPr>
          <a:xfrm>
            <a:off x="502920" y="16093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Dealer-Vorteil</a:t>
            </a:r>
            <a:endParaRPr lang="en-US" sz="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246FC68-B387-4E50-670B-76B269C9C061}"/>
              </a:ext>
            </a:extLst>
          </p:cNvPr>
          <p:cNvSpPr/>
          <p:nvPr/>
        </p:nvSpPr>
        <p:spPr>
          <a:xfrm>
            <a:off x="2377440" y="12070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Avg Reward</a:t>
            </a: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95F4557-09D3-BF33-AD24-AB6D0F4A4FCF}"/>
              </a:ext>
            </a:extLst>
          </p:cNvPr>
          <p:cNvSpPr/>
          <p:nvPr/>
        </p:nvSpPr>
        <p:spPr>
          <a:xfrm>
            <a:off x="2377440" y="14447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</a:rPr>
              <a:t>−0.08</a:t>
            </a:r>
            <a:endParaRPr lang="en-US" sz="2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154EAAF-396B-7A5A-EAD3-3AA1E9962B19}"/>
              </a:ext>
            </a:extLst>
          </p:cNvPr>
          <p:cNvSpPr/>
          <p:nvPr/>
        </p:nvSpPr>
        <p:spPr>
          <a:xfrm>
            <a:off x="3886200" y="12070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Win Rate</a:t>
            </a:r>
            <a:endParaRPr lang="en-US" sz="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00E76A9-C38A-16E0-BD5B-F6BC318BB013}"/>
              </a:ext>
            </a:extLst>
          </p:cNvPr>
          <p:cNvSpPr/>
          <p:nvPr/>
        </p:nvSpPr>
        <p:spPr>
          <a:xfrm>
            <a:off x="3886200" y="14447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</a:rPr>
              <a:t>38%</a:t>
            </a:r>
            <a:endParaRPr lang="en-US" sz="2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40FF2C1-C8B5-58AC-8E8A-ACA6F089AF34}"/>
              </a:ext>
            </a:extLst>
          </p:cNvPr>
          <p:cNvSpPr/>
          <p:nvPr/>
        </p:nvSpPr>
        <p:spPr>
          <a:xfrm>
            <a:off x="5120640" y="1508760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1EBA13A-3597-31A3-FCD9-D442ED4A6147}"/>
              </a:ext>
            </a:extLst>
          </p:cNvPr>
          <p:cNvSpPr/>
          <p:nvPr/>
        </p:nvSpPr>
        <p:spPr>
          <a:xfrm>
            <a:off x="5120640" y="17830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Konservative Strategie · Implizites Surrender</a:t>
            </a:r>
            <a:endParaRPr lang="en-US" sz="9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05B53C6-4C3F-AE21-F744-CBFB559EE77F}"/>
              </a:ext>
            </a:extLst>
          </p:cNvPr>
          <p:cNvSpPr/>
          <p:nvPr/>
        </p:nvSpPr>
        <p:spPr>
          <a:xfrm>
            <a:off x="365760" y="2377440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F1F5F9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00BA520-9094-2BA1-0C50-55C8562F015E}"/>
              </a:ext>
            </a:extLst>
          </p:cNvPr>
          <p:cNvSpPr/>
          <p:nvPr/>
        </p:nvSpPr>
        <p:spPr>
          <a:xfrm>
            <a:off x="502920" y="2505456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3367B08-EC69-E477-169A-8DD05F9D167C}"/>
              </a:ext>
            </a:extLst>
          </p:cNvPr>
          <p:cNvSpPr/>
          <p:nvPr/>
        </p:nvSpPr>
        <p:spPr>
          <a:xfrm>
            <a:off x="502920" y="250545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TC neutral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769BAD9-03F7-94E5-05D4-2E34BEACC8B9}"/>
              </a:ext>
            </a:extLst>
          </p:cNvPr>
          <p:cNvSpPr/>
          <p:nvPr/>
        </p:nvSpPr>
        <p:spPr>
          <a:xfrm>
            <a:off x="502920" y="28895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Ausgeglichen</a:t>
            </a:r>
            <a:endParaRPr lang="en-US" sz="9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99202C3-6F4D-9FDF-BB1D-49C6EC18E4CE}"/>
              </a:ext>
            </a:extLst>
          </p:cNvPr>
          <p:cNvSpPr/>
          <p:nvPr/>
        </p:nvSpPr>
        <p:spPr>
          <a:xfrm>
            <a:off x="2377440" y="24871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Avg Reward</a:t>
            </a:r>
            <a:endParaRPr lang="en-US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B42B8D4-BBD6-2481-E1E8-5FA6C71D7C43}"/>
              </a:ext>
            </a:extLst>
          </p:cNvPr>
          <p:cNvSpPr/>
          <p:nvPr/>
        </p:nvSpPr>
        <p:spPr>
          <a:xfrm>
            <a:off x="2377440" y="27249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−0.05</a:t>
            </a:r>
            <a:endParaRPr lang="en-US" sz="2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0540965-B618-AC72-1C80-309E4626C2E1}"/>
              </a:ext>
            </a:extLst>
          </p:cNvPr>
          <p:cNvSpPr/>
          <p:nvPr/>
        </p:nvSpPr>
        <p:spPr>
          <a:xfrm>
            <a:off x="3886200" y="24871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Win Rate</a:t>
            </a:r>
            <a:endParaRPr lang="en-US" sz="9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8A2F207-0098-9677-7DB5-9CE5CC3A7B13}"/>
              </a:ext>
            </a:extLst>
          </p:cNvPr>
          <p:cNvSpPr/>
          <p:nvPr/>
        </p:nvSpPr>
        <p:spPr>
          <a:xfrm>
            <a:off x="3886200" y="27249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43%</a:t>
            </a:r>
            <a:endParaRPr lang="en-US" sz="2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23C3F575-4FD8-04FC-F5D7-8647F8DBD291}"/>
              </a:ext>
            </a:extLst>
          </p:cNvPr>
          <p:cNvSpPr/>
          <p:nvPr/>
        </p:nvSpPr>
        <p:spPr>
          <a:xfrm>
            <a:off x="5120640" y="2788920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53EAFF9-85B1-A763-A62A-96247BB2047D}"/>
              </a:ext>
            </a:extLst>
          </p:cNvPr>
          <p:cNvSpPr/>
          <p:nvPr/>
        </p:nvSpPr>
        <p:spPr>
          <a:xfrm>
            <a:off x="5120640" y="30632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Standardstrategie, nah an Basic Strategy</a:t>
            </a:r>
            <a:endParaRPr lang="en-US" sz="9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8103A91-5A83-D984-493A-3F1DBACC8A5A}"/>
              </a:ext>
            </a:extLst>
          </p:cNvPr>
          <p:cNvSpPr/>
          <p:nvPr/>
        </p:nvSpPr>
        <p:spPr>
          <a:xfrm>
            <a:off x="365760" y="3657600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F1F5F9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B9D9E2A-69D5-BACF-B53C-313977176288}"/>
              </a:ext>
            </a:extLst>
          </p:cNvPr>
          <p:cNvSpPr/>
          <p:nvPr/>
        </p:nvSpPr>
        <p:spPr>
          <a:xfrm>
            <a:off x="502920" y="3785616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10B981"/>
              </a:solidFill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0FA94680-4EE0-5856-0320-231620484A75}"/>
              </a:ext>
            </a:extLst>
          </p:cNvPr>
          <p:cNvSpPr/>
          <p:nvPr/>
        </p:nvSpPr>
        <p:spPr>
          <a:xfrm>
            <a:off x="502920" y="378561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TC ≥ +1</a:t>
            </a:r>
            <a:endParaRPr lang="en-US" sz="11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857B0C9-D3F0-AE1A-930F-92CCDB22C86E}"/>
              </a:ext>
            </a:extLst>
          </p:cNvPr>
          <p:cNvSpPr/>
          <p:nvPr/>
        </p:nvSpPr>
        <p:spPr>
          <a:xfrm>
            <a:off x="502920" y="5322189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Spieler-Vorteil</a:t>
            </a:r>
            <a:endParaRPr lang="en-US" sz="9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1D8F698A-648A-9800-18BB-74A35CCD5F8C}"/>
              </a:ext>
            </a:extLst>
          </p:cNvPr>
          <p:cNvSpPr/>
          <p:nvPr/>
        </p:nvSpPr>
        <p:spPr>
          <a:xfrm>
            <a:off x="2377440" y="37673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Avg Reward</a:t>
            </a:r>
            <a:endParaRPr lang="en-US" sz="9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CE41B2F-B1EC-A8B8-F540-F21805B4F9FA}"/>
              </a:ext>
            </a:extLst>
          </p:cNvPr>
          <p:cNvSpPr/>
          <p:nvPr/>
        </p:nvSpPr>
        <p:spPr>
          <a:xfrm>
            <a:off x="2377440" y="5157597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−0.02</a:t>
            </a:r>
            <a:endParaRPr lang="en-US" sz="20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26F25303-4E6C-9D6B-D47E-7F45A07988D4}"/>
              </a:ext>
            </a:extLst>
          </p:cNvPr>
          <p:cNvSpPr/>
          <p:nvPr/>
        </p:nvSpPr>
        <p:spPr>
          <a:xfrm>
            <a:off x="3886200" y="37673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Win Rate</a:t>
            </a:r>
            <a:endParaRPr lang="en-US" sz="9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E3BECBC4-D222-4201-D700-8C1D08497C7B}"/>
              </a:ext>
            </a:extLst>
          </p:cNvPr>
          <p:cNvSpPr/>
          <p:nvPr/>
        </p:nvSpPr>
        <p:spPr>
          <a:xfrm>
            <a:off x="3886200" y="5157597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46%</a:t>
            </a:r>
            <a:endParaRPr lang="en-US" sz="20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82649CD7-4E51-8B2D-6299-FBF208DAFF4D}"/>
              </a:ext>
            </a:extLst>
          </p:cNvPr>
          <p:cNvSpPr/>
          <p:nvPr/>
        </p:nvSpPr>
        <p:spPr>
          <a:xfrm>
            <a:off x="5120640" y="5221605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1FE98CD1-4C4F-1451-1DD8-E2DEC8F0107E}"/>
              </a:ext>
            </a:extLst>
          </p:cNvPr>
          <p:cNvSpPr/>
          <p:nvPr/>
        </p:nvSpPr>
        <p:spPr>
          <a:xfrm>
            <a:off x="5120640" y="5221605"/>
            <a:ext cx="300380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9869D371-CAFF-3383-D9BF-EC0FC6E115C9}"/>
              </a:ext>
            </a:extLst>
          </p:cNvPr>
          <p:cNvSpPr/>
          <p:nvPr/>
        </p:nvSpPr>
        <p:spPr>
          <a:xfrm>
            <a:off x="5120640" y="5495925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Aggressive Hits · Mathematisch korrekt</a:t>
            </a:r>
            <a:endParaRPr lang="en-US" sz="9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493E2A1D-5FB8-0109-FC62-8ED9EF3B8348}"/>
              </a:ext>
            </a:extLst>
          </p:cNvPr>
          <p:cNvSpPr/>
          <p:nvPr/>
        </p:nvSpPr>
        <p:spPr>
          <a:xfrm>
            <a:off x="365760" y="5221605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458D80D2-2221-2F91-0933-FB88FD39F3AD}"/>
              </a:ext>
            </a:extLst>
          </p:cNvPr>
          <p:cNvSpPr/>
          <p:nvPr/>
        </p:nvSpPr>
        <p:spPr>
          <a:xfrm>
            <a:off x="594360" y="5303901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✅ Kartenzählung funktioniert nachweisbar:</a:t>
            </a:r>
            <a:endParaRPr lang="en-US" sz="11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47848AAD-FAAC-C869-3EAB-B4201C24A302}"/>
              </a:ext>
            </a:extLst>
          </p:cNvPr>
          <p:cNvSpPr/>
          <p:nvPr/>
        </p:nvSpPr>
        <p:spPr>
          <a:xfrm>
            <a:off x="594360" y="5559933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Der Counting Agent trifft bessere Entscheidungen bei hohem TC und verhält sich konservativer bei niedrigem TC.</a:t>
            </a:r>
            <a:endParaRPr lang="en-US" sz="1000" dirty="0"/>
          </a:p>
        </p:txBody>
      </p:sp>
      <p:sp>
        <p:nvSpPr>
          <p:cNvPr id="42" name="Text 22">
            <a:extLst>
              <a:ext uri="{FF2B5EF4-FFF2-40B4-BE49-F238E27FC236}">
                <a16:creationId xmlns:a16="http://schemas.microsoft.com/office/drawing/2014/main" id="{77A7E0D9-CE79-30FF-F995-5274D70F6D54}"/>
              </a:ext>
            </a:extLst>
          </p:cNvPr>
          <p:cNvSpPr/>
          <p:nvPr/>
        </p:nvSpPr>
        <p:spPr>
          <a:xfrm>
            <a:off x="3886200" y="39959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46%</a:t>
            </a:r>
            <a:endParaRPr lang="en-US" sz="2000" dirty="0">
              <a:solidFill>
                <a:srgbClr val="10B981"/>
              </a:solidFill>
            </a:endParaRPr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CCD09FEF-6DDB-0FFE-6C26-4435B43B4A16}"/>
              </a:ext>
            </a:extLst>
          </p:cNvPr>
          <p:cNvSpPr/>
          <p:nvPr/>
        </p:nvSpPr>
        <p:spPr>
          <a:xfrm>
            <a:off x="2377440" y="3985641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−0.02</a:t>
            </a:r>
            <a:endParaRPr lang="en-US" sz="2000" dirty="0">
              <a:solidFill>
                <a:srgbClr val="10B981"/>
              </a:solidFill>
            </a:endParaRPr>
          </a:p>
        </p:txBody>
      </p:sp>
      <p:sp>
        <p:nvSpPr>
          <p:cNvPr id="44" name="Shape 23">
            <a:extLst>
              <a:ext uri="{FF2B5EF4-FFF2-40B4-BE49-F238E27FC236}">
                <a16:creationId xmlns:a16="http://schemas.microsoft.com/office/drawing/2014/main" id="{247ADEC9-C714-A116-53E0-30CB49B8CF8F}"/>
              </a:ext>
            </a:extLst>
          </p:cNvPr>
          <p:cNvSpPr/>
          <p:nvPr/>
        </p:nvSpPr>
        <p:spPr>
          <a:xfrm>
            <a:off x="5120640" y="3983736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25">
            <a:extLst>
              <a:ext uri="{FF2B5EF4-FFF2-40B4-BE49-F238E27FC236}">
                <a16:creationId xmlns:a16="http://schemas.microsoft.com/office/drawing/2014/main" id="{71B9DC01-9717-28E6-A561-F319EC6FBFDB}"/>
              </a:ext>
            </a:extLst>
          </p:cNvPr>
          <p:cNvSpPr/>
          <p:nvPr/>
        </p:nvSpPr>
        <p:spPr>
          <a:xfrm>
            <a:off x="5120640" y="43205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Aggressive </a:t>
            </a:r>
            <a:r>
              <a:rPr lang="en-US" sz="900" dirty="0" err="1">
                <a:solidFill>
                  <a:srgbClr val="64748B"/>
                </a:solidFill>
              </a:rPr>
              <a:t>Strategie</a:t>
            </a:r>
            <a:r>
              <a:rPr lang="en-US" sz="900" dirty="0">
                <a:solidFill>
                  <a:srgbClr val="64748B"/>
                </a:solidFill>
              </a:rPr>
              <a:t>, </a:t>
            </a:r>
            <a:r>
              <a:rPr lang="en-US" sz="900" dirty="0" err="1">
                <a:solidFill>
                  <a:srgbClr val="64748B"/>
                </a:solidFill>
              </a:rPr>
              <a:t>Optimale</a:t>
            </a:r>
            <a:r>
              <a:rPr lang="en-US" sz="900" dirty="0">
                <a:solidFill>
                  <a:srgbClr val="64748B"/>
                </a:solidFill>
              </a:rPr>
              <a:t> </a:t>
            </a:r>
            <a:r>
              <a:rPr lang="en-US" sz="900" dirty="0" err="1">
                <a:solidFill>
                  <a:srgbClr val="64748B"/>
                </a:solidFill>
              </a:rPr>
              <a:t>Blackjackentscheidungen</a:t>
            </a:r>
            <a:endParaRPr lang="en-US" sz="90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D3507EF6-418B-A01E-842B-234986E728C4}"/>
              </a:ext>
            </a:extLst>
          </p:cNvPr>
          <p:cNvSpPr/>
          <p:nvPr/>
        </p:nvSpPr>
        <p:spPr>
          <a:xfrm>
            <a:off x="502920" y="42047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Spieler-</a:t>
            </a:r>
            <a:r>
              <a:rPr lang="en-US" sz="900" dirty="0" err="1">
                <a:solidFill>
                  <a:srgbClr val="64748B"/>
                </a:solidFill>
              </a:rPr>
              <a:t>Vorteil</a:t>
            </a:r>
            <a:endParaRPr lang="en-US" sz="900" dirty="0"/>
          </a:p>
        </p:txBody>
      </p:sp>
      <p:sp>
        <p:nvSpPr>
          <p:cNvPr id="48" name="Shape 13">
            <a:extLst>
              <a:ext uri="{FF2B5EF4-FFF2-40B4-BE49-F238E27FC236}">
                <a16:creationId xmlns:a16="http://schemas.microsoft.com/office/drawing/2014/main" id="{ED91D57A-E81A-29A4-E96D-66E105E779DF}"/>
              </a:ext>
            </a:extLst>
          </p:cNvPr>
          <p:cNvSpPr/>
          <p:nvPr/>
        </p:nvSpPr>
        <p:spPr>
          <a:xfrm>
            <a:off x="5120640" y="1502410"/>
            <a:ext cx="1335024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Shape 24">
            <a:extLst>
              <a:ext uri="{FF2B5EF4-FFF2-40B4-BE49-F238E27FC236}">
                <a16:creationId xmlns:a16="http://schemas.microsoft.com/office/drawing/2014/main" id="{D7E8A361-AB3F-07B2-A983-FC1FE786F686}"/>
              </a:ext>
            </a:extLst>
          </p:cNvPr>
          <p:cNvSpPr/>
          <p:nvPr/>
        </p:nvSpPr>
        <p:spPr>
          <a:xfrm>
            <a:off x="5120640" y="2792095"/>
            <a:ext cx="152146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Shape 24">
            <a:extLst>
              <a:ext uri="{FF2B5EF4-FFF2-40B4-BE49-F238E27FC236}">
                <a16:creationId xmlns:a16="http://schemas.microsoft.com/office/drawing/2014/main" id="{9BF48160-D930-7563-A3C0-D47DA6BD4140}"/>
              </a:ext>
            </a:extLst>
          </p:cNvPr>
          <p:cNvSpPr/>
          <p:nvPr/>
        </p:nvSpPr>
        <p:spPr>
          <a:xfrm>
            <a:off x="5120640" y="3984942"/>
            <a:ext cx="1737360" cy="19996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703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13B92-8B70-DE68-ACB6-D76DF226D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8263899-B1BA-148D-16E6-C1BBC72569FC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35F811D-DAC8-9177-F471-2096840ADB91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167370C-D62E-AFA9-0718-5226545EDE71}"/>
              </a:ext>
            </a:extLst>
          </p:cNvPr>
          <p:cNvSpPr/>
          <p:nvPr/>
        </p:nvSpPr>
        <p:spPr>
          <a:xfrm>
            <a:off x="457200" y="548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FEATURE VALIDATION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7D7E73-4049-3D76-016A-D7283BBEFCF2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True-Count-Bucket Analysis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C149777-B0D9-9619-4B4B-A8EBA0B6D632}"/>
              </a:ext>
            </a:extLst>
          </p:cNvPr>
          <p:cNvSpPr/>
          <p:nvPr/>
        </p:nvSpPr>
        <p:spPr>
          <a:xfrm>
            <a:off x="365760" y="1097280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F1F5F9"/>
          </a:solidFill>
          <a:ln w="12700">
            <a:solidFill>
              <a:srgbClr val="EF4444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D735FB1-944C-4DF6-0019-EE8E86255B45}"/>
              </a:ext>
            </a:extLst>
          </p:cNvPr>
          <p:cNvSpPr/>
          <p:nvPr/>
        </p:nvSpPr>
        <p:spPr>
          <a:xfrm>
            <a:off x="502920" y="1225296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B4C3B40-1D81-8733-98C8-634CD55207C7}"/>
              </a:ext>
            </a:extLst>
          </p:cNvPr>
          <p:cNvSpPr/>
          <p:nvPr/>
        </p:nvSpPr>
        <p:spPr>
          <a:xfrm>
            <a:off x="502920" y="12252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TC &lt; −1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752FEDE-0C61-F023-F025-AEC9529D90B2}"/>
              </a:ext>
            </a:extLst>
          </p:cNvPr>
          <p:cNvSpPr/>
          <p:nvPr/>
        </p:nvSpPr>
        <p:spPr>
          <a:xfrm>
            <a:off x="502920" y="16093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Dealer-Vorteil</a:t>
            </a:r>
            <a:endParaRPr lang="en-US" sz="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6692CF4-A2AD-0414-5B1B-8DB8B0BB7EED}"/>
              </a:ext>
            </a:extLst>
          </p:cNvPr>
          <p:cNvSpPr/>
          <p:nvPr/>
        </p:nvSpPr>
        <p:spPr>
          <a:xfrm>
            <a:off x="2377440" y="12070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Avg Reward</a:t>
            </a: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B791CCF-7F29-6C8C-1512-9310D60B982D}"/>
              </a:ext>
            </a:extLst>
          </p:cNvPr>
          <p:cNvSpPr/>
          <p:nvPr/>
        </p:nvSpPr>
        <p:spPr>
          <a:xfrm>
            <a:off x="2377440" y="14447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</a:rPr>
              <a:t>−0.08</a:t>
            </a:r>
            <a:endParaRPr lang="en-US" sz="2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F305F1A-8DD1-235E-F167-1A3FC927670C}"/>
              </a:ext>
            </a:extLst>
          </p:cNvPr>
          <p:cNvSpPr/>
          <p:nvPr/>
        </p:nvSpPr>
        <p:spPr>
          <a:xfrm>
            <a:off x="3886200" y="12070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Win Rate</a:t>
            </a:r>
            <a:endParaRPr lang="en-US" sz="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D84FF7D-60B6-0FED-3816-FC7E8DD5370F}"/>
              </a:ext>
            </a:extLst>
          </p:cNvPr>
          <p:cNvSpPr/>
          <p:nvPr/>
        </p:nvSpPr>
        <p:spPr>
          <a:xfrm>
            <a:off x="3886200" y="14447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</a:rPr>
              <a:t>38%</a:t>
            </a:r>
            <a:endParaRPr lang="en-US" sz="2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C2EC4DC-91F8-79FE-0A69-7B6E678A0486}"/>
              </a:ext>
            </a:extLst>
          </p:cNvPr>
          <p:cNvSpPr/>
          <p:nvPr/>
        </p:nvSpPr>
        <p:spPr>
          <a:xfrm>
            <a:off x="5120640" y="1508760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267CC06-1B16-BC60-AA95-88D76F91ECAD}"/>
              </a:ext>
            </a:extLst>
          </p:cNvPr>
          <p:cNvSpPr/>
          <p:nvPr/>
        </p:nvSpPr>
        <p:spPr>
          <a:xfrm>
            <a:off x="5120640" y="17830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Konservative Strategie · Implizites Surrender</a:t>
            </a:r>
            <a:endParaRPr lang="en-US" sz="9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110AA45-991E-6347-6795-F8308BB0AE25}"/>
              </a:ext>
            </a:extLst>
          </p:cNvPr>
          <p:cNvSpPr/>
          <p:nvPr/>
        </p:nvSpPr>
        <p:spPr>
          <a:xfrm>
            <a:off x="365760" y="5394960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F1F5F9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98EF841-44AB-D630-B197-4887DB8AD62F}"/>
              </a:ext>
            </a:extLst>
          </p:cNvPr>
          <p:cNvSpPr/>
          <p:nvPr/>
        </p:nvSpPr>
        <p:spPr>
          <a:xfrm>
            <a:off x="502920" y="5522976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2D218FD-E949-B708-3840-80CDCED2E809}"/>
              </a:ext>
            </a:extLst>
          </p:cNvPr>
          <p:cNvSpPr/>
          <p:nvPr/>
        </p:nvSpPr>
        <p:spPr>
          <a:xfrm>
            <a:off x="502920" y="552297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TC neutral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0956A7D-0AB5-98BB-4108-D6CCD6D835E0}"/>
              </a:ext>
            </a:extLst>
          </p:cNvPr>
          <p:cNvSpPr/>
          <p:nvPr/>
        </p:nvSpPr>
        <p:spPr>
          <a:xfrm>
            <a:off x="502920" y="59070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Ausgeglichen</a:t>
            </a:r>
            <a:endParaRPr lang="en-US" sz="9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5FAB23D-C20E-AE0A-C7AF-A178EB795F26}"/>
              </a:ext>
            </a:extLst>
          </p:cNvPr>
          <p:cNvSpPr/>
          <p:nvPr/>
        </p:nvSpPr>
        <p:spPr>
          <a:xfrm>
            <a:off x="2377440" y="55046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Avg Reward</a:t>
            </a:r>
            <a:endParaRPr lang="en-US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5B968AB-4655-E45E-C9D3-F7E4681023C1}"/>
              </a:ext>
            </a:extLst>
          </p:cNvPr>
          <p:cNvSpPr/>
          <p:nvPr/>
        </p:nvSpPr>
        <p:spPr>
          <a:xfrm>
            <a:off x="2377440" y="57424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−0.05</a:t>
            </a:r>
            <a:endParaRPr lang="en-US" sz="2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18A1247-32B5-ED24-C825-B442066A508D}"/>
              </a:ext>
            </a:extLst>
          </p:cNvPr>
          <p:cNvSpPr/>
          <p:nvPr/>
        </p:nvSpPr>
        <p:spPr>
          <a:xfrm>
            <a:off x="3886200" y="55046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Win Rate</a:t>
            </a:r>
            <a:endParaRPr lang="en-US" sz="9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7EB57B0-C0BA-8477-BAC3-B3C04B09208F}"/>
              </a:ext>
            </a:extLst>
          </p:cNvPr>
          <p:cNvSpPr/>
          <p:nvPr/>
        </p:nvSpPr>
        <p:spPr>
          <a:xfrm>
            <a:off x="3886200" y="57424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43%</a:t>
            </a:r>
            <a:endParaRPr lang="en-US" sz="2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E35ACE7-0C97-86C5-04E7-C5A41DC854AA}"/>
              </a:ext>
            </a:extLst>
          </p:cNvPr>
          <p:cNvSpPr/>
          <p:nvPr/>
        </p:nvSpPr>
        <p:spPr>
          <a:xfrm>
            <a:off x="5120640" y="5806440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492ADE4-7646-B3AD-8C26-FDCFD5DACDC6}"/>
              </a:ext>
            </a:extLst>
          </p:cNvPr>
          <p:cNvSpPr/>
          <p:nvPr/>
        </p:nvSpPr>
        <p:spPr>
          <a:xfrm>
            <a:off x="5120640" y="60807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Standardstrategie, nah an Basic Strategy</a:t>
            </a:r>
            <a:endParaRPr lang="en-US" sz="9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165D10DD-E88C-29B7-C698-83C85757F973}"/>
              </a:ext>
            </a:extLst>
          </p:cNvPr>
          <p:cNvSpPr/>
          <p:nvPr/>
        </p:nvSpPr>
        <p:spPr>
          <a:xfrm>
            <a:off x="365760" y="6675120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F1F5F9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67D5A689-3F80-1CB6-1F42-58FCCF2DCB76}"/>
              </a:ext>
            </a:extLst>
          </p:cNvPr>
          <p:cNvSpPr/>
          <p:nvPr/>
        </p:nvSpPr>
        <p:spPr>
          <a:xfrm>
            <a:off x="502920" y="6803136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10B981"/>
              </a:solidFill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E586C2B7-9206-D417-EA3A-4200076E6D28}"/>
              </a:ext>
            </a:extLst>
          </p:cNvPr>
          <p:cNvSpPr/>
          <p:nvPr/>
        </p:nvSpPr>
        <p:spPr>
          <a:xfrm>
            <a:off x="502920" y="68031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TC ≥ +1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510E8889-AC4B-ADDF-9948-55FD5BE716FF}"/>
              </a:ext>
            </a:extLst>
          </p:cNvPr>
          <p:cNvSpPr/>
          <p:nvPr/>
        </p:nvSpPr>
        <p:spPr>
          <a:xfrm>
            <a:off x="2377440" y="67848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Avg Reward</a:t>
            </a:r>
            <a:endParaRPr lang="en-US" sz="9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7B5DA80-1600-384B-5B31-5D3A71BE82AC}"/>
              </a:ext>
            </a:extLst>
          </p:cNvPr>
          <p:cNvSpPr/>
          <p:nvPr/>
        </p:nvSpPr>
        <p:spPr>
          <a:xfrm>
            <a:off x="3886200" y="67848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Win Rate</a:t>
            </a:r>
            <a:endParaRPr lang="en-US" sz="900" dirty="0"/>
          </a:p>
        </p:txBody>
      </p:sp>
      <p:sp>
        <p:nvSpPr>
          <p:cNvPr id="42" name="Text 22">
            <a:extLst>
              <a:ext uri="{FF2B5EF4-FFF2-40B4-BE49-F238E27FC236}">
                <a16:creationId xmlns:a16="http://schemas.microsoft.com/office/drawing/2014/main" id="{D7D6A13F-D505-E4FE-1679-D68196FCE8E1}"/>
              </a:ext>
            </a:extLst>
          </p:cNvPr>
          <p:cNvSpPr/>
          <p:nvPr/>
        </p:nvSpPr>
        <p:spPr>
          <a:xfrm>
            <a:off x="3886200" y="70134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46%</a:t>
            </a:r>
            <a:endParaRPr lang="en-US" sz="2000" dirty="0">
              <a:solidFill>
                <a:srgbClr val="10B981"/>
              </a:solidFill>
            </a:endParaRPr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BC2C155B-92A5-A60A-2EF7-C4B0BE07F926}"/>
              </a:ext>
            </a:extLst>
          </p:cNvPr>
          <p:cNvSpPr/>
          <p:nvPr/>
        </p:nvSpPr>
        <p:spPr>
          <a:xfrm>
            <a:off x="2377440" y="7003161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−0.02</a:t>
            </a:r>
            <a:endParaRPr lang="en-US" sz="2000" dirty="0">
              <a:solidFill>
                <a:srgbClr val="10B981"/>
              </a:solidFill>
            </a:endParaRPr>
          </a:p>
        </p:txBody>
      </p:sp>
      <p:sp>
        <p:nvSpPr>
          <p:cNvPr id="44" name="Shape 23">
            <a:extLst>
              <a:ext uri="{FF2B5EF4-FFF2-40B4-BE49-F238E27FC236}">
                <a16:creationId xmlns:a16="http://schemas.microsoft.com/office/drawing/2014/main" id="{B34AB5C9-576C-27CF-AF0F-B734EED53DD7}"/>
              </a:ext>
            </a:extLst>
          </p:cNvPr>
          <p:cNvSpPr/>
          <p:nvPr/>
        </p:nvSpPr>
        <p:spPr>
          <a:xfrm>
            <a:off x="5120640" y="7001256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25">
            <a:extLst>
              <a:ext uri="{FF2B5EF4-FFF2-40B4-BE49-F238E27FC236}">
                <a16:creationId xmlns:a16="http://schemas.microsoft.com/office/drawing/2014/main" id="{14CBF1C9-3294-3FFD-B9BB-3CA702332E97}"/>
              </a:ext>
            </a:extLst>
          </p:cNvPr>
          <p:cNvSpPr/>
          <p:nvPr/>
        </p:nvSpPr>
        <p:spPr>
          <a:xfrm>
            <a:off x="5120640" y="73380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Aggressive </a:t>
            </a:r>
            <a:r>
              <a:rPr lang="en-US" sz="900" dirty="0" err="1">
                <a:solidFill>
                  <a:srgbClr val="64748B"/>
                </a:solidFill>
              </a:rPr>
              <a:t>Strategie</a:t>
            </a:r>
            <a:r>
              <a:rPr lang="en-US" sz="900" dirty="0">
                <a:solidFill>
                  <a:srgbClr val="64748B"/>
                </a:solidFill>
              </a:rPr>
              <a:t>, </a:t>
            </a:r>
            <a:r>
              <a:rPr lang="en-US" sz="900" dirty="0" err="1">
                <a:solidFill>
                  <a:srgbClr val="64748B"/>
                </a:solidFill>
              </a:rPr>
              <a:t>Optimale</a:t>
            </a:r>
            <a:r>
              <a:rPr lang="en-US" sz="900" dirty="0">
                <a:solidFill>
                  <a:srgbClr val="64748B"/>
                </a:solidFill>
              </a:rPr>
              <a:t> </a:t>
            </a:r>
            <a:r>
              <a:rPr lang="en-US" sz="900" dirty="0" err="1">
                <a:solidFill>
                  <a:srgbClr val="64748B"/>
                </a:solidFill>
              </a:rPr>
              <a:t>Blackjackentscheidungen</a:t>
            </a:r>
            <a:endParaRPr lang="en-US" sz="90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4093C48B-F9BA-4E5A-C907-4405C8CFEC82}"/>
              </a:ext>
            </a:extLst>
          </p:cNvPr>
          <p:cNvSpPr/>
          <p:nvPr/>
        </p:nvSpPr>
        <p:spPr>
          <a:xfrm>
            <a:off x="502920" y="72222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Spieler-</a:t>
            </a:r>
            <a:r>
              <a:rPr lang="en-US" sz="900" dirty="0" err="1">
                <a:solidFill>
                  <a:srgbClr val="64748B"/>
                </a:solidFill>
              </a:rPr>
              <a:t>Vorteil</a:t>
            </a:r>
            <a:endParaRPr lang="en-US" sz="900" dirty="0"/>
          </a:p>
        </p:txBody>
      </p:sp>
      <p:sp>
        <p:nvSpPr>
          <p:cNvPr id="48" name="Shape 13">
            <a:extLst>
              <a:ext uri="{FF2B5EF4-FFF2-40B4-BE49-F238E27FC236}">
                <a16:creationId xmlns:a16="http://schemas.microsoft.com/office/drawing/2014/main" id="{0CC2FEBD-0E70-CFC1-2151-25A5E74F8306}"/>
              </a:ext>
            </a:extLst>
          </p:cNvPr>
          <p:cNvSpPr/>
          <p:nvPr/>
        </p:nvSpPr>
        <p:spPr>
          <a:xfrm>
            <a:off x="5120640" y="1502410"/>
            <a:ext cx="1335024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Shape 24">
            <a:extLst>
              <a:ext uri="{FF2B5EF4-FFF2-40B4-BE49-F238E27FC236}">
                <a16:creationId xmlns:a16="http://schemas.microsoft.com/office/drawing/2014/main" id="{386E9FB7-FBC4-B424-09E0-B1E53ED7CA39}"/>
              </a:ext>
            </a:extLst>
          </p:cNvPr>
          <p:cNvSpPr/>
          <p:nvPr/>
        </p:nvSpPr>
        <p:spPr>
          <a:xfrm>
            <a:off x="5120640" y="5809615"/>
            <a:ext cx="152146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Shape 24">
            <a:extLst>
              <a:ext uri="{FF2B5EF4-FFF2-40B4-BE49-F238E27FC236}">
                <a16:creationId xmlns:a16="http://schemas.microsoft.com/office/drawing/2014/main" id="{7DBE8BED-3FC5-CDB9-7643-CE30AB36F629}"/>
              </a:ext>
            </a:extLst>
          </p:cNvPr>
          <p:cNvSpPr/>
          <p:nvPr/>
        </p:nvSpPr>
        <p:spPr>
          <a:xfrm>
            <a:off x="5120640" y="7002462"/>
            <a:ext cx="1737360" cy="19996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4C872828-D18B-CF3D-CD6C-DC43ADABA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30" y="2462022"/>
            <a:ext cx="2987462" cy="2240280"/>
          </a:xfrm>
          <a:prstGeom prst="rect">
            <a:avLst/>
          </a:prstGeom>
        </p:spPr>
      </p:pic>
      <p:pic>
        <p:nvPicPr>
          <p:cNvPr id="51" name="Grafik 50">
            <a:extLst>
              <a:ext uri="{FF2B5EF4-FFF2-40B4-BE49-F238E27FC236}">
                <a16:creationId xmlns:a16="http://schemas.microsoft.com/office/drawing/2014/main" id="{EADA4957-5B19-1B64-33DB-E52963356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6492" y="2470133"/>
            <a:ext cx="2989179" cy="2241568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574DDBF5-0746-39E1-10D1-45EADB6E94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5293" y="2481072"/>
            <a:ext cx="2963603" cy="221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95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F8A90-90FB-414E-F96D-877AC4A7C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AD15860-0F68-B5D1-CCC2-3E6CE0F4F24D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4F00E50-A24F-1812-E230-10B8BC0D1E0A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3C32905-A3CA-F4F0-79CC-C48A4919C8DA}"/>
              </a:ext>
            </a:extLst>
          </p:cNvPr>
          <p:cNvSpPr/>
          <p:nvPr/>
        </p:nvSpPr>
        <p:spPr>
          <a:xfrm>
            <a:off x="457200" y="548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FEATURE VALIDATION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291FDC1-1A09-F1E5-A9ED-DC6ACD1F02B9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True-Count-Bucket Analysis</a:t>
            </a:r>
            <a:endParaRPr lang="en-US" sz="26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994C7CB-318C-DBFD-C459-B38515854057}"/>
              </a:ext>
            </a:extLst>
          </p:cNvPr>
          <p:cNvSpPr/>
          <p:nvPr/>
        </p:nvSpPr>
        <p:spPr>
          <a:xfrm>
            <a:off x="365760" y="5394960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F1F5F9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22D0F80-7F71-1403-38D4-C17AD9B7F0EE}"/>
              </a:ext>
            </a:extLst>
          </p:cNvPr>
          <p:cNvSpPr/>
          <p:nvPr/>
        </p:nvSpPr>
        <p:spPr>
          <a:xfrm>
            <a:off x="502920" y="5522976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0EAE043-F2B8-2404-8EC8-1AD22385AAAF}"/>
              </a:ext>
            </a:extLst>
          </p:cNvPr>
          <p:cNvSpPr/>
          <p:nvPr/>
        </p:nvSpPr>
        <p:spPr>
          <a:xfrm>
            <a:off x="502920" y="552297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TC neutral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85D2E51-85E1-6312-B751-6267D2D126A1}"/>
              </a:ext>
            </a:extLst>
          </p:cNvPr>
          <p:cNvSpPr/>
          <p:nvPr/>
        </p:nvSpPr>
        <p:spPr>
          <a:xfrm>
            <a:off x="502920" y="59070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Ausgeglichen</a:t>
            </a:r>
            <a:endParaRPr lang="en-US" sz="9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5879724-EFD1-9586-DE67-9D9FD83BA396}"/>
              </a:ext>
            </a:extLst>
          </p:cNvPr>
          <p:cNvSpPr/>
          <p:nvPr/>
        </p:nvSpPr>
        <p:spPr>
          <a:xfrm>
            <a:off x="2377440" y="55046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Avg Reward</a:t>
            </a:r>
            <a:endParaRPr lang="en-US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8006E6E-3405-85D2-DE98-4C27A9D61670}"/>
              </a:ext>
            </a:extLst>
          </p:cNvPr>
          <p:cNvSpPr/>
          <p:nvPr/>
        </p:nvSpPr>
        <p:spPr>
          <a:xfrm>
            <a:off x="2377440" y="57424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−0.05</a:t>
            </a:r>
            <a:endParaRPr lang="en-US" sz="2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DE3CC5A-2888-4B15-F58A-A4AD81E7AED5}"/>
              </a:ext>
            </a:extLst>
          </p:cNvPr>
          <p:cNvSpPr/>
          <p:nvPr/>
        </p:nvSpPr>
        <p:spPr>
          <a:xfrm>
            <a:off x="3886200" y="55046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Win Rate</a:t>
            </a:r>
            <a:endParaRPr lang="en-US" sz="9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0F7FD3A-0EB9-9387-EA02-7E4C282FD1E7}"/>
              </a:ext>
            </a:extLst>
          </p:cNvPr>
          <p:cNvSpPr/>
          <p:nvPr/>
        </p:nvSpPr>
        <p:spPr>
          <a:xfrm>
            <a:off x="3886200" y="57424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43%</a:t>
            </a:r>
            <a:endParaRPr lang="en-US" sz="2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E49CD5B-7A77-A55A-F35B-213086DD5BFC}"/>
              </a:ext>
            </a:extLst>
          </p:cNvPr>
          <p:cNvSpPr/>
          <p:nvPr/>
        </p:nvSpPr>
        <p:spPr>
          <a:xfrm>
            <a:off x="5120640" y="5806440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6238344-D22D-755A-1F92-73C2CB988535}"/>
              </a:ext>
            </a:extLst>
          </p:cNvPr>
          <p:cNvSpPr/>
          <p:nvPr/>
        </p:nvSpPr>
        <p:spPr>
          <a:xfrm>
            <a:off x="5120640" y="60807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Standardstrategie, nah an Basic Strategy</a:t>
            </a:r>
            <a:endParaRPr lang="en-US" sz="9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0BCCE8CC-0225-36ED-D6F8-D2C62406B7D6}"/>
              </a:ext>
            </a:extLst>
          </p:cNvPr>
          <p:cNvSpPr/>
          <p:nvPr/>
        </p:nvSpPr>
        <p:spPr>
          <a:xfrm>
            <a:off x="365760" y="6675120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F1F5F9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B800BF2-9AFA-732A-59E6-EE9179407D23}"/>
              </a:ext>
            </a:extLst>
          </p:cNvPr>
          <p:cNvSpPr/>
          <p:nvPr/>
        </p:nvSpPr>
        <p:spPr>
          <a:xfrm>
            <a:off x="502920" y="6803136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10B981"/>
              </a:solidFill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6F3111A2-6762-C6D4-8B86-A2AD4C0442A4}"/>
              </a:ext>
            </a:extLst>
          </p:cNvPr>
          <p:cNvSpPr/>
          <p:nvPr/>
        </p:nvSpPr>
        <p:spPr>
          <a:xfrm>
            <a:off x="502920" y="68031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TC ≥ +1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05C4D65-7DCC-46EB-B055-AC0661EE0E75}"/>
              </a:ext>
            </a:extLst>
          </p:cNvPr>
          <p:cNvSpPr/>
          <p:nvPr/>
        </p:nvSpPr>
        <p:spPr>
          <a:xfrm>
            <a:off x="2377440" y="67848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Avg Reward</a:t>
            </a:r>
            <a:endParaRPr lang="en-US" sz="9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D014A3B-3BE4-554D-CFBF-E15BA30D51F0}"/>
              </a:ext>
            </a:extLst>
          </p:cNvPr>
          <p:cNvSpPr/>
          <p:nvPr/>
        </p:nvSpPr>
        <p:spPr>
          <a:xfrm>
            <a:off x="3886200" y="67848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Win Rate</a:t>
            </a:r>
            <a:endParaRPr lang="en-US" sz="900" dirty="0"/>
          </a:p>
        </p:txBody>
      </p:sp>
      <p:sp>
        <p:nvSpPr>
          <p:cNvPr id="42" name="Text 22">
            <a:extLst>
              <a:ext uri="{FF2B5EF4-FFF2-40B4-BE49-F238E27FC236}">
                <a16:creationId xmlns:a16="http://schemas.microsoft.com/office/drawing/2014/main" id="{2E0FFCE0-0F9E-F2C2-2BC9-9A370031DC45}"/>
              </a:ext>
            </a:extLst>
          </p:cNvPr>
          <p:cNvSpPr/>
          <p:nvPr/>
        </p:nvSpPr>
        <p:spPr>
          <a:xfrm>
            <a:off x="3886200" y="70134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46%</a:t>
            </a:r>
            <a:endParaRPr lang="en-US" sz="2000" dirty="0">
              <a:solidFill>
                <a:srgbClr val="10B981"/>
              </a:solidFill>
            </a:endParaRPr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04A3E716-F31F-CE31-7CEC-B6A6D5485E30}"/>
              </a:ext>
            </a:extLst>
          </p:cNvPr>
          <p:cNvSpPr/>
          <p:nvPr/>
        </p:nvSpPr>
        <p:spPr>
          <a:xfrm>
            <a:off x="2377440" y="7003161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−0.02</a:t>
            </a:r>
            <a:endParaRPr lang="en-US" sz="2000" dirty="0">
              <a:solidFill>
                <a:srgbClr val="10B981"/>
              </a:solidFill>
            </a:endParaRPr>
          </a:p>
        </p:txBody>
      </p:sp>
      <p:sp>
        <p:nvSpPr>
          <p:cNvPr id="44" name="Shape 23">
            <a:extLst>
              <a:ext uri="{FF2B5EF4-FFF2-40B4-BE49-F238E27FC236}">
                <a16:creationId xmlns:a16="http://schemas.microsoft.com/office/drawing/2014/main" id="{7F289233-5D18-8F6B-96F0-0A627BAC52B2}"/>
              </a:ext>
            </a:extLst>
          </p:cNvPr>
          <p:cNvSpPr/>
          <p:nvPr/>
        </p:nvSpPr>
        <p:spPr>
          <a:xfrm>
            <a:off x="5120640" y="7001256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25">
            <a:extLst>
              <a:ext uri="{FF2B5EF4-FFF2-40B4-BE49-F238E27FC236}">
                <a16:creationId xmlns:a16="http://schemas.microsoft.com/office/drawing/2014/main" id="{5F04C539-F02E-9581-4F8F-742C7A82472A}"/>
              </a:ext>
            </a:extLst>
          </p:cNvPr>
          <p:cNvSpPr/>
          <p:nvPr/>
        </p:nvSpPr>
        <p:spPr>
          <a:xfrm>
            <a:off x="5120640" y="73380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Aggressive </a:t>
            </a:r>
            <a:r>
              <a:rPr lang="en-US" sz="900" dirty="0" err="1">
                <a:solidFill>
                  <a:srgbClr val="64748B"/>
                </a:solidFill>
              </a:rPr>
              <a:t>Strategie</a:t>
            </a:r>
            <a:r>
              <a:rPr lang="en-US" sz="900" dirty="0">
                <a:solidFill>
                  <a:srgbClr val="64748B"/>
                </a:solidFill>
              </a:rPr>
              <a:t>, </a:t>
            </a:r>
            <a:r>
              <a:rPr lang="en-US" sz="900" dirty="0" err="1">
                <a:solidFill>
                  <a:srgbClr val="64748B"/>
                </a:solidFill>
              </a:rPr>
              <a:t>Optimale</a:t>
            </a:r>
            <a:r>
              <a:rPr lang="en-US" sz="900" dirty="0">
                <a:solidFill>
                  <a:srgbClr val="64748B"/>
                </a:solidFill>
              </a:rPr>
              <a:t> </a:t>
            </a:r>
            <a:r>
              <a:rPr lang="en-US" sz="900" dirty="0" err="1">
                <a:solidFill>
                  <a:srgbClr val="64748B"/>
                </a:solidFill>
              </a:rPr>
              <a:t>Blackjackentscheidungen</a:t>
            </a:r>
            <a:endParaRPr lang="en-US" sz="90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7F29C90A-89AB-732A-0EFE-3876FA80DEF0}"/>
              </a:ext>
            </a:extLst>
          </p:cNvPr>
          <p:cNvSpPr/>
          <p:nvPr/>
        </p:nvSpPr>
        <p:spPr>
          <a:xfrm>
            <a:off x="502920" y="72222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Spieler-</a:t>
            </a:r>
            <a:r>
              <a:rPr lang="en-US" sz="900" dirty="0" err="1">
                <a:solidFill>
                  <a:srgbClr val="64748B"/>
                </a:solidFill>
              </a:rPr>
              <a:t>Vorteil</a:t>
            </a:r>
            <a:endParaRPr lang="en-US" sz="900" dirty="0"/>
          </a:p>
        </p:txBody>
      </p:sp>
      <p:sp>
        <p:nvSpPr>
          <p:cNvPr id="49" name="Shape 24">
            <a:extLst>
              <a:ext uri="{FF2B5EF4-FFF2-40B4-BE49-F238E27FC236}">
                <a16:creationId xmlns:a16="http://schemas.microsoft.com/office/drawing/2014/main" id="{6C4DA9C1-22B7-32F0-FC11-ED7A30574B97}"/>
              </a:ext>
            </a:extLst>
          </p:cNvPr>
          <p:cNvSpPr/>
          <p:nvPr/>
        </p:nvSpPr>
        <p:spPr>
          <a:xfrm>
            <a:off x="5120640" y="5809615"/>
            <a:ext cx="152146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Shape 24">
            <a:extLst>
              <a:ext uri="{FF2B5EF4-FFF2-40B4-BE49-F238E27FC236}">
                <a16:creationId xmlns:a16="http://schemas.microsoft.com/office/drawing/2014/main" id="{5A6AF8FB-13E8-1CAD-76C9-EF32DCADCD69}"/>
              </a:ext>
            </a:extLst>
          </p:cNvPr>
          <p:cNvSpPr/>
          <p:nvPr/>
        </p:nvSpPr>
        <p:spPr>
          <a:xfrm>
            <a:off x="5120640" y="7002462"/>
            <a:ext cx="1737360" cy="19996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A2B74486-AA63-6975-0E28-975C6468BA5E}"/>
              </a:ext>
            </a:extLst>
          </p:cNvPr>
          <p:cNvSpPr/>
          <p:nvPr/>
        </p:nvSpPr>
        <p:spPr>
          <a:xfrm>
            <a:off x="358936" y="1108191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F1F5F9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6F9FD1BE-439B-0016-3FD5-FEFA60FA39A8}"/>
              </a:ext>
            </a:extLst>
          </p:cNvPr>
          <p:cNvSpPr/>
          <p:nvPr/>
        </p:nvSpPr>
        <p:spPr>
          <a:xfrm>
            <a:off x="496096" y="1236207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758087FC-3A69-42F6-1EE0-978783C32729}"/>
              </a:ext>
            </a:extLst>
          </p:cNvPr>
          <p:cNvSpPr/>
          <p:nvPr/>
        </p:nvSpPr>
        <p:spPr>
          <a:xfrm>
            <a:off x="496096" y="1236207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TC neutral</a:t>
            </a:r>
            <a:endParaRPr lang="en-US" sz="1100" dirty="0"/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60F30038-40B7-459F-E70A-35700F32A673}"/>
              </a:ext>
            </a:extLst>
          </p:cNvPr>
          <p:cNvSpPr/>
          <p:nvPr/>
        </p:nvSpPr>
        <p:spPr>
          <a:xfrm>
            <a:off x="496096" y="1620255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Ausgeglichen</a:t>
            </a:r>
            <a:endParaRPr lang="en-US" sz="900" dirty="0"/>
          </a:p>
        </p:txBody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64939844-841A-632C-DF05-C785C3F1A10C}"/>
              </a:ext>
            </a:extLst>
          </p:cNvPr>
          <p:cNvSpPr/>
          <p:nvPr/>
        </p:nvSpPr>
        <p:spPr>
          <a:xfrm>
            <a:off x="2370616" y="1217919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Avg Reward</a:t>
            </a:r>
            <a:endParaRPr lang="en-US" sz="900" dirty="0"/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66DB8FB7-3335-23FE-07AC-97AB11699D38}"/>
              </a:ext>
            </a:extLst>
          </p:cNvPr>
          <p:cNvSpPr/>
          <p:nvPr/>
        </p:nvSpPr>
        <p:spPr>
          <a:xfrm>
            <a:off x="2370616" y="1455663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−0.05</a:t>
            </a:r>
            <a:endParaRPr lang="en-US" sz="2000" dirty="0"/>
          </a:p>
        </p:txBody>
      </p:sp>
      <p:sp>
        <p:nvSpPr>
          <p:cNvPr id="38" name="Text 21">
            <a:extLst>
              <a:ext uri="{FF2B5EF4-FFF2-40B4-BE49-F238E27FC236}">
                <a16:creationId xmlns:a16="http://schemas.microsoft.com/office/drawing/2014/main" id="{82509C4C-9FE4-4562-69C3-74E22A9D7E33}"/>
              </a:ext>
            </a:extLst>
          </p:cNvPr>
          <p:cNvSpPr/>
          <p:nvPr/>
        </p:nvSpPr>
        <p:spPr>
          <a:xfrm>
            <a:off x="3879376" y="1217919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Win Rate</a:t>
            </a:r>
            <a:endParaRPr lang="en-US" sz="900" dirty="0"/>
          </a:p>
        </p:txBody>
      </p:sp>
      <p:sp>
        <p:nvSpPr>
          <p:cNvPr id="39" name="Text 22">
            <a:extLst>
              <a:ext uri="{FF2B5EF4-FFF2-40B4-BE49-F238E27FC236}">
                <a16:creationId xmlns:a16="http://schemas.microsoft.com/office/drawing/2014/main" id="{9BE99065-2368-5E97-42F0-56E1D671659F}"/>
              </a:ext>
            </a:extLst>
          </p:cNvPr>
          <p:cNvSpPr/>
          <p:nvPr/>
        </p:nvSpPr>
        <p:spPr>
          <a:xfrm>
            <a:off x="3879376" y="1455663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43%</a:t>
            </a:r>
            <a:endParaRPr lang="en-US" sz="2000" dirty="0"/>
          </a:p>
        </p:txBody>
      </p:sp>
      <p:sp>
        <p:nvSpPr>
          <p:cNvPr id="40" name="Shape 23">
            <a:extLst>
              <a:ext uri="{FF2B5EF4-FFF2-40B4-BE49-F238E27FC236}">
                <a16:creationId xmlns:a16="http://schemas.microsoft.com/office/drawing/2014/main" id="{F3F246FF-C8A1-6F5F-5C16-BD0845AADEED}"/>
              </a:ext>
            </a:extLst>
          </p:cNvPr>
          <p:cNvSpPr/>
          <p:nvPr/>
        </p:nvSpPr>
        <p:spPr>
          <a:xfrm>
            <a:off x="5113816" y="1519671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25">
            <a:extLst>
              <a:ext uri="{FF2B5EF4-FFF2-40B4-BE49-F238E27FC236}">
                <a16:creationId xmlns:a16="http://schemas.microsoft.com/office/drawing/2014/main" id="{258860B4-F848-0F9C-EFFF-E57F131AE232}"/>
              </a:ext>
            </a:extLst>
          </p:cNvPr>
          <p:cNvSpPr/>
          <p:nvPr/>
        </p:nvSpPr>
        <p:spPr>
          <a:xfrm>
            <a:off x="5113816" y="1793991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Standardstrategie, nah an Basic Strategy</a:t>
            </a:r>
            <a:endParaRPr lang="en-US" sz="900" dirty="0"/>
          </a:p>
        </p:txBody>
      </p:sp>
      <p:sp>
        <p:nvSpPr>
          <p:cNvPr id="45" name="Shape 24">
            <a:extLst>
              <a:ext uri="{FF2B5EF4-FFF2-40B4-BE49-F238E27FC236}">
                <a16:creationId xmlns:a16="http://schemas.microsoft.com/office/drawing/2014/main" id="{96D9E805-73F5-EF01-C138-522683A5EEDC}"/>
              </a:ext>
            </a:extLst>
          </p:cNvPr>
          <p:cNvSpPr/>
          <p:nvPr/>
        </p:nvSpPr>
        <p:spPr>
          <a:xfrm>
            <a:off x="5113816" y="1522846"/>
            <a:ext cx="152146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54" name="Grafik 53">
            <a:extLst>
              <a:ext uri="{FF2B5EF4-FFF2-40B4-BE49-F238E27FC236}">
                <a16:creationId xmlns:a16="http://schemas.microsoft.com/office/drawing/2014/main" id="{D9ABDA75-412A-DBE2-6E0F-3346A4AB7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848" y="2518445"/>
            <a:ext cx="2916655" cy="2187182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FB2606A7-E2C8-B41A-2416-EF736038A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3510" y="2459208"/>
            <a:ext cx="3074642" cy="230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896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1E732-9D57-968C-85F8-7065BE48C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D4F937E-C83B-05E0-0AA5-DFACCE0E7FC3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8259F5C-BD3E-1382-D29A-2E0DBF187A62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BA2CF2C-2A66-C23B-CAC7-5FFF93E101B2}"/>
              </a:ext>
            </a:extLst>
          </p:cNvPr>
          <p:cNvSpPr/>
          <p:nvPr/>
        </p:nvSpPr>
        <p:spPr>
          <a:xfrm>
            <a:off x="457200" y="548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FEATURE VALIDATION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5C7E1A9-6996-1160-A092-93F6CDB7918E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True-Count-Bucket Analysis</a:t>
            </a:r>
            <a:endParaRPr lang="en-US" sz="26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5FCD7C5-700E-6787-A2A6-22E94BCE4F06}"/>
              </a:ext>
            </a:extLst>
          </p:cNvPr>
          <p:cNvSpPr/>
          <p:nvPr/>
        </p:nvSpPr>
        <p:spPr>
          <a:xfrm>
            <a:off x="365760" y="5394960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F1F5F9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FE1E87C-E78B-47C1-8AF8-682F335F44BA}"/>
              </a:ext>
            </a:extLst>
          </p:cNvPr>
          <p:cNvSpPr/>
          <p:nvPr/>
        </p:nvSpPr>
        <p:spPr>
          <a:xfrm>
            <a:off x="502920" y="5522976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5D53C2B-AAC0-3239-2A3D-5159D0753B67}"/>
              </a:ext>
            </a:extLst>
          </p:cNvPr>
          <p:cNvSpPr/>
          <p:nvPr/>
        </p:nvSpPr>
        <p:spPr>
          <a:xfrm>
            <a:off x="502920" y="552297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TC neutral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B1AADD4-5846-2B94-31AF-50E6A2F9F8F9}"/>
              </a:ext>
            </a:extLst>
          </p:cNvPr>
          <p:cNvSpPr/>
          <p:nvPr/>
        </p:nvSpPr>
        <p:spPr>
          <a:xfrm>
            <a:off x="502920" y="59070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Ausgeglichen</a:t>
            </a:r>
            <a:endParaRPr lang="en-US" sz="9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2245C32-03CB-5145-FFB0-B610DDB9952C}"/>
              </a:ext>
            </a:extLst>
          </p:cNvPr>
          <p:cNvSpPr/>
          <p:nvPr/>
        </p:nvSpPr>
        <p:spPr>
          <a:xfrm>
            <a:off x="2377440" y="55046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Avg Reward</a:t>
            </a:r>
            <a:endParaRPr lang="en-US" sz="9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5FA5694-30CF-CDA3-C2AF-12354A6176D1}"/>
              </a:ext>
            </a:extLst>
          </p:cNvPr>
          <p:cNvSpPr/>
          <p:nvPr/>
        </p:nvSpPr>
        <p:spPr>
          <a:xfrm>
            <a:off x="2377440" y="57424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−0.05</a:t>
            </a:r>
            <a:endParaRPr lang="en-US" sz="2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7BAD17F-576A-A7A8-774D-B97DEAA9EAE5}"/>
              </a:ext>
            </a:extLst>
          </p:cNvPr>
          <p:cNvSpPr/>
          <p:nvPr/>
        </p:nvSpPr>
        <p:spPr>
          <a:xfrm>
            <a:off x="3886200" y="55046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Win Rate</a:t>
            </a:r>
            <a:endParaRPr lang="en-US" sz="9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2565788-FB87-73FB-0E3B-77CDA5B0E51D}"/>
              </a:ext>
            </a:extLst>
          </p:cNvPr>
          <p:cNvSpPr/>
          <p:nvPr/>
        </p:nvSpPr>
        <p:spPr>
          <a:xfrm>
            <a:off x="3886200" y="57424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43%</a:t>
            </a:r>
            <a:endParaRPr lang="en-US" sz="2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E1BC233-BA3C-16C1-4CCF-A74A37A77C26}"/>
              </a:ext>
            </a:extLst>
          </p:cNvPr>
          <p:cNvSpPr/>
          <p:nvPr/>
        </p:nvSpPr>
        <p:spPr>
          <a:xfrm>
            <a:off x="5120640" y="5806440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CC3146A-7715-DD64-0E4B-829EC0559518}"/>
              </a:ext>
            </a:extLst>
          </p:cNvPr>
          <p:cNvSpPr/>
          <p:nvPr/>
        </p:nvSpPr>
        <p:spPr>
          <a:xfrm>
            <a:off x="5120640" y="60807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Standardstrategie, nah an Basic Strategy</a:t>
            </a:r>
            <a:endParaRPr lang="en-US" sz="9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2A69B6C-D333-7E8D-6729-A997AF01FC64}"/>
              </a:ext>
            </a:extLst>
          </p:cNvPr>
          <p:cNvSpPr/>
          <p:nvPr/>
        </p:nvSpPr>
        <p:spPr>
          <a:xfrm>
            <a:off x="365760" y="6675120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F1F5F9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03329587-2F88-2D14-6C36-CB29AFFE9EBB}"/>
              </a:ext>
            </a:extLst>
          </p:cNvPr>
          <p:cNvSpPr/>
          <p:nvPr/>
        </p:nvSpPr>
        <p:spPr>
          <a:xfrm>
            <a:off x="502920" y="6803136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10B981"/>
              </a:solidFill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E27C455-86F8-BB15-F890-B197BDC0420D}"/>
              </a:ext>
            </a:extLst>
          </p:cNvPr>
          <p:cNvSpPr/>
          <p:nvPr/>
        </p:nvSpPr>
        <p:spPr>
          <a:xfrm>
            <a:off x="502920" y="68031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TC ≥ +1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09FC230-75F3-6504-6E2E-9317A4A2D484}"/>
              </a:ext>
            </a:extLst>
          </p:cNvPr>
          <p:cNvSpPr/>
          <p:nvPr/>
        </p:nvSpPr>
        <p:spPr>
          <a:xfrm>
            <a:off x="2377440" y="67848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Avg Reward</a:t>
            </a:r>
            <a:endParaRPr lang="en-US" sz="9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9B7F8222-2200-9635-7B55-5DA388E533AA}"/>
              </a:ext>
            </a:extLst>
          </p:cNvPr>
          <p:cNvSpPr/>
          <p:nvPr/>
        </p:nvSpPr>
        <p:spPr>
          <a:xfrm>
            <a:off x="3886200" y="67848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Win Rate</a:t>
            </a:r>
            <a:endParaRPr lang="en-US" sz="900" dirty="0"/>
          </a:p>
        </p:txBody>
      </p:sp>
      <p:sp>
        <p:nvSpPr>
          <p:cNvPr id="42" name="Text 22">
            <a:extLst>
              <a:ext uri="{FF2B5EF4-FFF2-40B4-BE49-F238E27FC236}">
                <a16:creationId xmlns:a16="http://schemas.microsoft.com/office/drawing/2014/main" id="{D7D19830-6B4B-D2A1-415A-0B0DE43A4E3B}"/>
              </a:ext>
            </a:extLst>
          </p:cNvPr>
          <p:cNvSpPr/>
          <p:nvPr/>
        </p:nvSpPr>
        <p:spPr>
          <a:xfrm>
            <a:off x="3886200" y="70134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46%</a:t>
            </a:r>
            <a:endParaRPr lang="en-US" sz="2000" dirty="0">
              <a:solidFill>
                <a:srgbClr val="10B981"/>
              </a:solidFill>
            </a:endParaRPr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20955125-B849-460F-6572-A5FE1B01C4E1}"/>
              </a:ext>
            </a:extLst>
          </p:cNvPr>
          <p:cNvSpPr/>
          <p:nvPr/>
        </p:nvSpPr>
        <p:spPr>
          <a:xfrm>
            <a:off x="2377440" y="7003161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−0.02</a:t>
            </a:r>
            <a:endParaRPr lang="en-US" sz="2000" dirty="0">
              <a:solidFill>
                <a:srgbClr val="10B981"/>
              </a:solidFill>
            </a:endParaRPr>
          </a:p>
        </p:txBody>
      </p:sp>
      <p:sp>
        <p:nvSpPr>
          <p:cNvPr id="44" name="Shape 23">
            <a:extLst>
              <a:ext uri="{FF2B5EF4-FFF2-40B4-BE49-F238E27FC236}">
                <a16:creationId xmlns:a16="http://schemas.microsoft.com/office/drawing/2014/main" id="{3673FF2D-C57A-F2BC-67AA-C931B5349E4B}"/>
              </a:ext>
            </a:extLst>
          </p:cNvPr>
          <p:cNvSpPr/>
          <p:nvPr/>
        </p:nvSpPr>
        <p:spPr>
          <a:xfrm>
            <a:off x="5120640" y="7001256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Text 25">
            <a:extLst>
              <a:ext uri="{FF2B5EF4-FFF2-40B4-BE49-F238E27FC236}">
                <a16:creationId xmlns:a16="http://schemas.microsoft.com/office/drawing/2014/main" id="{A983CBEC-D986-44CE-19E3-28BAD7F94D1E}"/>
              </a:ext>
            </a:extLst>
          </p:cNvPr>
          <p:cNvSpPr/>
          <p:nvPr/>
        </p:nvSpPr>
        <p:spPr>
          <a:xfrm>
            <a:off x="5120640" y="73380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Aggressive </a:t>
            </a:r>
            <a:r>
              <a:rPr lang="en-US" sz="900" dirty="0" err="1">
                <a:solidFill>
                  <a:srgbClr val="64748B"/>
                </a:solidFill>
              </a:rPr>
              <a:t>Strategie</a:t>
            </a:r>
            <a:r>
              <a:rPr lang="en-US" sz="900" dirty="0">
                <a:solidFill>
                  <a:srgbClr val="64748B"/>
                </a:solidFill>
              </a:rPr>
              <a:t>, </a:t>
            </a:r>
            <a:r>
              <a:rPr lang="en-US" sz="900" dirty="0" err="1">
                <a:solidFill>
                  <a:srgbClr val="64748B"/>
                </a:solidFill>
              </a:rPr>
              <a:t>Optimale</a:t>
            </a:r>
            <a:r>
              <a:rPr lang="en-US" sz="900" dirty="0">
                <a:solidFill>
                  <a:srgbClr val="64748B"/>
                </a:solidFill>
              </a:rPr>
              <a:t> </a:t>
            </a:r>
            <a:r>
              <a:rPr lang="en-US" sz="900" dirty="0" err="1">
                <a:solidFill>
                  <a:srgbClr val="64748B"/>
                </a:solidFill>
              </a:rPr>
              <a:t>Blackjackentscheidungen</a:t>
            </a:r>
            <a:endParaRPr lang="en-US" sz="90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99ED1E9B-7652-65A9-422D-A60101A05650}"/>
              </a:ext>
            </a:extLst>
          </p:cNvPr>
          <p:cNvSpPr/>
          <p:nvPr/>
        </p:nvSpPr>
        <p:spPr>
          <a:xfrm>
            <a:off x="502920" y="72222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Spieler-</a:t>
            </a:r>
            <a:r>
              <a:rPr lang="en-US" sz="900" dirty="0" err="1">
                <a:solidFill>
                  <a:srgbClr val="64748B"/>
                </a:solidFill>
              </a:rPr>
              <a:t>Vorteil</a:t>
            </a:r>
            <a:endParaRPr lang="en-US" sz="900" dirty="0"/>
          </a:p>
        </p:txBody>
      </p:sp>
      <p:sp>
        <p:nvSpPr>
          <p:cNvPr id="49" name="Shape 24">
            <a:extLst>
              <a:ext uri="{FF2B5EF4-FFF2-40B4-BE49-F238E27FC236}">
                <a16:creationId xmlns:a16="http://schemas.microsoft.com/office/drawing/2014/main" id="{1692A131-5F21-00F7-3137-11CC8620D8C2}"/>
              </a:ext>
            </a:extLst>
          </p:cNvPr>
          <p:cNvSpPr/>
          <p:nvPr/>
        </p:nvSpPr>
        <p:spPr>
          <a:xfrm>
            <a:off x="5120640" y="5809615"/>
            <a:ext cx="152146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Shape 24">
            <a:extLst>
              <a:ext uri="{FF2B5EF4-FFF2-40B4-BE49-F238E27FC236}">
                <a16:creationId xmlns:a16="http://schemas.microsoft.com/office/drawing/2014/main" id="{958749B5-6F1F-5C04-F1B5-CBE2B717D83F}"/>
              </a:ext>
            </a:extLst>
          </p:cNvPr>
          <p:cNvSpPr/>
          <p:nvPr/>
        </p:nvSpPr>
        <p:spPr>
          <a:xfrm>
            <a:off x="5120640" y="7002462"/>
            <a:ext cx="1737360" cy="19996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26">
            <a:extLst>
              <a:ext uri="{FF2B5EF4-FFF2-40B4-BE49-F238E27FC236}">
                <a16:creationId xmlns:a16="http://schemas.microsoft.com/office/drawing/2014/main" id="{6E22AAC7-082F-BC58-C195-682180CF4C23}"/>
              </a:ext>
            </a:extLst>
          </p:cNvPr>
          <p:cNvSpPr/>
          <p:nvPr/>
        </p:nvSpPr>
        <p:spPr>
          <a:xfrm>
            <a:off x="358936" y="1119110"/>
            <a:ext cx="8412480" cy="1078992"/>
          </a:xfrm>
          <a:prstGeom prst="roundRect">
            <a:avLst>
              <a:gd name="adj" fmla="val 10169"/>
            </a:avLst>
          </a:prstGeom>
          <a:solidFill>
            <a:srgbClr val="F1F5F9"/>
          </a:solidFill>
          <a:ln w="12700">
            <a:solidFill>
              <a:srgbClr val="10B981">
                <a:alpha val="50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7" name="Shape 27">
            <a:extLst>
              <a:ext uri="{FF2B5EF4-FFF2-40B4-BE49-F238E27FC236}">
                <a16:creationId xmlns:a16="http://schemas.microsoft.com/office/drawing/2014/main" id="{613EE559-DE7B-4563-AC40-44B0F34C771E}"/>
              </a:ext>
            </a:extLst>
          </p:cNvPr>
          <p:cNvSpPr/>
          <p:nvPr/>
        </p:nvSpPr>
        <p:spPr>
          <a:xfrm>
            <a:off x="496096" y="1247126"/>
            <a:ext cx="1737360" cy="329184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10B981"/>
              </a:solidFill>
            </a:endParaRPr>
          </a:p>
        </p:txBody>
      </p:sp>
      <p:sp>
        <p:nvSpPr>
          <p:cNvPr id="8" name="Text 28">
            <a:extLst>
              <a:ext uri="{FF2B5EF4-FFF2-40B4-BE49-F238E27FC236}">
                <a16:creationId xmlns:a16="http://schemas.microsoft.com/office/drawing/2014/main" id="{CA3B2AEB-B2CD-E2F1-427E-F6FAA9626675}"/>
              </a:ext>
            </a:extLst>
          </p:cNvPr>
          <p:cNvSpPr/>
          <p:nvPr/>
        </p:nvSpPr>
        <p:spPr>
          <a:xfrm>
            <a:off x="496096" y="124712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TC ≥ +1</a:t>
            </a:r>
            <a:endParaRPr lang="en-US" sz="1100" dirty="0"/>
          </a:p>
        </p:txBody>
      </p:sp>
      <p:sp>
        <p:nvSpPr>
          <p:cNvPr id="9" name="Text 30">
            <a:extLst>
              <a:ext uri="{FF2B5EF4-FFF2-40B4-BE49-F238E27FC236}">
                <a16:creationId xmlns:a16="http://schemas.microsoft.com/office/drawing/2014/main" id="{97E4CC9D-41CD-557C-C999-C708E3CC8F37}"/>
              </a:ext>
            </a:extLst>
          </p:cNvPr>
          <p:cNvSpPr/>
          <p:nvPr/>
        </p:nvSpPr>
        <p:spPr>
          <a:xfrm>
            <a:off x="2370616" y="122883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Avg Reward</a:t>
            </a:r>
            <a:endParaRPr lang="en-US" sz="900" dirty="0"/>
          </a:p>
        </p:txBody>
      </p:sp>
      <p:sp>
        <p:nvSpPr>
          <p:cNvPr id="10" name="Text 32">
            <a:extLst>
              <a:ext uri="{FF2B5EF4-FFF2-40B4-BE49-F238E27FC236}">
                <a16:creationId xmlns:a16="http://schemas.microsoft.com/office/drawing/2014/main" id="{9006ED8E-B062-CAA2-9FEB-206976E1EA7F}"/>
              </a:ext>
            </a:extLst>
          </p:cNvPr>
          <p:cNvSpPr/>
          <p:nvPr/>
        </p:nvSpPr>
        <p:spPr>
          <a:xfrm>
            <a:off x="3879376" y="122883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Win Rate</a:t>
            </a:r>
            <a:endParaRPr lang="en-US" sz="900" dirty="0"/>
          </a:p>
        </p:txBody>
      </p:sp>
      <p:sp>
        <p:nvSpPr>
          <p:cNvPr id="11" name="Text 22">
            <a:extLst>
              <a:ext uri="{FF2B5EF4-FFF2-40B4-BE49-F238E27FC236}">
                <a16:creationId xmlns:a16="http://schemas.microsoft.com/office/drawing/2014/main" id="{E96EC797-7789-CEB7-92AD-489A41D96F18}"/>
              </a:ext>
            </a:extLst>
          </p:cNvPr>
          <p:cNvSpPr/>
          <p:nvPr/>
        </p:nvSpPr>
        <p:spPr>
          <a:xfrm>
            <a:off x="3879376" y="145743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46%</a:t>
            </a:r>
            <a:endParaRPr lang="en-US" sz="2000" dirty="0">
              <a:solidFill>
                <a:srgbClr val="10B981"/>
              </a:solidFill>
            </a:endParaRPr>
          </a:p>
        </p:txBody>
      </p:sp>
      <p:sp>
        <p:nvSpPr>
          <p:cNvPr id="12" name="Text 20">
            <a:extLst>
              <a:ext uri="{FF2B5EF4-FFF2-40B4-BE49-F238E27FC236}">
                <a16:creationId xmlns:a16="http://schemas.microsoft.com/office/drawing/2014/main" id="{3B78D9E4-407E-F781-DC40-53490652E37E}"/>
              </a:ext>
            </a:extLst>
          </p:cNvPr>
          <p:cNvSpPr/>
          <p:nvPr/>
        </p:nvSpPr>
        <p:spPr>
          <a:xfrm>
            <a:off x="2370616" y="1447151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−0.02</a:t>
            </a:r>
            <a:endParaRPr lang="en-US" sz="2000" dirty="0">
              <a:solidFill>
                <a:srgbClr val="10B981"/>
              </a:solidFill>
            </a:endParaRPr>
          </a:p>
        </p:txBody>
      </p:sp>
      <p:sp>
        <p:nvSpPr>
          <p:cNvPr id="13" name="Shape 23">
            <a:extLst>
              <a:ext uri="{FF2B5EF4-FFF2-40B4-BE49-F238E27FC236}">
                <a16:creationId xmlns:a16="http://schemas.microsoft.com/office/drawing/2014/main" id="{BE0490B7-535C-4DC3-AB35-9ACDEF3C9217}"/>
              </a:ext>
            </a:extLst>
          </p:cNvPr>
          <p:cNvSpPr/>
          <p:nvPr/>
        </p:nvSpPr>
        <p:spPr>
          <a:xfrm>
            <a:off x="5113816" y="1527134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25">
            <a:extLst>
              <a:ext uri="{FF2B5EF4-FFF2-40B4-BE49-F238E27FC236}">
                <a16:creationId xmlns:a16="http://schemas.microsoft.com/office/drawing/2014/main" id="{EDFED06F-86D2-8F53-F54D-FACC718F7F70}"/>
              </a:ext>
            </a:extLst>
          </p:cNvPr>
          <p:cNvSpPr/>
          <p:nvPr/>
        </p:nvSpPr>
        <p:spPr>
          <a:xfrm>
            <a:off x="5113816" y="178205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Aggressive </a:t>
            </a:r>
            <a:r>
              <a:rPr lang="en-US" sz="900" dirty="0" err="1">
                <a:solidFill>
                  <a:srgbClr val="64748B"/>
                </a:solidFill>
              </a:rPr>
              <a:t>Strategie</a:t>
            </a:r>
            <a:r>
              <a:rPr lang="en-US" sz="900" dirty="0">
                <a:solidFill>
                  <a:srgbClr val="64748B"/>
                </a:solidFill>
              </a:rPr>
              <a:t>, </a:t>
            </a:r>
            <a:r>
              <a:rPr lang="en-US" sz="900" dirty="0" err="1">
                <a:solidFill>
                  <a:srgbClr val="64748B"/>
                </a:solidFill>
              </a:rPr>
              <a:t>Optimale</a:t>
            </a:r>
            <a:r>
              <a:rPr lang="en-US" sz="900" dirty="0">
                <a:solidFill>
                  <a:srgbClr val="64748B"/>
                </a:solidFill>
              </a:rPr>
              <a:t> </a:t>
            </a:r>
            <a:r>
              <a:rPr lang="en-US" sz="900" dirty="0" err="1">
                <a:solidFill>
                  <a:srgbClr val="64748B"/>
                </a:solidFill>
              </a:rPr>
              <a:t>Blackjackentscheidungen</a:t>
            </a:r>
            <a:endParaRPr lang="en-US" sz="900" dirty="0"/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DA13E672-0DC9-4374-DA82-4B37DEAA0B3C}"/>
              </a:ext>
            </a:extLst>
          </p:cNvPr>
          <p:cNvSpPr/>
          <p:nvPr/>
        </p:nvSpPr>
        <p:spPr>
          <a:xfrm>
            <a:off x="496096" y="166622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Spieler-</a:t>
            </a:r>
            <a:r>
              <a:rPr lang="en-US" sz="900" dirty="0" err="1">
                <a:solidFill>
                  <a:srgbClr val="64748B"/>
                </a:solidFill>
              </a:rPr>
              <a:t>Vorteil</a:t>
            </a:r>
            <a:endParaRPr lang="en-US" sz="9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7326C11-716C-9B55-21D3-E6E7FF04D23A}"/>
              </a:ext>
            </a:extLst>
          </p:cNvPr>
          <p:cNvSpPr/>
          <p:nvPr/>
        </p:nvSpPr>
        <p:spPr>
          <a:xfrm>
            <a:off x="5113816" y="1528340"/>
            <a:ext cx="1737360" cy="19996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51" name="Grafik 50">
            <a:extLst>
              <a:ext uri="{FF2B5EF4-FFF2-40B4-BE49-F238E27FC236}">
                <a16:creationId xmlns:a16="http://schemas.microsoft.com/office/drawing/2014/main" id="{F49B67D1-B06B-3F5C-CEBB-47255403A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69" y="2342877"/>
            <a:ext cx="3467775" cy="2600464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5EB37E48-139F-319D-5F9D-A18F79493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744" y="2342877"/>
            <a:ext cx="3545688" cy="265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503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DE4EE-12AF-3020-AC3E-DC6A15D49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F16FE0-60C2-9007-2EFF-BA9AE2C00BC9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96EFBE7-2EC1-3BC4-B742-D3553CF297DD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815F543-1F0D-6BBD-29F9-A4D6A2043250}"/>
              </a:ext>
            </a:extLst>
          </p:cNvPr>
          <p:cNvSpPr/>
          <p:nvPr/>
        </p:nvSpPr>
        <p:spPr>
          <a:xfrm>
            <a:off x="457200" y="548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FEATURE VALIDATION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64A2860-B1F8-282B-6F07-6F3B1078F784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True-Count-Bucket Analysis</a:t>
            </a:r>
            <a:endParaRPr lang="en-US" sz="260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52D5ED65-68A8-687E-2127-0AEC2AAAB723}"/>
              </a:ext>
            </a:extLst>
          </p:cNvPr>
          <p:cNvSpPr/>
          <p:nvPr/>
        </p:nvSpPr>
        <p:spPr>
          <a:xfrm>
            <a:off x="502920" y="5332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Spieler-Vorteil</a:t>
            </a:r>
            <a:endParaRPr lang="en-US" sz="900" dirty="0"/>
          </a:p>
        </p:txBody>
      </p:sp>
      <p:sp>
        <p:nvSpPr>
          <p:cNvPr id="38" name="Shape 34">
            <a:extLst>
              <a:ext uri="{FF2B5EF4-FFF2-40B4-BE49-F238E27FC236}">
                <a16:creationId xmlns:a16="http://schemas.microsoft.com/office/drawing/2014/main" id="{53359C2A-37A6-0A63-6395-2CD246B99FE0}"/>
              </a:ext>
            </a:extLst>
          </p:cNvPr>
          <p:cNvSpPr/>
          <p:nvPr/>
        </p:nvSpPr>
        <p:spPr>
          <a:xfrm>
            <a:off x="5120640" y="5231416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14A5B82E-6F93-E822-BF73-22B2A91EF201}"/>
              </a:ext>
            </a:extLst>
          </p:cNvPr>
          <p:cNvSpPr/>
          <p:nvPr/>
        </p:nvSpPr>
        <p:spPr>
          <a:xfrm>
            <a:off x="5120640" y="5231416"/>
            <a:ext cx="300380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F61E1EB4-A68F-4059-53FD-93B33684E30C}"/>
              </a:ext>
            </a:extLst>
          </p:cNvPr>
          <p:cNvSpPr/>
          <p:nvPr/>
        </p:nvSpPr>
        <p:spPr>
          <a:xfrm>
            <a:off x="5120640" y="550573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Aggressive Hits · Mathematisch korrekt</a:t>
            </a:r>
            <a:endParaRPr lang="en-US" sz="900" dirty="0"/>
          </a:p>
        </p:txBody>
      </p:sp>
      <p:sp>
        <p:nvSpPr>
          <p:cNvPr id="41" name="Shape 37">
            <a:extLst>
              <a:ext uri="{FF2B5EF4-FFF2-40B4-BE49-F238E27FC236}">
                <a16:creationId xmlns:a16="http://schemas.microsoft.com/office/drawing/2014/main" id="{24CA64E3-5D8E-7951-C25C-F8A16D228BB8}"/>
              </a:ext>
            </a:extLst>
          </p:cNvPr>
          <p:cNvSpPr/>
          <p:nvPr/>
        </p:nvSpPr>
        <p:spPr>
          <a:xfrm>
            <a:off x="365760" y="5231416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5" name="Text 38">
            <a:extLst>
              <a:ext uri="{FF2B5EF4-FFF2-40B4-BE49-F238E27FC236}">
                <a16:creationId xmlns:a16="http://schemas.microsoft.com/office/drawing/2014/main" id="{80E41D01-AFBA-AE09-6F38-62700A331D53}"/>
              </a:ext>
            </a:extLst>
          </p:cNvPr>
          <p:cNvSpPr/>
          <p:nvPr/>
        </p:nvSpPr>
        <p:spPr>
          <a:xfrm>
            <a:off x="594360" y="5313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✅ Kartenzählung funktioniert nachweisbar:</a:t>
            </a:r>
            <a:endParaRPr lang="en-US" sz="1100" dirty="0"/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103E1118-CEA4-2019-AB5D-82F3367A67D2}"/>
              </a:ext>
            </a:extLst>
          </p:cNvPr>
          <p:cNvSpPr/>
          <p:nvPr/>
        </p:nvSpPr>
        <p:spPr>
          <a:xfrm>
            <a:off x="594360" y="55697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Der Counting Agent trifft bessere Entscheidungen bei hohem TC und verhält sich konservativer bei niedrigem TC.</a:t>
            </a:r>
            <a:endParaRPr lang="en-US" sz="1000" dirty="0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4CD7E350-95C1-DE10-14BA-8A9FFA539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341" y="1438378"/>
            <a:ext cx="3691689" cy="2760551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D78E336D-8661-3932-A9F0-F1A0B9ACC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971" y="1468502"/>
            <a:ext cx="3691689" cy="276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032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599D7-D409-2B17-5D24-2F5AD079A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1802CB-76BF-C557-5F7D-0EE2D86EAB99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25FEF98-BA73-BC3E-2072-CCF554EFE2C2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C1C8760-BD47-70D0-033B-36F01138DE64}"/>
              </a:ext>
            </a:extLst>
          </p:cNvPr>
          <p:cNvSpPr/>
          <p:nvPr/>
        </p:nvSpPr>
        <p:spPr>
          <a:xfrm>
            <a:off x="457200" y="548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FEATURE VALIDATION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5D98239-53D8-B181-7BB2-8FB9E1D7FEF8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True-Count-Bucket Analysis</a:t>
            </a:r>
            <a:endParaRPr lang="en-US" sz="260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18440CE5-E250-3E15-2090-E0585A6CEC1B}"/>
              </a:ext>
            </a:extLst>
          </p:cNvPr>
          <p:cNvSpPr/>
          <p:nvPr/>
        </p:nvSpPr>
        <p:spPr>
          <a:xfrm>
            <a:off x="502920" y="435618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Spieler-Vorteil</a:t>
            </a:r>
            <a:endParaRPr lang="en-US" sz="900" dirty="0"/>
          </a:p>
        </p:txBody>
      </p:sp>
      <p:sp>
        <p:nvSpPr>
          <p:cNvPr id="38" name="Shape 34">
            <a:extLst>
              <a:ext uri="{FF2B5EF4-FFF2-40B4-BE49-F238E27FC236}">
                <a16:creationId xmlns:a16="http://schemas.microsoft.com/office/drawing/2014/main" id="{2FAD2BC8-68F5-093C-F1F8-2AA3C79004A8}"/>
              </a:ext>
            </a:extLst>
          </p:cNvPr>
          <p:cNvSpPr/>
          <p:nvPr/>
        </p:nvSpPr>
        <p:spPr>
          <a:xfrm>
            <a:off x="5120640" y="4255598"/>
            <a:ext cx="333756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0FEC0E5A-C0C7-859B-0B7A-D06E372CF42E}"/>
              </a:ext>
            </a:extLst>
          </p:cNvPr>
          <p:cNvSpPr/>
          <p:nvPr/>
        </p:nvSpPr>
        <p:spPr>
          <a:xfrm>
            <a:off x="5120640" y="4255598"/>
            <a:ext cx="300380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90836A7C-12BF-8A4E-AEF4-FCB07808CE6A}"/>
              </a:ext>
            </a:extLst>
          </p:cNvPr>
          <p:cNvSpPr/>
          <p:nvPr/>
        </p:nvSpPr>
        <p:spPr>
          <a:xfrm>
            <a:off x="5120640" y="452991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Aggressive Hits · Mathematisch korrekt</a:t>
            </a:r>
            <a:endParaRPr lang="en-US" sz="900" dirty="0"/>
          </a:p>
        </p:txBody>
      </p:sp>
      <p:sp>
        <p:nvSpPr>
          <p:cNvPr id="41" name="Shape 37">
            <a:extLst>
              <a:ext uri="{FF2B5EF4-FFF2-40B4-BE49-F238E27FC236}">
                <a16:creationId xmlns:a16="http://schemas.microsoft.com/office/drawing/2014/main" id="{000F4312-1C3B-CDC6-282D-71653D3DA2DA}"/>
              </a:ext>
            </a:extLst>
          </p:cNvPr>
          <p:cNvSpPr/>
          <p:nvPr/>
        </p:nvSpPr>
        <p:spPr>
          <a:xfrm>
            <a:off x="365760" y="4255598"/>
            <a:ext cx="8412480" cy="777240"/>
          </a:xfrm>
          <a:prstGeom prst="roundRect">
            <a:avLst>
              <a:gd name="adj" fmla="val 14118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5" name="Text 38">
            <a:extLst>
              <a:ext uri="{FF2B5EF4-FFF2-40B4-BE49-F238E27FC236}">
                <a16:creationId xmlns:a16="http://schemas.microsoft.com/office/drawing/2014/main" id="{F315F43F-60D2-9C5C-8725-A6E63DB08319}"/>
              </a:ext>
            </a:extLst>
          </p:cNvPr>
          <p:cNvSpPr/>
          <p:nvPr/>
        </p:nvSpPr>
        <p:spPr>
          <a:xfrm>
            <a:off x="594360" y="433789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✅ Kartenzählung funktioniert nachweisbar:</a:t>
            </a:r>
            <a:endParaRPr lang="en-US" sz="1100" dirty="0"/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B1645C2E-134E-78FD-B32F-0C811A3FAF22}"/>
              </a:ext>
            </a:extLst>
          </p:cNvPr>
          <p:cNvSpPr/>
          <p:nvPr/>
        </p:nvSpPr>
        <p:spPr>
          <a:xfrm>
            <a:off x="594360" y="459392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Der Counting Agent trifft bessere Entscheidungen bei hohem TC und verhält sich konservativer bei niedrigem TC.</a:t>
            </a:r>
            <a:endParaRPr lang="en-US" sz="1000" dirty="0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CA7FF017-545B-0B6D-C3C2-AB8EEA60C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341" y="1158596"/>
            <a:ext cx="3691689" cy="2760551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B8966B49-AA42-C03D-1A4E-B87447DFA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971" y="1188720"/>
            <a:ext cx="3691689" cy="276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4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Improvements &amp; Next Steps</a:t>
            </a:r>
            <a:endParaRPr lang="en-US" sz="2800" dirty="0"/>
          </a:p>
        </p:txBody>
      </p:sp>
      <p:sp>
        <p:nvSpPr>
          <p:cNvPr id="5" name="!!1"/>
          <p:cNvSpPr/>
          <p:nvPr/>
        </p:nvSpPr>
        <p:spPr>
          <a:xfrm>
            <a:off x="365760" y="1097280"/>
            <a:ext cx="3977640" cy="1572768"/>
          </a:xfrm>
          <a:prstGeom prst="roundRect">
            <a:avLst>
              <a:gd name="adj" fmla="val 8140"/>
            </a:avLst>
          </a:prstGeom>
          <a:solidFill>
            <a:srgbClr val="1E3A5F"/>
          </a:solidFill>
          <a:ln w="12700">
            <a:solidFill>
              <a:srgbClr val="0D9488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530352" y="1261872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30352" y="12618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91840" y="1325880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291840" y="1325880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0D9488"/>
                </a:solidFill>
              </a:rPr>
              <a:t>HOCH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243584" y="12801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</a:rPr>
              <a:t>500M Episodes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0352" y="199339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Counting Agent vollständig konvergieren lassen – genügend Trainingszeit für stabilen Vergleich mit Baseline.</a:t>
            </a:r>
            <a:endParaRPr lang="en-US" sz="950" dirty="0"/>
          </a:p>
        </p:txBody>
      </p:sp>
      <p:sp>
        <p:nvSpPr>
          <p:cNvPr id="12" name="!!2"/>
          <p:cNvSpPr/>
          <p:nvPr/>
        </p:nvSpPr>
        <p:spPr>
          <a:xfrm>
            <a:off x="4663440" y="1097280"/>
            <a:ext cx="3977640" cy="1572768"/>
          </a:xfrm>
          <a:prstGeom prst="roundRect">
            <a:avLst>
              <a:gd name="adj" fmla="val 8140"/>
            </a:avLst>
          </a:prstGeom>
          <a:solidFill>
            <a:srgbClr val="1E3A5F"/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4828032" y="1261872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828032" y="12618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1325880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7589520" y="1325880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59E0B"/>
                </a:solidFill>
              </a:rPr>
              <a:t>MITTEL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541264" y="12801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Ablation Study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28032" y="199339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Welcher Feature trägt am meisten zur Performance-Verbesserung bei? Systematische Analyse.</a:t>
            </a:r>
            <a:endParaRPr lang="en-US" sz="950" dirty="0"/>
          </a:p>
        </p:txBody>
      </p:sp>
      <p:sp>
        <p:nvSpPr>
          <p:cNvPr id="19" name="!!3"/>
          <p:cNvSpPr/>
          <p:nvPr/>
        </p:nvSpPr>
        <p:spPr>
          <a:xfrm>
            <a:off x="365760" y="2926080"/>
            <a:ext cx="3977640" cy="1572768"/>
          </a:xfrm>
          <a:prstGeom prst="roundRect">
            <a:avLst>
              <a:gd name="adj" fmla="val 8140"/>
            </a:avLst>
          </a:prstGeom>
          <a:solidFill>
            <a:srgbClr val="1E3A5F"/>
          </a:solidFill>
          <a:ln w="12700">
            <a:solidFill>
              <a:srgbClr val="14B8A6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530352" y="3090672"/>
            <a:ext cx="594360" cy="5943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30352" y="3090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03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91840" y="3154680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14B8A6">
              <a:alpha val="25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3291840" y="3154680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14B8A6"/>
                </a:solidFill>
              </a:rPr>
              <a:t>MITTEL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243584" y="31089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</a:rPr>
              <a:t>Transfer Learning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0352" y="382219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Baseline-Weights als Initialisierung für Counting Agent – potenzielle Beschleunigung der Konvergenz.</a:t>
            </a:r>
            <a:endParaRPr lang="en-US" sz="950" dirty="0"/>
          </a:p>
        </p:txBody>
      </p:sp>
      <p:sp>
        <p:nvSpPr>
          <p:cNvPr id="26" name="!!4"/>
          <p:cNvSpPr/>
          <p:nvPr/>
        </p:nvSpPr>
        <p:spPr>
          <a:xfrm>
            <a:off x="4663440" y="2926080"/>
            <a:ext cx="3977640" cy="1572768"/>
          </a:xfrm>
          <a:prstGeom prst="roundRect">
            <a:avLst>
              <a:gd name="adj" fmla="val 8140"/>
            </a:avLst>
          </a:prstGeom>
          <a:solidFill>
            <a:srgbClr val="1E3A5F"/>
          </a:solidFill>
          <a:ln w="12700">
            <a:solidFill>
              <a:srgbClr val="10B981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4828032" y="3090672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4828032" y="3090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04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89520" y="3154680"/>
            <a:ext cx="877824" cy="237744"/>
          </a:xfrm>
          <a:prstGeom prst="roundRect">
            <a:avLst>
              <a:gd name="adj" fmla="val 23077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7589520" y="3154680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10B981"/>
                </a:solidFill>
              </a:rPr>
              <a:t>VISION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541264" y="31089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</a:rPr>
              <a:t>Advanced Algorithms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828032" y="382219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DQN und PPO für komplexere Policies – Funktionsapproximation statt Q-Table bei großen State Spaces.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54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SUMMARY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6" name="!!1"/>
          <p:cNvSpPr/>
          <p:nvPr/>
        </p:nvSpPr>
        <p:spPr>
          <a:xfrm>
            <a:off x="365760" y="1051560"/>
            <a:ext cx="2606040" cy="2194560"/>
          </a:xfrm>
          <a:prstGeom prst="roundRect">
            <a:avLst>
              <a:gd name="adj" fmla="val 5833"/>
            </a:avLst>
          </a:prstGeom>
          <a:solidFill>
            <a:srgbClr val="1E293B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93776" y="1874520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</a:rPr>
              <a:t>Q-Learning funktioniert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" y="2304288"/>
            <a:ext cx="23500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Erfolgreich für Blackjack demonstriert und validiert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606040" cy="2194560"/>
          </a:xfrm>
          <a:prstGeom prst="roundRect">
            <a:avLst>
              <a:gd name="adj" fmla="val 5833"/>
            </a:avLst>
          </a:prstGeom>
          <a:solidFill>
            <a:srgbClr val="1E293B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11" name="Text 9"/>
          <p:cNvSpPr/>
          <p:nvPr/>
        </p:nvSpPr>
        <p:spPr>
          <a:xfrm>
            <a:off x="3200400" y="1188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28416" y="1874520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</a:rPr>
              <a:t>Card Counting wirkt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28416" y="2304288"/>
            <a:ext cx="23500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True-Count-Bucket Analyse zeigt klare, messbare Unterschiede</a:t>
            </a:r>
            <a:endParaRPr lang="en-US" sz="1000" dirty="0"/>
          </a:p>
        </p:txBody>
      </p:sp>
      <p:sp>
        <p:nvSpPr>
          <p:cNvPr id="14" name="!!2"/>
          <p:cNvSpPr/>
          <p:nvPr/>
        </p:nvSpPr>
        <p:spPr>
          <a:xfrm>
            <a:off x="6035040" y="1051560"/>
            <a:ext cx="2606040" cy="2194560"/>
          </a:xfrm>
          <a:prstGeom prst="roundRect">
            <a:avLst>
              <a:gd name="adj" fmla="val 5833"/>
            </a:avLst>
          </a:prstGeom>
          <a:solidFill>
            <a:srgbClr val="1E293B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035040" y="1188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63056" y="1874520"/>
            <a:ext cx="2350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</a:rPr>
              <a:t>Seed-Stabilität steigt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63056" y="2304288"/>
            <a:ext cx="23500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Mehr Features → robusteres, konsistenteres Lernen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4015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Metriken im Überblick</a:t>
            </a:r>
            <a:endParaRPr lang="en-US" sz="1400" dirty="0"/>
          </a:p>
        </p:txBody>
      </p:sp>
      <p:sp>
        <p:nvSpPr>
          <p:cNvPr id="19" name="!!3"/>
          <p:cNvSpPr/>
          <p:nvPr/>
        </p:nvSpPr>
        <p:spPr>
          <a:xfrm>
            <a:off x="365760" y="384048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0D9488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493776" y="3913632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</a:rPr>
              <a:t>BASELINE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3776" y="4133088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−0.051565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" y="4480560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280 States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384048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3328416" y="3913632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9E0B"/>
                </a:solidFill>
              </a:rPr>
              <a:t>COUNTING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28416" y="4133088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−0.049736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28416" y="4480560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108k States</a:t>
            </a:r>
            <a:endParaRPr lang="en-US" sz="1000" dirty="0"/>
          </a:p>
        </p:txBody>
      </p:sp>
      <p:sp>
        <p:nvSpPr>
          <p:cNvPr id="27" name="!!4"/>
          <p:cNvSpPr/>
          <p:nvPr/>
        </p:nvSpPr>
        <p:spPr>
          <a:xfrm>
            <a:off x="6035040" y="384048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6163056" y="3913632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0B981"/>
                </a:solidFill>
              </a:rPr>
              <a:t>WIN RATE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63056" y="4133088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+0.09% besser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63056" y="4480560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mit 95%-CI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198230-E57F-2307-F092-1CA6D110A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D10B07-FDCE-CE3A-51C1-1807D7651DD1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9E84A3A-AF71-CD7A-F6C8-F73C25D7D13E}"/>
              </a:ext>
            </a:extLst>
          </p:cNvPr>
          <p:cNvSpPr/>
          <p:nvPr/>
        </p:nvSpPr>
        <p:spPr>
          <a:xfrm>
            <a:off x="5943600" y="457200"/>
            <a:ext cx="4572000" cy="4572000"/>
          </a:xfrm>
          <a:prstGeom prst="ellipse">
            <a:avLst/>
          </a:prstGeom>
          <a:solidFill>
            <a:srgbClr val="14B8A6">
              <a:alpha val="8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F763431-8D0E-09FE-FA41-C52D6CEF53B7}"/>
              </a:ext>
            </a:extLst>
          </p:cNvPr>
          <p:cNvSpPr/>
          <p:nvPr/>
        </p:nvSpPr>
        <p:spPr>
          <a:xfrm>
            <a:off x="457200" y="164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CONCLUSION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9290718-ED07-8E10-B227-5F2042D6E7BD}"/>
              </a:ext>
            </a:extLst>
          </p:cNvPr>
          <p:cNvSpPr/>
          <p:nvPr/>
        </p:nvSpPr>
        <p:spPr>
          <a:xfrm>
            <a:off x="457200" y="438912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Research Contribution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851616B-0F14-CE4A-8C77-32EAC3377F0D}"/>
              </a:ext>
            </a:extLst>
          </p:cNvPr>
          <p:cNvSpPr/>
          <p:nvPr/>
        </p:nvSpPr>
        <p:spPr>
          <a:xfrm>
            <a:off x="365760" y="1298448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0D9488">
                <a:alpha val="5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51B084F-4384-B4EB-E3DD-60257DB44F02}"/>
              </a:ext>
            </a:extLst>
          </p:cNvPr>
          <p:cNvSpPr/>
          <p:nvPr/>
        </p:nvSpPr>
        <p:spPr>
          <a:xfrm>
            <a:off x="502920" y="1389888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4F32C37-A4CC-DFB2-3F86-C0B968FDEA5F}"/>
              </a:ext>
            </a:extLst>
          </p:cNvPr>
          <p:cNvSpPr/>
          <p:nvPr/>
        </p:nvSpPr>
        <p:spPr>
          <a:xfrm>
            <a:off x="502920" y="1389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FQ 1 ✅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8CB7915-9119-DBDF-D914-3803A2774140}"/>
              </a:ext>
            </a:extLst>
          </p:cNvPr>
          <p:cNvSpPr/>
          <p:nvPr/>
        </p:nvSpPr>
        <p:spPr>
          <a:xfrm>
            <a:off x="1536192" y="13898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Kann Q-Learning Kartenzählung nutzen?</a:t>
            </a:r>
            <a:endParaRPr lang="en-US" sz="11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4EAF3BA-B7E5-D7FD-5D1E-908EFB762C7C}"/>
              </a:ext>
            </a:extLst>
          </p:cNvPr>
          <p:cNvSpPr/>
          <p:nvPr/>
        </p:nvSpPr>
        <p:spPr>
          <a:xfrm>
            <a:off x="1536192" y="17099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Ja — der Counting Agent nutzt True-Count-Information aktiv, benötigt aber deutlich mehr Trainingszeit.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C8ED723-732C-F88F-488C-997821D9DD06}"/>
              </a:ext>
            </a:extLst>
          </p:cNvPr>
          <p:cNvSpPr/>
          <p:nvPr/>
        </p:nvSpPr>
        <p:spPr>
          <a:xfrm>
            <a:off x="365760" y="2414016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F59E0B">
                <a:alpha val="5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20BDC96-D9F4-B987-0DE3-7BBF54C6CFE1}"/>
              </a:ext>
            </a:extLst>
          </p:cNvPr>
          <p:cNvSpPr/>
          <p:nvPr/>
        </p:nvSpPr>
        <p:spPr>
          <a:xfrm>
            <a:off x="502920" y="2505456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B6F1B82-3243-1E24-60B1-41E1B8DBAE27}"/>
              </a:ext>
            </a:extLst>
          </p:cNvPr>
          <p:cNvSpPr/>
          <p:nvPr/>
        </p:nvSpPr>
        <p:spPr>
          <a:xfrm>
            <a:off x="502920" y="2505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FQ 2 ✅</a:t>
            </a:r>
            <a:endParaRPr lang="en-US" sz="9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58F18FB-2492-550B-C760-A8DC4963AC6C}"/>
              </a:ext>
            </a:extLst>
          </p:cNvPr>
          <p:cNvSpPr/>
          <p:nvPr/>
        </p:nvSpPr>
        <p:spPr>
          <a:xfrm>
            <a:off x="1536192" y="25054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Bessere Performance mit erweiterten Features?</a:t>
            </a:r>
            <a:endParaRPr lang="en-US" sz="11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F27F762-FC2A-8FE3-AF56-3CC503F42C5A}"/>
              </a:ext>
            </a:extLst>
          </p:cNvPr>
          <p:cNvSpPr/>
          <p:nvPr/>
        </p:nvSpPr>
        <p:spPr>
          <a:xfrm>
            <a:off x="1536192" y="2825496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Bedingt — True-Count-Bucket Analyse belegt klare Unterschiede, aber Gesamtdifferenz bleibt marginal bei Q-Learning.</a:t>
            </a:r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263D1E2-36CC-E40D-77F8-03C352E02C5F}"/>
              </a:ext>
            </a:extLst>
          </p:cNvPr>
          <p:cNvSpPr/>
          <p:nvPr/>
        </p:nvSpPr>
        <p:spPr>
          <a:xfrm>
            <a:off x="365760" y="3529584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10B981">
                <a:alpha val="5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19B76E7-D053-DA62-F000-D10D73AD4421}"/>
              </a:ext>
            </a:extLst>
          </p:cNvPr>
          <p:cNvSpPr/>
          <p:nvPr/>
        </p:nvSpPr>
        <p:spPr>
          <a:xfrm>
            <a:off x="502920" y="3621024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666CD30-FAE5-7121-F399-680CB084EB8E}"/>
              </a:ext>
            </a:extLst>
          </p:cNvPr>
          <p:cNvSpPr/>
          <p:nvPr/>
        </p:nvSpPr>
        <p:spPr>
          <a:xfrm>
            <a:off x="502920" y="36210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FQ 3 ✅</a:t>
            </a:r>
            <a:endParaRPr lang="en-US" sz="9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8A0E297-3895-1042-75A6-17CD1EB30342}"/>
              </a:ext>
            </a:extLst>
          </p:cNvPr>
          <p:cNvSpPr/>
          <p:nvPr/>
        </p:nvSpPr>
        <p:spPr>
          <a:xfrm>
            <a:off x="1536192" y="362102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</a:rPr>
              <a:t>Wie viele Episoden bis Konvergenz?</a:t>
            </a:r>
            <a:endParaRPr lang="en-US" sz="11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FE2F024-36E6-6D07-B07D-B2CEA31403D2}"/>
              </a:ext>
            </a:extLst>
          </p:cNvPr>
          <p:cNvSpPr/>
          <p:nvPr/>
        </p:nvSpPr>
        <p:spPr>
          <a:xfrm>
            <a:off x="1536192" y="394106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Beide Agenten stabil bei 100M — Counting Agent σ = 0.00052, besser als Baseline.</a:t>
            </a:r>
            <a:endParaRPr lang="en-US" sz="10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87A7F01-4136-5612-7C37-496D393F39DD}"/>
              </a:ext>
            </a:extLst>
          </p:cNvPr>
          <p:cNvSpPr/>
          <p:nvPr/>
        </p:nvSpPr>
        <p:spPr>
          <a:xfrm>
            <a:off x="365760" y="5391150"/>
            <a:ext cx="8412480" cy="65836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064625F-04BD-BE36-2798-5F302E23E5CA}"/>
              </a:ext>
            </a:extLst>
          </p:cNvPr>
          <p:cNvSpPr/>
          <p:nvPr/>
        </p:nvSpPr>
        <p:spPr>
          <a:xfrm>
            <a:off x="594360" y="539115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Final Result @100M: Baseline ≈ Counting ≈ −0.050 avg reward · 42.8% Win Rate · Mission accomplished! 🎉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74865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943600" y="457200"/>
            <a:ext cx="4572000" cy="4572000"/>
          </a:xfrm>
          <a:prstGeom prst="ellipse">
            <a:avLst/>
          </a:prstGeom>
          <a:solidFill>
            <a:srgbClr val="14B8A6">
              <a:alpha val="8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Research Contribution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4148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0D9488">
                <a:alpha val="5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502920" y="1275588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02920" y="12755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FQ 1 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36192" y="12755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</a:rPr>
              <a:t>Kann Q-Learning Kartenzählung nutzen?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536192" y="15956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Ja — der Counting Agent nutzt True-Count-Information aktiv, benötigt aber deutlich mehr Trainingszeit.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52091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F59E0B">
                <a:alpha val="5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502920" y="2343531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02920" y="2343531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FQ 2 ✅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36192" y="2343531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Bessere Performance mit erweiterten Features?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536192" y="2663571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Bedingt — True-Count-Bucket Analyse belegt klare Unterschiede, aber Gesamtdifferenz bleibt marginal bei Q-Learning.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339084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10B981">
                <a:alpha val="5500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502920" y="3430524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502920" y="34305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FQ 3 ✅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36192" y="343052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</a:rPr>
              <a:t>Wie viele Episoden bis Konvergenz?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536192" y="375056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Beide Agenten stabil bei 100M — Counting Agent σ = 0.00052, besser als Baseline.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400550"/>
            <a:ext cx="8412480" cy="65836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594360" y="440055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Final Result @100M: Baseline ≈ Counting ≈ −0.050 avg reward · 42.8% Win Rate · Mission accomplished! 🎉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1502</Words>
  <Application>Microsoft Office PowerPoint</Application>
  <PresentationFormat>Bildschirmpräsentation (16:9)</PresentationFormat>
  <Paragraphs>444</Paragraphs>
  <Slides>20</Slides>
  <Notes>20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 Learning für Blackjack-Agenten</dc:title>
  <dc:subject>PptxGenJS Presentation</dc:subject>
  <dc:creator>Arvid, Linus &amp; Tom</dc:creator>
  <cp:lastModifiedBy>Freese, Arvid</cp:lastModifiedBy>
  <cp:revision>7</cp:revision>
  <dcterms:created xsi:type="dcterms:W3CDTF">2026-06-10T08:25:46Z</dcterms:created>
  <dcterms:modified xsi:type="dcterms:W3CDTF">2026-06-12T13:22:50Z</dcterms:modified>
</cp:coreProperties>
</file>